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0"/>
            <a:ext cx="3337560" cy="5143500"/>
          </a:xfrm>
          <a:prstGeom prst="rect">
            <a:avLst/>
          </a:prstGeom>
          <a:solidFill>
            <a:srgbClr val="F4F7F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68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ENERGÍA MECÁNICA Y CANTIDAD DE MOVIMIENTO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1F3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Roce, trabajo-energía</a:t>
            </a:r>
            <a:endParaRPr lang="en-US" sz="38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1F3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potencia mecánica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4 de 8 · Semana 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127248"/>
            <a:ext cx="3931920" cy="365760"/>
          </a:xfrm>
          <a:prstGeom prst="roundRect">
            <a:avLst>
              <a:gd name="adj" fmla="val 15000"/>
            </a:avLst>
          </a:prstGeom>
          <a:solidFill>
            <a:srgbClr val="F2E3C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1272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Evaluación N°1 (OA11)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640080" y="37033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spc="80" kern="0" dirty="0">
                <a:solidFill>
                  <a:srgbClr val="2E7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minutos</a:t>
            </a:r>
            <a:endParaRPr lang="en-US" sz="1330" dirty="0"/>
          </a:p>
        </p:txBody>
      </p:sp>
      <p:sp>
        <p:nvSpPr>
          <p:cNvPr id="10" name="Text 8"/>
          <p:cNvSpPr/>
          <p:nvPr/>
        </p:nvSpPr>
        <p:spPr>
          <a:xfrm>
            <a:off x="2331720" y="37033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spc="80" kern="0" dirty="0">
                <a:solidFill>
                  <a:srgbClr val="2E7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 TRABAJADO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2331720" y="39319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 11 (cierre)</a:t>
            </a:r>
            <a:endParaRPr lang="en-US" sz="1330" dirty="0"/>
          </a:p>
        </p:txBody>
      </p:sp>
      <p:sp>
        <p:nvSpPr>
          <p:cNvPr id="12" name="Text 10"/>
          <p:cNvSpPr/>
          <p:nvPr/>
        </p:nvSpPr>
        <p:spPr>
          <a:xfrm>
            <a:off x="4023360" y="37033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spc="80" kern="0" dirty="0">
                <a:solidFill>
                  <a:srgbClr val="2E7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BLOOM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4023360" y="39319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endParaRPr lang="en-US" sz="1330" dirty="0"/>
          </a:p>
        </p:txBody>
      </p:sp>
      <p:sp>
        <p:nvSpPr>
          <p:cNvPr id="14" name="Text 12"/>
          <p:cNvSpPr/>
          <p:nvPr/>
        </p:nvSpPr>
        <p:spPr>
          <a:xfrm>
            <a:off x="640080" y="4617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San Agustín de Villa Alemana  ·  Física  ·  Prof. Felipe Jiménez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72200" y="9601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F3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5806440" y="14630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E7D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roce = ΔEm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806440" y="18745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E7D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neto = ΔEc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263640" y="2331720"/>
            <a:ext cx="2423160" cy="0"/>
          </a:xfrm>
          <a:prstGeom prst="line">
            <a:avLst/>
          </a:prstGeom>
          <a:noFill/>
          <a:ln w="12700">
            <a:solidFill>
              <a:srgbClr val="D8E0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24688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F3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W / t = F · v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6035040" y="29718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roce disipa energía mecánica; la potencia mide qué tan rápido se transfiere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CLASE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50" b="1" dirty="0">
                <a:solidFill>
                  <a:srgbClr val="1F3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Hoja de ruta de la clase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minutos organizados en tres momentos, cerrando el ciclo de Energía Mecánica.</a:t>
            </a:r>
            <a:endParaRPr lang="en-US" sz="143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79192" cy="2880360"/>
          </a:xfrm>
          <a:prstGeom prst="roundRect">
            <a:avLst>
              <a:gd name="adj" fmla="val 2730"/>
            </a:avLst>
          </a:prstGeom>
          <a:solidFill>
            <a:srgbClr val="E3F0E7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3F8A5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F3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Activación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777240" y="2926080"/>
            <a:ext cx="222199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Predicción: dos personas suben la misma escalera a distinta velocidad. ¿Cuál trabaja más? ¿Cuál desarrolla más potencia?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3364992" y="1691640"/>
            <a:ext cx="2679192" cy="2880360"/>
          </a:xfrm>
          <a:prstGeom prst="roundRect">
            <a:avLst>
              <a:gd name="adj" fmla="val 2730"/>
            </a:avLst>
          </a:prstGeom>
          <a:solidFill>
            <a:srgbClr val="EAF1F1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93592" y="1920240"/>
            <a:ext cx="457200" cy="457200"/>
          </a:xfrm>
          <a:prstGeom prst="ellipse">
            <a:avLst/>
          </a:prstGeom>
          <a:solidFill>
            <a:srgbClr val="2E7D82"/>
          </a:solidFill>
          <a:ln/>
        </p:spPr>
      </p:sp>
      <p:sp>
        <p:nvSpPr>
          <p:cNvPr id="12" name="Text 10"/>
          <p:cNvSpPr/>
          <p:nvPr/>
        </p:nvSpPr>
        <p:spPr>
          <a:xfrm>
            <a:off x="3593592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min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3593592" y="251460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F3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3593592" y="2926080"/>
            <a:ext cx="222199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Roce y Em, teorema trabajo-energía, potencia, recapitulación del taller de superficies, videos y guía de ejercicios.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6181344" y="1691640"/>
            <a:ext cx="2679192" cy="2880360"/>
          </a:xfrm>
          <a:prstGeom prst="roundRect">
            <a:avLst>
              <a:gd name="adj" fmla="val 2730"/>
            </a:avLst>
          </a:prstGeom>
          <a:solidFill>
            <a:srgbClr val="F2E3C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9944" y="1920240"/>
            <a:ext cx="457200" cy="457200"/>
          </a:xfrm>
          <a:prstGeom prst="ellipse">
            <a:avLst/>
          </a:prstGeom>
          <a:solidFill>
            <a:srgbClr val="C98A2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9944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9944" y="251460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F3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</a:t>
            </a:r>
            <a:endParaRPr lang="en-US" sz="2050" dirty="0"/>
          </a:p>
        </p:txBody>
      </p:sp>
      <p:sp>
        <p:nvSpPr>
          <p:cNvPr id="19" name="Text 17"/>
          <p:cNvSpPr/>
          <p:nvPr/>
        </p:nvSpPr>
        <p:spPr>
          <a:xfrm>
            <a:off x="6409944" y="2926080"/>
            <a:ext cx="222199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para reflexionar y semáforo pedagógico de autoevaluación metacognitiva.</a:t>
            </a:r>
            <a:endParaRPr lang="en-US" sz="1230" dirty="0"/>
          </a:p>
        </p:txBody>
      </p:sp>
      <p:sp>
        <p:nvSpPr>
          <p:cNvPr id="20" name="Text 18"/>
          <p:cNvSpPr/>
          <p:nvPr/>
        </p:nvSpPr>
        <p:spPr>
          <a:xfrm>
            <a:off x="548640" y="4864608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 2° Medio · Unidad 3 · Sesión 4 · Prof. Felipe Jiménez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ACTIVACIÓN · 10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50" b="1" dirty="0">
                <a:solidFill>
                  <a:srgbClr val="1F3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Predicción: subir la misma escalera</a:t>
            </a:r>
            <a:endParaRPr lang="en-US" sz="295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1005840"/>
          </a:xfrm>
          <a:prstGeom prst="roundRect">
            <a:avLst>
              <a:gd name="adj" fmla="val 7273"/>
            </a:avLst>
          </a:prstGeom>
          <a:solidFill>
            <a:srgbClr val="F4F7F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258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2E7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 detonante</a:t>
            </a:r>
            <a:endParaRPr lang="en-US" sz="1230" dirty="0"/>
          </a:p>
        </p:txBody>
      </p:sp>
      <p:sp>
        <p:nvSpPr>
          <p:cNvPr id="6" name="Text 4"/>
          <p:cNvSpPr/>
          <p:nvPr/>
        </p:nvSpPr>
        <p:spPr>
          <a:xfrm>
            <a:off x="777240" y="16002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personas de igual peso suben la misma escalera: una corriendo, la otra caminando lento. ¿Cuál de las dos realiza más trabajo? ¿Cuál desarrolla más potencia? ¿Son la misma pregunta?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261518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E0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560320"/>
            <a:ext cx="411480" cy="411480"/>
          </a:xfrm>
          <a:prstGeom prst="ellipse">
            <a:avLst/>
          </a:prstGeom>
          <a:solidFill>
            <a:srgbClr val="1F3A4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56032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34440" y="2834640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731520" y="3154680"/>
            <a:ext cx="224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estudiante escribe su respuesta y una breve justificación, sin conversar.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3264408" y="2377440"/>
            <a:ext cx="261518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E0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47288" y="2560320"/>
            <a:ext cx="411480" cy="411480"/>
          </a:xfrm>
          <a:prstGeom prst="ellipse">
            <a:avLst/>
          </a:prstGeom>
          <a:solidFill>
            <a:srgbClr val="1F3A44"/>
          </a:solidFill>
          <a:ln/>
        </p:spPr>
      </p:sp>
      <p:sp>
        <p:nvSpPr>
          <p:cNvPr id="15" name="Text 13"/>
          <p:cNvSpPr/>
          <p:nvPr/>
        </p:nvSpPr>
        <p:spPr>
          <a:xfrm>
            <a:off x="3447288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950208" y="256032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950208" y="2834640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3447288" y="3154680"/>
            <a:ext cx="224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parejas, comparan sus respuestas y afinan el argumento en conjunto.</a:t>
            </a:r>
            <a:endParaRPr lang="en-US" sz="1230" dirty="0"/>
          </a:p>
        </p:txBody>
      </p:sp>
      <p:sp>
        <p:nvSpPr>
          <p:cNvPr id="19" name="Shape 17"/>
          <p:cNvSpPr/>
          <p:nvPr/>
        </p:nvSpPr>
        <p:spPr>
          <a:xfrm>
            <a:off x="5980176" y="2377440"/>
            <a:ext cx="261518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E0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63056" y="2560320"/>
            <a:ext cx="411480" cy="411480"/>
          </a:xfrm>
          <a:prstGeom prst="ellipse">
            <a:avLst/>
          </a:prstGeom>
          <a:solidFill>
            <a:srgbClr val="1F3A44"/>
          </a:solidFill>
          <a:ln/>
        </p:spPr>
      </p:sp>
      <p:sp>
        <p:nvSpPr>
          <p:cNvPr id="21" name="Text 19"/>
          <p:cNvSpPr/>
          <p:nvPr/>
        </p:nvSpPr>
        <p:spPr>
          <a:xfrm>
            <a:off x="6163056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65976" y="256032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665976" y="2834640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6163056" y="3154680"/>
            <a:ext cx="224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 3 parejas comparten. El docente anota las ideas sin corregir aún.</a:t>
            </a:r>
            <a:endParaRPr lang="en-US" sz="1230" dirty="0"/>
          </a:p>
        </p:txBody>
      </p:sp>
      <p:sp>
        <p:nvSpPr>
          <p:cNvPr id="25" name="Text 23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tu respuesta: trabajo y potencia no son lo mismo, y hoy vamos a ver por qué (misma W, distinta P).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548640" y="4864608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 2° Medio · Unidad 3 · Sesión 4 · Prof. Felipe Jiménez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50" b="1" dirty="0">
                <a:solidFill>
                  <a:srgbClr val="1F3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roce y la energía mecánica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roce es una fuerza no conservativa: cuando actúa, la energía mecánica ya no se conserva. Parte de ella se transforma en calor y se disipa.</a:t>
            </a:r>
            <a:endParaRPr lang="en-US" sz="143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F4F7F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8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ΔEm = W roce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variación de energía mecánica es igual al trabajo realizado por el roce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5029200" cy="1051560"/>
          </a:xfrm>
          <a:prstGeom prst="roundRect">
            <a:avLst>
              <a:gd name="adj" fmla="val 6957"/>
            </a:avLst>
          </a:prstGeom>
          <a:solidFill>
            <a:srgbClr val="F2E3C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1729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clave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41071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energía no desaparece: se transforma. Lo que 'pierde' la energía mecánica, lo gana el entorno como calor (y algo de sonido).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5806440" y="1143000"/>
            <a:ext cx="2788920" cy="3337560"/>
          </a:xfrm>
          <a:prstGeom prst="roundRect">
            <a:avLst>
              <a:gd name="adj" fmla="val 2623"/>
            </a:avLst>
          </a:prstGeom>
          <a:solidFill>
            <a:srgbClr val="EAF1F1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con el taller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35040" y="16459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actividad de la rampa fija, la pelota llegaba con la misma energía a las 4 superficies. La distancia distinta hasta detenerse revela cuánta energía disipó el roce en cada una.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35040" y="32004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2E7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menor distancia recorrida, mayor fue la fuerza de roce.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864608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 2° Medio · Unidad 3 · Sesión 4 · Prof. Felipe Jiménez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50" b="1" dirty="0">
                <a:solidFill>
                  <a:srgbClr val="1F3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Teorema trabajo-energía, con roce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trabajo neto sobre un cuerpo —incluyendo el roce— sigue siendo igual al cambio de su energía cinética.</a:t>
            </a:r>
            <a:endParaRPr lang="en-US" sz="143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F4F7F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neto = ΔEc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neto = W motor + W roce (el roce aporta un trabajo negativo)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5029200" cy="1188720"/>
          </a:xfrm>
          <a:prstGeom prst="roundRect">
            <a:avLst>
              <a:gd name="adj" fmla="val 6154"/>
            </a:avLst>
          </a:prstGeom>
          <a:solidFill>
            <a:srgbClr val="F2E3C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0358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clave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27355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teorema es más general que la conservación de Em: funciona siempre, haya o no roce u otras fuerzas no conservativas actuando.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06440" y="1143000"/>
            <a:ext cx="2788920" cy="3337560"/>
          </a:xfrm>
          <a:prstGeom prst="roundRect">
            <a:avLst>
              <a:gd name="adj" fmla="val 2623"/>
            </a:avLst>
          </a:prstGeom>
          <a:solidFill>
            <a:srgbClr val="EAF1F1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pensar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35040" y="16459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2E7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el trabajo del roce siempre es negativo cuando se opone al movimiento? ¿Qué significaría un roce que hiciera trabajo positivo?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864608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 2° Medio · Unidad 3 · Sesión 4 · Prof. Felipe Jiménez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2 · EJEMPLO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50" b="1" dirty="0">
                <a:solidFill>
                  <a:srgbClr val="1F3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resuelto: fuerza de roce</a:t>
            </a:r>
            <a:endParaRPr lang="en-US" sz="295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F4F7F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18872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bloque de 2 kg se desliza a 4 m/s sobre una superficie rugosa y se detiene tras recorrer 1,6 m. ¿Cuál es la fuerza de roce?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438912" cy="438912"/>
          </a:xfrm>
          <a:prstGeom prst="ellipse">
            <a:avLst/>
          </a:prstGeom>
          <a:solidFill>
            <a:srgbClr val="1F3A4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65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19385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0" y="19385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2 kg, v inicial = 4 m/s, v final = 0, d = 1,6 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496312"/>
            <a:ext cx="438912" cy="438912"/>
          </a:xfrm>
          <a:prstGeom prst="ellipse">
            <a:avLst/>
          </a:prstGeom>
          <a:solidFill>
            <a:srgbClr val="1F3A4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96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Cambio de energía cinética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0" y="2468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ΔEc = Ec final − Ec inicial = 0 − ½ · 2 · 4² = −16 J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026664"/>
            <a:ext cx="438912" cy="438912"/>
          </a:xfrm>
          <a:prstGeom prst="ellipse">
            <a:avLst/>
          </a:prstGeom>
          <a:solidFill>
            <a:srgbClr val="1F3A4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0266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" y="29992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Teorema trabajo-energía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40480" y="29992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roce = ΔEc = −16 J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557016"/>
            <a:ext cx="438912" cy="438912"/>
          </a:xfrm>
          <a:prstGeom prst="ellipse">
            <a:avLst/>
          </a:prstGeom>
          <a:solidFill>
            <a:srgbClr val="1F3A4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5570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43000" y="352958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Fuerza de roce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40480" y="352958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roce = |W roce| / d = 16 / 1,6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16052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2E3C8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1605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roce = 10 N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8640" y="4864608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 2° Medio · Unidad 3 · Sesión 4 · Prof. Felipe Jiménez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50" b="1" dirty="0">
                <a:solidFill>
                  <a:srgbClr val="1F3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Potencia mecánica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qué tan rápido se realiza un trabajo, o se transfiere energía. El mismo trabajo puede hacerse con mucha o poca potencia, según el tiempo que tome.</a:t>
            </a:r>
            <a:endParaRPr lang="en-US" sz="143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F4F7F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8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W / t = F · v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W: trabajo (J)   t: tiempo (s)   F: fuerza (N)   v: rapidez (m/s)   →  unidad: Watt (W)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Situaciones cotidianas: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ascensor y una grúa levantando la misma carga desarrollan distinta potencia según cuánto tiempo tarden en subirla.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06440" y="1143000"/>
            <a:ext cx="2788920" cy="3337560"/>
          </a:xfrm>
          <a:prstGeom prst="roundRect">
            <a:avLst>
              <a:gd name="adj" fmla="val 2623"/>
            </a:avLst>
          </a:prstGeom>
          <a:solidFill>
            <a:srgbClr val="EAF1F1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pensar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16459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2E7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correr una escalera te deja más agotado que subirla caminando, si el trabajo total realizado es el mismo?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864608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 2° Medio · Unidad 3 · Sesión 4 · Prof. Felipe Jiménez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3 · EJEMPLO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50" b="1" dirty="0">
                <a:solidFill>
                  <a:srgbClr val="1F3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resuelto: potencia al subir escaleras</a:t>
            </a:r>
            <a:endParaRPr lang="en-US" sz="295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F4F7F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18872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persona de 60 kg sube 3 m de escalera en 5 segundos. ¿Qué potencia desarrolla?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438912" cy="438912"/>
          </a:xfrm>
          <a:prstGeom prst="ellipse">
            <a:avLst/>
          </a:prstGeom>
          <a:solidFill>
            <a:srgbClr val="1F3A4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057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20299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0" y="20299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60 kg, h = 3 m, t = 5 s, g = 9,8 m/s²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438912" cy="438912"/>
          </a:xfrm>
          <a:prstGeom prst="ellipse">
            <a:avLst/>
          </a:prstGeom>
          <a:solidFill>
            <a:srgbClr val="1F3A4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97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2670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 realizado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0" y="26700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m · g · h = 60 · 9,8 · 3 = 1764 J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438912" cy="438912"/>
          </a:xfrm>
          <a:prstGeom prst="ellipse">
            <a:avLst/>
          </a:prstGeom>
          <a:solidFill>
            <a:srgbClr val="1F3A4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37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" y="33101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Potencia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40480" y="33101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W / t = 1764 / 5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16052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2E3C8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1605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≈ 353 W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48640" y="4864608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 2° Medio · Unidad 3 · Sesión 4 · Prof. Felipe Jiménez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PRÁCTICO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50" b="1" dirty="0">
                <a:solidFill>
                  <a:srgbClr val="1F3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Recapitulando el taller de superficies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rampa, misma altura, cuatro superficies del colegio — ya lo hicieron; hoy lo analizamos.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679192" cy="1920240"/>
          </a:xfrm>
          <a:prstGeom prst="roundRect">
            <a:avLst>
              <a:gd name="adj" fmla="val 3810"/>
            </a:avLst>
          </a:prstGeom>
          <a:solidFill>
            <a:srgbClr val="F4F7F7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810512"/>
            <a:ext cx="411480" cy="411480"/>
          </a:xfrm>
          <a:prstGeom prst="ellipse">
            <a:avLst/>
          </a:prstGeom>
          <a:solidFill>
            <a:srgbClr val="2E7D82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1810512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2130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menor distancia recorrida, mayor fuerza de roce en esa superficie.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19272" y="1600200"/>
            <a:ext cx="2679192" cy="1920240"/>
          </a:xfrm>
          <a:prstGeom prst="roundRect">
            <a:avLst>
              <a:gd name="adj" fmla="val 3810"/>
            </a:avLst>
          </a:prstGeom>
          <a:solidFill>
            <a:srgbClr val="F4F7F7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47872" y="1810512"/>
            <a:ext cx="411480" cy="411480"/>
          </a:xfrm>
          <a:prstGeom prst="ellipse">
            <a:avLst/>
          </a:prstGeom>
          <a:solidFill>
            <a:srgbClr val="1F3A44"/>
          </a:solidFill>
          <a:ln/>
        </p:spPr>
      </p:sp>
      <p:sp>
        <p:nvSpPr>
          <p:cNvPr id="11" name="Text 9"/>
          <p:cNvSpPr/>
          <p:nvPr/>
        </p:nvSpPr>
        <p:spPr>
          <a:xfrm>
            <a:off x="4096512" y="1810512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Trabajo-energía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93592" y="2377440"/>
            <a:ext cx="2130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roce = f · d = ΔEc (energía con la que llegó al pie de la rampa).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9904" y="1600200"/>
            <a:ext cx="2679192" cy="1920240"/>
          </a:xfrm>
          <a:prstGeom prst="roundRect">
            <a:avLst>
              <a:gd name="adj" fmla="val 3810"/>
            </a:avLst>
          </a:prstGeom>
          <a:solidFill>
            <a:srgbClr val="F4F7F7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18504" y="1810512"/>
            <a:ext cx="411480" cy="411480"/>
          </a:xfrm>
          <a:prstGeom prst="ellipse">
            <a:avLst/>
          </a:prstGeom>
          <a:solidFill>
            <a:srgbClr val="C98A2E"/>
          </a:solidFill>
          <a:ln/>
        </p:spPr>
      </p:sp>
      <p:sp>
        <p:nvSpPr>
          <p:cNvPr id="15" name="Text 13"/>
          <p:cNvSpPr/>
          <p:nvPr/>
        </p:nvSpPr>
        <p:spPr>
          <a:xfrm>
            <a:off x="6867144" y="1810512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Potencia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364224" y="2377440"/>
            <a:ext cx="2130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midieron tiempo, P = W roce / t compara qué superficie disipó la energía más rápido.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70332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2E3C8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79476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230" dirty="0"/>
          </a:p>
        </p:txBody>
      </p:sp>
      <p:sp>
        <p:nvSpPr>
          <p:cNvPr id="19" name="Text 17"/>
          <p:cNvSpPr/>
          <p:nvPr/>
        </p:nvSpPr>
        <p:spPr>
          <a:xfrm>
            <a:off x="777240" y="405079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grupal con la tabla de datos y las respuestas de análisis — se presenta e interroga hoy según la pauta ya entregada.</a:t>
            </a:r>
            <a:endParaRPr lang="en-US" sz="1230" dirty="0"/>
          </a:p>
        </p:txBody>
      </p:sp>
      <p:sp>
        <p:nvSpPr>
          <p:cNvPr id="20" name="Text 18"/>
          <p:cNvSpPr/>
          <p:nvPr/>
        </p:nvSpPr>
        <p:spPr>
          <a:xfrm>
            <a:off x="548640" y="4864608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 2° Medio · Unidad 3 · Sesión 4 · Prof. Felipe Jiménez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COMPLEMENTAR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50" b="1" dirty="0">
                <a:solidFill>
                  <a:srgbClr val="1F3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Videos recomendados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videos cortos en español para reforzar o repasar en casa. Verificar disponibilidad antes de proyectar.</a:t>
            </a:r>
            <a:endParaRPr lang="en-US" sz="133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046720" cy="868680"/>
          </a:xfrm>
          <a:prstGeom prst="roundRect">
            <a:avLst>
              <a:gd name="adj" fmla="val 8421"/>
            </a:avLst>
          </a:prstGeom>
          <a:solidFill>
            <a:srgbClr val="F4F7F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773936"/>
            <a:ext cx="411480" cy="411480"/>
          </a:xfrm>
          <a:prstGeom prst="ellipse">
            <a:avLst/>
          </a:prstGeom>
          <a:solidFill>
            <a:srgbClr val="2E7D8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739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2E7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Fuerza de roce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1325880" y="19019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Física 2 medio: "Fuerza de Roce"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49240" y="166420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youtube.com/watch?v=B5DCk6vFaLg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1325880" y="215798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el concepto y su relación con fenómenos cotidianos, a nivel de 2° medio.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542032"/>
            <a:ext cx="8046720" cy="868680"/>
          </a:xfrm>
          <a:prstGeom prst="roundRect">
            <a:avLst>
              <a:gd name="adj" fmla="val 8421"/>
            </a:avLst>
          </a:prstGeom>
          <a:solidFill>
            <a:srgbClr val="F4F7F7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2761488"/>
            <a:ext cx="411480" cy="411480"/>
          </a:xfrm>
          <a:prstGeom prst="ellipse">
            <a:avLst/>
          </a:prstGeom>
          <a:solidFill>
            <a:srgbClr val="1F3A44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761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2633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F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Teorema trabajo-energía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1325880" y="28895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Teorema del Trabajo y la Energía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49240" y="26517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youtube.com/watch?v=PxNGS79pX40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1325880" y="314553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Explicación práctica con ejemplos y las dimensiones de la fórmula.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529584"/>
            <a:ext cx="8046720" cy="868680"/>
          </a:xfrm>
          <a:prstGeom prst="roundRect">
            <a:avLst>
              <a:gd name="adj" fmla="val 8421"/>
            </a:avLst>
          </a:prstGeom>
          <a:solidFill>
            <a:srgbClr val="F4F7F7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3749040"/>
            <a:ext cx="411480" cy="411480"/>
          </a:xfrm>
          <a:prstGeom prst="ellipse">
            <a:avLst/>
          </a:prstGeom>
          <a:solidFill>
            <a:srgbClr val="C98A2E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25880" y="3621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 mecánica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1325880" y="38770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la Potencia Mecánica?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349240" y="363931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youtube.com/watch?v=v0vSd38Xxzk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1325880" y="413308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Definición, unidades y el origen histórico del "caballo de fuerza".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864608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 2° Medio · Unidad 3 · Sesión 4 · Prof. Felipe Jiménez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15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50" b="1" dirty="0">
                <a:solidFill>
                  <a:srgbClr val="1F3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Guía de ejercicios diferenciada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directa para la Evaluación N°1 (OA11).</a:t>
            </a:r>
            <a:endParaRPr lang="en-US" sz="133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679192" cy="3063240"/>
          </a:xfrm>
          <a:prstGeom prst="roundRect">
            <a:avLst>
              <a:gd name="adj" fmla="val 2730"/>
            </a:avLst>
          </a:prstGeom>
          <a:solidFill>
            <a:srgbClr val="E3F0E7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764792"/>
            <a:ext cx="320040" cy="320040"/>
          </a:xfrm>
          <a:prstGeom prst="ellipse">
            <a:avLst/>
          </a:prstGeom>
          <a:solidFill>
            <a:srgbClr val="3F8A5C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1764792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Básico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2221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3F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2221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el trabajo del roce a partir de la fuerza y la distancia.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3200400"/>
            <a:ext cx="2221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3F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777240" y="3429000"/>
            <a:ext cx="2221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bloque se desliza 3 m sobre una superficie con f roce = 8 N. Calcula el trabajo realizado por el roce.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64992" y="1554480"/>
            <a:ext cx="2679192" cy="3063240"/>
          </a:xfrm>
          <a:prstGeom prst="roundRect">
            <a:avLst>
              <a:gd name="adj" fmla="val 2730"/>
            </a:avLst>
          </a:prstGeom>
          <a:solidFill>
            <a:srgbClr val="F2E3C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93592" y="1764792"/>
            <a:ext cx="320040" cy="320040"/>
          </a:xfrm>
          <a:prstGeom prst="ellipse">
            <a:avLst/>
          </a:prstGeom>
          <a:solidFill>
            <a:srgbClr val="C98A2E"/>
          </a:solidFill>
          <a:ln/>
        </p:spPr>
      </p:sp>
      <p:sp>
        <p:nvSpPr>
          <p:cNvPr id="14" name="Text 12"/>
          <p:cNvSpPr/>
          <p:nvPr/>
        </p:nvSpPr>
        <p:spPr>
          <a:xfrm>
            <a:off x="4050792" y="1764792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Intermedio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593592" y="2286000"/>
            <a:ext cx="2221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3593592" y="2514600"/>
            <a:ext cx="2221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el teorema trabajo-energía para encontrar la fuerza de roce.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593592" y="3200400"/>
            <a:ext cx="2221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3593592" y="3429000"/>
            <a:ext cx="2221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objeto de 2 kg viaja a 5 m/s y se detiene tras 2,5 m debido al roce. Calcula la fuerza de roce usando W neto = ΔEc.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81344" y="1554480"/>
            <a:ext cx="2679192" cy="3063240"/>
          </a:xfrm>
          <a:prstGeom prst="roundRect">
            <a:avLst>
              <a:gd name="adj" fmla="val 2730"/>
            </a:avLst>
          </a:prstGeom>
          <a:solidFill>
            <a:srgbClr val="EDE6F0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9944" y="1764792"/>
            <a:ext cx="320040" cy="320040"/>
          </a:xfrm>
          <a:prstGeom prst="ellipse">
            <a:avLst/>
          </a:prstGeom>
          <a:solidFill>
            <a:srgbClr val="6B4C7A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144" y="1764792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Desafío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09944" y="2286000"/>
            <a:ext cx="2221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6B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6409944" y="2514600"/>
            <a:ext cx="2221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energía, roce y potencia en una sola situación.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9944" y="3200400"/>
            <a:ext cx="2221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6B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6409944" y="3429000"/>
            <a:ext cx="2221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caja de 10 kg baja una rampa sin roce desde 2 m y luego cruza 4 m de piso rugoso hasta detenerse. Calcula la fuerza de roce del piso y la potencia media si tardó 2 s en cruzarlo.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864608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 2° Medio · Unidad 3 · Sesión 4 · Prof. Felipe Jiménez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CONVERSAR · 10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50" b="1" dirty="0">
                <a:solidFill>
                  <a:srgbClr val="1F3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 para reflexionar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respuesta única — apuntan a discutir en parejas o como curso, no a evaluarse.</a:t>
            </a:r>
            <a:endParaRPr lang="en-US" sz="133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046720" cy="2743200"/>
          </a:xfrm>
          <a:prstGeom prst="roundRect">
            <a:avLst>
              <a:gd name="adj" fmla="val 2667"/>
            </a:avLst>
          </a:prstGeom>
          <a:solidFill>
            <a:srgbClr val="F4F7F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37360"/>
            <a:ext cx="74066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35000"/>
              </a:lnSpc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roce "hace desaparecer" la energía mecánica, ¿desaparece realmente la energía, o solo cambia de forma? ¿Qué evidencia cotidiana tenemos de eso?</a:t>
            </a:r>
            <a:endParaRPr lang="en-US" sz="1400" dirty="0"/>
          </a:p>
          <a:p>
            <a:pPr marL="228600" indent="-228600">
              <a:lnSpc>
                <a:spcPct val="135000"/>
              </a:lnSpc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 imposible construir una máquina que se mueva para siempre sin perder energía?</a:t>
            </a:r>
            <a:endParaRPr lang="en-US" sz="1400" dirty="0"/>
          </a:p>
          <a:p>
            <a:pPr marL="228600" indent="-228600">
              <a:lnSpc>
                <a:spcPct val="135000"/>
              </a:lnSpc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usamos aceite en motores y cadenas de bicicleta? ¿Qué relación tiene con lo que vimos hoy?</a:t>
            </a:r>
            <a:endParaRPr lang="en-US" sz="1400" dirty="0"/>
          </a:p>
          <a:p>
            <a:pPr marL="228600" indent="-228600">
              <a:lnSpc>
                <a:spcPct val="135000"/>
              </a:lnSpc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pudiéramos eliminar completamente el roce, ¿podríamos caminar? ¿Podría frenar un auto?</a:t>
            </a:r>
            <a:endParaRPr lang="en-US" sz="1400" dirty="0"/>
          </a:p>
          <a:p>
            <a:pPr marL="228600" indent="-228600">
              <a:lnSpc>
                <a:spcPct val="135000"/>
              </a:lnSpc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grúas levantan la misma carga a la misma altura, pero una es el doble de rápida. ¿En qué se parecen y en qué se diferencian?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864608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 2° Medio · Unidad 3 · Sesión 4 · Prof. Felipe Jiménez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· 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50" b="1" dirty="0">
                <a:solidFill>
                  <a:srgbClr val="1F3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Semáforo pedagógico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estudiante marca su nivel de comprensión antes de salir de la clase.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679192" cy="2194560"/>
          </a:xfrm>
          <a:prstGeom prst="roundRect">
            <a:avLst>
              <a:gd name="adj" fmla="val 3333"/>
            </a:avLst>
          </a:prstGeom>
          <a:solidFill>
            <a:srgbClr val="E3F0E7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810512"/>
            <a:ext cx="457200" cy="457200"/>
          </a:xfrm>
          <a:prstGeom prst="ellipse">
            <a:avLst/>
          </a:prstGeom>
          <a:solidFill>
            <a:srgbClr val="3F8A5C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81051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22219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Entiendo cómo el roce afecta a Em, aplico el teorema trabajo-energía y calculo potencia con confianza.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3364992" y="1600200"/>
            <a:ext cx="2679192" cy="2194560"/>
          </a:xfrm>
          <a:prstGeom prst="roundRect">
            <a:avLst>
              <a:gd name="adj" fmla="val 3333"/>
            </a:avLst>
          </a:prstGeom>
          <a:solidFill>
            <a:srgbClr val="F2E3C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93592" y="1810512"/>
            <a:ext cx="457200" cy="457200"/>
          </a:xfrm>
          <a:prstGeom prst="ellipse">
            <a:avLst/>
          </a:prstGeom>
          <a:solidFill>
            <a:srgbClr val="C98A2E"/>
          </a:solidFill>
          <a:ln/>
        </p:spPr>
      </p:sp>
      <p:sp>
        <p:nvSpPr>
          <p:cNvPr id="11" name="Text 9"/>
          <p:cNvSpPr/>
          <p:nvPr/>
        </p:nvSpPr>
        <p:spPr>
          <a:xfrm>
            <a:off x="4187952" y="181051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Amarillo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93592" y="2377440"/>
            <a:ext cx="22219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Entiendo las ideas generales, pero tengo dudas al aplicar las fórmulas en ejercicios combinados.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6181344" y="1600200"/>
            <a:ext cx="2679192" cy="2194560"/>
          </a:xfrm>
          <a:prstGeom prst="roundRect">
            <a:avLst>
              <a:gd name="adj" fmla="val 3333"/>
            </a:avLst>
          </a:prstGeom>
          <a:solidFill>
            <a:srgbClr val="F7E6E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9944" y="1810512"/>
            <a:ext cx="457200" cy="457200"/>
          </a:xfrm>
          <a:prstGeom prst="ellipse">
            <a:avLst/>
          </a:prstGeom>
          <a:solidFill>
            <a:srgbClr val="B5473F"/>
          </a:solidFill>
          <a:ln/>
        </p:spPr>
      </p:sp>
      <p:sp>
        <p:nvSpPr>
          <p:cNvPr id="15" name="Text 13"/>
          <p:cNvSpPr/>
          <p:nvPr/>
        </p:nvSpPr>
        <p:spPr>
          <a:xfrm>
            <a:off x="7004304" y="181051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Rojo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9944" y="2377440"/>
            <a:ext cx="22219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Todavía confundo trabajo con potencia, o no sé cómo incorporar el roce al teorema trabajo-energía.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preguntas de reflexión: ¿qué aprendí hoy? ¿qué me costó más? ¿qué necesito repasar antes de la Evaluación N°1?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548640" y="4864608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 2° Medio · Unidad 3 · Sesión 4 · Prof. Felipe Jiménez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3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DE LA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esencial de hoy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roce es una fuerza no conservativa: ΔEm = W roce, la energía se disipa como calor.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teorema trabajo-energía sigue valiendo con roce: W neto = ΔEc.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potencia mide qué tan rápido se transfiere energía: P = W/t = F·v.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esto cerramos OA11 — evaluación formal a continuación.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35040" y="160020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3F5C67"/>
          </a:solidFill>
          <a:ln/>
        </p:spPr>
      </p:sp>
      <p:sp>
        <p:nvSpPr>
          <p:cNvPr id="6" name="Text 4"/>
          <p:cNvSpPr/>
          <p:nvPr/>
        </p:nvSpPr>
        <p:spPr>
          <a:xfrm>
            <a:off x="6263640" y="17830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spc="100" kern="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6263640" y="20574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 N°1</a:t>
            </a:r>
            <a:endParaRPr lang="en-US" sz="19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(OA11)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263640" y="28803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Cubre trabajo, energía cinética, potencial, mecánica, conservación, roce y potencia (Sesiones 1 a 4).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8FA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 2° Medio · Unidad 3 · Prof. Felipe Jiménez</a:t>
            </a:r>
            <a:endParaRPr lang="en-US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3 - Sesión 4 - Roce, trabajo-energía y potencia mecánica</dc:title>
  <dc:subject>PptxGenJS Presentation</dc:subject>
  <dc:creator>Felipe Jiménez</dc:creator>
  <cp:lastModifiedBy>Felipe Jiménez</cp:lastModifiedBy>
  <cp:revision>1</cp:revision>
  <dcterms:created xsi:type="dcterms:W3CDTF">2026-09-28T23:16:34Z</dcterms:created>
  <dcterms:modified xsi:type="dcterms:W3CDTF">2026-09-28T23:16:34Z</dcterms:modified>
</cp:coreProperties>
</file>