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03a067a47b9451a" Type="http://schemas.openxmlformats.org/package/2006/relationships/metadata/core-properties" Target="docProps/core.xml"/><Relationship Id="R1aa034bbe54b43ae" Type="http://schemas.openxmlformats.org/officeDocument/2006/relationships/officeDocument" Target="ppt/presentation.xml"/><Relationship Id="Rede602227b894d49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85e69ba6a74788"/>
  </p:sldMasterIdLst>
  <p:notesMasterIdLst>
    <p:notesMasterId xmlns:r="http://schemas.openxmlformats.org/officeDocument/2006/relationships" r:id="R125f6cc55d0d4246"/>
  </p:notesMasterIdLst>
  <p:sldIdLst>
    <p:sldId xmlns:r="http://schemas.openxmlformats.org/officeDocument/2006/relationships" id="256" r:id="Rb5e8c1b91882481c"/>
    <p:sldId xmlns:r="http://schemas.openxmlformats.org/officeDocument/2006/relationships" id="257" r:id="R7028159f85954917"/>
    <p:sldId xmlns:r="http://schemas.openxmlformats.org/officeDocument/2006/relationships" id="258" r:id="Re08adaf4de1b4d08"/>
    <p:sldId xmlns:r="http://schemas.openxmlformats.org/officeDocument/2006/relationships" id="259" r:id="Rf051e227021c48d2"/>
    <p:sldId xmlns:r="http://schemas.openxmlformats.org/officeDocument/2006/relationships" id="260" r:id="Ree028d3906464849"/>
    <p:sldId xmlns:r="http://schemas.openxmlformats.org/officeDocument/2006/relationships" id="261" r:id="R0d16849db8d24880"/>
    <p:sldId xmlns:r="http://schemas.openxmlformats.org/officeDocument/2006/relationships" id="262" r:id="R573e3279bc8a4179"/>
    <p:sldId xmlns:r="http://schemas.openxmlformats.org/officeDocument/2006/relationships" id="263" r:id="R33314e5d5f154f14"/>
    <p:sldId xmlns:r="http://schemas.openxmlformats.org/officeDocument/2006/relationships" id="264" r:id="Rf40bdaf3598d4823"/>
    <p:sldId xmlns:ns0="http://schemas.openxmlformats.org/officeDocument/2006/relationships" id="270" ns0:id="rId20"/>
    <p:sldId xmlns:r="http://schemas.openxmlformats.org/officeDocument/2006/relationships" id="265" r:id="Ra4a8ad64e9014cea"/>
    <p:sldId xmlns:r="http://schemas.openxmlformats.org/officeDocument/2006/relationships" id="266" r:id="R3e24565f580e4095"/>
    <p:sldId xmlns:ns0="http://schemas.openxmlformats.org/officeDocument/2006/relationships" id="271" ns0:id="rId21"/>
    <p:sldId xmlns:r="http://schemas.openxmlformats.org/officeDocument/2006/relationships" id="267" r:id="Re8996aff3226453c"/>
    <p:sldId xmlns:r="http://schemas.openxmlformats.org/officeDocument/2006/relationships" id="268" r:id="R217ea66a89da4692"/>
    <p:sldId xmlns:r="http://schemas.openxmlformats.org/officeDocument/2006/relationships" id="269" r:id="R2852edfb0d0f4df1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d16849db8d24880" Type="http://schemas.openxmlformats.org/officeDocument/2006/relationships/slide" Target="slides/slide6.xml"/><Relationship Id="R125f6cc55d0d4246" Type="http://schemas.openxmlformats.org/officeDocument/2006/relationships/notesMaster" Target="notesMasters/notesMaster1.xml"/><Relationship Id="R217ea66a89da4692" Type="http://schemas.openxmlformats.org/officeDocument/2006/relationships/slide" Target="slides/slide13.xml"/><Relationship Id="R2852edfb0d0f4df1" Type="http://schemas.openxmlformats.org/officeDocument/2006/relationships/slide" Target="slides/slide14.xml"/><Relationship Id="R33314e5d5f154f14" Type="http://schemas.openxmlformats.org/officeDocument/2006/relationships/slide" Target="slides/slide8.xml"/><Relationship Id="R3e24565f580e4095" Type="http://schemas.openxmlformats.org/officeDocument/2006/relationships/slide" Target="slides/slide11.xml"/><Relationship Id="R4c85e69ba6a74788" Type="http://schemas.openxmlformats.org/officeDocument/2006/relationships/slideMaster" Target="slideMasters/slideMaster1.xml"/><Relationship Id="R573e3279bc8a4179" Type="http://schemas.openxmlformats.org/officeDocument/2006/relationships/slide" Target="slides/slide7.xml"/><Relationship Id="R7028159f85954917" Type="http://schemas.openxmlformats.org/officeDocument/2006/relationships/slide" Target="slides/slide2.xml"/><Relationship Id="R76e3c40842704e5e" Type="http://schemas.openxmlformats.org/officeDocument/2006/relationships/tableStyles" Target="tableStyles.xml"/><Relationship Id="R793f34d240744f39" Type="http://schemas.openxmlformats.org/officeDocument/2006/relationships/presProps" Target="presProps.xml"/><Relationship Id="Ra4a8ad64e9014cea" Type="http://schemas.openxmlformats.org/officeDocument/2006/relationships/slide" Target="slides/slide10.xml"/><Relationship Id="Rb5e8c1b91882481c" Type="http://schemas.openxmlformats.org/officeDocument/2006/relationships/slide" Target="slides/slide1.xml"/><Relationship Id="Re08adaf4de1b4d08" Type="http://schemas.openxmlformats.org/officeDocument/2006/relationships/slide" Target="slides/slide3.xml"/><Relationship Id="Re8996aff3226453c" Type="http://schemas.openxmlformats.org/officeDocument/2006/relationships/slide" Target="slides/slide12.xml"/><Relationship Id="Ree028d3906464849" Type="http://schemas.openxmlformats.org/officeDocument/2006/relationships/slide" Target="slides/slide5.xml"/><Relationship Id="Rf051e227021c48d2" Type="http://schemas.openxmlformats.org/officeDocument/2006/relationships/slide" Target="slides/slide4.xml"/><Relationship Id="Rf40bdaf3598d4823" Type="http://schemas.openxmlformats.org/officeDocument/2006/relationships/slide" Target="slides/slide9.xml"/><Relationship Id="Rf8ec1465d9b54588" Type="http://schemas.openxmlformats.org/officeDocument/2006/relationships/theme" Target="theme/theme1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df05dc126196497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887cac17ec44b5a" Type="http://schemas.openxmlformats.org/officeDocument/2006/relationships/notesMaster" Target="../notesMasters/notesMaster1.xml"/><Relationship Id="Rf910550b528e4d0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a88244650a144b21" Type="http://schemas.openxmlformats.org/officeDocument/2006/relationships/notesMaster" Target="../notesMasters/notesMaster1.xml"/><Relationship Id="Rc1a2af14dfe84c2d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7e4ebddab68b49d4" Type="http://schemas.openxmlformats.org/officeDocument/2006/relationships/slide" Target="../slides/slide3.xml"/><Relationship Id="Rf27fb8ad527e434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c17fa553ea8f4ac9" Type="http://schemas.openxmlformats.org/officeDocument/2006/relationships/slide" Target="../slides/slide4.xml"/><Relationship Id="Rd7533ffb70494dc0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1a87a5b736c14537" Type="http://schemas.openxmlformats.org/officeDocument/2006/relationships/notesMaster" Target="../notesMasters/notesMaster1.xml"/><Relationship Id="Rb2c9dcfdaf1b4ce6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7d0177a526ac4a37" Type="http://schemas.openxmlformats.org/officeDocument/2006/relationships/notesMaster" Target="../notesMasters/notesMaster1.xml"/><Relationship Id="Rf34082e75aa44eac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2fda3f6c41cc40bc" Type="http://schemas.openxmlformats.org/officeDocument/2006/relationships/notesMaster" Target="../notesMasters/notesMaster1.xml"/><Relationship Id="R460e6eea8ef7434a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50c07451e2554905" Type="http://schemas.openxmlformats.org/officeDocument/2006/relationships/slide" Target="../slides/slide8.xml"/><Relationship Id="Rfcf9ece291944e47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31f0eb7a44dd43ae" Type="http://schemas.openxmlformats.org/officeDocument/2006/relationships/notesMaster" Target="../notesMasters/notesMaster1.xml"/><Relationship Id="R58cd485837944c90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c0389f25387c42ba" Type="http://schemas.openxmlformats.org/officeDocument/2006/relationships/slide" Target="../slides/slide10.xml"/><Relationship Id="Rcad812b4aa054c7d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71d5917979194dfa" Type="http://schemas.openxmlformats.org/officeDocument/2006/relationships/notesMaster" Target="../notesMasters/notesMaster1.xml"/><Relationship Id="R7d8efb2753b04e1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02600a6f0a5143d8" Type="http://schemas.openxmlformats.org/officeDocument/2006/relationships/notesMaster" Target="../notesMasters/notesMaster1.xml"/><Relationship Id="R0bc397fe4fa74607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36d03af91130460a" Type="http://schemas.openxmlformats.org/officeDocument/2006/relationships/notesMaster" Target="../notesMasters/notesMaster1.xml"/><Relationship Id="R74151ae946e54887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d17baa80b6144c67" Type="http://schemas.openxmlformats.org/officeDocument/2006/relationships/slide" Target="../slides/slide14.xml"/><Relationship Id="Re94e3b34fdf74ed5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esta clase como la apertura del segundo ciclo de la unidad. Conecta brevemente con el cierre de OA 11: ahora miraremos el movimiento desde la cantidad de movimiento.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el recorrido completo. Explica que primero activarán ideas previas, luego construirán y aplicarán el concepto, y al final cosecharán aprendizajes.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Think (2 min): cada estudiante decide y anota una razón. Pair (3 min): comparan respuestas y buscan qué datos faltan. Share (5 min): escuchan distintas ideas; no entregues todavía una respuesta única.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p como una forma de describir cuánto movimiento tiene un cuerpo. Aclara que usamos valores aproximados y que masa por velocidad determina el resultado.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Resuelve en voz alta siguiendo los pasos: identifica masa y velocidad, reemplaza y expresa unidad. La pelota se mueve a 20 m/s; el signo se abordará en la siguiente diapositiva.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Fija una dirección positiva para el eje. En una dimensión, una velocidad hacia la derecha es positiva y hacia la izquierda negativa; p hereda el signo de v porque m es positiva. En la presentación, haz clic para mostrar primero el vector del carro A y luego el del carro 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Subraya que el signo representa dirección. La suma da el momento total del sistema para el eje elegido. Si el resultado es positivo, apunta hacia +x.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 qué describe cada magnitud. Ejemplo: con p = 6 kg·m/s, m=2 kg implica v=3 m/s y Ec=9 J; m=3 kg implica v=2 m/s y Ec=6 J. Mismo p, distinta energía cinética.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ambos casos los cuerpos interactúan y su movimiento cambia. Hoy describimos el antes y el después; la conservación de la cantidad de movimiento y el estudio de colisiones quedan para la sesión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Empuja ambos carritos con la misma rapidez, de manera segura y en una superficie despejada. Si no hay carritos, usa canicas de masas distintas y compara solo el efecto cualitativo. Pide predicción y registro antes de observar.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 15 minutos para trabajar. Cada estudiante parte por el nivel básico y avanza según su ritmo. En los cálculos, explicita el eje y conserva los signos. Resultados están en las notas.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Organiza una conversación breve en grupos. Invita a usar las ideas de masa, velocidad, dirección y cambio de movimiento. No es necesario explicar aún el impulso.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Pide que cada estudiante elija un color y complete la frase en una nota o verbalmente. Usa la información para decidir qué retomar al iniciar la próxima clase.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Cierra recuperando las cuatro ideas. Anuncia que en la próxima sesión estudiarán el impulso, que relaciona fuerza, tiempo y cambio de cantidad de movimiento.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30370b2753c479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337a0a4569234c4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eb5e8d001892476e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4b91a60e00404f8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53561f2f833a47a8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0e6fe17eedf24c3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ED9F0F-AB77-4B0D-9DB2-5EDCE1CA1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A24B1B4-07C7-4606-AB6A-05BA5B776E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7F7B633-ACDD-4C76-A323-7AE711372A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6FE347-E998-435C-B1AC-88836791BF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6E93EF4-2EBA-41FD-8BA1-8E4DD30D1B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36A538-2AD1-4772-B6D7-C40BE08EF1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3EEFE0-C2FA-439B-8A1F-515B05507D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96C5125-8C0A-43CD-AA9A-4993FCAC4D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5593E8-05F0-4343-BCD0-33C412184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E9775E-DA5C-4DBA-A772-F8C8FB5D56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60f5f68cd5e4d66" Type="http://schemas.openxmlformats.org/officeDocument/2006/relationships/slideLayout" Target="../slideLayouts/slideLayout4.xml"/><Relationship Id="R2ad9cdadbe4848aa" Type="http://schemas.openxmlformats.org/officeDocument/2006/relationships/slideLayout" Target="../slideLayouts/slideLayout1.xml"/><Relationship Id="R571ca2ebb0874342" Type="http://schemas.openxmlformats.org/officeDocument/2006/relationships/theme" Target="theme/theme2.xml"/><Relationship Id="Rb89cd2bb94624ee6" Type="http://schemas.openxmlformats.org/officeDocument/2006/relationships/slideLayout" Target="../slideLayouts/slideLayout6.xml"/><Relationship Id="Rdbb9304e2cac462c" Type="http://schemas.openxmlformats.org/officeDocument/2006/relationships/slideLayout" Target="../slideLayouts/slideLayout5.xml"/><Relationship Id="Re054307b56554052" Type="http://schemas.openxmlformats.org/officeDocument/2006/relationships/slideLayout" Target="../slideLayouts/slideLayout2.xml"/><Relationship Id="Rf2768040358b4f89" Type="http://schemas.openxmlformats.org/officeDocument/2006/relationships/slideLayout" Target="../slideLayouts/slideLayout3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d9cdadbe4848aa"/>
    <p:sldLayoutId xmlns:r="http://schemas.openxmlformats.org/officeDocument/2006/relationships" id="2147483650" r:id="Re054307b56554052"/>
    <p:sldLayoutId xmlns:r="http://schemas.openxmlformats.org/officeDocument/2006/relationships" id="2147483651" r:id="Rf2768040358b4f89"/>
    <p:sldLayoutId xmlns:r="http://schemas.openxmlformats.org/officeDocument/2006/relationships" id="2147483652" r:id="R160f5f68cd5e4d66"/>
    <p:sldLayoutId xmlns:r="http://schemas.openxmlformats.org/officeDocument/2006/relationships" id="2147483653" r:id="Rdbb9304e2cac462c"/>
    <p:sldLayoutId xmlns:r="http://schemas.openxmlformats.org/officeDocument/2006/relationships" id="2147483654" r:id="Rb89cd2bb94624e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9a5ee5798a364fc5" Type="http://schemas.openxmlformats.org/officeDocument/2006/relationships/slideLayout" Target="../slideLayouts/slideLayout6.xml"/><Relationship Id="Rd542e37c62c54dad" Type="http://schemas.openxmlformats.org/officeDocument/2006/relationships/notesSlide" Target="../notesSlides/notesSlide1.xml"/><Relationship Id="Re0e1860a06f447d3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466c81f2f903418b" Type="http://schemas.openxmlformats.org/officeDocument/2006/relationships/slideLayout" Target="../slideLayouts/slideLayout6.xml"/><Relationship Id="R7e0d4a15fbf3495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02cc022029f1497f" Type="http://schemas.openxmlformats.org/officeDocument/2006/relationships/slideLayout" Target="../slideLayouts/slideLayout6.xml"/><Relationship Id="R605f0d94921f486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69f3258e4a9a4531" Type="http://schemas.openxmlformats.org/officeDocument/2006/relationships/notesSlide" Target="../notesSlides/notesSlide4.xml"/><Relationship Id="Rf8bc786655fd4d6f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9eee0742e0df4f54" Type="http://schemas.openxmlformats.org/officeDocument/2006/relationships/notesSlide" Target="../notesSlides/notesSlide5.xml"/><Relationship Id="Rdd495a537dd14bb6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4a6eb5873e0140c5" Type="http://schemas.openxmlformats.org/officeDocument/2006/relationships/slideLayout" Target="../slideLayouts/slideLayout6.xml"/><Relationship Id="Re3f0dd757fee404d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96bb5994ec604852" Type="http://schemas.openxmlformats.org/officeDocument/2006/relationships/slideLayout" Target="../slideLayouts/slideLayout6.xml"/><Relationship Id="Ref7cafa960b548e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919b62eaf1124a4a" Type="http://schemas.openxmlformats.org/officeDocument/2006/relationships/slideLayout" Target="../slideLayouts/slideLayout6.xml"/><Relationship Id="R951ab73f4bcd4b6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53e9fb797ab74d9d" Type="http://schemas.openxmlformats.org/officeDocument/2006/relationships/notesSlide" Target="../notesSlides/notesSlide9.xml"/><Relationship Id="Rc6b9f64b6f524cda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383deb1989614236" Type="http://schemas.openxmlformats.org/officeDocument/2006/relationships/slideLayout" Target="../slideLayouts/slideLayout6.xml"/><Relationship Id="R7469caa4f71f425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3841fd5530f14d66" Type="http://schemas.openxmlformats.org/officeDocument/2006/relationships/notesSlide" Target="../notesSlides/notesSlide11.xml"/><Relationship Id="Ra29825ac638147ec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8e0dfe8d013944ed" Type="http://schemas.openxmlformats.org/officeDocument/2006/relationships/notesSlide" Target="../notesSlides/notesSlide12.xml"/><Relationship Id="R95c8cb85e6b3466d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11284b643f1240d2" Type="http://schemas.openxmlformats.org/officeDocument/2006/relationships/slideLayout" Target="../slideLayouts/slideLayout6.xml"/><Relationship Id="R12264e68f7a5420b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2a5087a90e064804" Type="http://schemas.openxmlformats.org/officeDocument/2006/relationships/notesSlide" Target="../notesSlides/notesSlide14.xml"/><Relationship Id="Rd7151dc67c934da8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youtube.com/watch?v=4DJVlZjiGRU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3A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9D2C0-D50E-4889-85C1-EB4BDC63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78FC1-BF01-48A9-B5A1-61D488BB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763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BBD1D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00" b="1">
                <a:solidFill>
                  <a:srgbClr val="BBD1D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1">
                <a:solidFill>
                  <a:srgbClr val="BBD1D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1">
                <a:solidFill>
                  <a:srgbClr val="BBD1D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1">
                <a:solidFill>
                  <a:srgbClr val="BBD1D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1">
                <a:solidFill>
                  <a:srgbClr val="BBD1D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1">
                <a:solidFill>
                  <a:srgbClr val="BBD1D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1">
                <a:solidFill>
                  <a:srgbClr val="BBD1D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1">
                <a:solidFill>
                  <a:srgbClr val="BBD1D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1">
                <a:solidFill>
                  <a:srgbClr val="BBD1D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BBD1D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BBD1D2"/>
                </a:solidFill>
                <a:latin typeface="Calibri"/>
                <a:ea typeface="Calibri"/>
                <a:cs typeface="Calibri"/>
              </a:rPr>
              <a:t>FÍSICA · 2° MEDIO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60930-07F0-4161-9DA1-3D1B9037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7160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  <a:lvl1pPr algn="l">
              <a:buNone/>
              <a:defRPr sz="39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lvl1pPr>
            <a:lvl2pPr algn="l">
              <a:buNone/>
              <a:defRPr sz="39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lvl2pPr>
            <a:lvl3pPr algn="l">
              <a:buNone/>
              <a:defRPr sz="39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lvl3pPr>
            <a:lvl4pPr algn="l">
              <a:buNone/>
              <a:defRPr sz="39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lvl4pPr>
            <a:lvl5pPr algn="l">
              <a:buNone/>
              <a:defRPr sz="39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lvl5pPr>
            <a:lvl6pPr algn="l">
              <a:buNone/>
              <a:defRPr sz="39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lvl6pPr>
            <a:lvl7pPr algn="l">
              <a:buNone/>
              <a:defRPr sz="39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lvl7pPr>
            <a:lvl8pPr algn="l">
              <a:buNone/>
              <a:defRPr sz="39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lvl8pPr>
            <a:lvl9pPr algn="l">
              <a:buNone/>
              <a:defRPr sz="39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9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Cantidad de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9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movimiento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51667-A24A-4ADD-B3DB-5F5C4066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E1EAEB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650" b="0">
                <a:solidFill>
                  <a:srgbClr val="E1EAEB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 b="0">
                <a:solidFill>
                  <a:srgbClr val="E1EAEB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 b="0">
                <a:solidFill>
                  <a:srgbClr val="E1EAEB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 b="0">
                <a:solidFill>
                  <a:srgbClr val="E1EAEB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 b="0">
                <a:solidFill>
                  <a:srgbClr val="E1EAEB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 b="0">
                <a:solidFill>
                  <a:srgbClr val="E1EAEB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 b="0">
                <a:solidFill>
                  <a:srgbClr val="E1EAEB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 b="0">
                <a:solidFill>
                  <a:srgbClr val="E1EAEB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 b="0">
                <a:solidFill>
                  <a:srgbClr val="E1EAE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E1EAE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1EAEB"/>
                </a:solidFill>
                <a:latin typeface="Calibri"/>
                <a:ea typeface="Calibri"/>
                <a:cs typeface="Calibri"/>
              </a:rPr>
              <a:t>Unidad 3 · Energía mecánica y cantidad de movimiento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A066D-1FE8-4514-BE70-CA1416E4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194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F2E3C8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725" b="1">
                <a:solidFill>
                  <a:srgbClr val="F2E3C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725" b="1">
                <a:solidFill>
                  <a:srgbClr val="F2E3C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725" b="1">
                <a:solidFill>
                  <a:srgbClr val="F2E3C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725" b="1">
                <a:solidFill>
                  <a:srgbClr val="F2E3C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725" b="1">
                <a:solidFill>
                  <a:srgbClr val="F2E3C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725" b="1">
                <a:solidFill>
                  <a:srgbClr val="F2E3C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725" b="1">
                <a:solidFill>
                  <a:srgbClr val="F2E3C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725" b="1">
                <a:solidFill>
                  <a:srgbClr val="F2E3C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725" b="1">
                <a:solidFill>
                  <a:srgbClr val="F2E3C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F2E3C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2E3C8"/>
                </a:solidFill>
                <a:latin typeface="Calibri"/>
                <a:ea typeface="Calibri"/>
                <a:cs typeface="Calibri"/>
              </a:rPr>
              <a:t>OA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1E54D-268C-4467-9B2E-98A637D1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481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D5E0E1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 b="0">
                <a:solidFill>
                  <a:srgbClr val="D5E0E1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D5E0E1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D5E0E1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D5E0E1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D5E0E1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D5E0E1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D5E0E1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D5E0E1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D5E0E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D5E0E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5E0E1"/>
                </a:solidFill>
                <a:latin typeface="Calibri"/>
                <a:ea typeface="Calibri"/>
                <a:cs typeface="Calibri"/>
              </a:rPr>
              <a:t>Colegio San Agustín de Villa Alemana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EA664-759E-4A52-B6FC-4201AEFB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338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D5E0E1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 b="0">
                <a:solidFill>
                  <a:srgbClr val="D5E0E1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D5E0E1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D5E0E1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D5E0E1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D5E0E1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D5E0E1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D5E0E1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D5E0E1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D5E0E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D5E0E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5E0E1"/>
                </a:solidFill>
                <a:latin typeface="Calibri"/>
                <a:ea typeface="Calibri"/>
                <a:cs typeface="Calibri"/>
              </a:rPr>
              <a:t>Profesor: Felipe Jiménez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5989D-FB04-4B78-A1FC-F261AFD688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1860a06f447d3"/>
          <a:srcRect xmlns:a="http://schemas.openxmlformats.org/drawingml/2006/main" l="0" t="0" r="42000" b="75000"/>
          <a:stretch xmlns:a="http://schemas.openxmlformats.org/drawingml/2006/main"/>
        </p:blipFill>
        <p:spPr>
          <a:xfrm xmlns:a="http://schemas.openxmlformats.org/drawingml/2006/main">
            <a:off x="5429250" y="1162050"/>
            <a:ext cx="3181350" cy="1352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2072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F88FF7-ABDD-4361-A5F8-D3BC7F49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RUTA DE HOY · 90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F26DF-B477-463E-92D5-8CD94594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defPPr>
            <a:lvl1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1pPr>
            <a:lvl2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2pPr>
            <a:lvl3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3pPr>
            <a:lvl4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4pPr>
            <a:lvl5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5pPr>
            <a:lvl6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6pPr>
            <a:lvl7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7pPr>
            <a:lvl8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8pPr>
            <a:lvl9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pPr>
            <a:r>
              <a:rPr sz="2550" b="1">
                <a:solidFill>
                  <a:srgbClr val="1F3A44"/>
                </a:solidFill>
                <a:latin typeface="Cambria"/>
                <a:ea typeface="Cambria"/>
                <a:cs typeface="Cambria"/>
              </a:rPr>
              <a:t>Estructura de la clase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74214-C93B-4E29-9685-C967AAF7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22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C90DE-3EA1-41A4-A43D-1413B700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910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EF1EF-2A4B-4CE9-AFFF-B1666E96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5146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C5527-365C-42D0-AE09-0F466644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SIEMBRA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DF13E-42F7-449D-A09E-3E2DE5F1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Activación · 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39F80-4176-4DEF-8737-21FDB705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¿Qué cuesta más detener?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A99E4-19AA-43CC-91F8-792571E7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62100"/>
            <a:ext cx="25146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BCD73-144A-4F55-A227-1C2A3C3C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526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RIEGO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04744-228F-4847-AF82-E07E0594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90750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Conceptos y práctica · 65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D03EAA-E7C9-4652-9BF8-848A0D3E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7180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Definimos, comparamos y resolvemos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2C17C-C1E5-4BF0-8B35-17700627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25146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2E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84605-A864-4E9D-B1FD-9B1DAC44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C98A2E"/>
                </a:solidFill>
                <a:latin typeface="Calibri"/>
                <a:ea typeface="Calibri"/>
                <a:cs typeface="Calibri"/>
              </a:rPr>
              <a:t>COSECHA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115D8C-80F8-45EF-9564-75DF8B8C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Conversación y cierre · 15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D803C-C4EB-4728-BAC4-41767A47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Reflexionamos y sintetizamos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75E78D-492B-405E-AD22-0B1DA873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 b="1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 b="1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 b="1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 b="1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 b="1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 b="1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 b="1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 b="1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 b="1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Marco “Jardinero Pedagógico”</a:t>
            </a:r>
          </a:p>
        </p:txBody>
      </p:sp>
    </p:spTree>
    <p:extLst>
      <p:ext uri="{BB962C8B-B14F-4D97-AF65-F5344CB8AC3E}">
        <p14:creationId xmlns:p14="http://schemas.microsoft.com/office/powerpoint/2010/main" val="13395412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AA9C0B-7E02-4DB4-8928-174FD9BA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ACTIVACIÓN · 10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03CE6-227F-4CA6-AAC5-F1AA6E2F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defPPr>
            <a:lvl1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1pPr>
            <a:lvl2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2pPr>
            <a:lvl3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3pPr>
            <a:lvl4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4pPr>
            <a:lvl5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5pPr>
            <a:lvl6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6pPr>
            <a:lvl7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7pPr>
            <a:lvl8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8pPr>
            <a:lvl9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pPr>
            <a:r>
              <a:rPr sz="2550" b="1">
                <a:solidFill>
                  <a:srgbClr val="1F3A44"/>
                </a:solidFill>
                <a:latin typeface="Cambria"/>
                <a:ea typeface="Cambria"/>
                <a:cs typeface="Cambria"/>
              </a:rPr>
              <a:t>¿Quién es más difícil de detener?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519D3-05C2-4355-9584-72B5E29F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22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00CE4-14C1-4E0A-A4DF-5FEE1E78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910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DA279-D62C-4982-956E-587F6FFD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defPPr>
            <a:lvl1pPr algn="l">
              <a:buNone/>
              <a:defRPr sz="22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1pPr>
            <a:lvl2pPr algn="l">
              <a:buNone/>
              <a:defRPr sz="22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2pPr>
            <a:lvl3pPr algn="l">
              <a:buNone/>
              <a:defRPr sz="22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3pPr>
            <a:lvl4pPr algn="l">
              <a:buNone/>
              <a:defRPr sz="22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4pPr>
            <a:lvl5pPr algn="l">
              <a:buNone/>
              <a:defRPr sz="22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5pPr>
            <a:lvl6pPr algn="l">
              <a:buNone/>
              <a:defRPr sz="22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6pPr>
            <a:lvl7pPr algn="l">
              <a:buNone/>
              <a:defRPr sz="22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7pPr>
            <a:lvl8pPr algn="l">
              <a:buNone/>
              <a:defRPr sz="22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8pPr>
            <a:lvl9pPr algn="l">
              <a:buNone/>
              <a:defRPr sz="22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pPr>
            <a:r>
              <a:rPr sz="2250" b="1">
                <a:solidFill>
                  <a:srgbClr val="1F3A44"/>
                </a:solidFill>
                <a:latin typeface="Cambria"/>
                <a:ea typeface="Cambria"/>
                <a:cs typeface="Cambria"/>
              </a:rPr>
              <a:t>Un camión lento o una bicicleta rápida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01432-0BDD-402C-8517-274235B9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2C7A8-6A5C-4E6D-8B98-AC9194C9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133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THINK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BA0BA-617B-4D1E-98E5-12FF9815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2133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2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A8B38-FA2F-48D8-9408-398D0822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Piensa y anota tu idea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025A6-6014-4B5D-ABC7-197BD91E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E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21C79-6957-478D-A55C-9BF365A6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52700"/>
            <a:ext cx="2133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PAIR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33107-166C-486A-8E7D-0B7D8C0E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2133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3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CA838-C1FC-44D2-96F5-EB99A9DE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Coméntala con alguien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0D5E6-6659-4CDC-9B95-32C3E624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8125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88B64D-844F-49A0-AF91-CF7D87E9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2133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SHARE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689B0-E79E-425F-92EF-455C3330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2133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C03F5B-5672-4DEA-8023-470099A9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956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Compartamos razones</a:t>
            </a:r>
          </a:p>
        </p:txBody>
      </p:sp>
    </p:spTree>
    <p:extLst>
      <p:ext uri="{BB962C8B-B14F-4D97-AF65-F5344CB8AC3E}">
        <p14:creationId xmlns:p14="http://schemas.microsoft.com/office/powerpoint/2010/main" val="1691277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5B826-9674-47F1-AF6D-154D768E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CONCEPTO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ECD46-4EA7-4E40-A20A-4678B823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defPPr>
            <a:lvl1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1pPr>
            <a:lvl2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2pPr>
            <a:lvl3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3pPr>
            <a:lvl4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4pPr>
            <a:lvl5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5pPr>
            <a:lvl6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6pPr>
            <a:lvl7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7pPr>
            <a:lvl8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8pPr>
            <a:lvl9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pPr>
            <a:r>
              <a:rPr sz="2550" b="1">
                <a:solidFill>
                  <a:srgbClr val="1F3A44"/>
                </a:solidFill>
                <a:latin typeface="Cambria"/>
                <a:ea typeface="Cambria"/>
                <a:cs typeface="Cambria"/>
              </a:rPr>
              <a:t>Cantidad de movimiento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082E2-8154-4082-A25F-25FF6511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22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6B5CB-A6E8-4030-B3B9-05B35722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910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1A767-B81B-4C5C-824A-B4E4AF6F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E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3EF4C-49DC-4C2B-BE74-65915A91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8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defPPr>
            <a:lvl1pPr algn="ctr">
              <a:buNone/>
              <a:defRPr sz="28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1pPr>
            <a:lvl2pPr algn="ctr">
              <a:buNone/>
              <a:defRPr sz="28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2pPr>
            <a:lvl3pPr algn="ctr">
              <a:buNone/>
              <a:defRPr sz="28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3pPr>
            <a:lvl4pPr algn="ctr">
              <a:buNone/>
              <a:defRPr sz="28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4pPr>
            <a:lvl5pPr algn="ctr">
              <a:buNone/>
              <a:defRPr sz="28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5pPr>
            <a:lvl6pPr algn="ctr">
              <a:buNone/>
              <a:defRPr sz="28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6pPr>
            <a:lvl7pPr algn="ctr">
              <a:buNone/>
              <a:defRPr sz="28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7pPr>
            <a:lvl8pPr algn="ctr">
              <a:buNone/>
              <a:defRPr sz="28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8pPr>
            <a:lvl9pPr algn="ctr">
              <a:buNone/>
              <a:defRPr sz="28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ctr">
              <a:buNone/>
              <a:defRPr sz="28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pPr>
            <a:r>
              <a:rPr sz="2850" b="1">
                <a:solidFill>
                  <a:srgbClr val="1F3A44"/>
                </a:solidFill>
                <a:latin typeface="Cambria"/>
                <a:ea typeface="Cambria"/>
                <a:cs typeface="Cambria"/>
              </a:rPr>
              <a:t>p = m · 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CB40C-3BA6-41F6-8011-22B98A9A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3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3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3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3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3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3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3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3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3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Unidad: kg·m/s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8B6C4-91BF-45F1-8582-2928C2EA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04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8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Depende de la masa y de la velocidad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BA4A0-8AD0-49BC-B302-8F22E120903B}"/>
              </a:ext>
            </a:extLst>
          </p:cNvPr>
          <p:cNvGraphicFramePr/>
          <p:nvPr/>
        </p:nvGraphicFramePr>
        <p:xfrm>
          <a:off xmlns:a="http://schemas.openxmlformats.org/drawingml/2006/main" x="533400" y="2781300"/>
          <a:ext xmlns:a="http://schemas.openxmlformats.org/drawingml/2006/main" cx="8077200" cy="1581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524000"/>
                <a:gridCol w="1524000"/>
                <a:gridCol w="2171700"/>
              </a:tblGrid>
              <a:tr h="39528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Caso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1"/>
                      </a:solidFill>
                      <a:prstDash val="solid"/>
                    </a:lnL>
                    <a:lnR w="9525">
                      <a:solidFill>
                        <a:srgbClr val="D7E0E1"/>
                      </a:solidFill>
                      <a:prstDash val="solid"/>
                    </a:lnR>
                    <a:lnT w="9525">
                      <a:solidFill>
                        <a:srgbClr val="D7E0E1"/>
                      </a:solidFill>
                      <a:prstDash val="solid"/>
                    </a:lnT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1F3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Masa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1"/>
                      </a:solidFill>
                      <a:prstDash val="solid"/>
                    </a:lnR>
                    <a:lnT w="9525">
                      <a:solidFill>
                        <a:srgbClr val="D7E0E1"/>
                      </a:solidFill>
                      <a:prstDash val="solid"/>
                    </a:lnT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1F3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Rapidez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1"/>
                      </a:solidFill>
                      <a:prstDash val="solid"/>
                    </a:lnR>
                    <a:lnT w="9525">
                      <a:solidFill>
                        <a:srgbClr val="D7E0E1"/>
                      </a:solidFill>
                      <a:prstDash val="solid"/>
                    </a:lnT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1F3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|p|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1"/>
                      </a:solidFill>
                      <a:prstDash val="solid"/>
                    </a:lnR>
                    <a:lnT w="9525">
                      <a:solidFill>
                        <a:srgbClr val="D7E0E1"/>
                      </a:solidFill>
                      <a:prstDash val="solid"/>
                    </a:lnT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1F3A44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Bicicleta + ciclista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1"/>
                      </a:solidFill>
                      <a:prstDash val="solid"/>
                    </a:lnL>
                    <a:lnR w="9525">
                      <a:solidFill>
                        <a:srgbClr val="D7E0E1"/>
                      </a:solidFill>
                      <a:prstDash val="solid"/>
                    </a:lnR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70 kg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1"/>
                      </a:solidFill>
                      <a:prstDash val="solid"/>
                    </a:lnR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5 m/s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1"/>
                      </a:solidFill>
                      <a:prstDash val="solid"/>
                    </a:lnR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350 kg·m/s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1"/>
                      </a:solidFill>
                      <a:prstDash val="solid"/>
                    </a:lnR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Auto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1"/>
                      </a:solidFill>
                      <a:prstDash val="solid"/>
                    </a:lnL>
                    <a:lnR w="9525">
                      <a:solidFill>
                        <a:srgbClr val="D7E0E1"/>
                      </a:solidFill>
                      <a:prstDash val="solid"/>
                    </a:lnR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1 200 kg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1"/>
                      </a:solidFill>
                      <a:prstDash val="solid"/>
                    </a:lnR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15 m/s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1"/>
                      </a:solidFill>
                      <a:prstDash val="solid"/>
                    </a:lnR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18 000 kg·m/s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1"/>
                      </a:solidFill>
                      <a:prstDash val="solid"/>
                    </a:lnR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Camión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1"/>
                      </a:solidFill>
                      <a:prstDash val="solid"/>
                    </a:lnL>
                    <a:lnR w="9525">
                      <a:solidFill>
                        <a:srgbClr val="D7E0E1"/>
                      </a:solidFill>
                      <a:prstDash val="solid"/>
                    </a:lnR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8 000 kg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1"/>
                      </a:solidFill>
                      <a:prstDash val="solid"/>
                    </a:lnR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10 m/s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1"/>
                      </a:solidFill>
                      <a:prstDash val="solid"/>
                    </a:lnR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80 000 kg·m/s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1"/>
                      </a:solidFill>
                      <a:prstDash val="solid"/>
                    </a:lnR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13415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626E16-44AF-462B-A84D-104BBBDF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CONCEPTO 1 · EJEMPLO RESUELTO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B4A43-FFBF-4806-965D-39E9F746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defPPr>
            <a:lvl1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1pPr>
            <a:lvl2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2pPr>
            <a:lvl3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3pPr>
            <a:lvl4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4pPr>
            <a:lvl5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5pPr>
            <a:lvl6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6pPr>
            <a:lvl7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7pPr>
            <a:lvl8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8pPr>
            <a:lvl9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pPr>
            <a:r>
              <a:rPr sz="2550" b="1">
                <a:solidFill>
                  <a:srgbClr val="1F3A44"/>
                </a:solidFill>
                <a:latin typeface="Cambria"/>
                <a:ea typeface="Cambria"/>
                <a:cs typeface="Cambria"/>
              </a:rPr>
              <a:t>Calculemos la cantidad de movimiento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3F5C3-CA83-4C81-BF93-FE4BB6CD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22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4DCBE-22EE-4E5E-81D2-3E989910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910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717A6-1427-4536-8565-EF2CEA57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3810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0A4D6-750F-45E9-9663-94ADF6F3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AUTO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E1421-602E-45C2-A37C-CC2B9335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 = 1 200 kg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v = 15 m/s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FA9D2-1868-42D9-A906-79DA30C9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7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7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7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7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7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7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7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7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7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p = m · 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0B00E-6891-4CDB-986F-15A4D87A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p = 1 200 · 15 = 18 000 kg·m/s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65BB4-E6EC-4D45-A235-BA9461FB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57325"/>
            <a:ext cx="39243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E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99969-C481-48FC-9316-CEF2D78D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57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C98A2E"/>
                </a:solidFill>
                <a:latin typeface="Calibri"/>
                <a:ea typeface="Calibri"/>
                <a:cs typeface="Calibri"/>
              </a:rPr>
              <a:t>PELOTA DE FÚTBOL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E69AD-9ECD-4F09-8386-03DA3221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4787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 = 0,45 kg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v = 20 m/s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EC4AE-D2AC-4697-B50F-3F81C948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384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7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7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7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7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7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7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7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7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7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p = m · 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676CC-A307-4A31-81AD-7524C911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575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p = 0,45 · 20 = 9 kg·m/s</a:t>
            </a:r>
          </a:p>
        </p:txBody>
      </p:sp>
    </p:spTree>
    <p:extLst>
      <p:ext uri="{BB962C8B-B14F-4D97-AF65-F5344CB8AC3E}">
        <p14:creationId xmlns:p14="http://schemas.microsoft.com/office/powerpoint/2010/main" val="19438602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958E3-2301-4ED2-BF01-59BA43A6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CONCEPTO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EDC77-F355-483B-A1B5-586E41F5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defPPr>
            <a:lvl1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1pPr>
            <a:lvl2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2pPr>
            <a:lvl3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3pPr>
            <a:lvl4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4pPr>
            <a:lvl5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5pPr>
            <a:lvl6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6pPr>
            <a:lvl7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7pPr>
            <a:lvl8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8pPr>
            <a:lvl9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pPr>
            <a:r>
              <a:rPr sz="2550" b="1">
                <a:solidFill>
                  <a:srgbClr val="1F3A44"/>
                </a:solidFill>
                <a:latin typeface="Cambria"/>
                <a:ea typeface="Cambria"/>
                <a:cs typeface="Cambria"/>
              </a:rPr>
              <a:t>La cantidad de movimiento es un vector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BDC1B-C831-4EFF-80C1-0D4F524C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22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6B963-3E1C-4896-83E3-38014690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910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81D70-0F3A-46C3-8BA6-4144B4E5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8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p tiene la misma dirección y sentido que 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9868A-F6F4-48D8-8024-D4AD7939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52750"/>
            <a:ext cx="6191250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5B6B72"/>
          </a:solidFill>
          <a:ln xmlns:a="http://schemas.openxmlformats.org/drawingml/2006/main" w="19050">
            <a:solidFill>
              <a:srgbClr val="5B6B7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DE9B8-297D-4124-8FFE-83D8D6C6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19400"/>
            <a:ext cx="1162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4AC4D-F82F-4567-90B0-0BCB1562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7813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42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42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42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42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42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42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42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42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42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+x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10B7C-74B0-493A-A6C8-31D3DBC5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185737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7BFB1-FE66-4FC9-B3C0-378AD1AC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90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Carro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F4FC5-7060-40CA-B536-ED51C6E1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43175"/>
            <a:ext cx="876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31F2C-6C76-4E96-8571-BE7AB87B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v &gt; 0  →  p &gt;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EE179-AC6B-4D4E-A910-4D04C31D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14550"/>
            <a:ext cx="185737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E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1B350-B284-41DC-9417-8DB7B106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90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Carro 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0905F-D052-4E53-B81A-53040752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43175"/>
            <a:ext cx="876300" cy="1905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C98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B40914-E05F-4812-B453-B115F927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57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v &lt; 0  →  p &lt; 0</a:t>
            </a:r>
          </a:p>
        </p:txBody>
      </p:sp>
    </p:spTree>
    <p:extLst>
      <p:ext uri="{BB962C8B-B14F-4D97-AF65-F5344CB8AC3E}">
        <p14:creationId xmlns:p14="http://schemas.microsoft.com/office/powerpoint/2010/main" val="90285400"/>
      </p:ext>
    </p:extLst>
  </p:cSld>
  <p:timing>
    <p:tnLst>
      <p:par>
        <p:cTn id="1" dur="indefinite" nodeType="tmRoot" restart="never">
          <p:childTnLst>
            <p:seq nextAc="seek" concurrent="1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presetID="2" fill="hold" id="4" nodeType="clickEffect" presetSubtype="4" presetClass="entr">
                            <p:childTnLst>
                              <p:animEffect filter="fly(left)" transition="in">
                                <p:cBhvr>
                                  <p:cTn id="5" dur="7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presetID="2" fill="hold" id="7" nodeType="clickEffect" presetSubtype="8" presetClass="entr">
                            <p:childTnLst>
                              <p:animEffect filter="fly(right)" transition="in">
                                <p:cBhvr>
                                  <p:cTn id="8" dur="7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499BE-E931-4918-B027-DA268A7D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CONCEPTO 2 · EJEMPLO RESUELTO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62D11-A339-4239-996A-3D016341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defPPr>
            <a:lvl1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1pPr>
            <a:lvl2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2pPr>
            <a:lvl3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3pPr>
            <a:lvl4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4pPr>
            <a:lvl5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5pPr>
            <a:lvl6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6pPr>
            <a:lvl7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7pPr>
            <a:lvl8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8pPr>
            <a:lvl9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pPr>
            <a:r>
              <a:rPr sz="2550" b="1">
                <a:solidFill>
                  <a:srgbClr val="1F3A44"/>
                </a:solidFill>
                <a:latin typeface="Cambria"/>
                <a:ea typeface="Cambria"/>
                <a:cs typeface="Cambria"/>
              </a:rPr>
              <a:t>Dos cuerpos en sentidos contrarios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D50F5-D655-4062-8DA1-9C92C1A5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22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AB13E-3BFD-4FC2-8FE5-90C46D3F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910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87CC8-19BF-4E0B-A896-A170DE0C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8077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CDA00-1A07-4BA2-8D38-CBB91486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Eje positivo hacia la derecha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6E1D0-B3BD-4CF7-AE4F-457A7885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A: 2 kg a 3 m/s → pA = +6 kg·m/s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86FEE-142E-45B3-A8B0-B61FC3B4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B: 4 kg a 2 m/s ← pB = −8 kg·m/s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45095-33CE-4F57-B7DD-4856BCF7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8077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E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8901A-5312-4663-BE26-AA2FC735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9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9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9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9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9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9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9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9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9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p total = +6 + (−8) = −2 kg·m/s</a:t>
            </a:r>
          </a:p>
        </p:txBody>
      </p:sp>
    </p:spTree>
    <p:extLst>
      <p:ext uri="{BB962C8B-B14F-4D97-AF65-F5344CB8AC3E}">
        <p14:creationId xmlns:p14="http://schemas.microsoft.com/office/powerpoint/2010/main" val="12245710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87809-3183-4515-97BA-BFC024A6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CONCEPTO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B00AC-E21E-424B-954A-996B4563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defPPr>
            <a:lvl1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1pPr>
            <a:lvl2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2pPr>
            <a:lvl3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3pPr>
            <a:lvl4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4pPr>
            <a:lvl5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5pPr>
            <a:lvl6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6pPr>
            <a:lvl7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7pPr>
            <a:lvl8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8pPr>
            <a:lvl9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pPr>
            <a:r>
              <a:rPr sz="2550" b="1">
                <a:solidFill>
                  <a:srgbClr val="1F3A44"/>
                </a:solidFill>
                <a:latin typeface="Cambria"/>
                <a:ea typeface="Cambria"/>
                <a:cs typeface="Cambria"/>
              </a:rPr>
              <a:t>Cantidad de movimiento y energía cinética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62985-9C0D-47D9-9124-ABC5D5B4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22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8F634-5B5C-4553-9678-4F29585E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910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23E73-D090-48AD-9C5C-EC342FB09BBD}"/>
              </a:ext>
            </a:extLst>
          </p:cNvPr>
          <p:cNvGraphicFramePr/>
          <p:nvPr/>
        </p:nvGraphicFramePr>
        <p:xfrm>
          <a:off xmlns:a="http://schemas.openxmlformats.org/drawingml/2006/main" x="533400" y="1428750"/>
          <a:ext xmlns:a="http://schemas.openxmlformats.org/drawingml/2006/main" cx="807720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619250"/>
                <a:gridCol w="1857375"/>
                <a:gridCol w="2314575"/>
              </a:tblGrid>
              <a:tr h="4191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Magnitud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1"/>
                      </a:solidFill>
                      <a:prstDash val="solid"/>
                    </a:lnL>
                    <a:lnR w="9525">
                      <a:solidFill>
                        <a:srgbClr val="D7E0E1"/>
                      </a:solidFill>
                      <a:prstDash val="solid"/>
                    </a:lnR>
                    <a:lnT w="9525">
                      <a:solidFill>
                        <a:srgbClr val="D7E0E1"/>
                      </a:solidFill>
                      <a:prstDash val="solid"/>
                    </a:lnT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1F3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Tipo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1"/>
                      </a:solidFill>
                      <a:prstDash val="solid"/>
                    </a:lnR>
                    <a:lnT w="9525">
                      <a:solidFill>
                        <a:srgbClr val="D7E0E1"/>
                      </a:solidFill>
                      <a:prstDash val="solid"/>
                    </a:lnT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1F3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Unidad SI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1"/>
                      </a:solidFill>
                      <a:prstDash val="solid"/>
                    </a:lnR>
                    <a:lnT w="9525">
                      <a:solidFill>
                        <a:srgbClr val="D7E0E1"/>
                      </a:solidFill>
                      <a:prstDash val="solid"/>
                    </a:lnT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1F3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Fórmula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1"/>
                      </a:solidFill>
                      <a:prstDash val="solid"/>
                    </a:lnR>
                    <a:lnT w="9525">
                      <a:solidFill>
                        <a:srgbClr val="D7E0E1"/>
                      </a:solidFill>
                      <a:prstDash val="solid"/>
                    </a:lnT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1F3A4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Cantidad de movimiento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1"/>
                      </a:solidFill>
                      <a:prstDash val="solid"/>
                    </a:lnL>
                    <a:lnR w="9525">
                      <a:solidFill>
                        <a:srgbClr val="D7E0E1"/>
                      </a:solidFill>
                      <a:prstDash val="solid"/>
                    </a:lnR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Vectorial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1"/>
                      </a:solidFill>
                      <a:prstDash val="solid"/>
                    </a:lnR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kg·m/s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1"/>
                      </a:solidFill>
                      <a:prstDash val="solid"/>
                    </a:lnR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 = m·v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1"/>
                      </a:solidFill>
                      <a:prstDash val="solid"/>
                    </a:lnR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Energía cinética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1"/>
                      </a:solidFill>
                      <a:prstDash val="solid"/>
                    </a:lnL>
                    <a:lnR w="9525">
                      <a:solidFill>
                        <a:srgbClr val="D7E0E1"/>
                      </a:solidFill>
                      <a:prstDash val="solid"/>
                    </a:lnR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Escalar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1"/>
                      </a:solidFill>
                      <a:prstDash val="solid"/>
                    </a:lnR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J (kg·m²/s²)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1"/>
                      </a:solidFill>
                      <a:prstDash val="solid"/>
                    </a:lnR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Ec = ½·m·v²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1"/>
                      </a:solidFill>
                      <a:prstDash val="solid"/>
                    </a:lnR>
                    <a:lnB w="9525">
                      <a:solidFill>
                        <a:srgbClr val="D7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B3742-1D67-47DE-AEC0-150887E6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80772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E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ABB50-48C5-4952-90F3-E07362A1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C98A2E"/>
                </a:solidFill>
                <a:latin typeface="Calibri"/>
                <a:ea typeface="Calibri"/>
                <a:cs typeface="Calibri"/>
              </a:rPr>
              <a:t>Mismo p, distinta 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EDE12-F402-4318-A9C3-FD5942EB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2 kg a 3 m/s: p = 6 kg·m/s · Ec = 9 J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2FAFB-E7B1-45EA-8A0D-F09E9245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3 kg a 2 m/s: p = 6 kg·m/s · Ec = 6 J</a:t>
            </a:r>
          </a:p>
        </p:txBody>
      </p:sp>
    </p:spTree>
    <p:extLst>
      <p:ext uri="{BB962C8B-B14F-4D97-AF65-F5344CB8AC3E}">
        <p14:creationId xmlns:p14="http://schemas.microsoft.com/office/powerpoint/2010/main" val="19922312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5C3B5-9C14-44ED-A585-AA0F96FA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APLICACIÓN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7872A-D54A-4E34-AF1F-DC75B2EE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defPPr>
            <a:lvl1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1pPr>
            <a:lvl2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2pPr>
            <a:lvl3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3pPr>
            <a:lvl4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4pPr>
            <a:lvl5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5pPr>
            <a:lvl6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6pPr>
            <a:lvl7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7pPr>
            <a:lvl8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8pPr>
            <a:lvl9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pPr>
            <a:r>
              <a:rPr sz="2550" b="1">
                <a:solidFill>
                  <a:srgbClr val="1F3A44"/>
                </a:solidFill>
                <a:latin typeface="Cambria"/>
                <a:ea typeface="Cambria"/>
                <a:cs typeface="Cambria"/>
              </a:rPr>
              <a:t>Choques cotidianos: autos y billar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E87D3-DE2B-4A50-ACA9-9102564C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22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F7F30-6273-4761-AAE1-354CB881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910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D4A6B-C30B-4776-B16F-F212C40A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3771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E1E75-23D9-4136-969A-7B46E658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AUTOS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F50B9-1D25-45EE-91C0-5C24E662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323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Antes: cada auto tiene su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propia velocidad y dirección.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Después: sus movimientos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pueden cambiar.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53ADC-DF10-4364-BA1B-2DD105DD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24000"/>
            <a:ext cx="3771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E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987DB-3B02-4D1D-9F33-4C4718B5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145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C98A2E"/>
                </a:solidFill>
                <a:latin typeface="Calibri"/>
                <a:ea typeface="Calibri"/>
                <a:cs typeface="Calibri"/>
              </a:rPr>
              <a:t>BILLAR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504A6-5585-4999-9220-1A3955C9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71700"/>
            <a:ext cx="323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Antes: una bola se mueve y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la otra está quieta.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Después: pueden moverse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ambas en nuevas direcciones.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C4CF1-F25E-40EC-A2E3-DB2760AA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57625"/>
            <a:ext cx="807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¿Qué información necesitaríamos para describir el cambio?</a:t>
            </a:r>
          </a:p>
        </p:txBody>
      </p:sp>
    </p:spTree>
    <p:extLst>
      <p:ext uri="{BB962C8B-B14F-4D97-AF65-F5344CB8AC3E}">
        <p14:creationId xmlns:p14="http://schemas.microsoft.com/office/powerpoint/2010/main" val="5449406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D0920-4E96-4CCA-82B3-B9B5068D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DEMOSTRACIÓN · 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21B95-A783-44AD-ACC5-D8C68DAD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defPPr>
            <a:lvl1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1pPr>
            <a:lvl2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2pPr>
            <a:lvl3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3pPr>
            <a:lvl4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4pPr>
            <a:lvl5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5pPr>
            <a:lvl6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6pPr>
            <a:lvl7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7pPr>
            <a:lvl8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8pPr>
            <a:lvl9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pPr>
            <a:r>
              <a:rPr sz="2550" b="1">
                <a:solidFill>
                  <a:srgbClr val="1F3A44"/>
                </a:solidFill>
                <a:latin typeface="Cambria"/>
                <a:ea typeface="Cambria"/>
                <a:cs typeface="Cambria"/>
              </a:rPr>
              <a:t>¿Cuál carrito será más difícil de detener?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5B6E2-0E08-4C10-860C-6A86A53B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22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CEC10-B834-4358-9BFC-16CE6F1A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910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F770A-8568-441D-B152-D8A0A1BA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38290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A734E-F9BD-4F97-85AD-8B14964D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PREDICE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DD302-7061-47E5-9947-4E7956B0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323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Con la misma rapidez, ¿qué esperas que ocurra al intentar detener cada uno?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17E91-514B-458C-AADE-3DDCC4DB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42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42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42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42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42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42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42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42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42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Marca tu opción y escribe por qué.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17D21-5259-4F0E-9C59-AE7C8C90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47800"/>
            <a:ext cx="39243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2E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45C2B-085D-4A8A-A1C1-6FC2CDB6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657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C98A2E"/>
                </a:solidFill>
                <a:latin typeface="Calibri"/>
                <a:ea typeface="Calibri"/>
                <a:cs typeface="Calibri"/>
              </a:rPr>
              <a:t>REGISTRA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8DDE0-108C-4B45-A2AB-CD34FAE2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95500"/>
            <a:ext cx="3238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Masa menor: __________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Masa mayor: 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Observación: __________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______________________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21E27A-EC91-45F6-AA33-A3402401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43375"/>
            <a:ext cx="807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42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42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42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42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42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42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42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42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42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Misma rapidez · distinta masa</a:t>
            </a:r>
          </a:p>
        </p:txBody>
      </p:sp>
    </p:spTree>
    <p:extLst>
      <p:ext uri="{BB962C8B-B14F-4D97-AF65-F5344CB8AC3E}">
        <p14:creationId xmlns:p14="http://schemas.microsoft.com/office/powerpoint/2010/main" val="5729615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B7C2B-D84F-4319-ACF1-4496571E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PRÁCTICA · 15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A72FA-91E4-4E61-A149-3902AC9B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defPPr>
            <a:lvl1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1pPr>
            <a:lvl2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2pPr>
            <a:lvl3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3pPr>
            <a:lvl4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4pPr>
            <a:lvl5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5pPr>
            <a:lvl6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6pPr>
            <a:lvl7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7pPr>
            <a:lvl8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8pPr>
            <a:lvl9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pPr>
            <a:r>
              <a:rPr sz="2550" b="1">
                <a:solidFill>
                  <a:srgbClr val="1F3A44"/>
                </a:solidFill>
                <a:latin typeface="Cambria"/>
                <a:ea typeface="Cambria"/>
                <a:cs typeface="Cambria"/>
              </a:rPr>
              <a:t>Guía de ejercicios diferenciada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A75D6-1822-4866-843D-B0042F0D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22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5848B-467C-4AAD-915C-3C9EE54E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910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6F2AD-6020-4239-A3ED-3CB86892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2514600" cy="29527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1240E-1874-4569-ABA6-A89D4AD7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BÁSICO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C0A67-3284-4A2F-9F11-1CC3CAF3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21717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1. 2 kg a 4 m/s: calcula 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2. 0,5 kg a 6 m/s: calcula 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A3ED6-B4EB-421A-956E-911562CF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28750"/>
            <a:ext cx="2514600" cy="29527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6BFC8-BF02-47FA-B2DD-CBA4F75F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002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INTERMEDIO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2CDC1-0B40-4ED2-92E2-6C9F5AEB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57400"/>
            <a:ext cx="21717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3. 1 000 kg a 12 m/s: calcula 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4. 3 kg a 2 m/s ←: calcula 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458AB-A92B-49CD-A451-D1A36A66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28750"/>
            <a:ext cx="2514600" cy="29527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2E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5EB4A-F551-4EE4-86DA-16023D51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C98A2E"/>
                </a:solidFill>
                <a:latin typeface="Calibri"/>
                <a:ea typeface="Calibri"/>
                <a:cs typeface="Calibri"/>
              </a:rPr>
              <a:t>DESAFÍO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2C8DC-F425-474F-8C38-AADF2F30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57400"/>
            <a:ext cx="21717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5. A: 2 kg a +5 m/s; B: 4 kg a −1 m/s. Halla p total.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6. ¿Qué masa tiene p=24 kg·m/s si v=6 m/s?</a:t>
            </a:r>
          </a:p>
        </p:txBody>
      </p:sp>
    </p:spTree>
    <p:extLst>
      <p:ext uri="{BB962C8B-B14F-4D97-AF65-F5344CB8AC3E}">
        <p14:creationId xmlns:p14="http://schemas.microsoft.com/office/powerpoint/2010/main" val="12424411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D742C-2AD5-4CF8-94F5-72D2F9CA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PARA CONVERSAR · 10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15E9A-9FE9-4D39-BE27-04945600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defPPr>
            <a:lvl1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1pPr>
            <a:lvl2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2pPr>
            <a:lvl3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3pPr>
            <a:lvl4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4pPr>
            <a:lvl5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5pPr>
            <a:lvl6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6pPr>
            <a:lvl7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7pPr>
            <a:lvl8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8pPr>
            <a:lvl9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pPr>
            <a:r>
              <a:rPr sz="2550" b="1">
                <a:solidFill>
                  <a:srgbClr val="1F3A44"/>
                </a:solidFill>
                <a:latin typeface="Cambria"/>
                <a:ea typeface="Cambria"/>
                <a:cs typeface="Cambria"/>
              </a:rPr>
              <a:t>Movimiento, masa y seguridad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9266D-4914-49FE-9846-6703122B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22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B4B78-7C56-467E-AE1F-44ADDC69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910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7A3CA-F9A9-4588-B2CA-4CA1A49F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8077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95763-0CFB-4D59-B6CA-883CA90C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A7A34-4C6F-4182-84EB-E2CDE58B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62100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¿Por qué los autos tienen cinturón y zonas de deformación?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08E47-7BA2-46E0-9691-F969443A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71725"/>
            <a:ext cx="8077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E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BC442-872D-4FF8-920D-935DAA68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8F081-2316-430D-96BE-6A353E57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95550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¿Puede un objeto liviano tener más cantidad de movimiento que uno pesado?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548B0-1121-4DEB-864D-7F6527B8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05175"/>
            <a:ext cx="8077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F6FA3-CF9A-4E4E-A024-BA06A50B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28BCA6-CD8A-406C-8B25-24D98BB5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29000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¿Qué dato te falta para comparar dos objetos que se mueven?</a:t>
            </a:r>
          </a:p>
        </p:txBody>
      </p:sp>
    </p:spTree>
    <p:extLst>
      <p:ext uri="{BB962C8B-B14F-4D97-AF65-F5344CB8AC3E}">
        <p14:creationId xmlns:p14="http://schemas.microsoft.com/office/powerpoint/2010/main" val="7656075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8877B2-5088-44A7-A4C8-3582C8D8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CIERRE · 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31095-E30D-4337-B36A-5520EA85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defPPr>
            <a:lvl1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1pPr>
            <a:lvl2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2pPr>
            <a:lvl3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3pPr>
            <a:lvl4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4pPr>
            <a:lvl5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5pPr>
            <a:lvl6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6pPr>
            <a:lvl7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7pPr>
            <a:lvl8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8pPr>
            <a:lvl9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pPr>
            <a:r>
              <a:rPr sz="2550" b="1">
                <a:solidFill>
                  <a:srgbClr val="1F3A44"/>
                </a:solidFill>
                <a:latin typeface="Cambria"/>
                <a:ea typeface="Cambria"/>
                <a:cs typeface="Cambria"/>
              </a:rPr>
              <a:t>Semáforo de aprendizaje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C84DE-6DE0-4FBE-9A11-9EEC352D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22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0CC49-8B9F-4388-A0A1-235D917F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910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69B38-A5CB-4AB1-9D91-79677700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8077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3281B-4237-415B-B241-B308F773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F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B29D7-427F-4B93-B6CE-F807F793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668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VERDE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685CF-7218-4DA4-ADBF-83377B0E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668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Puedo definir p=m·v y resolver un ejemplo.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5B708-880E-4972-9E7E-6881A83B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8077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25615-9E99-462F-8957-0969D129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441D3-70CB-48C3-B8CC-6965D331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193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AMARILLO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0B6AF-B269-4CA6-BB0A-F6192757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193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Entiendo la idea, pero necesito practicar.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5B450-9099-47FF-ADF3-FA952223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8077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EA2E3-B46E-43D0-A6F4-F7C2E99A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C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92D65F-1F44-4DEE-9B3A-500BA21F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ROJO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191897-B930-4B91-9FA4-8141648B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718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Todavía necesito que lo expliquemos de nuevo.</a:t>
            </a:r>
          </a:p>
        </p:txBody>
      </p:sp>
    </p:spTree>
    <p:extLst>
      <p:ext uri="{BB962C8B-B14F-4D97-AF65-F5344CB8AC3E}">
        <p14:creationId xmlns:p14="http://schemas.microsoft.com/office/powerpoint/2010/main" val="21196777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38B87D-25BD-4B76-98EA-22555E30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SÍNTESIS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785F6-0C5F-4138-8CBB-94800AD8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defPPr>
            <a:lvl1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1pPr>
            <a:lvl2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2pPr>
            <a:lvl3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3pPr>
            <a:lvl4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4pPr>
            <a:lvl5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5pPr>
            <a:lvl6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6pPr>
            <a:lvl7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7pPr>
            <a:lvl8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8pPr>
            <a:lvl9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pPr>
            <a:r>
              <a:rPr sz="2550" b="1">
                <a:solidFill>
                  <a:srgbClr val="1F3A44"/>
                </a:solidFill>
                <a:latin typeface="Cambria"/>
                <a:ea typeface="Cambria"/>
                <a:cs typeface="Cambria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CC1FA-ADF2-489C-896B-747C968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22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17AD9-CF7C-4A2D-8BA8-D6B57BE4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910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94404-224F-4DD9-B1E8-760B71B5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3810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EF2F6-F789-47FA-BE96-5A1905F9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89D55-F4B0-465C-A8C2-33BCDC62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192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p = m·v: masa por velocidad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E6A0C-ABFD-47BD-94CB-F15F63DE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66850"/>
            <a:ext cx="3810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CEDE2-6657-4A4C-BCAD-F3CA7643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6764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EC0AE-B634-46CF-8172-3E36CA92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192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p es vectorial: dirección y sentido importan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2518C-DD5A-4A3E-8F8D-69770785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3810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C222D-2538-4902-8BD4-ECD3CF50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6493C-EC16-43D2-BEAB-BC1BE53B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Unidad de p: kg·m/s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5166E-2552-4C98-9F9F-225D4025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71750"/>
            <a:ext cx="3810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E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9380B-2957-4406-A648-8CF55250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9798D-EA35-4F24-B483-19AE1B8C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Igual p no significa igual energía cinética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DA8B10-3651-4CFF-83BF-2B35A318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807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DAE91-5D2C-45BF-A756-A4B58E03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243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0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C98A2E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C98A2E"/>
                </a:solidFill>
                <a:latin typeface="Calibri"/>
                <a:ea typeface="Calibri"/>
                <a:cs typeface="Calibri"/>
              </a:rPr>
              <a:t>PRÓXIMA SESIÓN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6E0DA7-A4DA-455D-B653-5260105A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576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Impulso: I = F·Δt = Δp</a:t>
            </a:r>
          </a:p>
        </p:txBody>
      </p:sp>
    </p:spTree>
    <p:extLst>
      <p:ext uri="{BB962C8B-B14F-4D97-AF65-F5344CB8AC3E}">
        <p14:creationId xmlns:p14="http://schemas.microsoft.com/office/powerpoint/2010/main" val="976192467"/>
      </p:ext>
    </p:extLst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4" name="">
            <a:extLst>
              <a:ext uri="{FF2B5EF4-FFF2-40B4-BE49-F238E27FC236}">
                <a16:creationId xmlns:a16="http://schemas.microsoft.com/office/drawing/2014/main" id="{AABD742C-2AD5-4CF8-94F5-72D2F9CA1BE4}"/>
              </a:ext>
            </a:extLst>
          </p:cNvPr>
          <p:cNvSpPr>
            <a:spLocks noGrp="1"/>
          </p:cNvSpPr>
          <p:nvPr/>
        </p:nvSpPr>
        <p:spPr>
          <a:xfrm>
            <a:off x="457200" y="247650"/>
            <a:ext cx="762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VIDEO · 5 MIN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A6015E9A-9FE9-4D39-BE27-049456005D35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819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defPPr>
            <a:lvl1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1pPr>
            <a:lvl2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2pPr>
            <a:lvl3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3pPr>
            <a:lvl4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4pPr>
            <a:lvl5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5pPr>
            <a:lvl6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6pPr>
            <a:lvl7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7pPr>
            <a:lvl8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8pPr>
            <a:lvl9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pPr>
            <a:r>
              <a:rPr sz="2550" b="1">
                <a:solidFill>
                  <a:srgbClr val="1F3A44"/>
                </a:solidFill>
                <a:latin typeface="Cambria"/>
                <a:ea typeface="Cambria"/>
                <a:cs typeface="Cambria"/>
              </a:rPr>
              <a:t>Analicemos un choque real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BA19266D-4914-49FE-9846-6703122B15A0}"/>
              </a:ext>
            </a:extLst>
          </p:cNvPr>
          <p:cNvSpPr>
            <a:spLocks noGrp="1"/>
          </p:cNvSpPr>
          <p:nvPr/>
        </p:nvSpPr>
        <p:spPr>
          <a:xfrm>
            <a:off x="457200" y="1133475"/>
            <a:ext cx="8229600" cy="19050"/>
          </a:xfrm>
          <a:prstGeom prst="rect">
            <a:avLst/>
          </a:prstGeom>
          <a:solidFill>
            <a:srgbClr val="D7E0E1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a16:creationId xmlns:a16="http://schemas.microsoft.com/office/drawing/2014/main" id="{C71B4B78-7C56-467E-AE1F-44ADDC69A27C}"/>
              </a:ext>
            </a:extLst>
          </p:cNvPr>
          <p:cNvSpPr>
            <a:spLocks noGrp="1"/>
          </p:cNvSpPr>
          <p:nvPr/>
        </p:nvSpPr>
        <p:spPr>
          <a:xfrm>
            <a:off x="8420100" y="4791075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A637A3CA-F9A9-4588-B2CA-4CA1A49FA2D7}"/>
              </a:ext>
            </a:extLst>
          </p:cNvPr>
          <p:cNvSpPr>
            <a:spLocks noGrp="1"/>
          </p:cNvSpPr>
          <p:nvPr/>
        </p:nvSpPr>
        <p:spPr>
          <a:xfrm>
            <a:off x="533400" y="1438275"/>
            <a:ext cx="8077200" cy="723900"/>
          </a:xfrm>
          <a:prstGeom prst="roundRect">
            <a:avLst>
              <a:gd name="adj" fmla="val 10526"/>
            </a:avLst>
          </a:prstGeom>
          <a:solidFill>
            <a:srgbClr val="F4F7F7"/>
          </a:solidFill>
          <a:ln w="0">
            <a:noFill/>
            <a:prstDash val="solid"/>
          </a:ln>
        </p:spPr>
      </p:sp>
      <p:sp>
        <p:nvSpPr>
          <p:cNvPr id="6" name="">
            <a:extLst>
              <a:ext uri="{FF2B5EF4-FFF2-40B4-BE49-F238E27FC236}">
                <a16:creationId xmlns:a16="http://schemas.microsoft.com/office/drawing/2014/main" id="{A0395763-0CFB-4D59-B6CA-883CA90CB9D0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AD0A7A34-4C6F-4182-84EB-E2CDE58B15D1}"/>
              </a:ext>
            </a:extLst>
          </p:cNvPr>
          <p:cNvSpPr>
            <a:spLocks noGrp="1"/>
          </p:cNvSpPr>
          <p:nvPr/>
        </p:nvSpPr>
        <p:spPr>
          <a:xfrm>
            <a:off x="1333500" y="1562100"/>
            <a:ext cx="695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44"/>
                </a:solidFill>
                <a:latin typeface="Calibri"/>
                <a:ea typeface="Calibri"/>
                <a:cs typeface="Calibri"/>
                <a:hlinkClick r:id="rId2"/>
              </a:rPr>
              <a:t>▶ Crash test: choque sin cinturón de seguridad (YouTube)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0C208E47-7BA2-46E0-9691-F969443A59E6}"/>
              </a:ext>
            </a:extLst>
          </p:cNvPr>
          <p:cNvSpPr>
            <a:spLocks noGrp="1"/>
          </p:cNvSpPr>
          <p:nvPr/>
        </p:nvSpPr>
        <p:spPr>
          <a:xfrm>
            <a:off x="533400" y="2371725"/>
            <a:ext cx="8077200" cy="723900"/>
          </a:xfrm>
          <a:prstGeom prst="roundRect">
            <a:avLst>
              <a:gd name="adj" fmla="val 10526"/>
            </a:avLst>
          </a:prstGeom>
          <a:solidFill>
            <a:srgbClr val="F2E3C8"/>
          </a:solidFill>
          <a:ln w="0">
            <a:noFill/>
            <a:prstDash val="solid"/>
          </a:ln>
        </p:spPr>
      </p:sp>
      <p:sp>
        <p:nvSpPr>
          <p:cNvPr id="9" name="">
            <a:extLst>
              <a:ext uri="{FF2B5EF4-FFF2-40B4-BE49-F238E27FC236}">
                <a16:creationId xmlns:a16="http://schemas.microsoft.com/office/drawing/2014/main" id="{C91BC442-872D-4FF8-920D-935DAA68432E}"/>
              </a:ext>
            </a:extLst>
          </p:cNvPr>
          <p:cNvSpPr>
            <a:spLocks noGrp="1"/>
          </p:cNvSpPr>
          <p:nvPr/>
        </p:nvSpPr>
        <p:spPr>
          <a:xfrm>
            <a:off x="723900" y="25527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6968F081-2316-430D-96BE-6A353E57B469}"/>
              </a:ext>
            </a:extLst>
          </p:cNvPr>
          <p:cNvSpPr>
            <a:spLocks noGrp="1"/>
          </p:cNvSpPr>
          <p:nvPr/>
        </p:nvSpPr>
        <p:spPr>
          <a:xfrm>
            <a:off x="1333500" y="2495550"/>
            <a:ext cx="695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Observa: ¿qué se mueve antes, durante y después del choque?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20548B0-1121-4DEB-864D-7F6527B8BFAD}"/>
              </a:ext>
            </a:extLst>
          </p:cNvPr>
          <p:cNvSpPr>
            <a:spLocks noGrp="1"/>
          </p:cNvSpPr>
          <p:nvPr/>
        </p:nvSpPr>
        <p:spPr>
          <a:xfrm>
            <a:off x="533400" y="3305175"/>
            <a:ext cx="8077200" cy="723900"/>
          </a:xfrm>
          <a:prstGeom prst="roundRect">
            <a:avLst>
              <a:gd name="adj" fmla="val 10526"/>
            </a:avLst>
          </a:prstGeom>
          <a:solidFill>
            <a:srgbClr val="F4F7F7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a16:creationId xmlns:a16="http://schemas.microsoft.com/office/drawing/2014/main" id="{A92F6FA3-CF9A-4E4E-A024-BA06A50B7488}"/>
              </a:ext>
            </a:extLst>
          </p:cNvPr>
          <p:cNvSpPr>
            <a:spLocks noGrp="1"/>
          </p:cNvSpPr>
          <p:nvPr/>
        </p:nvSpPr>
        <p:spPr>
          <a:xfrm>
            <a:off x="723900" y="34861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0B28BCA6-CD8A-406C-8B25-24D98BB50B01}"/>
              </a:ext>
            </a:extLst>
          </p:cNvPr>
          <p:cNvSpPr>
            <a:spLocks noGrp="1"/>
          </p:cNvSpPr>
          <p:nvPr/>
        </p:nvSpPr>
        <p:spPr>
          <a:xfrm>
            <a:off x="1333500" y="3429000"/>
            <a:ext cx="695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Piensa: ¿qué le pasa a la cantidad de movimiento del auto y del muñeco?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4" name="">
            <a:extLst>
              <a:ext uri="{FF2B5EF4-FFF2-40B4-BE49-F238E27FC236}">
                <a16:creationId xmlns:a16="http://schemas.microsoft.com/office/drawing/2014/main" id="{AABD742C-2AD5-4CF8-94F5-72D2F9CA1BE4}"/>
              </a:ext>
            </a:extLst>
          </p:cNvPr>
          <p:cNvSpPr>
            <a:spLocks noGrp="1"/>
          </p:cNvSpPr>
          <p:nvPr/>
        </p:nvSpPr>
        <p:spPr>
          <a:xfrm>
            <a:off x="457200" y="247650"/>
            <a:ext cx="762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05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RÁPIDO · 5 MIN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A6015E9A-9FE9-4D39-BE27-049456005D35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819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defPPr>
            <a:lvl1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1pPr>
            <a:lvl2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2pPr>
            <a:lvl3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3pPr>
            <a:lvl4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4pPr>
            <a:lvl5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5pPr>
            <a:lvl6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6pPr>
            <a:lvl7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7pPr>
            <a:lvl8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8pPr>
            <a:lvl9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buNone/>
              <a:defRPr sz="2550" b="1">
                <a:solidFill>
                  <a:srgbClr val="1F3A44"/>
                </a:solidFill>
                <a:latin typeface="Cambria"/>
                <a:ea typeface="Cambria"/>
                <a:cs typeface="Cambria"/>
              </a:defRPr>
            </a:pPr>
            <a:r>
              <a:rPr sz="2550" b="1">
                <a:solidFill>
                  <a:srgbClr val="1F3A44"/>
                </a:solidFill>
                <a:latin typeface="Cambria"/>
                <a:ea typeface="Cambria"/>
                <a:cs typeface="Cambria"/>
              </a:rPr>
              <a:t>¿Verdadero o falso?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BA19266D-4914-49FE-9846-6703122B15A0}"/>
              </a:ext>
            </a:extLst>
          </p:cNvPr>
          <p:cNvSpPr>
            <a:spLocks noGrp="1"/>
          </p:cNvSpPr>
          <p:nvPr/>
        </p:nvSpPr>
        <p:spPr>
          <a:xfrm>
            <a:off x="457200" y="1133475"/>
            <a:ext cx="8229600" cy="19050"/>
          </a:xfrm>
          <a:prstGeom prst="rect">
            <a:avLst/>
          </a:prstGeom>
          <a:solidFill>
            <a:srgbClr val="D7E0E1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a16:creationId xmlns:a16="http://schemas.microsoft.com/office/drawing/2014/main" id="{C71B4B78-7C56-467E-AE1F-44ADDC69A27C}"/>
              </a:ext>
            </a:extLst>
          </p:cNvPr>
          <p:cNvSpPr>
            <a:spLocks noGrp="1"/>
          </p:cNvSpPr>
          <p:nvPr/>
        </p:nvSpPr>
        <p:spPr>
          <a:xfrm>
            <a:off x="8420100" y="4791075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050" b="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A637A3CA-F9A9-4588-B2CA-4CA1A49FA2D7}"/>
              </a:ext>
            </a:extLst>
          </p:cNvPr>
          <p:cNvSpPr>
            <a:spLocks noGrp="1"/>
          </p:cNvSpPr>
          <p:nvPr/>
        </p:nvSpPr>
        <p:spPr>
          <a:xfrm>
            <a:off x="533400" y="1438275"/>
            <a:ext cx="8077200" cy="723900"/>
          </a:xfrm>
          <a:prstGeom prst="roundRect">
            <a:avLst>
              <a:gd name="adj" fmla="val 10526"/>
            </a:avLst>
          </a:prstGeom>
          <a:solidFill>
            <a:srgbClr val="F4F7F7"/>
          </a:solidFill>
          <a:ln w="0">
            <a:noFill/>
            <a:prstDash val="solid"/>
          </a:ln>
        </p:spPr>
      </p:sp>
      <p:sp>
        <p:nvSpPr>
          <p:cNvPr id="6" name="">
            <a:extLst>
              <a:ext uri="{FF2B5EF4-FFF2-40B4-BE49-F238E27FC236}">
                <a16:creationId xmlns:a16="http://schemas.microsoft.com/office/drawing/2014/main" id="{A0395763-0CFB-4D59-B6CA-883CA90CB9D0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AD0A7A34-4C6F-4182-84EB-E2CDE58B15D1}"/>
              </a:ext>
            </a:extLst>
          </p:cNvPr>
          <p:cNvSpPr>
            <a:spLocks noGrp="1"/>
          </p:cNvSpPr>
          <p:nvPr/>
        </p:nvSpPr>
        <p:spPr>
          <a:xfrm>
            <a:off x="1333500" y="1562100"/>
            <a:ext cx="695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Un objeto liviano nunca puede tener más cantidad de movimiento que uno pesado.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0C208E47-7BA2-46E0-9691-F969443A59E6}"/>
              </a:ext>
            </a:extLst>
          </p:cNvPr>
          <p:cNvSpPr>
            <a:spLocks noGrp="1"/>
          </p:cNvSpPr>
          <p:nvPr/>
        </p:nvSpPr>
        <p:spPr>
          <a:xfrm>
            <a:off x="533400" y="2371725"/>
            <a:ext cx="8077200" cy="723900"/>
          </a:xfrm>
          <a:prstGeom prst="roundRect">
            <a:avLst>
              <a:gd name="adj" fmla="val 10526"/>
            </a:avLst>
          </a:prstGeom>
          <a:solidFill>
            <a:srgbClr val="F2E3C8"/>
          </a:solidFill>
          <a:ln w="0">
            <a:noFill/>
            <a:prstDash val="solid"/>
          </a:ln>
        </p:spPr>
      </p:sp>
      <p:sp>
        <p:nvSpPr>
          <p:cNvPr id="9" name="">
            <a:extLst>
              <a:ext uri="{FF2B5EF4-FFF2-40B4-BE49-F238E27FC236}">
                <a16:creationId xmlns:a16="http://schemas.microsoft.com/office/drawing/2014/main" id="{C91BC442-872D-4FF8-920D-935DAA68432E}"/>
              </a:ext>
            </a:extLst>
          </p:cNvPr>
          <p:cNvSpPr>
            <a:spLocks noGrp="1"/>
          </p:cNvSpPr>
          <p:nvPr/>
        </p:nvSpPr>
        <p:spPr>
          <a:xfrm>
            <a:off x="723900" y="25527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6968F081-2316-430D-96BE-6A353E57B469}"/>
              </a:ext>
            </a:extLst>
          </p:cNvPr>
          <p:cNvSpPr>
            <a:spLocks noGrp="1"/>
          </p:cNvSpPr>
          <p:nvPr/>
        </p:nvSpPr>
        <p:spPr>
          <a:xfrm>
            <a:off x="1333500" y="2495550"/>
            <a:ext cx="695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Si dos cuerpos tienen el mismo p, tienen la misma energía cinética.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20548B0-1121-4DEB-864D-7F6527B8BFAD}"/>
              </a:ext>
            </a:extLst>
          </p:cNvPr>
          <p:cNvSpPr>
            <a:spLocks noGrp="1"/>
          </p:cNvSpPr>
          <p:nvPr/>
        </p:nvSpPr>
        <p:spPr>
          <a:xfrm>
            <a:off x="533400" y="3305175"/>
            <a:ext cx="8077200" cy="723900"/>
          </a:xfrm>
          <a:prstGeom prst="roundRect">
            <a:avLst>
              <a:gd name="adj" fmla="val 10526"/>
            </a:avLst>
          </a:prstGeom>
          <a:solidFill>
            <a:srgbClr val="F4F7F7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a16:creationId xmlns:a16="http://schemas.microsoft.com/office/drawing/2014/main" id="{A92F6FA3-CF9A-4E4E-A024-BA06A50B7488}"/>
              </a:ext>
            </a:extLst>
          </p:cNvPr>
          <p:cNvSpPr>
            <a:spLocks noGrp="1"/>
          </p:cNvSpPr>
          <p:nvPr/>
        </p:nvSpPr>
        <p:spPr>
          <a:xfrm>
            <a:off x="723900" y="34861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500" b="1">
                <a:solidFill>
                  <a:srgbClr val="2E7D82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7D82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0B28BCA6-CD8A-406C-8B25-24D98BB50B01}"/>
              </a:ext>
            </a:extLst>
          </p:cNvPr>
          <p:cNvSpPr>
            <a:spLocks noGrp="1"/>
          </p:cNvSpPr>
          <p:nvPr/>
        </p:nvSpPr>
        <p:spPr>
          <a:xfrm>
            <a:off x="1333500" y="3429000"/>
            <a:ext cx="695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650" b="1">
                <a:solidFill>
                  <a:srgbClr val="1F3A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44"/>
                </a:solidFill>
                <a:latin typeface="Calibri"/>
                <a:ea typeface="Calibri"/>
                <a:cs typeface="Calibri"/>
              </a:rPr>
              <a:t>Con el eje + hacia la derecha, un carro con p negativo va hacia la izquierda.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2026-10-26T23:54:28.4580000Z</dcterms:created>
  <dcterms:modified xsi:type="dcterms:W3CDTF">2026-10-26T23:54:28.4580000Z</dcterms:modified>
</coreProperties>
</file>