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icio" id="{65625531-2b66-24a3-ec33-1d1561702ea9}">
          <p14:sldIdLst>
            <p14:sldId id="256"/>
            <p14:sldId id="257"/>
            <p14:sldId id="258"/>
            <p14:sldId id="259"/>
            <p14:sldId id="260"/>
          </p14:sldIdLst>
        </p14:section>
        <p14:section name="Contexto" id="{0b21bba6-dd67-23c3-c4c2-9ad535c9050a}">
          <p14:sldIdLst>
            <p14:sldId id="261"/>
            <p14:sldId id="262"/>
            <p14:sldId id="263"/>
            <p14:sldId id="264"/>
            <p14:sldId id="265"/>
            <p14:sldId id="266"/>
            <p14:sldId id="267"/>
            <p14:sldId id="268"/>
            <p14:sldId id="269"/>
          </p14:sldIdLst>
        </p14:section>
        <p14:section name="Juego" id="{63eb9ac9-5e64-7bbc-807f-ee8b1b18f324}">
          <p14:sldIdLst>
            <p14:sldId id="270"/>
            <p14:sldId id="271"/>
          </p14:sldIdLst>
        </p14:section>
        <p14:section name="Cierre" id="{882d66ce-0f96-8fbe-130a-54a2e76233fa}">
          <p14:sldIdLst>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Portada. Presenta el tema: la segunda línea de defensa y el juego que se usará en clase.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Ruta sugerida de 90 minutos. Los tiempos son una guía: si el curso necesita más tiempo en el juego, acorta la parte de contexto.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(2-3 min). Deja que los estudiantes respondan en voz alta antes de revelar la idea: la inflamación no es la herida, es la defensa. Que anoten su hipótesis en la bitácora.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Repaso breve de la clase anterior. Hoy trabajamos la segunda línea. La tercera (linfocitos T y B, anticuerpos, vacunas) viene después.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Comparación primera vs. segunda línea. Insiste: la segunda línea no distingue qué microbio es, pero sí detecta que algo anda mal. No tiene memoria; eso es de la tercera línea.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a los cuatro protagonistas. Neutrófilos y macrófagos son glóbulos blancos que fagocitan. Mastocitos y macrófagos residentes están en el tejido desde antes de la herida.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Definición. Distingue inflamación (respuesta del cuerpo) de infección (presencia de microbios). Las dos suelen ir juntas, pero no son lo mismo.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siete etapas son exactamente las siete órdenes del juego. Marca los tres grupos de color: avisar y abrir camino, combatir, limpiar y reparar.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Esquema del tejido. Recorre los números 1 a 5 con el curso. Es el mismo corte que verán en la pantalla del juego.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tabla explica la lógica del juego: cada orden tiene una causa que debe cumplirse antes. Si se salta, la orden no tiene efecto. Pregunta: ¿por qué el cuerpo funciona así?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signo visible tiene una causa. En el juego aparecen como barras en la columna "Lo que siente la persona". La fiebre es un efecto general, no solo local.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pus es evidencia de que hubo combate, no suciedad. Los neutrófilos viven poco: al morir se acumulan. Aprovecha para decir que apretar una herida empuja microbios hacia adentro.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la inflamación es útil solo en su justa medida y cuando termina a tiempo. Conecta con el juego: apagar antes de tiempo y no apagar tienen consecuencias distintas.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Cuidados: coinciden con las tarjetas de acciones que aparecen al terminar cada caso del juego. Los antibióticos los indica un médico. Si hay fiebre, más rojez o pus: avisar a un adulto y consultar en el CESFAM.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el juego. Se juega en el computador o celular desde la sección de 7° Básico del sitio. Recomienda comenzar en Aprendizaje, donde el sistema indica la orden que sigue.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se juega. Las teclas 1 a 7 activan las órdenes. En Aprendizaje la orden recomendada brilla. Pide que lean el informe de cada caso: ahí está el gráfico y la tabla de sus órdenes.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Preguntas para la bitácora, durante o después del juego. Pide respuestas con vocabulario científico: histamina, capilar, neutrófilo, fagocitosis, pus.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y puente. Si el microbio sigue ganando, entra la tercera línea. En el hemograma de una infección bacteriana suele aumentar el número de leucocitos, sobre todo de neutrófilos. Eso se trabaja en la siguiente clase.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IDO">
    <p:bg>
      <p:bgPr>
        <a:solidFill>
          <a:srgbClr val="F3F9F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3" name="Text 0"/>
          <p:cNvSpPr/>
          <p:nvPr/>
        </p:nvSpPr>
        <p:spPr>
          <a:xfrm>
            <a:off x="457200" y="4828032"/>
            <a:ext cx="5486400" cy="228600"/>
          </a:xfrm>
          <a:prstGeom prst="rect">
            <a:avLst/>
          </a:prstGeom>
          <a:noFill/>
          <a:ln/>
        </p:spPr>
        <p:txBody>
          <a:bodyPr wrap="square" lIns="0" tIns="0" rIns="0" bIns="0" rtlCol="0" anchor="ctr"/>
          <a:lstStyle/>
          <a:p>
            <a:pPr indent="0" marL="0">
              <a:buNone/>
            </a:pPr>
            <a:r>
              <a:rPr lang="en-US" sz="900" dirty="0">
                <a:solidFill>
                  <a:schemeClr val="tx2"/>
                </a:solidFill>
              </a:rPr>
              <a:t>Unidad 3 · Inmunología · La segunda barrera</a:t>
            </a:r>
            <a:endParaRPr lang="en-US" sz="900" dirty="0"/>
          </a:p>
        </p:txBody>
      </p:sp>
      <p:sp>
        <p:nvSpPr>
          <p:cNvPr id="25" name="Slide Number Placeholder 0"/>
          <p:cNvSpPr>
            <a:spLocks noGrp="1"/>
          </p:cNvSpPr>
          <p:nvPr>
            <p:ph type="sldNum" sz="quarter" idx="4294967295"/>
          </p:nvPr>
        </p:nvSpPr>
        <p:spPr>
          <a:xfrm>
            <a:off x="8138160" y="482803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ORTADA">
    <p:bg>
      <p:bgPr>
        <a:solidFill>
          <a:srgbClr val="F3F9FA"/>
        </a:solidFill>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IERRE">
    <p:bg>
      <p:bgPr>
        <a:solidFill>
          <a:srgbClr val="1D3B4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411480"/>
            <a:ext cx="8229600" cy="82296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138160" y="482803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2.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2.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4.xml"/><Relationship Id="rId4"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Etiqueta"/>
          <p:cNvSpPr/>
          <p:nvPr/>
        </p:nvSpPr>
        <p:spPr>
          <a:xfrm>
            <a:off x="457200" y="411480"/>
            <a:ext cx="3291840" cy="347472"/>
          </a:xfrm>
          <a:prstGeom prst="roundRect">
            <a:avLst>
              <a:gd name="adj" fmla="val 26316"/>
            </a:avLst>
          </a:prstGeom>
          <a:solidFill>
            <a:srgbClr val="D6EEF0"/>
          </a:solidFill>
          <a:ln/>
        </p:spPr>
      </p:sp>
      <p:sp>
        <p:nvSpPr>
          <p:cNvPr id="4" name="Text 1"/>
          <p:cNvSpPr txBox="1"/>
          <p:nvPr/>
        </p:nvSpPr>
        <p:spPr>
          <a:xfrm>
            <a:off x="457200" y="411480"/>
            <a:ext cx="3291840" cy="347472"/>
          </a:xfrm>
          <a:prstGeom prst="rect">
            <a:avLst/>
          </a:prstGeom>
          <a:noFill/>
          <a:ln/>
        </p:spPr>
        <p:txBody>
          <a:bodyPr wrap="square" lIns="0" tIns="0" rIns="0" bIns="0" rtlCol="0" anchor="ctr"/>
          <a:lstStyle/>
          <a:p>
            <a:pPr algn="ctr" indent="0" marL="0">
              <a:buNone/>
            </a:pPr>
            <a:r>
              <a:rPr lang="en-US" sz="1000" b="1" dirty="0">
                <a:solidFill>
                  <a:schemeClr val="accent1"/>
                </a:solidFill>
              </a:rPr>
              <a:t>UNIDAD 3 · INMUNOLOGÍA · OA4</a:t>
            </a:r>
            <a:endParaRPr lang="en-US" sz="1000" dirty="0"/>
          </a:p>
        </p:txBody>
      </p:sp>
      <p:sp>
        <p:nvSpPr>
          <p:cNvPr id="5" name="Título portada"/>
          <p:cNvSpPr txBox="1"/>
          <p:nvPr/>
        </p:nvSpPr>
        <p:spPr>
          <a:xfrm>
            <a:off x="457200" y="1188720"/>
            <a:ext cx="4754880" cy="1554480"/>
          </a:xfrm>
          <a:prstGeom prst="rect">
            <a:avLst/>
          </a:prstGeom>
          <a:noFill/>
          <a:ln/>
        </p:spPr>
        <p:txBody>
          <a:bodyPr wrap="square" lIns="0" tIns="0" rIns="0" bIns="0" rtlCol="0" anchor="t"/>
          <a:lstStyle/>
          <a:p>
            <a:pPr indent="0" marL="0">
              <a:buNone/>
            </a:pPr>
            <a:r>
              <a:rPr lang="en-US" sz="3600" b="1" dirty="0">
                <a:solidFill>
                  <a:schemeClr val="tx1"/>
                </a:solidFill>
                <a:latin typeface="Cambria" pitchFamily="34" charset="0"/>
                <a:ea typeface="Cambria" pitchFamily="34" charset="-122"/>
                <a:cs typeface="Cambria" pitchFamily="34" charset="-120"/>
              </a:rPr>
              <a:t>¿Y si el microbio logra entrar?</a:t>
            </a:r>
            <a:endParaRPr lang="en-US" sz="3600" dirty="0"/>
          </a:p>
        </p:txBody>
      </p:sp>
      <p:sp>
        <p:nvSpPr>
          <p:cNvPr id="6" name="Text 3"/>
          <p:cNvSpPr txBox="1"/>
          <p:nvPr/>
        </p:nvSpPr>
        <p:spPr>
          <a:xfrm>
            <a:off x="457200" y="2880360"/>
            <a:ext cx="4754880" cy="457200"/>
          </a:xfrm>
          <a:prstGeom prst="rect">
            <a:avLst/>
          </a:prstGeom>
          <a:noFill/>
          <a:ln/>
        </p:spPr>
        <p:txBody>
          <a:bodyPr wrap="square" lIns="0" tIns="0" rIns="0" bIns="0" rtlCol="0" anchor="ctr"/>
          <a:lstStyle/>
          <a:p>
            <a:pPr indent="0" marL="0">
              <a:buNone/>
            </a:pPr>
            <a:r>
              <a:rPr lang="en-US" sz="2000" dirty="0">
                <a:solidFill>
                  <a:schemeClr val="accent1"/>
                </a:solidFill>
              </a:rPr>
              <a:t>La segunda barrera: la inflamación</a:t>
            </a:r>
            <a:endParaRPr lang="en-US" sz="2000" dirty="0"/>
          </a:p>
        </p:txBody>
      </p:sp>
      <p:sp>
        <p:nvSpPr>
          <p:cNvPr id="7" name="Text 4"/>
          <p:cNvSpPr txBox="1"/>
          <p:nvPr/>
        </p:nvSpPr>
        <p:spPr>
          <a:xfrm>
            <a:off x="457200" y="4434840"/>
            <a:ext cx="5029200" cy="274320"/>
          </a:xfrm>
          <a:prstGeom prst="rect">
            <a:avLst/>
          </a:prstGeom>
          <a:noFill/>
          <a:ln/>
        </p:spPr>
        <p:txBody>
          <a:bodyPr wrap="square" lIns="0" tIns="0" rIns="0" bIns="0" rtlCol="0" anchor="ctr"/>
          <a:lstStyle/>
          <a:p>
            <a:pPr indent="0" marL="0">
              <a:buNone/>
            </a:pPr>
            <a:r>
              <a:rPr lang="en-US" sz="1200" dirty="0">
                <a:solidFill>
                  <a:schemeClr val="tx2"/>
                </a:solidFill>
              </a:rPr>
              <a:t>Ciencias Naturales · 7° Básico · Prof. Felipe Jiménez</a:t>
            </a:r>
            <a:endParaRPr lang="en-US" sz="1200" dirty="0"/>
          </a:p>
        </p:txBody>
      </p:sp>
      <p:sp>
        <p:nvSpPr>
          <p:cNvPr id="8" name="Círculo"/>
          <p:cNvSpPr/>
          <p:nvPr/>
        </p:nvSpPr>
        <p:spPr>
          <a:xfrm>
            <a:off x="5486400" y="822960"/>
            <a:ext cx="3200400" cy="3200400"/>
          </a:xfrm>
          <a:prstGeom prst="ellipse">
            <a:avLst/>
          </a:prstGeom>
          <a:solidFill>
            <a:srgbClr val="D6EEF0"/>
          </a:solidFill>
          <a:ln/>
        </p:spPr>
      </p:sp>
      <p:sp>
        <p:nvSpPr>
          <p:cNvPr id="9" name="Shape 6"/>
          <p:cNvSpPr/>
          <p:nvPr/>
        </p:nvSpPr>
        <p:spPr>
          <a:xfrm>
            <a:off x="5989320" y="1325880"/>
            <a:ext cx="2194560" cy="2194560"/>
          </a:xfrm>
          <a:prstGeom prst="ellipse">
            <a:avLst/>
          </a:prstGeom>
          <a:solidFill>
            <a:srgbClr val="1E8A94"/>
          </a:solidFill>
          <a:ln/>
        </p:spPr>
      </p:sp>
      <p:pic>
        <p:nvPicPr>
          <p:cNvPr id="10" name="Image 0" descr="Llama de inflamación">    </p:cNvPr>
          <p:cNvPicPr>
            <a:picLocks noChangeAspect="1"/>
          </p:cNvPicPr>
          <p:nvPr/>
        </p:nvPicPr>
        <p:blipFill>
          <a:blip r:embed="rId1"/>
          <a:stretch>
            <a:fillRect/>
          </a:stretch>
        </p:blipFill>
        <p:spPr>
          <a:xfrm>
            <a:off x="6583680" y="1920240"/>
            <a:ext cx="1005840" cy="1005840"/>
          </a:xfrm>
          <a:prstGeom prst="rect">
            <a:avLst/>
          </a:prstGeom>
        </p:spPr>
      </p:pic>
      <p:sp>
        <p:nvSpPr>
          <p:cNvPr id="11" name="Shape 7"/>
          <p:cNvSpPr/>
          <p:nvPr/>
        </p:nvSpPr>
        <p:spPr>
          <a:xfrm>
            <a:off x="5623560" y="1143000"/>
            <a:ext cx="365760" cy="365760"/>
          </a:xfrm>
          <a:prstGeom prst="ellipse">
            <a:avLst/>
          </a:prstGeom>
          <a:solidFill>
            <a:srgbClr val="7B68C8"/>
          </a:solidFill>
          <a:ln/>
        </p:spPr>
      </p:sp>
      <p:sp>
        <p:nvSpPr>
          <p:cNvPr id="12" name="Shape 8"/>
          <p:cNvSpPr/>
          <p:nvPr/>
        </p:nvSpPr>
        <p:spPr>
          <a:xfrm>
            <a:off x="5696712" y="1234440"/>
            <a:ext cx="73152" cy="73152"/>
          </a:xfrm>
          <a:prstGeom prst="ellipse">
            <a:avLst/>
          </a:prstGeom>
          <a:solidFill>
            <a:srgbClr val="E9E4FF"/>
          </a:solidFill>
          <a:ln/>
        </p:spPr>
      </p:sp>
      <p:sp>
        <p:nvSpPr>
          <p:cNvPr id="13" name="Shape 9"/>
          <p:cNvSpPr/>
          <p:nvPr/>
        </p:nvSpPr>
        <p:spPr>
          <a:xfrm>
            <a:off x="5806440" y="1207008"/>
            <a:ext cx="73152" cy="73152"/>
          </a:xfrm>
          <a:prstGeom prst="ellipse">
            <a:avLst/>
          </a:prstGeom>
          <a:solidFill>
            <a:srgbClr val="E9E4FF"/>
          </a:solidFill>
          <a:ln/>
        </p:spPr>
      </p:sp>
      <p:sp>
        <p:nvSpPr>
          <p:cNvPr id="14" name="Shape 10"/>
          <p:cNvSpPr/>
          <p:nvPr/>
        </p:nvSpPr>
        <p:spPr>
          <a:xfrm>
            <a:off x="5852160" y="1307592"/>
            <a:ext cx="73152" cy="73152"/>
          </a:xfrm>
          <a:prstGeom prst="ellipse">
            <a:avLst/>
          </a:prstGeom>
          <a:solidFill>
            <a:srgbClr val="E9E4FF"/>
          </a:solidFill>
          <a:ln/>
        </p:spPr>
      </p:sp>
      <p:sp>
        <p:nvSpPr>
          <p:cNvPr id="15" name="Shape 11"/>
          <p:cNvSpPr/>
          <p:nvPr/>
        </p:nvSpPr>
        <p:spPr>
          <a:xfrm>
            <a:off x="5751576" y="1362456"/>
            <a:ext cx="73152" cy="73152"/>
          </a:xfrm>
          <a:prstGeom prst="ellipse">
            <a:avLst/>
          </a:prstGeom>
          <a:solidFill>
            <a:srgbClr val="E9E4FF"/>
          </a:solidFill>
          <a:ln/>
        </p:spPr>
      </p:sp>
      <p:sp>
        <p:nvSpPr>
          <p:cNvPr id="16" name="Shape 12"/>
          <p:cNvSpPr/>
          <p:nvPr/>
        </p:nvSpPr>
        <p:spPr>
          <a:xfrm>
            <a:off x="5678424" y="1316736"/>
            <a:ext cx="73152" cy="73152"/>
          </a:xfrm>
          <a:prstGeom prst="ellipse">
            <a:avLst/>
          </a:prstGeom>
          <a:solidFill>
            <a:srgbClr val="E9E4FF"/>
          </a:solidFill>
          <a:ln/>
        </p:spPr>
      </p:sp>
      <p:sp>
        <p:nvSpPr>
          <p:cNvPr id="17" name="Shape 13"/>
          <p:cNvSpPr/>
          <p:nvPr/>
        </p:nvSpPr>
        <p:spPr>
          <a:xfrm>
            <a:off x="5788152" y="1289304"/>
            <a:ext cx="73152" cy="73152"/>
          </a:xfrm>
          <a:prstGeom prst="ellipse">
            <a:avLst/>
          </a:prstGeom>
          <a:solidFill>
            <a:srgbClr val="E9E4FF"/>
          </a:solidFill>
          <a:ln/>
        </p:spPr>
      </p:sp>
      <p:sp>
        <p:nvSpPr>
          <p:cNvPr id="18" name="Shape 14"/>
          <p:cNvSpPr/>
          <p:nvPr/>
        </p:nvSpPr>
        <p:spPr>
          <a:xfrm>
            <a:off x="8138160" y="1920240"/>
            <a:ext cx="365760" cy="365760"/>
          </a:xfrm>
          <a:prstGeom prst="ellipse">
            <a:avLst/>
          </a:prstGeom>
          <a:solidFill>
            <a:srgbClr val="FFFFFF"/>
          </a:solidFill>
          <a:ln w="19050">
            <a:solidFill>
              <a:srgbClr val="7B68C8"/>
            </a:solidFill>
            <a:prstDash val="solid"/>
          </a:ln>
        </p:spPr>
      </p:sp>
      <p:sp>
        <p:nvSpPr>
          <p:cNvPr id="19" name="Shape 15"/>
          <p:cNvSpPr/>
          <p:nvPr/>
        </p:nvSpPr>
        <p:spPr>
          <a:xfrm>
            <a:off x="8189366" y="2081174"/>
            <a:ext cx="80467" cy="80467"/>
          </a:xfrm>
          <a:prstGeom prst="ellipse">
            <a:avLst/>
          </a:prstGeom>
          <a:solidFill>
            <a:srgbClr val="7B68C8"/>
          </a:solidFill>
          <a:ln/>
        </p:spPr>
      </p:sp>
      <p:sp>
        <p:nvSpPr>
          <p:cNvPr id="20" name="Shape 16"/>
          <p:cNvSpPr/>
          <p:nvPr/>
        </p:nvSpPr>
        <p:spPr>
          <a:xfrm>
            <a:off x="8271662" y="2017166"/>
            <a:ext cx="80467" cy="80467"/>
          </a:xfrm>
          <a:prstGeom prst="ellipse">
            <a:avLst/>
          </a:prstGeom>
          <a:solidFill>
            <a:srgbClr val="7B68C8"/>
          </a:solidFill>
          <a:ln/>
        </p:spPr>
      </p:sp>
      <p:sp>
        <p:nvSpPr>
          <p:cNvPr id="21" name="Shape 17"/>
          <p:cNvSpPr/>
          <p:nvPr/>
        </p:nvSpPr>
        <p:spPr>
          <a:xfrm>
            <a:off x="8353958" y="2081174"/>
            <a:ext cx="80467" cy="80467"/>
          </a:xfrm>
          <a:prstGeom prst="ellipse">
            <a:avLst/>
          </a:prstGeom>
          <a:solidFill>
            <a:srgbClr val="7B68C8"/>
          </a:solidFill>
          <a:ln/>
        </p:spPr>
      </p:sp>
      <p:sp>
        <p:nvSpPr>
          <p:cNvPr id="22" name="Shape 18"/>
          <p:cNvSpPr/>
          <p:nvPr/>
        </p:nvSpPr>
        <p:spPr>
          <a:xfrm>
            <a:off x="5687568" y="3401568"/>
            <a:ext cx="512064" cy="512064"/>
          </a:xfrm>
          <a:prstGeom prst="ellipse">
            <a:avLst/>
          </a:prstGeom>
          <a:solidFill>
            <a:srgbClr val="E0A020"/>
          </a:solidFill>
          <a:ln/>
        </p:spPr>
      </p:sp>
      <p:sp>
        <p:nvSpPr>
          <p:cNvPr id="23" name="Shape 19"/>
          <p:cNvSpPr/>
          <p:nvPr/>
        </p:nvSpPr>
        <p:spPr>
          <a:xfrm>
            <a:off x="6071616" y="3388766"/>
            <a:ext cx="230429" cy="230429"/>
          </a:xfrm>
          <a:prstGeom prst="ellipse">
            <a:avLst/>
          </a:prstGeom>
          <a:solidFill>
            <a:srgbClr val="E0A020"/>
          </a:solidFill>
          <a:ln/>
        </p:spPr>
      </p:sp>
      <p:sp>
        <p:nvSpPr>
          <p:cNvPr id="24" name="Shape 20"/>
          <p:cNvSpPr/>
          <p:nvPr/>
        </p:nvSpPr>
        <p:spPr>
          <a:xfrm>
            <a:off x="5828386" y="3580790"/>
            <a:ext cx="179222" cy="179222"/>
          </a:xfrm>
          <a:prstGeom prst="ellipse">
            <a:avLst/>
          </a:prstGeom>
          <a:solidFill>
            <a:srgbClr val="A8700A"/>
          </a:solidFill>
          <a:ln/>
        </p:spPr>
      </p:sp>
      <p:sp>
        <p:nvSpPr>
          <p:cNvPr id="25" name="Shape 21"/>
          <p:cNvSpPr/>
          <p:nvPr/>
        </p:nvSpPr>
        <p:spPr>
          <a:xfrm>
            <a:off x="7863840" y="3566160"/>
            <a:ext cx="365760" cy="365760"/>
          </a:xfrm>
          <a:prstGeom prst="ellipse">
            <a:avLst/>
          </a:prstGeom>
          <a:solidFill>
            <a:srgbClr val="FFFFFF"/>
          </a:solidFill>
          <a:ln w="19050">
            <a:solidFill>
              <a:srgbClr val="7B68C8"/>
            </a:solidFill>
            <a:prstDash val="solid"/>
          </a:ln>
        </p:spPr>
      </p:sp>
      <p:sp>
        <p:nvSpPr>
          <p:cNvPr id="26" name="Shape 22"/>
          <p:cNvSpPr/>
          <p:nvPr/>
        </p:nvSpPr>
        <p:spPr>
          <a:xfrm>
            <a:off x="7915046" y="3727094"/>
            <a:ext cx="80467" cy="80467"/>
          </a:xfrm>
          <a:prstGeom prst="ellipse">
            <a:avLst/>
          </a:prstGeom>
          <a:solidFill>
            <a:srgbClr val="7B68C8"/>
          </a:solidFill>
          <a:ln/>
        </p:spPr>
      </p:sp>
      <p:sp>
        <p:nvSpPr>
          <p:cNvPr id="27" name="Shape 23"/>
          <p:cNvSpPr/>
          <p:nvPr/>
        </p:nvSpPr>
        <p:spPr>
          <a:xfrm>
            <a:off x="7997342" y="3663086"/>
            <a:ext cx="80467" cy="80467"/>
          </a:xfrm>
          <a:prstGeom prst="ellipse">
            <a:avLst/>
          </a:prstGeom>
          <a:solidFill>
            <a:srgbClr val="7B68C8"/>
          </a:solidFill>
          <a:ln/>
        </p:spPr>
      </p:sp>
      <p:sp>
        <p:nvSpPr>
          <p:cNvPr id="28" name="Shape 24"/>
          <p:cNvSpPr/>
          <p:nvPr/>
        </p:nvSpPr>
        <p:spPr>
          <a:xfrm>
            <a:off x="8079638" y="3727094"/>
            <a:ext cx="80467" cy="80467"/>
          </a:xfrm>
          <a:prstGeom prst="ellipse">
            <a:avLst/>
          </a:prstGeom>
          <a:solidFill>
            <a:srgbClr val="7B68C8"/>
          </a:solidFill>
          <a:ln/>
        </p:spPr>
      </p:sp>
      <p:sp>
        <p:nvSpPr>
          <p:cNvPr id="29" name="Shape 25"/>
          <p:cNvSpPr/>
          <p:nvPr/>
        </p:nvSpPr>
        <p:spPr>
          <a:xfrm>
            <a:off x="6858000" y="685800"/>
            <a:ext cx="365760" cy="365760"/>
          </a:xfrm>
          <a:prstGeom prst="ellipse">
            <a:avLst/>
          </a:prstGeom>
          <a:solidFill>
            <a:srgbClr val="FFFFFF"/>
          </a:solidFill>
          <a:ln w="19050">
            <a:solidFill>
              <a:srgbClr val="7B68C8"/>
            </a:solidFill>
            <a:prstDash val="solid"/>
          </a:ln>
        </p:spPr>
      </p:sp>
      <p:sp>
        <p:nvSpPr>
          <p:cNvPr id="30" name="Shape 26"/>
          <p:cNvSpPr/>
          <p:nvPr/>
        </p:nvSpPr>
        <p:spPr>
          <a:xfrm>
            <a:off x="6909206" y="846734"/>
            <a:ext cx="80467" cy="80467"/>
          </a:xfrm>
          <a:prstGeom prst="ellipse">
            <a:avLst/>
          </a:prstGeom>
          <a:solidFill>
            <a:srgbClr val="7B68C8"/>
          </a:solidFill>
          <a:ln/>
        </p:spPr>
      </p:sp>
      <p:sp>
        <p:nvSpPr>
          <p:cNvPr id="31" name="Shape 27"/>
          <p:cNvSpPr/>
          <p:nvPr/>
        </p:nvSpPr>
        <p:spPr>
          <a:xfrm>
            <a:off x="6991502" y="782726"/>
            <a:ext cx="80467" cy="80467"/>
          </a:xfrm>
          <a:prstGeom prst="ellipse">
            <a:avLst/>
          </a:prstGeom>
          <a:solidFill>
            <a:srgbClr val="7B68C8"/>
          </a:solidFill>
          <a:ln/>
        </p:spPr>
      </p:sp>
      <p:sp>
        <p:nvSpPr>
          <p:cNvPr id="32" name="Shape 28"/>
          <p:cNvSpPr/>
          <p:nvPr/>
        </p:nvSpPr>
        <p:spPr>
          <a:xfrm>
            <a:off x="7073798" y="846734"/>
            <a:ext cx="80467" cy="80467"/>
          </a:xfrm>
          <a:prstGeom prst="ellipse">
            <a:avLst/>
          </a:prstGeom>
          <a:solidFill>
            <a:srgbClr val="7B68C8"/>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Ruta de la clase · 90 minutos</a:t>
            </a:r>
            <a:endParaRPr lang="en-US" sz="2800" dirty="0"/>
          </a:p>
        </p:txBody>
      </p:sp>
      <p:sp>
        <p:nvSpPr>
          <p:cNvPr id="4" name="Tarjeta Contexto"/>
          <p:cNvSpPr/>
          <p:nvPr/>
        </p:nvSpPr>
        <p:spPr>
          <a:xfrm>
            <a:off x="457200" y="1097280"/>
            <a:ext cx="2560320" cy="2971800"/>
          </a:xfrm>
          <a:prstGeom prst="roundRect">
            <a:avLst>
              <a:gd name="adj" fmla="val 4286"/>
            </a:avLst>
          </a:prstGeom>
          <a:solidFill>
            <a:srgbClr val="FFFFFF"/>
          </a:solidFill>
          <a:ln/>
          <a:effectLst>
            <a:outerShdw sx="100000" sy="100000" kx="0" ky="0" algn="bl" rotWithShape="0" blurRad="76200" dist="25400" dir="5400000">
              <a:srgbClr val="1D3B4F">
                <a:alpha val="12000"/>
              </a:srgbClr>
            </a:outerShdw>
          </a:effectLst>
        </p:spPr>
      </p:sp>
      <p:sp>
        <p:nvSpPr>
          <p:cNvPr id="5" name="Círculo ícono"/>
          <p:cNvSpPr/>
          <p:nvPr/>
        </p:nvSpPr>
        <p:spPr>
          <a:xfrm>
            <a:off x="685800" y="1280160"/>
            <a:ext cx="640080" cy="640080"/>
          </a:xfrm>
          <a:prstGeom prst="ellipse">
            <a:avLst/>
          </a:prstGeom>
          <a:solidFill>
            <a:srgbClr val="E0A020"/>
          </a:solidFill>
          <a:ln/>
        </p:spPr>
      </p:sp>
      <p:pic>
        <p:nvPicPr>
          <p:cNvPr id="6" name="Image 0" descr="FaLightbulb">    </p:cNvPr>
          <p:cNvPicPr>
            <a:picLocks noChangeAspect="1"/>
          </p:cNvPicPr>
          <p:nvPr/>
        </p:nvPicPr>
        <p:blipFill>
          <a:blip r:embed="rId1"/>
          <a:stretch>
            <a:fillRect/>
          </a:stretch>
        </p:blipFill>
        <p:spPr>
          <a:xfrm>
            <a:off x="845820" y="1440180"/>
            <a:ext cx="320040" cy="320040"/>
          </a:xfrm>
          <a:prstGeom prst="rect">
            <a:avLst/>
          </a:prstGeom>
        </p:spPr>
      </p:pic>
      <p:sp>
        <p:nvSpPr>
          <p:cNvPr id="7" name="Text 3"/>
          <p:cNvSpPr txBox="1"/>
          <p:nvPr/>
        </p:nvSpPr>
        <p:spPr>
          <a:xfrm>
            <a:off x="1463040" y="1261872"/>
            <a:ext cx="1463040" cy="36576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Contexto</a:t>
            </a:r>
            <a:endParaRPr lang="en-US" sz="2000" dirty="0"/>
          </a:p>
        </p:txBody>
      </p:sp>
      <p:sp>
        <p:nvSpPr>
          <p:cNvPr id="8" name="Text 4"/>
          <p:cNvSpPr txBox="1"/>
          <p:nvPr/>
        </p:nvSpPr>
        <p:spPr>
          <a:xfrm>
            <a:off x="1463040" y="1627632"/>
            <a:ext cx="1463040" cy="274320"/>
          </a:xfrm>
          <a:prstGeom prst="rect">
            <a:avLst/>
          </a:prstGeom>
          <a:noFill/>
          <a:ln/>
        </p:spPr>
        <p:txBody>
          <a:bodyPr wrap="square" lIns="0" tIns="0" rIns="0" bIns="0" rtlCol="0" anchor="ctr"/>
          <a:lstStyle/>
          <a:p>
            <a:pPr indent="0" marL="0">
              <a:buNone/>
            </a:pPr>
            <a:r>
              <a:rPr lang="en-US" sz="1400" dirty="0">
                <a:solidFill>
                  <a:schemeClr val="tx2"/>
                </a:solidFill>
              </a:rPr>
              <a:t>25 min</a:t>
            </a:r>
            <a:endParaRPr lang="en-US" sz="1400" dirty="0"/>
          </a:p>
        </p:txBody>
      </p:sp>
      <p:sp>
        <p:nvSpPr>
          <p:cNvPr id="9" name="Text 5"/>
          <p:cNvSpPr txBox="1"/>
          <p:nvPr/>
        </p:nvSpPr>
        <p:spPr>
          <a:xfrm>
            <a:off x="685800" y="2148840"/>
            <a:ext cx="2148840" cy="17830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Hook: la rodilla roja</a:t>
            </a:r>
            <a:endParaRPr lang="en-US" sz="1400" dirty="0"/>
          </a:p>
          <a:p>
            <a:pPr marL="342900" indent="-342900">
              <a:spcAft>
                <a:spcPts val="600"/>
              </a:spcAft>
              <a:buSzPct val="100000"/>
              <a:buChar char="•"/>
            </a:pPr>
            <a:r>
              <a:rPr lang="en-US" sz="1400" dirty="0">
                <a:solidFill>
                  <a:schemeClr val="tx1"/>
                </a:solidFill>
              </a:rPr>
              <a:t>Tres líneas de defensa</a:t>
            </a:r>
            <a:endParaRPr lang="en-US" sz="1400" dirty="0"/>
          </a:p>
          <a:p>
            <a:pPr marL="342900" indent="-342900">
              <a:spcAft>
                <a:spcPts val="600"/>
              </a:spcAft>
              <a:buSzPct val="100000"/>
              <a:buChar char="•"/>
            </a:pPr>
            <a:r>
              <a:rPr lang="en-US" sz="1400" dirty="0">
                <a:solidFill>
                  <a:schemeClr val="tx1"/>
                </a:solidFill>
              </a:rPr>
              <a:t>Células e inflamación</a:t>
            </a:r>
            <a:endParaRPr lang="en-US" sz="1400" dirty="0"/>
          </a:p>
          <a:p>
            <a:pPr marL="342900" indent="-342900">
              <a:spcAft>
                <a:spcPts val="600"/>
              </a:spcAft>
              <a:buSzPct val="100000"/>
              <a:buChar char="•"/>
            </a:pPr>
            <a:r>
              <a:rPr lang="en-US" sz="1400" dirty="0">
                <a:solidFill>
                  <a:schemeClr val="tx1"/>
                </a:solidFill>
              </a:rPr>
              <a:t>Signos y cuidados</a:t>
            </a:r>
            <a:endParaRPr lang="en-US" sz="1400" dirty="0"/>
          </a:p>
        </p:txBody>
      </p:sp>
      <p:sp>
        <p:nvSpPr>
          <p:cNvPr id="10" name="Tarjeta Juego"/>
          <p:cNvSpPr/>
          <p:nvPr/>
        </p:nvSpPr>
        <p:spPr>
          <a:xfrm>
            <a:off x="3291840" y="1097280"/>
            <a:ext cx="2560320" cy="2971800"/>
          </a:xfrm>
          <a:prstGeom prst="roundRect">
            <a:avLst>
              <a:gd name="adj" fmla="val 4286"/>
            </a:avLst>
          </a:prstGeom>
          <a:solidFill>
            <a:srgbClr val="FFFFFF"/>
          </a:solidFill>
          <a:ln/>
          <a:effectLst>
            <a:outerShdw sx="100000" sy="100000" kx="0" ky="0" algn="bl" rotWithShape="0" blurRad="76200" dist="25400" dir="5400000">
              <a:srgbClr val="1D3B4F">
                <a:alpha val="12000"/>
              </a:srgbClr>
            </a:outerShdw>
          </a:effectLst>
        </p:spPr>
      </p:sp>
      <p:sp>
        <p:nvSpPr>
          <p:cNvPr id="11" name="Círculo ícono"/>
          <p:cNvSpPr/>
          <p:nvPr/>
        </p:nvSpPr>
        <p:spPr>
          <a:xfrm>
            <a:off x="3520440" y="1280160"/>
            <a:ext cx="640080" cy="640080"/>
          </a:xfrm>
          <a:prstGeom prst="ellipse">
            <a:avLst/>
          </a:prstGeom>
          <a:solidFill>
            <a:srgbClr val="1E8A94"/>
          </a:solidFill>
          <a:ln/>
        </p:spPr>
      </p:sp>
      <p:pic>
        <p:nvPicPr>
          <p:cNvPr id="12" name="Image 1" descr="FaGamepad">    </p:cNvPr>
          <p:cNvPicPr>
            <a:picLocks noChangeAspect="1"/>
          </p:cNvPicPr>
          <p:nvPr/>
        </p:nvPicPr>
        <p:blipFill>
          <a:blip r:embed="rId2"/>
          <a:stretch>
            <a:fillRect/>
          </a:stretch>
        </p:blipFill>
        <p:spPr>
          <a:xfrm>
            <a:off x="3680460" y="1440180"/>
            <a:ext cx="320040" cy="320040"/>
          </a:xfrm>
          <a:prstGeom prst="rect">
            <a:avLst/>
          </a:prstGeom>
        </p:spPr>
      </p:pic>
      <p:sp>
        <p:nvSpPr>
          <p:cNvPr id="13" name="Text 8"/>
          <p:cNvSpPr txBox="1"/>
          <p:nvPr/>
        </p:nvSpPr>
        <p:spPr>
          <a:xfrm>
            <a:off x="4297680" y="1261872"/>
            <a:ext cx="1463040" cy="36576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Juego</a:t>
            </a:r>
            <a:endParaRPr lang="en-US" sz="2000" dirty="0"/>
          </a:p>
        </p:txBody>
      </p:sp>
      <p:sp>
        <p:nvSpPr>
          <p:cNvPr id="14" name="Text 9"/>
          <p:cNvSpPr txBox="1"/>
          <p:nvPr/>
        </p:nvSpPr>
        <p:spPr>
          <a:xfrm>
            <a:off x="4297680" y="1627632"/>
            <a:ext cx="1463040" cy="274320"/>
          </a:xfrm>
          <a:prstGeom prst="rect">
            <a:avLst/>
          </a:prstGeom>
          <a:noFill/>
          <a:ln/>
        </p:spPr>
        <p:txBody>
          <a:bodyPr wrap="square" lIns="0" tIns="0" rIns="0" bIns="0" rtlCol="0" anchor="ctr"/>
          <a:lstStyle/>
          <a:p>
            <a:pPr indent="0" marL="0">
              <a:buNone/>
            </a:pPr>
            <a:r>
              <a:rPr lang="en-US" sz="1400" dirty="0">
                <a:solidFill>
                  <a:schemeClr val="tx2"/>
                </a:solidFill>
              </a:rPr>
              <a:t>45 min</a:t>
            </a:r>
            <a:endParaRPr lang="en-US" sz="1400" dirty="0"/>
          </a:p>
        </p:txBody>
      </p:sp>
      <p:sp>
        <p:nvSpPr>
          <p:cNvPr id="15" name="Text 10"/>
          <p:cNvSpPr txBox="1"/>
          <p:nvPr/>
        </p:nvSpPr>
        <p:spPr>
          <a:xfrm>
            <a:off x="3520440" y="2148840"/>
            <a:ext cx="2148840" cy="17830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Instrucciones</a:t>
            </a:r>
            <a:endParaRPr lang="en-US" sz="1400" dirty="0"/>
          </a:p>
          <a:p>
            <a:pPr marL="342900" indent="-342900">
              <a:spcAft>
                <a:spcPts val="600"/>
              </a:spcAft>
              <a:buSzPct val="100000"/>
              <a:buChar char="•"/>
            </a:pPr>
            <a:r>
              <a:rPr lang="en-US" sz="1400" dirty="0">
                <a:solidFill>
                  <a:schemeClr val="tx1"/>
                </a:solidFill>
              </a:rPr>
              <a:t>Nivel Aprendizaje</a:t>
            </a:r>
            <a:endParaRPr lang="en-US" sz="1400" dirty="0"/>
          </a:p>
          <a:p>
            <a:pPr marL="342900" indent="-342900">
              <a:spcAft>
                <a:spcPts val="600"/>
              </a:spcAft>
              <a:buSzPct val="100000"/>
              <a:buChar char="•"/>
            </a:pPr>
            <a:r>
              <a:rPr lang="en-US" sz="1400" dirty="0">
                <a:solidFill>
                  <a:schemeClr val="tx1"/>
                </a:solidFill>
              </a:rPr>
              <a:t>Casos 1, 2 y 3</a:t>
            </a:r>
            <a:endParaRPr lang="en-US" sz="1400" dirty="0"/>
          </a:p>
          <a:p>
            <a:pPr marL="342900" indent="-342900">
              <a:spcAft>
                <a:spcPts val="600"/>
              </a:spcAft>
              <a:buSzPct val="100000"/>
              <a:buChar char="•"/>
            </a:pPr>
            <a:r>
              <a:rPr lang="en-US" sz="1400" dirty="0">
                <a:solidFill>
                  <a:schemeClr val="tx1"/>
                </a:solidFill>
              </a:rPr>
              <a:t>Informe de cada caso</a:t>
            </a:r>
            <a:endParaRPr lang="en-US" sz="1400" dirty="0"/>
          </a:p>
        </p:txBody>
      </p:sp>
      <p:sp>
        <p:nvSpPr>
          <p:cNvPr id="16" name="Tarjeta Cierre"/>
          <p:cNvSpPr/>
          <p:nvPr/>
        </p:nvSpPr>
        <p:spPr>
          <a:xfrm>
            <a:off x="6126480" y="1097280"/>
            <a:ext cx="2560320" cy="2971800"/>
          </a:xfrm>
          <a:prstGeom prst="roundRect">
            <a:avLst>
              <a:gd name="adj" fmla="val 4286"/>
            </a:avLst>
          </a:prstGeom>
          <a:solidFill>
            <a:srgbClr val="FFFFFF"/>
          </a:solidFill>
          <a:ln/>
          <a:effectLst>
            <a:outerShdw sx="100000" sy="100000" kx="0" ky="0" algn="bl" rotWithShape="0" blurRad="76200" dist="25400" dir="5400000">
              <a:srgbClr val="1D3B4F">
                <a:alpha val="12000"/>
              </a:srgbClr>
            </a:outerShdw>
          </a:effectLst>
        </p:spPr>
      </p:sp>
      <p:sp>
        <p:nvSpPr>
          <p:cNvPr id="17" name="Círculo ícono"/>
          <p:cNvSpPr/>
          <p:nvPr/>
        </p:nvSpPr>
        <p:spPr>
          <a:xfrm>
            <a:off x="6355080" y="1280160"/>
            <a:ext cx="640080" cy="640080"/>
          </a:xfrm>
          <a:prstGeom prst="ellipse">
            <a:avLst/>
          </a:prstGeom>
          <a:solidFill>
            <a:srgbClr val="7B68C8"/>
          </a:solidFill>
          <a:ln/>
        </p:spPr>
      </p:sp>
      <p:pic>
        <p:nvPicPr>
          <p:cNvPr id="18" name="Image 2" descr="FaBookOpen">    </p:cNvPr>
          <p:cNvPicPr>
            <a:picLocks noChangeAspect="1"/>
          </p:cNvPicPr>
          <p:nvPr/>
        </p:nvPicPr>
        <p:blipFill>
          <a:blip r:embed="rId3"/>
          <a:stretch>
            <a:fillRect/>
          </a:stretch>
        </p:blipFill>
        <p:spPr>
          <a:xfrm>
            <a:off x="6515100" y="1440180"/>
            <a:ext cx="320040" cy="320040"/>
          </a:xfrm>
          <a:prstGeom prst="rect">
            <a:avLst/>
          </a:prstGeom>
        </p:spPr>
      </p:pic>
      <p:sp>
        <p:nvSpPr>
          <p:cNvPr id="19" name="Text 13"/>
          <p:cNvSpPr txBox="1"/>
          <p:nvPr/>
        </p:nvSpPr>
        <p:spPr>
          <a:xfrm>
            <a:off x="7132320" y="1261872"/>
            <a:ext cx="1463040" cy="36576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Cierre</a:t>
            </a:r>
            <a:endParaRPr lang="en-US" sz="2000" dirty="0"/>
          </a:p>
        </p:txBody>
      </p:sp>
      <p:sp>
        <p:nvSpPr>
          <p:cNvPr id="20" name="Text 14"/>
          <p:cNvSpPr txBox="1"/>
          <p:nvPr/>
        </p:nvSpPr>
        <p:spPr>
          <a:xfrm>
            <a:off x="7132320" y="1627632"/>
            <a:ext cx="1463040" cy="274320"/>
          </a:xfrm>
          <a:prstGeom prst="rect">
            <a:avLst/>
          </a:prstGeom>
          <a:noFill/>
          <a:ln/>
        </p:spPr>
        <p:txBody>
          <a:bodyPr wrap="square" lIns="0" tIns="0" rIns="0" bIns="0" rtlCol="0" anchor="ctr"/>
          <a:lstStyle/>
          <a:p>
            <a:pPr indent="0" marL="0">
              <a:buNone/>
            </a:pPr>
            <a:r>
              <a:rPr lang="en-US" sz="1400" dirty="0">
                <a:solidFill>
                  <a:schemeClr val="tx2"/>
                </a:solidFill>
              </a:rPr>
              <a:t>20 min</a:t>
            </a:r>
            <a:endParaRPr lang="en-US" sz="1400" dirty="0"/>
          </a:p>
        </p:txBody>
      </p:sp>
      <p:sp>
        <p:nvSpPr>
          <p:cNvPr id="21" name="Text 15"/>
          <p:cNvSpPr txBox="1"/>
          <p:nvPr/>
        </p:nvSpPr>
        <p:spPr>
          <a:xfrm>
            <a:off x="6355080" y="2148840"/>
            <a:ext cx="2148840" cy="17830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Preguntas de bitácora</a:t>
            </a:r>
            <a:endParaRPr lang="en-US" sz="1400" dirty="0"/>
          </a:p>
          <a:p>
            <a:pPr marL="342900" indent="-342900">
              <a:spcAft>
                <a:spcPts val="600"/>
              </a:spcAft>
              <a:buSzPct val="100000"/>
              <a:buChar char="•"/>
            </a:pPr>
            <a:r>
              <a:rPr lang="en-US" sz="1400" dirty="0">
                <a:solidFill>
                  <a:schemeClr val="tx1"/>
                </a:solidFill>
              </a:rPr>
              <a:t>Puesta en común</a:t>
            </a:r>
            <a:endParaRPr lang="en-US" sz="1400" dirty="0"/>
          </a:p>
          <a:p>
            <a:pPr marL="342900" indent="-342900">
              <a:spcAft>
                <a:spcPts val="600"/>
              </a:spcAft>
              <a:buSzPct val="100000"/>
              <a:buChar char="•"/>
            </a:pPr>
            <a:r>
              <a:rPr lang="en-US" sz="1400" dirty="0">
                <a:solidFill>
                  <a:schemeClr val="tx1"/>
                </a:solidFill>
              </a:rPr>
              <a:t>Puente al hemograma</a:t>
            </a:r>
            <a:endParaRPr lang="en-US" sz="1400" dirty="0"/>
          </a:p>
        </p:txBody>
      </p:sp>
      <p:sp>
        <p:nvSpPr>
          <p:cNvPr id="22" name="Banner"/>
          <p:cNvSpPr/>
          <p:nvPr/>
        </p:nvSpPr>
        <p:spPr>
          <a:xfrm>
            <a:off x="457200" y="4251960"/>
            <a:ext cx="8229600" cy="502920"/>
          </a:xfrm>
          <a:prstGeom prst="roundRect">
            <a:avLst>
              <a:gd name="adj" fmla="val 18182"/>
            </a:avLst>
          </a:prstGeom>
          <a:solidFill>
            <a:srgbClr val="D6EEF0"/>
          </a:solidFill>
          <a:ln/>
        </p:spPr>
      </p:sp>
      <p:sp>
        <p:nvSpPr>
          <p:cNvPr id="23" name="Texto banner"/>
          <p:cNvSpPr txBox="1"/>
          <p:nvPr/>
        </p:nvSpPr>
        <p:spPr>
          <a:xfrm>
            <a:off x="640080" y="4251960"/>
            <a:ext cx="7863840" cy="502920"/>
          </a:xfrm>
          <a:prstGeom prst="rect">
            <a:avLst/>
          </a:prstGeom>
          <a:noFill/>
          <a:ln/>
        </p:spPr>
        <p:txBody>
          <a:bodyPr wrap="square" lIns="0" tIns="0" rIns="0" bIns="0" rtlCol="0" anchor="ctr"/>
          <a:lstStyle/>
          <a:p>
            <a:pPr indent="0" marL="0">
              <a:buNone/>
            </a:pPr>
            <a:r>
              <a:rPr lang="en-US" sz="1400" b="1" dirty="0">
                <a:solidFill>
                  <a:srgbClr val="1E8A94"/>
                </a:solidFill>
              </a:rPr>
              <a:t>Objetivo: </a:t>
            </a:r>
            <a:pPr indent="0" marL="0">
              <a:buNone/>
            </a:pPr>
            <a:r>
              <a:rPr lang="en-US" sz="1400" dirty="0">
                <a:solidFill>
                  <a:schemeClr val="tx1"/>
                </a:solidFill>
              </a:rPr>
              <a:t>explicar, con un modelo, cómo actúa la inflamación cuando un microbio logra pasar la primera barrera.</a:t>
            </a:r>
            <a:endParaRPr lang="en-US" sz="1400" dirty="0"/>
          </a:p>
        </p:txBody>
      </p:sp>
      <p:sp>
        <p:nvSpPr>
          <p:cNvPr id="25" name="Slide Number Placeholder 0"/>
          <p:cNvSpPr>
            <a:spLocks noGrp="1"/>
          </p:cNvSpPr>
          <p:nvPr>
            <p:ph type="sldNum" sz="quarter" idx="4294967295"/>
          </p:nvPr>
        </p:nvSpPr>
        <p:spPr>
          <a:xfrm>
            <a:off x="8138160" y="482803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La rodilla roja: ¿herida o defensa?</a:t>
            </a:r>
            <a:endParaRPr lang="en-US" sz="2800" dirty="0"/>
          </a:p>
        </p:txBody>
      </p:sp>
      <p:sp>
        <p:nvSpPr>
          <p:cNvPr id="4" name="Tarjeta relato"/>
          <p:cNvSpPr/>
          <p:nvPr/>
        </p:nvSpPr>
        <p:spPr>
          <a:xfrm>
            <a:off x="457200" y="1097280"/>
            <a:ext cx="4937760" cy="2971800"/>
          </a:xfrm>
          <a:prstGeom prst="roundRect">
            <a:avLst>
              <a:gd name="adj" fmla="val 3692"/>
            </a:avLst>
          </a:prstGeom>
          <a:solidFill>
            <a:srgbClr val="FFFFFF"/>
          </a:solidFill>
          <a:ln/>
          <a:effectLst>
            <a:outerShdw sx="100000" sy="100000" kx="0" ky="0" algn="bl" rotWithShape="0" blurRad="76200" dist="25400" dir="5400000">
              <a:srgbClr val="1D3B4F">
                <a:alpha val="12000"/>
              </a:srgbClr>
            </a:outerShdw>
          </a:effectLst>
        </p:spPr>
      </p:sp>
      <p:sp>
        <p:nvSpPr>
          <p:cNvPr id="5" name="Relato"/>
          <p:cNvSpPr txBox="1"/>
          <p:nvPr/>
        </p:nvSpPr>
        <p:spPr>
          <a:xfrm>
            <a:off x="731520" y="1325880"/>
            <a:ext cx="4389120" cy="2560320"/>
          </a:xfrm>
          <a:prstGeom prst="rect">
            <a:avLst/>
          </a:prstGeom>
          <a:noFill/>
          <a:ln/>
        </p:spPr>
        <p:txBody>
          <a:bodyPr wrap="square" lIns="0" tIns="0" rIns="0" bIns="0" rtlCol="0" anchor="t"/>
          <a:lstStyle/>
          <a:p>
            <a:pPr indent="0" marL="0">
              <a:spcAft>
                <a:spcPts val="600"/>
              </a:spcAft>
              <a:buNone/>
            </a:pPr>
            <a:r>
              <a:rPr lang="en-US" sz="1800" dirty="0">
                <a:solidFill>
                  <a:schemeClr val="tx1"/>
                </a:solidFill>
              </a:rPr>
              <a:t>Te raspas la rodilla jugando a la pelota.</a:t>
            </a:r>
            <a:endParaRPr lang="en-US" sz="1800" dirty="0"/>
          </a:p>
          <a:p>
            <a:pPr indent="0" marL="0">
              <a:spcAft>
                <a:spcPts val="600"/>
              </a:spcAft>
              <a:buNone/>
            </a:pPr>
            <a:r>
              <a:rPr lang="en-US" sz="1800" dirty="0">
                <a:solidFill>
                  <a:schemeClr val="tx1"/>
                </a:solidFill>
              </a:rPr>
              <a:t>Dos horas después, la zona está </a:t>
            </a:r>
            <a:pPr indent="0" marL="0">
              <a:spcAft>
                <a:spcPts val="600"/>
              </a:spcAft>
              <a:buNone/>
            </a:pPr>
            <a:r>
              <a:rPr lang="en-US" sz="1800" b="1" dirty="0">
                <a:solidFill>
                  <a:schemeClr val="accent4"/>
                </a:solidFill>
              </a:rPr>
              <a:t>roja</a:t>
            </a:r>
            <a:pPr indent="0" marL="0">
              <a:spcAft>
                <a:spcPts val="600"/>
              </a:spcAft>
              <a:buNone/>
            </a:pPr>
            <a:r>
              <a:rPr lang="en-US" sz="1800" dirty="0">
                <a:solidFill>
                  <a:schemeClr val="tx1"/>
                </a:solidFill>
              </a:rPr>
              <a:t>, </a:t>
            </a:r>
            <a:pPr indent="0" marL="0">
              <a:spcAft>
                <a:spcPts val="600"/>
              </a:spcAft>
              <a:buNone/>
            </a:pPr>
            <a:r>
              <a:rPr lang="en-US" sz="1800" b="1" dirty="0">
                <a:solidFill>
                  <a:schemeClr val="accent2"/>
                </a:solidFill>
              </a:rPr>
              <a:t>caliente</a:t>
            </a:r>
            <a:pPr indent="0" marL="0">
              <a:spcAft>
                <a:spcPts val="600"/>
              </a:spcAft>
              <a:buNone/>
            </a:pPr>
            <a:r>
              <a:rPr lang="en-US" sz="1800" dirty="0">
                <a:solidFill>
                  <a:schemeClr val="tx1"/>
                </a:solidFill>
              </a:rPr>
              <a:t>, </a:t>
            </a:r>
            <a:pPr indent="0" marL="0">
              <a:spcAft>
                <a:spcPts val="600"/>
              </a:spcAft>
              <a:buNone/>
            </a:pPr>
            <a:r>
              <a:rPr lang="en-US" sz="1800" b="1" dirty="0">
                <a:solidFill>
                  <a:schemeClr val="accent3"/>
                </a:solidFill>
              </a:rPr>
              <a:t>hinchada</a:t>
            </a:r>
            <a:pPr indent="0" marL="0">
              <a:spcAft>
                <a:spcPts val="600"/>
              </a:spcAft>
              <a:buNone/>
            </a:pPr>
            <a:r>
              <a:rPr lang="en-US" sz="1800" dirty="0">
                <a:solidFill>
                  <a:schemeClr val="tx1"/>
                </a:solidFill>
              </a:rPr>
              <a:t> y </a:t>
            </a:r>
            <a:pPr indent="0" marL="0">
              <a:spcAft>
                <a:spcPts val="600"/>
              </a:spcAft>
              <a:buNone/>
            </a:pPr>
            <a:r>
              <a:rPr lang="en-US" sz="1800" b="1" dirty="0">
                <a:solidFill>
                  <a:schemeClr val="accent1"/>
                </a:solidFill>
              </a:rPr>
              <a:t>duele</a:t>
            </a:r>
            <a:endParaRPr lang="en-US" sz="1800" dirty="0"/>
          </a:p>
          <a:p>
            <a:pPr indent="0" marL="0">
              <a:spcAft>
                <a:spcPts val="600"/>
              </a:spcAft>
              <a:buNone/>
            </a:pPr>
            <a:r>
              <a:rPr lang="en-US" sz="800" dirty="0">
                <a:solidFill>
                  <a:schemeClr val="tx1"/>
                </a:solidFill>
              </a:rPr>
              <a:t> </a:t>
            </a:r>
            <a:endParaRPr lang="en-US" sz="1800" dirty="0"/>
          </a:p>
          <a:p>
            <a:pPr indent="0" marL="0">
              <a:spcAft>
                <a:spcPts val="600"/>
              </a:spcAft>
              <a:buNone/>
            </a:pPr>
            <a:r>
              <a:rPr lang="en-US" sz="1800" b="1" dirty="0">
                <a:solidFill>
                  <a:schemeClr val="tx1"/>
                </a:solidFill>
              </a:rPr>
              <a:t>Nadie te puso nada. Tu cuerpo lo hizo solo, y a propósito.</a:t>
            </a:r>
            <a:endParaRPr lang="en-US" sz="1800" dirty="0"/>
          </a:p>
        </p:txBody>
      </p:sp>
      <p:sp>
        <p:nvSpPr>
          <p:cNvPr id="6" name="Signo Rubor"/>
          <p:cNvSpPr/>
          <p:nvPr/>
        </p:nvSpPr>
        <p:spPr>
          <a:xfrm>
            <a:off x="5669280" y="1097280"/>
            <a:ext cx="3017520" cy="640080"/>
          </a:xfrm>
          <a:prstGeom prst="roundRect">
            <a:avLst>
              <a:gd name="adj" fmla="val 17143"/>
            </a:avLst>
          </a:prstGeom>
          <a:solidFill>
            <a:srgbClr val="FFFFFF"/>
          </a:solidFill>
          <a:ln/>
          <a:effectLst>
            <a:outerShdw sx="100000" sy="100000" kx="0" ky="0" algn="bl" rotWithShape="0" blurRad="76200" dist="25400" dir="5400000">
              <a:srgbClr val="1D3B4F">
                <a:alpha val="12000"/>
              </a:srgbClr>
            </a:outerShdw>
          </a:effectLst>
        </p:spPr>
      </p:sp>
      <p:sp>
        <p:nvSpPr>
          <p:cNvPr id="7" name="Círculo ícono"/>
          <p:cNvSpPr/>
          <p:nvPr/>
        </p:nvSpPr>
        <p:spPr>
          <a:xfrm>
            <a:off x="5806440" y="1170432"/>
            <a:ext cx="493776" cy="493776"/>
          </a:xfrm>
          <a:prstGeom prst="ellipse">
            <a:avLst/>
          </a:prstGeom>
          <a:solidFill>
            <a:srgbClr val="D2504B"/>
          </a:solidFill>
          <a:ln/>
        </p:spPr>
      </p:sp>
      <p:pic>
        <p:nvPicPr>
          <p:cNvPr id="8" name="Image 0" descr="FaTint">    </p:cNvPr>
          <p:cNvPicPr>
            <a:picLocks noChangeAspect="1"/>
          </p:cNvPicPr>
          <p:nvPr/>
        </p:nvPicPr>
        <p:blipFill>
          <a:blip r:embed="rId1"/>
          <a:stretch>
            <a:fillRect/>
          </a:stretch>
        </p:blipFill>
        <p:spPr>
          <a:xfrm>
            <a:off x="5929884" y="1293876"/>
            <a:ext cx="246888" cy="246888"/>
          </a:xfrm>
          <a:prstGeom prst="rect">
            <a:avLst/>
          </a:prstGeom>
        </p:spPr>
      </p:pic>
      <p:sp>
        <p:nvSpPr>
          <p:cNvPr id="9" name="Text 5"/>
          <p:cNvSpPr txBox="1"/>
          <p:nvPr/>
        </p:nvSpPr>
        <p:spPr>
          <a:xfrm>
            <a:off x="6446520" y="1097280"/>
            <a:ext cx="2103120" cy="640080"/>
          </a:xfrm>
          <a:prstGeom prst="rect">
            <a:avLst/>
          </a:prstGeom>
          <a:noFill/>
          <a:ln/>
        </p:spPr>
        <p:txBody>
          <a:bodyPr wrap="square" lIns="0" tIns="0" rIns="0" bIns="0" rtlCol="0" anchor="ctr"/>
          <a:lstStyle/>
          <a:p>
            <a:pPr indent="0" marL="0">
              <a:buNone/>
            </a:pPr>
            <a:r>
              <a:rPr lang="en-US" sz="1800" b="1" dirty="0">
                <a:solidFill>
                  <a:schemeClr val="tx1"/>
                </a:solidFill>
              </a:rPr>
              <a:t>Rubor</a:t>
            </a:r>
            <a:endParaRPr lang="en-US" sz="1800" dirty="0"/>
          </a:p>
        </p:txBody>
      </p:sp>
      <p:sp>
        <p:nvSpPr>
          <p:cNvPr id="10" name="Signo Calor"/>
          <p:cNvSpPr/>
          <p:nvPr/>
        </p:nvSpPr>
        <p:spPr>
          <a:xfrm>
            <a:off x="5669280" y="1856232"/>
            <a:ext cx="3017520" cy="640080"/>
          </a:xfrm>
          <a:prstGeom prst="roundRect">
            <a:avLst>
              <a:gd name="adj" fmla="val 17143"/>
            </a:avLst>
          </a:prstGeom>
          <a:solidFill>
            <a:srgbClr val="FFFFFF"/>
          </a:solidFill>
          <a:ln/>
          <a:effectLst>
            <a:outerShdw sx="100000" sy="100000" kx="0" ky="0" algn="bl" rotWithShape="0" blurRad="76200" dist="25400" dir="5400000">
              <a:srgbClr val="1D3B4F">
                <a:alpha val="12000"/>
              </a:srgbClr>
            </a:outerShdw>
          </a:effectLst>
        </p:spPr>
      </p:sp>
      <p:sp>
        <p:nvSpPr>
          <p:cNvPr id="11" name="Círculo ícono"/>
          <p:cNvSpPr/>
          <p:nvPr/>
        </p:nvSpPr>
        <p:spPr>
          <a:xfrm>
            <a:off x="5806440" y="1929384"/>
            <a:ext cx="493776" cy="493776"/>
          </a:xfrm>
          <a:prstGeom prst="ellipse">
            <a:avLst/>
          </a:prstGeom>
          <a:solidFill>
            <a:srgbClr val="E0A020"/>
          </a:solidFill>
          <a:ln/>
        </p:spPr>
      </p:sp>
      <p:pic>
        <p:nvPicPr>
          <p:cNvPr id="12" name="Image 1" descr="FaThermometerHalf">    </p:cNvPr>
          <p:cNvPicPr>
            <a:picLocks noChangeAspect="1"/>
          </p:cNvPicPr>
          <p:nvPr/>
        </p:nvPicPr>
        <p:blipFill>
          <a:blip r:embed="rId2"/>
          <a:stretch>
            <a:fillRect/>
          </a:stretch>
        </p:blipFill>
        <p:spPr>
          <a:xfrm>
            <a:off x="5929884" y="2052828"/>
            <a:ext cx="246888" cy="246888"/>
          </a:xfrm>
          <a:prstGeom prst="rect">
            <a:avLst/>
          </a:prstGeom>
        </p:spPr>
      </p:pic>
      <p:sp>
        <p:nvSpPr>
          <p:cNvPr id="13" name="Text 8"/>
          <p:cNvSpPr txBox="1"/>
          <p:nvPr/>
        </p:nvSpPr>
        <p:spPr>
          <a:xfrm>
            <a:off x="6446520" y="1856232"/>
            <a:ext cx="2103120" cy="640080"/>
          </a:xfrm>
          <a:prstGeom prst="rect">
            <a:avLst/>
          </a:prstGeom>
          <a:noFill/>
          <a:ln/>
        </p:spPr>
        <p:txBody>
          <a:bodyPr wrap="square" lIns="0" tIns="0" rIns="0" bIns="0" rtlCol="0" anchor="ctr"/>
          <a:lstStyle/>
          <a:p>
            <a:pPr indent="0" marL="0">
              <a:buNone/>
            </a:pPr>
            <a:r>
              <a:rPr lang="en-US" sz="1800" b="1" dirty="0">
                <a:solidFill>
                  <a:schemeClr val="tx1"/>
                </a:solidFill>
              </a:rPr>
              <a:t>Calor</a:t>
            </a:r>
            <a:endParaRPr lang="en-US" sz="1800" dirty="0"/>
          </a:p>
        </p:txBody>
      </p:sp>
      <p:sp>
        <p:nvSpPr>
          <p:cNvPr id="14" name="Signo Hinchazón"/>
          <p:cNvSpPr/>
          <p:nvPr/>
        </p:nvSpPr>
        <p:spPr>
          <a:xfrm>
            <a:off x="5669280" y="2615184"/>
            <a:ext cx="3017520" cy="640080"/>
          </a:xfrm>
          <a:prstGeom prst="roundRect">
            <a:avLst>
              <a:gd name="adj" fmla="val 17143"/>
            </a:avLst>
          </a:prstGeom>
          <a:solidFill>
            <a:srgbClr val="FFFFFF"/>
          </a:solidFill>
          <a:ln/>
          <a:effectLst>
            <a:outerShdw sx="100000" sy="100000" kx="0" ky="0" algn="bl" rotWithShape="0" blurRad="76200" dist="25400" dir="5400000">
              <a:srgbClr val="1D3B4F">
                <a:alpha val="12000"/>
              </a:srgbClr>
            </a:outerShdw>
          </a:effectLst>
        </p:spPr>
      </p:sp>
      <p:sp>
        <p:nvSpPr>
          <p:cNvPr id="15" name="Círculo ícono"/>
          <p:cNvSpPr/>
          <p:nvPr/>
        </p:nvSpPr>
        <p:spPr>
          <a:xfrm>
            <a:off x="5806440" y="2688336"/>
            <a:ext cx="493776" cy="493776"/>
          </a:xfrm>
          <a:prstGeom prst="ellipse">
            <a:avLst/>
          </a:prstGeom>
          <a:solidFill>
            <a:srgbClr val="7B68C8"/>
          </a:solidFill>
          <a:ln/>
        </p:spPr>
      </p:sp>
      <p:pic>
        <p:nvPicPr>
          <p:cNvPr id="16" name="Image 2" descr="FaCircle">    </p:cNvPr>
          <p:cNvPicPr>
            <a:picLocks noChangeAspect="1"/>
          </p:cNvPicPr>
          <p:nvPr/>
        </p:nvPicPr>
        <p:blipFill>
          <a:blip r:embed="rId3"/>
          <a:stretch>
            <a:fillRect/>
          </a:stretch>
        </p:blipFill>
        <p:spPr>
          <a:xfrm>
            <a:off x="5929884" y="2811780"/>
            <a:ext cx="246888" cy="246888"/>
          </a:xfrm>
          <a:prstGeom prst="rect">
            <a:avLst/>
          </a:prstGeom>
        </p:spPr>
      </p:pic>
      <p:sp>
        <p:nvSpPr>
          <p:cNvPr id="17" name="Text 11"/>
          <p:cNvSpPr txBox="1"/>
          <p:nvPr/>
        </p:nvSpPr>
        <p:spPr>
          <a:xfrm>
            <a:off x="6446520" y="2615184"/>
            <a:ext cx="2103120" cy="640080"/>
          </a:xfrm>
          <a:prstGeom prst="rect">
            <a:avLst/>
          </a:prstGeom>
          <a:noFill/>
          <a:ln/>
        </p:spPr>
        <p:txBody>
          <a:bodyPr wrap="square" lIns="0" tIns="0" rIns="0" bIns="0" rtlCol="0" anchor="ctr"/>
          <a:lstStyle/>
          <a:p>
            <a:pPr indent="0" marL="0">
              <a:buNone/>
            </a:pPr>
            <a:r>
              <a:rPr lang="en-US" sz="1800" b="1" dirty="0">
                <a:solidFill>
                  <a:schemeClr val="tx1"/>
                </a:solidFill>
              </a:rPr>
              <a:t>Hinchazón</a:t>
            </a:r>
            <a:endParaRPr lang="en-US" sz="1800" dirty="0"/>
          </a:p>
        </p:txBody>
      </p:sp>
      <p:sp>
        <p:nvSpPr>
          <p:cNvPr id="18" name="Signo Dolor"/>
          <p:cNvSpPr/>
          <p:nvPr/>
        </p:nvSpPr>
        <p:spPr>
          <a:xfrm>
            <a:off x="5669280" y="3374136"/>
            <a:ext cx="3017520" cy="640080"/>
          </a:xfrm>
          <a:prstGeom prst="roundRect">
            <a:avLst>
              <a:gd name="adj" fmla="val 17143"/>
            </a:avLst>
          </a:prstGeom>
          <a:solidFill>
            <a:srgbClr val="FFFFFF"/>
          </a:solidFill>
          <a:ln/>
          <a:effectLst>
            <a:outerShdw sx="100000" sy="100000" kx="0" ky="0" algn="bl" rotWithShape="0" blurRad="76200" dist="25400" dir="5400000">
              <a:srgbClr val="1D3B4F">
                <a:alpha val="12000"/>
              </a:srgbClr>
            </a:outerShdw>
          </a:effectLst>
        </p:spPr>
      </p:sp>
      <p:sp>
        <p:nvSpPr>
          <p:cNvPr id="19" name="Círculo ícono"/>
          <p:cNvSpPr/>
          <p:nvPr/>
        </p:nvSpPr>
        <p:spPr>
          <a:xfrm>
            <a:off x="5806440" y="3447288"/>
            <a:ext cx="493776" cy="493776"/>
          </a:xfrm>
          <a:prstGeom prst="ellipse">
            <a:avLst/>
          </a:prstGeom>
          <a:solidFill>
            <a:srgbClr val="1E8A94"/>
          </a:solidFill>
          <a:ln/>
        </p:spPr>
      </p:sp>
      <p:pic>
        <p:nvPicPr>
          <p:cNvPr id="20" name="Image 3" descr="FaBolt">    </p:cNvPr>
          <p:cNvPicPr>
            <a:picLocks noChangeAspect="1"/>
          </p:cNvPicPr>
          <p:nvPr/>
        </p:nvPicPr>
        <p:blipFill>
          <a:blip r:embed="rId4"/>
          <a:stretch>
            <a:fillRect/>
          </a:stretch>
        </p:blipFill>
        <p:spPr>
          <a:xfrm>
            <a:off x="5929884" y="3570732"/>
            <a:ext cx="246888" cy="246888"/>
          </a:xfrm>
          <a:prstGeom prst="rect">
            <a:avLst/>
          </a:prstGeom>
        </p:spPr>
      </p:pic>
      <p:sp>
        <p:nvSpPr>
          <p:cNvPr id="21" name="Text 14"/>
          <p:cNvSpPr txBox="1"/>
          <p:nvPr/>
        </p:nvSpPr>
        <p:spPr>
          <a:xfrm>
            <a:off x="6446520" y="3374136"/>
            <a:ext cx="2103120" cy="640080"/>
          </a:xfrm>
          <a:prstGeom prst="rect">
            <a:avLst/>
          </a:prstGeom>
          <a:noFill/>
          <a:ln/>
        </p:spPr>
        <p:txBody>
          <a:bodyPr wrap="square" lIns="0" tIns="0" rIns="0" bIns="0" rtlCol="0" anchor="ctr"/>
          <a:lstStyle/>
          <a:p>
            <a:pPr indent="0" marL="0">
              <a:buNone/>
            </a:pPr>
            <a:r>
              <a:rPr lang="en-US" sz="1800" b="1" dirty="0">
                <a:solidFill>
                  <a:schemeClr val="tx1"/>
                </a:solidFill>
              </a:rPr>
              <a:t>Dolor</a:t>
            </a:r>
            <a:endParaRPr lang="en-US" sz="1800" dirty="0"/>
          </a:p>
        </p:txBody>
      </p:sp>
      <p:sp>
        <p:nvSpPr>
          <p:cNvPr id="22" name="Pregunta"/>
          <p:cNvSpPr/>
          <p:nvPr/>
        </p:nvSpPr>
        <p:spPr>
          <a:xfrm>
            <a:off x="457200" y="4251960"/>
            <a:ext cx="8229600" cy="502920"/>
          </a:xfrm>
          <a:prstGeom prst="roundRect">
            <a:avLst>
              <a:gd name="adj" fmla="val 18182"/>
            </a:avLst>
          </a:prstGeom>
          <a:solidFill>
            <a:srgbClr val="FDE4E2"/>
          </a:solidFill>
          <a:ln/>
        </p:spPr>
      </p:sp>
      <p:sp>
        <p:nvSpPr>
          <p:cNvPr id="23" name="Text 16"/>
          <p:cNvSpPr txBox="1"/>
          <p:nvPr/>
        </p:nvSpPr>
        <p:spPr>
          <a:xfrm>
            <a:off x="594360" y="4343400"/>
            <a:ext cx="320040" cy="320040"/>
          </a:xfrm>
          <a:prstGeom prst="ellipse">
            <a:avLst/>
          </a:prstGeom>
          <a:solidFill>
            <a:srgbClr val="D2504B"/>
          </a:solid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24" name="Texto pregunta"/>
          <p:cNvSpPr txBox="1"/>
          <p:nvPr/>
        </p:nvSpPr>
        <p:spPr>
          <a:xfrm>
            <a:off x="1051560" y="4251960"/>
            <a:ext cx="7498080" cy="502920"/>
          </a:xfrm>
          <a:prstGeom prst="rect">
            <a:avLst/>
          </a:prstGeom>
          <a:noFill/>
          <a:ln/>
        </p:spPr>
        <p:txBody>
          <a:bodyPr wrap="square" lIns="0" tIns="0" rIns="0" bIns="0" rtlCol="0" anchor="ctr"/>
          <a:lstStyle/>
          <a:p>
            <a:pPr indent="0" marL="0">
              <a:buNone/>
            </a:pPr>
            <a:r>
              <a:rPr lang="en-US" sz="1400" b="1" dirty="0">
                <a:solidFill>
                  <a:schemeClr val="tx1"/>
                </a:solidFill>
              </a:rPr>
              <a:t>En tu bitácora: ¿para qué crees que tu cuerpo hace esto?</a:t>
            </a:r>
            <a:endParaRPr lang="en-US" sz="1400" dirty="0"/>
          </a:p>
        </p:txBody>
      </p:sp>
      <p:sp>
        <p:nvSpPr>
          <p:cNvPr id="25" name="Slide Number Placeholder 0"/>
          <p:cNvSpPr>
            <a:spLocks noGrp="1"/>
          </p:cNvSpPr>
          <p:nvPr>
            <p:ph type="sldNum" sz="quarter" idx="4294967295"/>
          </p:nvPr>
        </p:nvSpPr>
        <p:spPr>
          <a:xfrm>
            <a:off x="8138160" y="482803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Tres líneas de defensa: hoy, la segunda</a:t>
            </a:r>
            <a:endParaRPr lang="en-US" sz="2800" dirty="0"/>
          </a:p>
        </p:txBody>
      </p:sp>
      <p:sp>
        <p:nvSpPr>
          <p:cNvPr id="4" name="Línea 1"/>
          <p:cNvSpPr/>
          <p:nvPr/>
        </p:nvSpPr>
        <p:spPr>
          <a:xfrm>
            <a:off x="457200" y="1097280"/>
            <a:ext cx="8229600" cy="822960"/>
          </a:xfrm>
          <a:prstGeom prst="roundRect">
            <a:avLst>
              <a:gd name="adj" fmla="val 13333"/>
            </a:avLst>
          </a:prstGeom>
          <a:solidFill>
            <a:srgbClr val="FFFFFF"/>
          </a:solidFill>
          <a:ln/>
          <a:effectLst>
            <a:outerShdw sx="100000" sy="100000" kx="0" ky="0" algn="bl" rotWithShape="0" blurRad="76200" dist="25400" dir="5400000">
              <a:srgbClr val="1D3B4F">
                <a:alpha val="12000"/>
              </a:srgbClr>
            </a:outerShdw>
          </a:effectLst>
        </p:spPr>
      </p:sp>
      <p:sp>
        <p:nvSpPr>
          <p:cNvPr id="5" name="Insignia 1"/>
          <p:cNvSpPr txBox="1"/>
          <p:nvPr/>
        </p:nvSpPr>
        <p:spPr>
          <a:xfrm>
            <a:off x="640080" y="1234440"/>
            <a:ext cx="548640" cy="548640"/>
          </a:xfrm>
          <a:prstGeom prst="ellipse">
            <a:avLst/>
          </a:prstGeom>
          <a:solidFill>
            <a:srgbClr val="1E8A94"/>
          </a:solid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6" name="Text 3"/>
          <p:cNvSpPr txBox="1"/>
          <p:nvPr/>
        </p:nvSpPr>
        <p:spPr>
          <a:xfrm>
            <a:off x="1371600" y="1097280"/>
            <a:ext cx="5669280" cy="822960"/>
          </a:xfrm>
          <a:prstGeom prst="rect">
            <a:avLst/>
          </a:prstGeom>
          <a:noFill/>
          <a:ln/>
        </p:spPr>
        <p:txBody>
          <a:bodyPr wrap="square" lIns="0" tIns="0" rIns="0" bIns="0" rtlCol="0" anchor="ctr"/>
          <a:lstStyle/>
          <a:p>
            <a:pPr indent="0" marL="0">
              <a:buNone/>
            </a:pPr>
            <a:r>
              <a:rPr lang="en-US" sz="1400" b="1" dirty="0">
                <a:solidFill>
                  <a:schemeClr val="tx1"/>
                </a:solidFill>
              </a:rPr>
              <a:t>Primera línea · Barreras primarias</a:t>
            </a:r>
            <a:endParaRPr lang="en-US" sz="1400" dirty="0"/>
          </a:p>
          <a:p>
            <a:pPr indent="0" marL="0">
              <a:buNone/>
            </a:pPr>
            <a:r>
              <a:rPr lang="en-US" sz="1400" dirty="0">
                <a:solidFill>
                  <a:schemeClr val="tx1"/>
                </a:solidFill>
              </a:rPr>
              <a:t>Impiden que el microbio entre: piel, mucosas, cilios, lágrimas, saliva y ácido del estómago.</a:t>
            </a:r>
            <a:endParaRPr lang="en-US" sz="1400" dirty="0"/>
          </a:p>
        </p:txBody>
      </p:sp>
      <p:sp>
        <p:nvSpPr>
          <p:cNvPr id="7" name="Etiqueta 1"/>
          <p:cNvSpPr/>
          <p:nvPr/>
        </p:nvSpPr>
        <p:spPr>
          <a:xfrm>
            <a:off x="7269480" y="1344168"/>
            <a:ext cx="1234440" cy="329184"/>
          </a:xfrm>
          <a:prstGeom prst="roundRect">
            <a:avLst>
              <a:gd name="adj" fmla="val 27778"/>
            </a:avLst>
          </a:prstGeom>
          <a:solidFill>
            <a:srgbClr val="E4EEF1"/>
          </a:solidFill>
          <a:ln/>
        </p:spPr>
      </p:sp>
      <p:sp>
        <p:nvSpPr>
          <p:cNvPr id="8" name="Text 5"/>
          <p:cNvSpPr txBox="1"/>
          <p:nvPr/>
        </p:nvSpPr>
        <p:spPr>
          <a:xfrm>
            <a:off x="7269480" y="1344168"/>
            <a:ext cx="1234440" cy="329184"/>
          </a:xfrm>
          <a:prstGeom prst="rect">
            <a:avLst/>
          </a:prstGeom>
          <a:noFill/>
          <a:ln/>
        </p:spPr>
        <p:txBody>
          <a:bodyPr wrap="square" lIns="0" tIns="0" rIns="0" bIns="0" rtlCol="0" anchor="ctr"/>
          <a:lstStyle/>
          <a:p>
            <a:pPr algn="ctr" indent="0" marL="0">
              <a:buNone/>
            </a:pPr>
            <a:r>
              <a:rPr lang="en-US" sz="1200" b="1" dirty="0">
                <a:solidFill>
                  <a:schemeClr val="tx1"/>
                </a:solidFill>
              </a:rPr>
              <a:t>Ya la vimos</a:t>
            </a:r>
            <a:endParaRPr lang="en-US" sz="1200" dirty="0"/>
          </a:p>
        </p:txBody>
      </p:sp>
      <p:sp>
        <p:nvSpPr>
          <p:cNvPr id="9" name="Línea 2"/>
          <p:cNvSpPr/>
          <p:nvPr/>
        </p:nvSpPr>
        <p:spPr>
          <a:xfrm>
            <a:off x="457200" y="2057400"/>
            <a:ext cx="8229600" cy="822960"/>
          </a:xfrm>
          <a:prstGeom prst="roundRect">
            <a:avLst>
              <a:gd name="adj" fmla="val 13333"/>
            </a:avLst>
          </a:prstGeom>
          <a:solidFill>
            <a:srgbClr val="D6EEF0"/>
          </a:solidFill>
          <a:ln/>
          <a:effectLst>
            <a:outerShdw sx="100000" sy="100000" kx="0" ky="0" algn="bl" rotWithShape="0" blurRad="76200" dist="25400" dir="5400000">
              <a:srgbClr val="1D3B4F">
                <a:alpha val="12000"/>
              </a:srgbClr>
            </a:outerShdw>
          </a:effectLst>
        </p:spPr>
      </p:sp>
      <p:sp>
        <p:nvSpPr>
          <p:cNvPr id="10" name="Insignia 2"/>
          <p:cNvSpPr txBox="1"/>
          <p:nvPr/>
        </p:nvSpPr>
        <p:spPr>
          <a:xfrm>
            <a:off x="640080" y="2194560"/>
            <a:ext cx="548640" cy="548640"/>
          </a:xfrm>
          <a:prstGeom prst="ellipse">
            <a:avLst/>
          </a:prstGeom>
          <a:solidFill>
            <a:srgbClr val="E0A020"/>
          </a:solid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1" name="Text 8"/>
          <p:cNvSpPr txBox="1"/>
          <p:nvPr/>
        </p:nvSpPr>
        <p:spPr>
          <a:xfrm>
            <a:off x="1371600" y="2057400"/>
            <a:ext cx="5669280" cy="822960"/>
          </a:xfrm>
          <a:prstGeom prst="rect">
            <a:avLst/>
          </a:prstGeom>
          <a:noFill/>
          <a:ln/>
        </p:spPr>
        <p:txBody>
          <a:bodyPr wrap="square" lIns="0" tIns="0" rIns="0" bIns="0" rtlCol="0" anchor="ctr"/>
          <a:lstStyle/>
          <a:p>
            <a:pPr indent="0" marL="0">
              <a:buNone/>
            </a:pPr>
            <a:r>
              <a:rPr lang="en-US" sz="1400" b="1" dirty="0">
                <a:solidFill>
                  <a:schemeClr val="tx1"/>
                </a:solidFill>
              </a:rPr>
              <a:t>Segunda línea · Inflamación y fagocitos</a:t>
            </a:r>
            <a:endParaRPr lang="en-US" sz="1400" dirty="0"/>
          </a:p>
          <a:p>
            <a:pPr indent="0" marL="0">
              <a:buNone/>
            </a:pPr>
            <a:r>
              <a:rPr lang="en-US" sz="1400" dirty="0">
                <a:solidFill>
                  <a:schemeClr val="tx1"/>
                </a:solidFill>
              </a:rPr>
              <a:t>Actúa cuando el microbio ya entró: macrófagos, neutrófilos e inflamación. Rápida, pero no específica.</a:t>
            </a:r>
            <a:endParaRPr lang="en-US" sz="1400" dirty="0"/>
          </a:p>
        </p:txBody>
      </p:sp>
      <p:sp>
        <p:nvSpPr>
          <p:cNvPr id="12" name="Etiqueta 2"/>
          <p:cNvSpPr/>
          <p:nvPr/>
        </p:nvSpPr>
        <p:spPr>
          <a:xfrm>
            <a:off x="7269480" y="2304288"/>
            <a:ext cx="1234440" cy="329184"/>
          </a:xfrm>
          <a:prstGeom prst="roundRect">
            <a:avLst>
              <a:gd name="adj" fmla="val 27778"/>
            </a:avLst>
          </a:prstGeom>
          <a:solidFill>
            <a:srgbClr val="1E8A94"/>
          </a:solidFill>
          <a:ln/>
        </p:spPr>
      </p:sp>
      <p:sp>
        <p:nvSpPr>
          <p:cNvPr id="13" name="Text 10"/>
          <p:cNvSpPr txBox="1"/>
          <p:nvPr/>
        </p:nvSpPr>
        <p:spPr>
          <a:xfrm>
            <a:off x="7269480" y="2304288"/>
            <a:ext cx="1234440" cy="329184"/>
          </a:xfrm>
          <a:prstGeom prst="rect">
            <a:avLst/>
          </a:prstGeom>
          <a:noFill/>
          <a:ln/>
        </p:spPr>
        <p:txBody>
          <a:bodyPr wrap="square" lIns="0" tIns="0" rIns="0" bIns="0" rtlCol="0" anchor="ctr"/>
          <a:lstStyle/>
          <a:p>
            <a:pPr algn="ctr" indent="0" marL="0">
              <a:buNone/>
            </a:pPr>
            <a:r>
              <a:rPr lang="en-US" sz="1200" b="1" dirty="0">
                <a:solidFill>
                  <a:schemeClr val="bg1"/>
                </a:solidFill>
              </a:rPr>
              <a:t>HOY</a:t>
            </a:r>
            <a:endParaRPr lang="en-US" sz="1200" dirty="0"/>
          </a:p>
        </p:txBody>
      </p:sp>
      <p:sp>
        <p:nvSpPr>
          <p:cNvPr id="14" name="Línea 3"/>
          <p:cNvSpPr/>
          <p:nvPr/>
        </p:nvSpPr>
        <p:spPr>
          <a:xfrm>
            <a:off x="457200" y="3017520"/>
            <a:ext cx="8229600" cy="822960"/>
          </a:xfrm>
          <a:prstGeom prst="roundRect">
            <a:avLst>
              <a:gd name="adj" fmla="val 13333"/>
            </a:avLst>
          </a:prstGeom>
          <a:solidFill>
            <a:srgbClr val="FFFFFF"/>
          </a:solidFill>
          <a:ln/>
          <a:effectLst>
            <a:outerShdw sx="100000" sy="100000" kx="0" ky="0" algn="bl" rotWithShape="0" blurRad="76200" dist="25400" dir="5400000">
              <a:srgbClr val="1D3B4F">
                <a:alpha val="12000"/>
              </a:srgbClr>
            </a:outerShdw>
          </a:effectLst>
        </p:spPr>
      </p:sp>
      <p:sp>
        <p:nvSpPr>
          <p:cNvPr id="15" name="Insignia 3"/>
          <p:cNvSpPr txBox="1"/>
          <p:nvPr/>
        </p:nvSpPr>
        <p:spPr>
          <a:xfrm>
            <a:off x="640080" y="3154680"/>
            <a:ext cx="548640" cy="548640"/>
          </a:xfrm>
          <a:prstGeom prst="ellipse">
            <a:avLst/>
          </a:prstGeom>
          <a:solidFill>
            <a:srgbClr val="7B68C8"/>
          </a:solid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6" name="Text 13"/>
          <p:cNvSpPr txBox="1"/>
          <p:nvPr/>
        </p:nvSpPr>
        <p:spPr>
          <a:xfrm>
            <a:off x="1371600" y="3017520"/>
            <a:ext cx="5669280" cy="822960"/>
          </a:xfrm>
          <a:prstGeom prst="rect">
            <a:avLst/>
          </a:prstGeom>
          <a:noFill/>
          <a:ln/>
        </p:spPr>
        <p:txBody>
          <a:bodyPr wrap="square" lIns="0" tIns="0" rIns="0" bIns="0" rtlCol="0" anchor="ctr"/>
          <a:lstStyle/>
          <a:p>
            <a:pPr indent="0" marL="0">
              <a:buNone/>
            </a:pPr>
            <a:r>
              <a:rPr lang="en-US" sz="1400" b="1" dirty="0">
                <a:solidFill>
                  <a:schemeClr val="tx1"/>
                </a:solidFill>
              </a:rPr>
              <a:t>Tercera línea · Respuesta específica</a:t>
            </a:r>
            <a:endParaRPr lang="en-US" sz="1400" dirty="0"/>
          </a:p>
          <a:p>
            <a:pPr indent="0" marL="0">
              <a:buNone/>
            </a:pPr>
            <a:r>
              <a:rPr lang="en-US" sz="1400" dirty="0">
                <a:solidFill>
                  <a:schemeClr val="tx1"/>
                </a:solidFill>
              </a:rPr>
              <a:t>Linfocitos T y B, anticuerpos y memoria. Es la base de las vacunas.</a:t>
            </a:r>
            <a:endParaRPr lang="en-US" sz="1400" dirty="0"/>
          </a:p>
        </p:txBody>
      </p:sp>
      <p:sp>
        <p:nvSpPr>
          <p:cNvPr id="17" name="Etiqueta 3"/>
          <p:cNvSpPr/>
          <p:nvPr/>
        </p:nvSpPr>
        <p:spPr>
          <a:xfrm>
            <a:off x="7269480" y="3264408"/>
            <a:ext cx="1234440" cy="329184"/>
          </a:xfrm>
          <a:prstGeom prst="roundRect">
            <a:avLst>
              <a:gd name="adj" fmla="val 27778"/>
            </a:avLst>
          </a:prstGeom>
          <a:solidFill>
            <a:srgbClr val="E4EEF1"/>
          </a:solidFill>
          <a:ln/>
        </p:spPr>
      </p:sp>
      <p:sp>
        <p:nvSpPr>
          <p:cNvPr id="18" name="Text 15"/>
          <p:cNvSpPr txBox="1"/>
          <p:nvPr/>
        </p:nvSpPr>
        <p:spPr>
          <a:xfrm>
            <a:off x="7269480" y="3264408"/>
            <a:ext cx="1234440" cy="329184"/>
          </a:xfrm>
          <a:prstGeom prst="rect">
            <a:avLst/>
          </a:prstGeom>
          <a:noFill/>
          <a:ln/>
        </p:spPr>
        <p:txBody>
          <a:bodyPr wrap="square" lIns="0" tIns="0" rIns="0" bIns="0" rtlCol="0" anchor="ctr"/>
          <a:lstStyle/>
          <a:p>
            <a:pPr algn="ctr" indent="0" marL="0">
              <a:buNone/>
            </a:pPr>
            <a:r>
              <a:rPr lang="en-US" sz="1200" b="1" dirty="0">
                <a:solidFill>
                  <a:schemeClr val="tx1"/>
                </a:solidFill>
              </a:rPr>
              <a:t>Más adelante</a:t>
            </a:r>
            <a:endParaRPr lang="en-US" sz="1200" dirty="0"/>
          </a:p>
        </p:txBody>
      </p:sp>
      <p:sp>
        <p:nvSpPr>
          <p:cNvPr id="19" name="Pregunta"/>
          <p:cNvSpPr/>
          <p:nvPr/>
        </p:nvSpPr>
        <p:spPr>
          <a:xfrm>
            <a:off x="457200" y="4023360"/>
            <a:ext cx="8229600" cy="502920"/>
          </a:xfrm>
          <a:prstGeom prst="roundRect">
            <a:avLst>
              <a:gd name="adj" fmla="val 18182"/>
            </a:avLst>
          </a:prstGeom>
          <a:solidFill>
            <a:srgbClr val="FDE4E2"/>
          </a:solidFill>
          <a:ln/>
        </p:spPr>
      </p:sp>
      <p:sp>
        <p:nvSpPr>
          <p:cNvPr id="20" name="Text 17"/>
          <p:cNvSpPr txBox="1"/>
          <p:nvPr/>
        </p:nvSpPr>
        <p:spPr>
          <a:xfrm>
            <a:off x="594360" y="4114800"/>
            <a:ext cx="320040" cy="320040"/>
          </a:xfrm>
          <a:prstGeom prst="ellipse">
            <a:avLst/>
          </a:prstGeom>
          <a:solidFill>
            <a:srgbClr val="D2504B"/>
          </a:solid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21" name="Texto pregunta"/>
          <p:cNvSpPr txBox="1"/>
          <p:nvPr/>
        </p:nvSpPr>
        <p:spPr>
          <a:xfrm>
            <a:off x="1051560" y="4023360"/>
            <a:ext cx="7498080" cy="502920"/>
          </a:xfrm>
          <a:prstGeom prst="rect">
            <a:avLst/>
          </a:prstGeom>
          <a:noFill/>
          <a:ln/>
        </p:spPr>
        <p:txBody>
          <a:bodyPr wrap="square" lIns="0" tIns="0" rIns="0" bIns="0" rtlCol="0" anchor="ctr"/>
          <a:lstStyle/>
          <a:p>
            <a:pPr indent="0" marL="0">
              <a:buNone/>
            </a:pPr>
            <a:r>
              <a:rPr lang="en-US" sz="1400" b="1" dirty="0">
                <a:solidFill>
                  <a:schemeClr val="tx1"/>
                </a:solidFill>
              </a:rPr>
              <a:t>¿Qué crees que pasa cuando las barreras primarias fallan?</a:t>
            </a:r>
            <a:endParaRPr lang="en-US" sz="1400" dirty="0"/>
          </a:p>
        </p:txBody>
      </p:sp>
      <p:sp>
        <p:nvSpPr>
          <p:cNvPr id="25" name="Slide Number Placeholder 0"/>
          <p:cNvSpPr>
            <a:spLocks noGrp="1"/>
          </p:cNvSpPr>
          <p:nvPr>
            <p:ph type="sldNum" sz="quarter" idx="4294967295"/>
          </p:nvPr>
        </p:nvSpPr>
        <p:spPr>
          <a:xfrm>
            <a:off x="8138160" y="482803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Primera y segunda línea, frente a frente</a:t>
            </a:r>
            <a:endParaRPr lang="en-US" sz="2800" dirty="0"/>
          </a:p>
        </p:txBody>
      </p:sp>
      <p:graphicFrame>
        <p:nvGraphicFramePr>
          <p:cNvPr id="6" name="Tabla comparación"/>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920240"/>
                <a:gridCol w="3017520"/>
                <a:gridCol w="3291840"/>
              </a:tblGrid>
              <a:tr h="365760">
                <a:tc>
                  <a:txBody>
                    <a:bodyPr/>
                    <a:lstStyle/>
                    <a:p>
                      <a:pPr indent="0" marL="0">
                        <a:buNone/>
                      </a:pPr>
                      <a:endParaRPr lang="en-US" sz="1400" dirty="0"/>
                    </a:p>
                  </a:txBody>
                  <a:tcPr marL="91440" marR="91440" marT="36576" marB="36576"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1E8A94"/>
                    </a:solidFill>
                  </a:tcPr>
                </a:tc>
                <a:tc>
                  <a:txBody>
                    <a:bodyPr/>
                    <a:lstStyle/>
                    <a:p>
                      <a:pPr indent="0" marL="0">
                        <a:buNone/>
                      </a:pPr>
                      <a:r>
                        <a:rPr lang="en-US" sz="1400" b="1" dirty="0">
                          <a:solidFill>
                            <a:srgbClr val="FFFFFF"/>
                          </a:solidFill>
                        </a:rPr>
                        <a:t>Primera línea</a:t>
                      </a:r>
                      <a:endParaRPr lang="en-US" sz="1400" dirty="0"/>
                    </a:p>
                  </a:txBody>
                  <a:tcPr marL="91440" marR="91440" marT="36576" marB="36576"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1E8A94"/>
                    </a:solidFill>
                  </a:tcPr>
                </a:tc>
                <a:tc>
                  <a:txBody>
                    <a:bodyPr/>
                    <a:lstStyle/>
                    <a:p>
                      <a:pPr indent="0" marL="0">
                        <a:buNone/>
                      </a:pPr>
                      <a:r>
                        <a:rPr lang="en-US" sz="1400" b="1" dirty="0">
                          <a:solidFill>
                            <a:srgbClr val="FFFFFF"/>
                          </a:solidFill>
                        </a:rPr>
                        <a:t>Segunda línea</a:t>
                      </a:r>
                      <a:endParaRPr lang="en-US" sz="1400" dirty="0"/>
                    </a:p>
                  </a:txBody>
                  <a:tcPr marL="91440" marR="91440" marT="36576" marB="36576"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1E8A94"/>
                    </a:solidFill>
                  </a:tcPr>
                </a:tc>
              </a:tr>
              <a:tr h="502920">
                <a:tc>
                  <a:txBody>
                    <a:bodyPr/>
                    <a:lstStyle/>
                    <a:p>
                      <a:pPr indent="0" marL="0">
                        <a:buNone/>
                      </a:pPr>
                      <a:r>
                        <a:rPr lang="en-US" sz="1400" b="1" dirty="0">
                          <a:solidFill>
                            <a:srgbClr val="1D3B4F"/>
                          </a:solidFill>
                        </a:rPr>
                        <a:t>Cuándo actúa</a:t>
                      </a:r>
                      <a:endParaRPr lang="en-US" sz="1400" dirty="0"/>
                    </a:p>
                  </a:txBody>
                  <a:tcPr marL="91440" marR="91440" marT="36576" marB="36576"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c>
                  <a:txBody>
                    <a:bodyPr/>
                    <a:lstStyle/>
                    <a:p>
                      <a:pPr indent="0" marL="0">
                        <a:buNone/>
                      </a:pPr>
                      <a:r>
                        <a:rPr lang="en-US" sz="1400" dirty="0">
                          <a:solidFill>
                            <a:srgbClr val="1D3B4F"/>
                          </a:solidFill>
                        </a:rPr>
                        <a:t>Siempre, antes de que el microbio entre</a:t>
                      </a:r>
                      <a:endParaRPr lang="en-US" sz="1400" dirty="0"/>
                    </a:p>
                  </a:txBody>
                  <a:tcPr marL="91440" marR="91440" marT="36576" marB="36576"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c>
                  <a:txBody>
                    <a:bodyPr/>
                    <a:lstStyle/>
                    <a:p>
                      <a:pPr indent="0" marL="0">
                        <a:buNone/>
                      </a:pPr>
                      <a:r>
                        <a:rPr lang="en-US" sz="1400" dirty="0">
                          <a:solidFill>
                            <a:srgbClr val="1D3B4F"/>
                          </a:solidFill>
                        </a:rPr>
                        <a:t>Cuando ya entró: de minutos a horas</a:t>
                      </a:r>
                      <a:endParaRPr lang="en-US" sz="1400" dirty="0"/>
                    </a:p>
                  </a:txBody>
                  <a:tcPr marL="91440" marR="91440" marT="36576" marB="36576"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r>
              <a:tr h="548640">
                <a:tc>
                  <a:txBody>
                    <a:bodyPr/>
                    <a:lstStyle/>
                    <a:p>
                      <a:pPr indent="0" marL="0">
                        <a:buNone/>
                      </a:pPr>
                      <a:r>
                        <a:rPr lang="en-US" sz="1400" b="1" dirty="0">
                          <a:solidFill>
                            <a:srgbClr val="1D3B4F"/>
                          </a:solidFill>
                        </a:rPr>
                        <a:t>Qué hace</a:t>
                      </a:r>
                      <a:endParaRPr lang="en-US" sz="1400" dirty="0"/>
                    </a:p>
                  </a:txBody>
                  <a:tcPr marL="91440" marR="91440" marT="36576" marB="36576"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D6EEF0"/>
                    </a:solidFill>
                  </a:tcPr>
                </a:tc>
                <a:tc>
                  <a:txBody>
                    <a:bodyPr/>
                    <a:lstStyle/>
                    <a:p>
                      <a:pPr indent="0" marL="0">
                        <a:buNone/>
                      </a:pPr>
                      <a:r>
                        <a:rPr lang="en-US" sz="1400" dirty="0">
                          <a:solidFill>
                            <a:srgbClr val="1D3B4F"/>
                          </a:solidFill>
                        </a:rPr>
                        <a:t>Bloquea o frena la entrada</a:t>
                      </a:r>
                      <a:endParaRPr lang="en-US" sz="1400" dirty="0"/>
                    </a:p>
                  </a:txBody>
                  <a:tcPr marL="91440" marR="91440" marT="36576" marB="36576"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D6EEF0"/>
                    </a:solidFill>
                  </a:tcPr>
                </a:tc>
                <a:tc>
                  <a:txBody>
                    <a:bodyPr/>
                    <a:lstStyle/>
                    <a:p>
                      <a:pPr indent="0" marL="0">
                        <a:buNone/>
                      </a:pPr>
                      <a:r>
                        <a:rPr lang="en-US" sz="1400" dirty="0">
                          <a:solidFill>
                            <a:srgbClr val="1D3B4F"/>
                          </a:solidFill>
                        </a:rPr>
                        <a:t>Detecta el daño, llama refuerzos y destruye microbios</a:t>
                      </a:r>
                      <a:endParaRPr lang="en-US" sz="1400" dirty="0"/>
                    </a:p>
                  </a:txBody>
                  <a:tcPr marL="91440" marR="91440" marT="36576" marB="36576"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D6EEF0"/>
                    </a:solidFill>
                  </a:tcPr>
                </a:tc>
              </a:tr>
              <a:tr h="548640">
                <a:tc>
                  <a:txBody>
                    <a:bodyPr/>
                    <a:lstStyle/>
                    <a:p>
                      <a:pPr indent="0" marL="0">
                        <a:buNone/>
                      </a:pPr>
                      <a:r>
                        <a:rPr lang="en-US" sz="1400" b="1" dirty="0">
                          <a:solidFill>
                            <a:srgbClr val="1D3B4F"/>
                          </a:solidFill>
                        </a:rPr>
                        <a:t>Quiénes</a:t>
                      </a:r>
                      <a:endParaRPr lang="en-US" sz="1400" dirty="0"/>
                    </a:p>
                  </a:txBody>
                  <a:tcPr marL="91440" marR="91440" marT="36576" marB="36576"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c>
                  <a:txBody>
                    <a:bodyPr/>
                    <a:lstStyle/>
                    <a:p>
                      <a:pPr indent="0" marL="0">
                        <a:buNone/>
                      </a:pPr>
                      <a:r>
                        <a:rPr lang="en-US" sz="1400" dirty="0">
                          <a:solidFill>
                            <a:srgbClr val="1D3B4F"/>
                          </a:solidFill>
                        </a:rPr>
                        <a:t>Piel, mucosas, cilios, lágrimas, saliva, ácido, microbiota</a:t>
                      </a:r>
                      <a:endParaRPr lang="en-US" sz="1400" dirty="0"/>
                    </a:p>
                  </a:txBody>
                  <a:tcPr marL="91440" marR="91440" marT="36576" marB="36576"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c>
                  <a:txBody>
                    <a:bodyPr/>
                    <a:lstStyle/>
                    <a:p>
                      <a:pPr indent="0" marL="0">
                        <a:buNone/>
                      </a:pPr>
                      <a:r>
                        <a:rPr lang="en-US" sz="1400" dirty="0">
                          <a:solidFill>
                            <a:srgbClr val="1D3B4F"/>
                          </a:solidFill>
                        </a:rPr>
                        <a:t>Macrófagos, mastocitos, neutrófilos y capilares</a:t>
                      </a:r>
                      <a:endParaRPr lang="en-US" sz="1400" dirty="0"/>
                    </a:p>
                  </a:txBody>
                  <a:tcPr marL="91440" marR="91440" marT="36576" marB="36576"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r>
              <a:tr h="502920">
                <a:tc>
                  <a:txBody>
                    <a:bodyPr/>
                    <a:lstStyle/>
                    <a:p>
                      <a:pPr indent="0" marL="0">
                        <a:buNone/>
                      </a:pPr>
                      <a:r>
                        <a:rPr lang="en-US" sz="1400" b="1" dirty="0">
                          <a:solidFill>
                            <a:srgbClr val="1D3B4F"/>
                          </a:solidFill>
                        </a:rPr>
                        <a:t>¿Distingue al microbio?</a:t>
                      </a:r>
                      <a:endParaRPr lang="en-US" sz="1400" dirty="0"/>
                    </a:p>
                  </a:txBody>
                  <a:tcPr marL="91440" marR="91440" marT="36576" marB="36576"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D6EEF0"/>
                    </a:solidFill>
                  </a:tcPr>
                </a:tc>
                <a:tc>
                  <a:txBody>
                    <a:bodyPr/>
                    <a:lstStyle/>
                    <a:p>
                      <a:pPr indent="0" marL="0">
                        <a:buNone/>
                      </a:pPr>
                      <a:r>
                        <a:rPr lang="en-US" sz="1400" dirty="0">
                          <a:solidFill>
                            <a:srgbClr val="1D3B4F"/>
                          </a:solidFill>
                        </a:rPr>
                        <a:t>No: bloquea a todos por igual</a:t>
                      </a:r>
                      <a:endParaRPr lang="en-US" sz="1400" dirty="0"/>
                    </a:p>
                  </a:txBody>
                  <a:tcPr marL="91440" marR="91440" marT="36576" marB="36576"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D6EEF0"/>
                    </a:solidFill>
                  </a:tcPr>
                </a:tc>
                <a:tc>
                  <a:txBody>
                    <a:bodyPr/>
                    <a:lstStyle/>
                    <a:p>
                      <a:pPr indent="0" marL="0">
                        <a:buNone/>
                      </a:pPr>
                      <a:r>
                        <a:rPr lang="en-US" sz="1400" dirty="0">
                          <a:solidFill>
                            <a:srgbClr val="1D3B4F"/>
                          </a:solidFill>
                        </a:rPr>
                        <a:t>No: responde igual ante cualquier microbio</a:t>
                      </a:r>
                      <a:endParaRPr lang="en-US" sz="1400" dirty="0"/>
                    </a:p>
                  </a:txBody>
                  <a:tcPr marL="91440" marR="91440" marT="36576" marB="36576"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D6EEF0"/>
                    </a:solidFill>
                  </a:tcPr>
                </a:tc>
              </a:tr>
              <a:tr h="502920">
                <a:tc>
                  <a:txBody>
                    <a:bodyPr/>
                    <a:lstStyle/>
                    <a:p>
                      <a:pPr indent="0" marL="0">
                        <a:buNone/>
                      </a:pPr>
                      <a:r>
                        <a:rPr lang="en-US" sz="1400" b="1" dirty="0">
                          <a:solidFill>
                            <a:srgbClr val="1D3B4F"/>
                          </a:solidFill>
                        </a:rPr>
                        <a:t>¿Tiene memoria?</a:t>
                      </a:r>
                      <a:endParaRPr lang="en-US" sz="1400" dirty="0"/>
                    </a:p>
                  </a:txBody>
                  <a:tcPr marL="91440" marR="91440" marT="36576" marB="36576"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c>
                  <a:txBody>
                    <a:bodyPr/>
                    <a:lstStyle/>
                    <a:p>
                      <a:pPr indent="0" marL="0">
                        <a:buNone/>
                      </a:pPr>
                      <a:r>
                        <a:rPr lang="en-US" sz="1400" dirty="0">
                          <a:solidFill>
                            <a:srgbClr val="1D3B4F"/>
                          </a:solidFill>
                        </a:rPr>
                        <a:t>No</a:t>
                      </a:r>
                      <a:endParaRPr lang="en-US" sz="1400" dirty="0"/>
                    </a:p>
                  </a:txBody>
                  <a:tcPr marL="91440" marR="91440" marT="36576" marB="36576"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c>
                  <a:txBody>
                    <a:bodyPr/>
                    <a:lstStyle/>
                    <a:p>
                      <a:pPr indent="0" marL="0">
                        <a:buNone/>
                      </a:pPr>
                      <a:r>
                        <a:rPr lang="en-US" sz="1400" dirty="0">
                          <a:solidFill>
                            <a:srgbClr val="1D3B4F"/>
                          </a:solidFill>
                        </a:rPr>
                        <a:t>No (la memoria es de la tercera línea)</a:t>
                      </a:r>
                      <a:endParaRPr lang="en-US" sz="1400" dirty="0"/>
                    </a:p>
                  </a:txBody>
                  <a:tcPr marL="91440" marR="91440" marT="36576" marB="36576"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r>
            </a:tbl>
          </a:graphicData>
        </a:graphic>
      </p:graphicFrame>
      <p:sp>
        <p:nvSpPr>
          <p:cNvPr id="5" name="Pregunta"/>
          <p:cNvSpPr/>
          <p:nvPr/>
        </p:nvSpPr>
        <p:spPr>
          <a:xfrm>
            <a:off x="457200" y="4251960"/>
            <a:ext cx="8229600" cy="502920"/>
          </a:xfrm>
          <a:prstGeom prst="roundRect">
            <a:avLst>
              <a:gd name="adj" fmla="val 18182"/>
            </a:avLst>
          </a:prstGeom>
          <a:solidFill>
            <a:srgbClr val="FDE4E2"/>
          </a:solidFill>
          <a:ln/>
        </p:spPr>
      </p:sp>
      <p:sp>
        <p:nvSpPr>
          <p:cNvPr id="6" name="Text 2"/>
          <p:cNvSpPr txBox="1"/>
          <p:nvPr/>
        </p:nvSpPr>
        <p:spPr>
          <a:xfrm>
            <a:off x="594360" y="4343400"/>
            <a:ext cx="320040" cy="320040"/>
          </a:xfrm>
          <a:prstGeom prst="ellipse">
            <a:avLst/>
          </a:prstGeom>
          <a:solidFill>
            <a:srgbClr val="D2504B"/>
          </a:solid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7" name="Texto pregunta"/>
          <p:cNvSpPr txBox="1"/>
          <p:nvPr/>
        </p:nvSpPr>
        <p:spPr>
          <a:xfrm>
            <a:off x="1051560" y="4251960"/>
            <a:ext cx="7498080" cy="502920"/>
          </a:xfrm>
          <a:prstGeom prst="rect">
            <a:avLst/>
          </a:prstGeom>
          <a:noFill/>
          <a:ln/>
        </p:spPr>
        <p:txBody>
          <a:bodyPr wrap="square" lIns="0" tIns="0" rIns="0" bIns="0" rtlCol="0" anchor="ctr"/>
          <a:lstStyle/>
          <a:p>
            <a:pPr indent="0" marL="0">
              <a:buNone/>
            </a:pPr>
            <a:r>
              <a:rPr lang="en-US" sz="1400" b="1" dirty="0">
                <a:solidFill>
                  <a:schemeClr val="tx1"/>
                </a:solidFill>
              </a:rPr>
              <a:t>Si responde igual ante todos los microbios, ¿es lo mismo que una vacuna? ¿Por qué?</a:t>
            </a:r>
            <a:endParaRPr lang="en-US" sz="1400" dirty="0"/>
          </a:p>
        </p:txBody>
      </p:sp>
      <p:sp>
        <p:nvSpPr>
          <p:cNvPr id="25" name="Slide Number Placeholder 0"/>
          <p:cNvSpPr>
            <a:spLocks noGrp="1"/>
          </p:cNvSpPr>
          <p:nvPr>
            <p:ph type="sldNum" sz="quarter" idx="4294967295"/>
          </p:nvPr>
        </p:nvSpPr>
        <p:spPr>
          <a:xfrm>
            <a:off x="8138160" y="482803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Los protagonistas de la inflamación</a:t>
            </a:r>
            <a:endParaRPr lang="en-US" sz="2800" dirty="0"/>
          </a:p>
        </p:txBody>
      </p:sp>
      <p:sp>
        <p:nvSpPr>
          <p:cNvPr id="4" name="Tarjeta Mastocitos"/>
          <p:cNvSpPr/>
          <p:nvPr/>
        </p:nvSpPr>
        <p:spPr>
          <a:xfrm>
            <a:off x="457200" y="1097280"/>
            <a:ext cx="1920240" cy="2971800"/>
          </a:xfrm>
          <a:prstGeom prst="roundRect">
            <a:avLst>
              <a:gd name="adj" fmla="val 5714"/>
            </a:avLst>
          </a:prstGeom>
          <a:solidFill>
            <a:srgbClr val="FFFFFF"/>
          </a:solidFill>
          <a:ln/>
          <a:effectLst>
            <a:outerShdw sx="100000" sy="100000" kx="0" ky="0" algn="bl" rotWithShape="0" blurRad="76200" dist="25400" dir="5400000">
              <a:srgbClr val="1D3B4F">
                <a:alpha val="12000"/>
              </a:srgbClr>
            </a:outerShdw>
          </a:effectLst>
        </p:spPr>
      </p:sp>
      <p:sp>
        <p:nvSpPr>
          <p:cNvPr id="5" name="Shape 2"/>
          <p:cNvSpPr/>
          <p:nvPr/>
        </p:nvSpPr>
        <p:spPr>
          <a:xfrm>
            <a:off x="960120" y="1280160"/>
            <a:ext cx="914400" cy="914400"/>
          </a:xfrm>
          <a:prstGeom prst="ellipse">
            <a:avLst/>
          </a:prstGeom>
          <a:solidFill>
            <a:srgbClr val="D6EEF0"/>
          </a:solidFill>
          <a:ln/>
        </p:spPr>
      </p:sp>
      <p:sp>
        <p:nvSpPr>
          <p:cNvPr id="6" name="Shape 3"/>
          <p:cNvSpPr/>
          <p:nvPr/>
        </p:nvSpPr>
        <p:spPr>
          <a:xfrm>
            <a:off x="1143000" y="1463040"/>
            <a:ext cx="548640" cy="548640"/>
          </a:xfrm>
          <a:prstGeom prst="ellipse">
            <a:avLst/>
          </a:prstGeom>
          <a:solidFill>
            <a:srgbClr val="7B68C8"/>
          </a:solidFill>
          <a:ln/>
        </p:spPr>
      </p:sp>
      <p:sp>
        <p:nvSpPr>
          <p:cNvPr id="7" name="Shape 4"/>
          <p:cNvSpPr/>
          <p:nvPr/>
        </p:nvSpPr>
        <p:spPr>
          <a:xfrm>
            <a:off x="1271016" y="1618488"/>
            <a:ext cx="73152" cy="73152"/>
          </a:xfrm>
          <a:prstGeom prst="ellipse">
            <a:avLst/>
          </a:prstGeom>
          <a:solidFill>
            <a:srgbClr val="E9E4FF"/>
          </a:solidFill>
          <a:ln/>
        </p:spPr>
      </p:sp>
      <p:sp>
        <p:nvSpPr>
          <p:cNvPr id="8" name="Shape 5"/>
          <p:cNvSpPr/>
          <p:nvPr/>
        </p:nvSpPr>
        <p:spPr>
          <a:xfrm>
            <a:off x="1435608" y="1577340"/>
            <a:ext cx="73152" cy="73152"/>
          </a:xfrm>
          <a:prstGeom prst="ellipse">
            <a:avLst/>
          </a:prstGeom>
          <a:solidFill>
            <a:srgbClr val="E9E4FF"/>
          </a:solidFill>
          <a:ln/>
        </p:spPr>
      </p:sp>
      <p:sp>
        <p:nvSpPr>
          <p:cNvPr id="9" name="Shape 6"/>
          <p:cNvSpPr/>
          <p:nvPr/>
        </p:nvSpPr>
        <p:spPr>
          <a:xfrm>
            <a:off x="1504188" y="1728216"/>
            <a:ext cx="73152" cy="73152"/>
          </a:xfrm>
          <a:prstGeom prst="ellipse">
            <a:avLst/>
          </a:prstGeom>
          <a:solidFill>
            <a:srgbClr val="E9E4FF"/>
          </a:solidFill>
          <a:ln/>
        </p:spPr>
      </p:sp>
      <p:sp>
        <p:nvSpPr>
          <p:cNvPr id="10" name="Shape 7"/>
          <p:cNvSpPr/>
          <p:nvPr/>
        </p:nvSpPr>
        <p:spPr>
          <a:xfrm>
            <a:off x="1353312" y="1810512"/>
            <a:ext cx="73152" cy="73152"/>
          </a:xfrm>
          <a:prstGeom prst="ellipse">
            <a:avLst/>
          </a:prstGeom>
          <a:solidFill>
            <a:srgbClr val="E9E4FF"/>
          </a:solidFill>
          <a:ln/>
        </p:spPr>
      </p:sp>
      <p:sp>
        <p:nvSpPr>
          <p:cNvPr id="11" name="Shape 8"/>
          <p:cNvSpPr/>
          <p:nvPr/>
        </p:nvSpPr>
        <p:spPr>
          <a:xfrm>
            <a:off x="1243584" y="1741932"/>
            <a:ext cx="73152" cy="73152"/>
          </a:xfrm>
          <a:prstGeom prst="ellipse">
            <a:avLst/>
          </a:prstGeom>
          <a:solidFill>
            <a:srgbClr val="E9E4FF"/>
          </a:solidFill>
          <a:ln/>
        </p:spPr>
      </p:sp>
      <p:sp>
        <p:nvSpPr>
          <p:cNvPr id="12" name="Shape 9"/>
          <p:cNvSpPr/>
          <p:nvPr/>
        </p:nvSpPr>
        <p:spPr>
          <a:xfrm>
            <a:off x="1408176" y="1700784"/>
            <a:ext cx="73152" cy="73152"/>
          </a:xfrm>
          <a:prstGeom prst="ellipse">
            <a:avLst/>
          </a:prstGeom>
          <a:solidFill>
            <a:srgbClr val="E9E4FF"/>
          </a:solidFill>
          <a:ln/>
        </p:spPr>
      </p:sp>
      <p:sp>
        <p:nvSpPr>
          <p:cNvPr id="13" name="Text 10"/>
          <p:cNvSpPr txBox="1"/>
          <p:nvPr/>
        </p:nvSpPr>
        <p:spPr>
          <a:xfrm>
            <a:off x="594360" y="2331720"/>
            <a:ext cx="1645920" cy="320040"/>
          </a:xfrm>
          <a:prstGeom prst="rect">
            <a:avLst/>
          </a:prstGeom>
          <a:noFill/>
          <a:ln/>
        </p:spPr>
        <p:txBody>
          <a:bodyPr wrap="square" lIns="0" tIns="0" rIns="0" bIns="0" rtlCol="0" anchor="ctr"/>
          <a:lstStyle/>
          <a:p>
            <a:pPr algn="ctr" indent="0" marL="0">
              <a:buNone/>
            </a:pPr>
            <a:r>
              <a:rPr lang="en-US" sz="1800" b="1" dirty="0">
                <a:solidFill>
                  <a:schemeClr val="tx1"/>
                </a:solidFill>
                <a:latin typeface="Cambria" pitchFamily="34" charset="0"/>
                <a:ea typeface="Cambria" pitchFamily="34" charset="-122"/>
                <a:cs typeface="Cambria" pitchFamily="34" charset="-120"/>
              </a:rPr>
              <a:t>Mastocitos</a:t>
            </a:r>
            <a:endParaRPr lang="en-US" sz="1800" dirty="0"/>
          </a:p>
        </p:txBody>
      </p:sp>
      <p:sp>
        <p:nvSpPr>
          <p:cNvPr id="14" name="Text 11"/>
          <p:cNvSpPr txBox="1"/>
          <p:nvPr/>
        </p:nvSpPr>
        <p:spPr>
          <a:xfrm>
            <a:off x="594360" y="2697480"/>
            <a:ext cx="1645920" cy="1280160"/>
          </a:xfrm>
          <a:prstGeom prst="rect">
            <a:avLst/>
          </a:prstGeom>
          <a:noFill/>
          <a:ln/>
        </p:spPr>
        <p:txBody>
          <a:bodyPr wrap="square" lIns="0" tIns="0" rIns="0" bIns="0" rtlCol="0" anchor="t"/>
          <a:lstStyle/>
          <a:p>
            <a:pPr indent="0" marL="0">
              <a:buNone/>
            </a:pPr>
            <a:r>
              <a:rPr lang="en-US" sz="1400" dirty="0">
                <a:solidFill>
                  <a:schemeClr val="tx1"/>
                </a:solidFill>
              </a:rPr>
              <a:t>Viven en el tejido. Al detectar daño liberan histamina.</a:t>
            </a:r>
            <a:endParaRPr lang="en-US" sz="1400" dirty="0"/>
          </a:p>
        </p:txBody>
      </p:sp>
      <p:sp>
        <p:nvSpPr>
          <p:cNvPr id="15" name="Tarjeta Macrófagos"/>
          <p:cNvSpPr/>
          <p:nvPr/>
        </p:nvSpPr>
        <p:spPr>
          <a:xfrm>
            <a:off x="2542032" y="1097280"/>
            <a:ext cx="1920240" cy="2971800"/>
          </a:xfrm>
          <a:prstGeom prst="roundRect">
            <a:avLst>
              <a:gd name="adj" fmla="val 5714"/>
            </a:avLst>
          </a:prstGeom>
          <a:solidFill>
            <a:srgbClr val="FFFFFF"/>
          </a:solidFill>
          <a:ln/>
          <a:effectLst>
            <a:outerShdw sx="100000" sy="100000" kx="0" ky="0" algn="bl" rotWithShape="0" blurRad="76200" dist="25400" dir="5400000">
              <a:srgbClr val="1D3B4F">
                <a:alpha val="12000"/>
              </a:srgbClr>
            </a:outerShdw>
          </a:effectLst>
        </p:spPr>
      </p:sp>
      <p:sp>
        <p:nvSpPr>
          <p:cNvPr id="16" name="Shape 13"/>
          <p:cNvSpPr/>
          <p:nvPr/>
        </p:nvSpPr>
        <p:spPr>
          <a:xfrm>
            <a:off x="3044952" y="1280160"/>
            <a:ext cx="914400" cy="914400"/>
          </a:xfrm>
          <a:prstGeom prst="ellipse">
            <a:avLst/>
          </a:prstGeom>
          <a:solidFill>
            <a:srgbClr val="D6EEF0"/>
          </a:solidFill>
          <a:ln/>
        </p:spPr>
      </p:sp>
      <p:sp>
        <p:nvSpPr>
          <p:cNvPr id="17" name="Shape 14"/>
          <p:cNvSpPr/>
          <p:nvPr/>
        </p:nvSpPr>
        <p:spPr>
          <a:xfrm>
            <a:off x="3227832" y="1463040"/>
            <a:ext cx="548640" cy="548640"/>
          </a:xfrm>
          <a:prstGeom prst="ellipse">
            <a:avLst/>
          </a:prstGeom>
          <a:solidFill>
            <a:srgbClr val="E0A020"/>
          </a:solidFill>
          <a:ln/>
        </p:spPr>
      </p:sp>
      <p:sp>
        <p:nvSpPr>
          <p:cNvPr id="18" name="Shape 15"/>
          <p:cNvSpPr/>
          <p:nvPr/>
        </p:nvSpPr>
        <p:spPr>
          <a:xfrm>
            <a:off x="3639312" y="1449324"/>
            <a:ext cx="246888" cy="246888"/>
          </a:xfrm>
          <a:prstGeom prst="ellipse">
            <a:avLst/>
          </a:prstGeom>
          <a:solidFill>
            <a:srgbClr val="E0A020"/>
          </a:solidFill>
          <a:ln/>
        </p:spPr>
      </p:sp>
      <p:sp>
        <p:nvSpPr>
          <p:cNvPr id="19" name="Shape 16"/>
          <p:cNvSpPr/>
          <p:nvPr/>
        </p:nvSpPr>
        <p:spPr>
          <a:xfrm>
            <a:off x="3378708" y="1655064"/>
            <a:ext cx="192024" cy="192024"/>
          </a:xfrm>
          <a:prstGeom prst="ellipse">
            <a:avLst/>
          </a:prstGeom>
          <a:solidFill>
            <a:srgbClr val="A8700A"/>
          </a:solidFill>
          <a:ln/>
        </p:spPr>
      </p:sp>
      <p:sp>
        <p:nvSpPr>
          <p:cNvPr id="20" name="Text 17"/>
          <p:cNvSpPr txBox="1"/>
          <p:nvPr/>
        </p:nvSpPr>
        <p:spPr>
          <a:xfrm>
            <a:off x="2679192" y="2331720"/>
            <a:ext cx="1645920" cy="320040"/>
          </a:xfrm>
          <a:prstGeom prst="rect">
            <a:avLst/>
          </a:prstGeom>
          <a:noFill/>
          <a:ln/>
        </p:spPr>
        <p:txBody>
          <a:bodyPr wrap="square" lIns="0" tIns="0" rIns="0" bIns="0" rtlCol="0" anchor="ctr"/>
          <a:lstStyle/>
          <a:p>
            <a:pPr algn="ctr" indent="0" marL="0">
              <a:buNone/>
            </a:pPr>
            <a:r>
              <a:rPr lang="en-US" sz="1800" b="1" dirty="0">
                <a:solidFill>
                  <a:schemeClr val="tx1"/>
                </a:solidFill>
                <a:latin typeface="Cambria" pitchFamily="34" charset="0"/>
                <a:ea typeface="Cambria" pitchFamily="34" charset="-122"/>
                <a:cs typeface="Cambria" pitchFamily="34" charset="-120"/>
              </a:rPr>
              <a:t>Macrófagos</a:t>
            </a:r>
            <a:endParaRPr lang="en-US" sz="1800" dirty="0"/>
          </a:p>
        </p:txBody>
      </p:sp>
      <p:sp>
        <p:nvSpPr>
          <p:cNvPr id="21" name="Text 18"/>
          <p:cNvSpPr txBox="1"/>
          <p:nvPr/>
        </p:nvSpPr>
        <p:spPr>
          <a:xfrm>
            <a:off x="2679192" y="2697480"/>
            <a:ext cx="1645920" cy="1280160"/>
          </a:xfrm>
          <a:prstGeom prst="rect">
            <a:avLst/>
          </a:prstGeom>
          <a:noFill/>
          <a:ln/>
        </p:spPr>
        <p:txBody>
          <a:bodyPr wrap="square" lIns="0" tIns="0" rIns="0" bIns="0" rtlCol="0" anchor="t"/>
          <a:lstStyle/>
          <a:p>
            <a:pPr indent="0" marL="0">
              <a:buNone/>
            </a:pPr>
            <a:r>
              <a:rPr lang="en-US" sz="1400" dirty="0">
                <a:solidFill>
                  <a:schemeClr val="tx1"/>
                </a:solidFill>
              </a:rPr>
              <a:t>Residentes del tejido: dan la alarma, se comen microbios y limpian.</a:t>
            </a:r>
            <a:endParaRPr lang="en-US" sz="1400" dirty="0"/>
          </a:p>
        </p:txBody>
      </p:sp>
      <p:sp>
        <p:nvSpPr>
          <p:cNvPr id="22" name="Tarjeta Neutrófilos"/>
          <p:cNvSpPr/>
          <p:nvPr/>
        </p:nvSpPr>
        <p:spPr>
          <a:xfrm>
            <a:off x="4626864" y="1097280"/>
            <a:ext cx="1920240" cy="2971800"/>
          </a:xfrm>
          <a:prstGeom prst="roundRect">
            <a:avLst>
              <a:gd name="adj" fmla="val 5714"/>
            </a:avLst>
          </a:prstGeom>
          <a:solidFill>
            <a:srgbClr val="FFFFFF"/>
          </a:solidFill>
          <a:ln/>
          <a:effectLst>
            <a:outerShdw sx="100000" sy="100000" kx="0" ky="0" algn="bl" rotWithShape="0" blurRad="76200" dist="25400" dir="5400000">
              <a:srgbClr val="1D3B4F">
                <a:alpha val="12000"/>
              </a:srgbClr>
            </a:outerShdw>
          </a:effectLst>
        </p:spPr>
      </p:sp>
      <p:sp>
        <p:nvSpPr>
          <p:cNvPr id="23" name="Shape 20"/>
          <p:cNvSpPr/>
          <p:nvPr/>
        </p:nvSpPr>
        <p:spPr>
          <a:xfrm>
            <a:off x="5129784" y="1280160"/>
            <a:ext cx="914400" cy="914400"/>
          </a:xfrm>
          <a:prstGeom prst="ellipse">
            <a:avLst/>
          </a:prstGeom>
          <a:solidFill>
            <a:srgbClr val="D6EEF0"/>
          </a:solidFill>
          <a:ln/>
        </p:spPr>
      </p:sp>
      <p:sp>
        <p:nvSpPr>
          <p:cNvPr id="24" name="Shape 21"/>
          <p:cNvSpPr/>
          <p:nvPr/>
        </p:nvSpPr>
        <p:spPr>
          <a:xfrm>
            <a:off x="5312664" y="1463040"/>
            <a:ext cx="548640" cy="548640"/>
          </a:xfrm>
          <a:prstGeom prst="ellipse">
            <a:avLst/>
          </a:prstGeom>
          <a:solidFill>
            <a:srgbClr val="FFFFFF"/>
          </a:solidFill>
          <a:ln w="19050">
            <a:solidFill>
              <a:srgbClr val="7B68C8"/>
            </a:solidFill>
            <a:prstDash val="solid"/>
          </a:ln>
        </p:spPr>
      </p:sp>
      <p:sp>
        <p:nvSpPr>
          <p:cNvPr id="25" name="Shape 22"/>
          <p:cNvSpPr/>
          <p:nvPr/>
        </p:nvSpPr>
        <p:spPr>
          <a:xfrm>
            <a:off x="5389474" y="1704442"/>
            <a:ext cx="120701" cy="120701"/>
          </a:xfrm>
          <a:prstGeom prst="ellipse">
            <a:avLst/>
          </a:prstGeom>
          <a:solidFill>
            <a:srgbClr val="7B68C8"/>
          </a:solidFill>
          <a:ln/>
        </p:spPr>
      </p:sp>
      <p:sp>
        <p:nvSpPr>
          <p:cNvPr id="26" name="Shape 23"/>
          <p:cNvSpPr/>
          <p:nvPr/>
        </p:nvSpPr>
        <p:spPr>
          <a:xfrm>
            <a:off x="5512918" y="1608430"/>
            <a:ext cx="120701" cy="120701"/>
          </a:xfrm>
          <a:prstGeom prst="ellipse">
            <a:avLst/>
          </a:prstGeom>
          <a:solidFill>
            <a:srgbClr val="7B68C8"/>
          </a:solidFill>
          <a:ln/>
        </p:spPr>
      </p:sp>
      <p:sp>
        <p:nvSpPr>
          <p:cNvPr id="27" name="Shape 24"/>
          <p:cNvSpPr/>
          <p:nvPr/>
        </p:nvSpPr>
        <p:spPr>
          <a:xfrm>
            <a:off x="5636362" y="1704442"/>
            <a:ext cx="120701" cy="120701"/>
          </a:xfrm>
          <a:prstGeom prst="ellipse">
            <a:avLst/>
          </a:prstGeom>
          <a:solidFill>
            <a:srgbClr val="7B68C8"/>
          </a:solidFill>
          <a:ln/>
        </p:spPr>
      </p:sp>
      <p:sp>
        <p:nvSpPr>
          <p:cNvPr id="28" name="Text 25"/>
          <p:cNvSpPr txBox="1"/>
          <p:nvPr/>
        </p:nvSpPr>
        <p:spPr>
          <a:xfrm>
            <a:off x="4764024" y="2331720"/>
            <a:ext cx="1645920" cy="320040"/>
          </a:xfrm>
          <a:prstGeom prst="rect">
            <a:avLst/>
          </a:prstGeom>
          <a:noFill/>
          <a:ln/>
        </p:spPr>
        <p:txBody>
          <a:bodyPr wrap="square" lIns="0" tIns="0" rIns="0" bIns="0" rtlCol="0" anchor="ctr"/>
          <a:lstStyle/>
          <a:p>
            <a:pPr algn="ctr" indent="0" marL="0">
              <a:buNone/>
            </a:pPr>
            <a:r>
              <a:rPr lang="en-US" sz="1800" b="1" dirty="0">
                <a:solidFill>
                  <a:schemeClr val="tx1"/>
                </a:solidFill>
                <a:latin typeface="Cambria" pitchFamily="34" charset="0"/>
                <a:ea typeface="Cambria" pitchFamily="34" charset="-122"/>
                <a:cs typeface="Cambria" pitchFamily="34" charset="-120"/>
              </a:rPr>
              <a:t>Neutrófilos</a:t>
            </a:r>
            <a:endParaRPr lang="en-US" sz="1800" dirty="0"/>
          </a:p>
        </p:txBody>
      </p:sp>
      <p:sp>
        <p:nvSpPr>
          <p:cNvPr id="29" name="Text 26"/>
          <p:cNvSpPr txBox="1"/>
          <p:nvPr/>
        </p:nvSpPr>
        <p:spPr>
          <a:xfrm>
            <a:off x="4764024" y="2697480"/>
            <a:ext cx="1645920" cy="1280160"/>
          </a:xfrm>
          <a:prstGeom prst="rect">
            <a:avLst/>
          </a:prstGeom>
          <a:noFill/>
          <a:ln/>
        </p:spPr>
        <p:txBody>
          <a:bodyPr wrap="square" lIns="0" tIns="0" rIns="0" bIns="0" rtlCol="0" anchor="t"/>
          <a:lstStyle/>
          <a:p>
            <a:pPr indent="0" marL="0">
              <a:buNone/>
            </a:pPr>
            <a:r>
              <a:rPr lang="en-US" sz="1400" dirty="0">
                <a:solidFill>
                  <a:schemeClr val="tx1"/>
                </a:solidFill>
              </a:rPr>
              <a:t>Llegan por la sangre. Son los primeros en llegar y viven poco.</a:t>
            </a:r>
            <a:endParaRPr lang="en-US" sz="1400" dirty="0"/>
          </a:p>
        </p:txBody>
      </p:sp>
      <p:sp>
        <p:nvSpPr>
          <p:cNvPr id="30" name="Tarjeta Capilares"/>
          <p:cNvSpPr/>
          <p:nvPr/>
        </p:nvSpPr>
        <p:spPr>
          <a:xfrm>
            <a:off x="6711696" y="1097280"/>
            <a:ext cx="1920240" cy="2971800"/>
          </a:xfrm>
          <a:prstGeom prst="roundRect">
            <a:avLst>
              <a:gd name="adj" fmla="val 5714"/>
            </a:avLst>
          </a:prstGeom>
          <a:solidFill>
            <a:srgbClr val="FFFFFF"/>
          </a:solidFill>
          <a:ln/>
          <a:effectLst>
            <a:outerShdw sx="100000" sy="100000" kx="0" ky="0" algn="bl" rotWithShape="0" blurRad="76200" dist="25400" dir="5400000">
              <a:srgbClr val="1D3B4F">
                <a:alpha val="12000"/>
              </a:srgbClr>
            </a:outerShdw>
          </a:effectLst>
        </p:spPr>
      </p:sp>
      <p:sp>
        <p:nvSpPr>
          <p:cNvPr id="31" name="Shape 28"/>
          <p:cNvSpPr/>
          <p:nvPr/>
        </p:nvSpPr>
        <p:spPr>
          <a:xfrm>
            <a:off x="7214616" y="1280160"/>
            <a:ext cx="914400" cy="914400"/>
          </a:xfrm>
          <a:prstGeom prst="ellipse">
            <a:avLst/>
          </a:prstGeom>
          <a:solidFill>
            <a:srgbClr val="D6EEF0"/>
          </a:solidFill>
          <a:ln/>
        </p:spPr>
      </p:sp>
      <p:sp>
        <p:nvSpPr>
          <p:cNvPr id="32" name="Shape 29"/>
          <p:cNvSpPr/>
          <p:nvPr/>
        </p:nvSpPr>
        <p:spPr>
          <a:xfrm>
            <a:off x="6986016" y="1554480"/>
            <a:ext cx="1371600" cy="365760"/>
          </a:xfrm>
          <a:prstGeom prst="roundRect">
            <a:avLst>
              <a:gd name="adj" fmla="val 50000"/>
            </a:avLst>
          </a:prstGeom>
          <a:solidFill>
            <a:srgbClr val="D2504B"/>
          </a:solidFill>
          <a:ln/>
        </p:spPr>
      </p:sp>
      <p:sp>
        <p:nvSpPr>
          <p:cNvPr id="33" name="Shape 30"/>
          <p:cNvSpPr/>
          <p:nvPr/>
        </p:nvSpPr>
        <p:spPr>
          <a:xfrm>
            <a:off x="7882128" y="1627632"/>
            <a:ext cx="219456" cy="219456"/>
          </a:xfrm>
          <a:prstGeom prst="ellipse">
            <a:avLst/>
          </a:prstGeom>
          <a:solidFill>
            <a:srgbClr val="FFFFFF"/>
          </a:solidFill>
          <a:ln w="19050">
            <a:solidFill>
              <a:srgbClr val="7B68C8"/>
            </a:solidFill>
            <a:prstDash val="solid"/>
          </a:ln>
        </p:spPr>
      </p:sp>
      <p:sp>
        <p:nvSpPr>
          <p:cNvPr id="34" name="Shape 31"/>
          <p:cNvSpPr/>
          <p:nvPr/>
        </p:nvSpPr>
        <p:spPr>
          <a:xfrm>
            <a:off x="7912852" y="1724193"/>
            <a:ext cx="48280" cy="48280"/>
          </a:xfrm>
          <a:prstGeom prst="ellipse">
            <a:avLst/>
          </a:prstGeom>
          <a:solidFill>
            <a:srgbClr val="7B68C8"/>
          </a:solidFill>
          <a:ln/>
        </p:spPr>
      </p:sp>
      <p:sp>
        <p:nvSpPr>
          <p:cNvPr id="35" name="Shape 32"/>
          <p:cNvSpPr/>
          <p:nvPr/>
        </p:nvSpPr>
        <p:spPr>
          <a:xfrm>
            <a:off x="7962229" y="1685788"/>
            <a:ext cx="48280" cy="48280"/>
          </a:xfrm>
          <a:prstGeom prst="ellipse">
            <a:avLst/>
          </a:prstGeom>
          <a:solidFill>
            <a:srgbClr val="7B68C8"/>
          </a:solidFill>
          <a:ln/>
        </p:spPr>
      </p:sp>
      <p:sp>
        <p:nvSpPr>
          <p:cNvPr id="36" name="Shape 33"/>
          <p:cNvSpPr/>
          <p:nvPr/>
        </p:nvSpPr>
        <p:spPr>
          <a:xfrm>
            <a:off x="8011607" y="1724193"/>
            <a:ext cx="48280" cy="48280"/>
          </a:xfrm>
          <a:prstGeom prst="ellipse">
            <a:avLst/>
          </a:prstGeom>
          <a:solidFill>
            <a:srgbClr val="7B68C8"/>
          </a:solidFill>
          <a:ln/>
        </p:spPr>
      </p:sp>
      <p:sp>
        <p:nvSpPr>
          <p:cNvPr id="37" name="Text 34"/>
          <p:cNvSpPr txBox="1"/>
          <p:nvPr/>
        </p:nvSpPr>
        <p:spPr>
          <a:xfrm>
            <a:off x="6848856" y="2331720"/>
            <a:ext cx="1645920" cy="320040"/>
          </a:xfrm>
          <a:prstGeom prst="rect">
            <a:avLst/>
          </a:prstGeom>
          <a:noFill/>
          <a:ln/>
        </p:spPr>
        <p:txBody>
          <a:bodyPr wrap="square" lIns="0" tIns="0" rIns="0" bIns="0" rtlCol="0" anchor="ctr"/>
          <a:lstStyle/>
          <a:p>
            <a:pPr algn="ctr" indent="0" marL="0">
              <a:buNone/>
            </a:pPr>
            <a:r>
              <a:rPr lang="en-US" sz="1800" b="1" dirty="0">
                <a:solidFill>
                  <a:schemeClr val="tx1"/>
                </a:solidFill>
                <a:latin typeface="Cambria" pitchFamily="34" charset="0"/>
                <a:ea typeface="Cambria" pitchFamily="34" charset="-122"/>
                <a:cs typeface="Cambria" pitchFamily="34" charset="-120"/>
              </a:rPr>
              <a:t>Capilares</a:t>
            </a:r>
            <a:endParaRPr lang="en-US" sz="1800" dirty="0"/>
          </a:p>
        </p:txBody>
      </p:sp>
      <p:sp>
        <p:nvSpPr>
          <p:cNvPr id="38" name="Text 35"/>
          <p:cNvSpPr txBox="1"/>
          <p:nvPr/>
        </p:nvSpPr>
        <p:spPr>
          <a:xfrm>
            <a:off x="6848856" y="2697480"/>
            <a:ext cx="1645920" cy="1280160"/>
          </a:xfrm>
          <a:prstGeom prst="rect">
            <a:avLst/>
          </a:prstGeom>
          <a:noFill/>
          <a:ln/>
        </p:spPr>
        <p:txBody>
          <a:bodyPr wrap="square" lIns="0" tIns="0" rIns="0" bIns="0" rtlCol="0" anchor="t"/>
          <a:lstStyle/>
          <a:p>
            <a:pPr indent="0" marL="0">
              <a:buNone/>
            </a:pPr>
            <a:r>
              <a:rPr lang="en-US" sz="1400" dirty="0">
                <a:solidFill>
                  <a:schemeClr val="tx1"/>
                </a:solidFill>
              </a:rPr>
              <a:t>Vasos finos. Al abrirse, dejan pasar líquido y células de defensa.</a:t>
            </a:r>
            <a:endParaRPr lang="en-US" sz="1400" dirty="0"/>
          </a:p>
        </p:txBody>
      </p:sp>
      <p:sp>
        <p:nvSpPr>
          <p:cNvPr id="39" name="Banner"/>
          <p:cNvSpPr/>
          <p:nvPr/>
        </p:nvSpPr>
        <p:spPr>
          <a:xfrm>
            <a:off x="457200" y="4251960"/>
            <a:ext cx="8229600" cy="502920"/>
          </a:xfrm>
          <a:prstGeom prst="roundRect">
            <a:avLst>
              <a:gd name="adj" fmla="val 18182"/>
            </a:avLst>
          </a:prstGeom>
          <a:solidFill>
            <a:srgbClr val="D6EEF0"/>
          </a:solidFill>
          <a:ln/>
        </p:spPr>
      </p:sp>
      <p:sp>
        <p:nvSpPr>
          <p:cNvPr id="40" name="Texto banner"/>
          <p:cNvSpPr txBox="1"/>
          <p:nvPr/>
        </p:nvSpPr>
        <p:spPr>
          <a:xfrm>
            <a:off x="640080" y="4251960"/>
            <a:ext cx="7863840" cy="502920"/>
          </a:xfrm>
          <a:prstGeom prst="rect">
            <a:avLst/>
          </a:prstGeom>
          <a:noFill/>
          <a:ln/>
        </p:spPr>
        <p:txBody>
          <a:bodyPr wrap="square" lIns="0" tIns="0" rIns="0" bIns="0" rtlCol="0" anchor="ctr"/>
          <a:lstStyle/>
          <a:p>
            <a:pPr indent="0" marL="0">
              <a:buNone/>
            </a:pPr>
            <a:r>
              <a:rPr lang="en-US" sz="1400" b="1" dirty="0">
                <a:solidFill>
                  <a:srgbClr val="1E8A94"/>
                </a:solidFill>
              </a:rPr>
              <a:t>Dato: </a:t>
            </a:r>
            <a:pPr indent="0" marL="0">
              <a:buNone/>
            </a:pPr>
            <a:r>
              <a:rPr lang="en-US" sz="1400" dirty="0">
                <a:solidFill>
                  <a:schemeClr val="tx1"/>
                </a:solidFill>
              </a:rPr>
              <a:t>neutrófilos y macrófagos son fagocitos: células que se comen a los microbios.</a:t>
            </a:r>
            <a:endParaRPr lang="en-US" sz="1400" dirty="0"/>
          </a:p>
        </p:txBody>
      </p:sp>
      <p:sp>
        <p:nvSpPr>
          <p:cNvPr id="25" name="Slide Number Placeholder 0"/>
          <p:cNvSpPr>
            <a:spLocks noGrp="1"/>
          </p:cNvSpPr>
          <p:nvPr>
            <p:ph type="sldNum" sz="quarter" idx="4294967295"/>
          </p:nvPr>
        </p:nvSpPr>
        <p:spPr>
          <a:xfrm>
            <a:off x="8138160" y="482803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La inflamación: la alarma del cuerpo</a:t>
            </a:r>
            <a:endParaRPr lang="en-US" sz="2800" dirty="0"/>
          </a:p>
        </p:txBody>
      </p:sp>
      <p:sp>
        <p:nvSpPr>
          <p:cNvPr id="4" name="Text 1"/>
          <p:cNvSpPr txBox="1"/>
          <p:nvPr/>
        </p:nvSpPr>
        <p:spPr>
          <a:xfrm>
            <a:off x="457200" y="1051560"/>
            <a:ext cx="8229600" cy="685800"/>
          </a:xfrm>
          <a:prstGeom prst="rect">
            <a:avLst/>
          </a:prstGeom>
          <a:noFill/>
          <a:ln/>
        </p:spPr>
        <p:txBody>
          <a:bodyPr wrap="square" lIns="0" tIns="0" rIns="0" bIns="0" rtlCol="0" anchor="t"/>
          <a:lstStyle/>
          <a:p>
            <a:pPr indent="0" marL="0">
              <a:buNone/>
            </a:pPr>
            <a:r>
              <a:rPr lang="en-US" sz="1600" b="1" dirty="0">
                <a:solidFill>
                  <a:schemeClr val="accent1"/>
                </a:solidFill>
              </a:rPr>
              <a:t>Inflamación: </a:t>
            </a:r>
            <a:pPr indent="0" marL="0">
              <a:buNone/>
            </a:pPr>
            <a:r>
              <a:rPr lang="en-US" sz="1600" dirty="0">
                <a:solidFill>
                  <a:schemeClr val="tx1"/>
                </a:solidFill>
              </a:rPr>
              <a:t>respuesta rápida del cuerpo ante un daño o una infección. Concentra defensas en la zona afectada y ayuda a reparar el tejido.</a:t>
            </a:r>
            <a:endParaRPr lang="en-US" sz="1600" dirty="0"/>
          </a:p>
        </p:txBody>
      </p:sp>
      <p:sp>
        <p:nvSpPr>
          <p:cNvPr id="5" name="Signo Rubor"/>
          <p:cNvSpPr/>
          <p:nvPr/>
        </p:nvSpPr>
        <p:spPr>
          <a:xfrm>
            <a:off x="457200" y="1828800"/>
            <a:ext cx="1920240" cy="1417320"/>
          </a:xfrm>
          <a:prstGeom prst="roundRect">
            <a:avLst>
              <a:gd name="adj" fmla="val 7742"/>
            </a:avLst>
          </a:prstGeom>
          <a:solidFill>
            <a:srgbClr val="FFFFFF"/>
          </a:solidFill>
          <a:ln/>
          <a:effectLst>
            <a:outerShdw sx="100000" sy="100000" kx="0" ky="0" algn="bl" rotWithShape="0" blurRad="76200" dist="25400" dir="5400000">
              <a:srgbClr val="1D3B4F">
                <a:alpha val="12000"/>
              </a:srgbClr>
            </a:outerShdw>
          </a:effectLst>
        </p:spPr>
      </p:sp>
      <p:sp>
        <p:nvSpPr>
          <p:cNvPr id="6" name="Círculo ícono"/>
          <p:cNvSpPr/>
          <p:nvPr/>
        </p:nvSpPr>
        <p:spPr>
          <a:xfrm>
            <a:off x="1143000" y="1938528"/>
            <a:ext cx="548640" cy="548640"/>
          </a:xfrm>
          <a:prstGeom prst="ellipse">
            <a:avLst/>
          </a:prstGeom>
          <a:solidFill>
            <a:srgbClr val="D2504B"/>
          </a:solidFill>
          <a:ln/>
        </p:spPr>
      </p:sp>
      <p:pic>
        <p:nvPicPr>
          <p:cNvPr id="7" name="Image 0" descr="FaTint">    </p:cNvPr>
          <p:cNvPicPr>
            <a:picLocks noChangeAspect="1"/>
          </p:cNvPicPr>
          <p:nvPr/>
        </p:nvPicPr>
        <p:blipFill>
          <a:blip r:embed="rId1"/>
          <a:stretch>
            <a:fillRect/>
          </a:stretch>
        </p:blipFill>
        <p:spPr>
          <a:xfrm>
            <a:off x="1280160" y="2075688"/>
            <a:ext cx="274320" cy="274320"/>
          </a:xfrm>
          <a:prstGeom prst="rect">
            <a:avLst/>
          </a:prstGeom>
        </p:spPr>
      </p:pic>
      <p:sp>
        <p:nvSpPr>
          <p:cNvPr id="8" name="Text 4"/>
          <p:cNvSpPr txBox="1"/>
          <p:nvPr/>
        </p:nvSpPr>
        <p:spPr>
          <a:xfrm>
            <a:off x="457200" y="2560320"/>
            <a:ext cx="1920240" cy="274320"/>
          </a:xfrm>
          <a:prstGeom prst="rect">
            <a:avLst/>
          </a:prstGeom>
          <a:noFill/>
          <a:ln/>
        </p:spPr>
        <p:txBody>
          <a:bodyPr wrap="square" lIns="0" tIns="0" rIns="0" bIns="0" rtlCol="0" anchor="ctr"/>
          <a:lstStyle/>
          <a:p>
            <a:pPr algn="ctr" indent="0" marL="0">
              <a:buNone/>
            </a:pPr>
            <a:r>
              <a:rPr lang="en-US" sz="1600" b="1" dirty="0">
                <a:solidFill>
                  <a:schemeClr val="tx1"/>
                </a:solidFill>
              </a:rPr>
              <a:t>Rubor</a:t>
            </a:r>
            <a:endParaRPr lang="en-US" sz="1600" dirty="0"/>
          </a:p>
        </p:txBody>
      </p:sp>
      <p:sp>
        <p:nvSpPr>
          <p:cNvPr id="9" name="Text 5"/>
          <p:cNvSpPr txBox="1"/>
          <p:nvPr/>
        </p:nvSpPr>
        <p:spPr>
          <a:xfrm>
            <a:off x="457200" y="2834640"/>
            <a:ext cx="1920240" cy="274320"/>
          </a:xfrm>
          <a:prstGeom prst="rect">
            <a:avLst/>
          </a:prstGeom>
          <a:noFill/>
          <a:ln/>
        </p:spPr>
        <p:txBody>
          <a:bodyPr wrap="square" lIns="0" tIns="0" rIns="0" bIns="0" rtlCol="0" anchor="ctr"/>
          <a:lstStyle/>
          <a:p>
            <a:pPr algn="ctr" indent="0" marL="0">
              <a:buNone/>
            </a:pPr>
            <a:r>
              <a:rPr lang="en-US" sz="1400" dirty="0">
                <a:solidFill>
                  <a:schemeClr val="tx2"/>
                </a:solidFill>
              </a:rPr>
              <a:t>Zona roja</a:t>
            </a:r>
            <a:endParaRPr lang="en-US" sz="1400" dirty="0"/>
          </a:p>
        </p:txBody>
      </p:sp>
      <p:sp>
        <p:nvSpPr>
          <p:cNvPr id="10" name="Signo Calor"/>
          <p:cNvSpPr/>
          <p:nvPr/>
        </p:nvSpPr>
        <p:spPr>
          <a:xfrm>
            <a:off x="2542032" y="1828800"/>
            <a:ext cx="1920240" cy="1417320"/>
          </a:xfrm>
          <a:prstGeom prst="roundRect">
            <a:avLst>
              <a:gd name="adj" fmla="val 7742"/>
            </a:avLst>
          </a:prstGeom>
          <a:solidFill>
            <a:srgbClr val="FFFFFF"/>
          </a:solidFill>
          <a:ln/>
          <a:effectLst>
            <a:outerShdw sx="100000" sy="100000" kx="0" ky="0" algn="bl" rotWithShape="0" blurRad="76200" dist="25400" dir="5400000">
              <a:srgbClr val="1D3B4F">
                <a:alpha val="12000"/>
              </a:srgbClr>
            </a:outerShdw>
          </a:effectLst>
        </p:spPr>
      </p:sp>
      <p:sp>
        <p:nvSpPr>
          <p:cNvPr id="11" name="Círculo ícono"/>
          <p:cNvSpPr/>
          <p:nvPr/>
        </p:nvSpPr>
        <p:spPr>
          <a:xfrm>
            <a:off x="3227832" y="1938528"/>
            <a:ext cx="548640" cy="548640"/>
          </a:xfrm>
          <a:prstGeom prst="ellipse">
            <a:avLst/>
          </a:prstGeom>
          <a:solidFill>
            <a:srgbClr val="E0A020"/>
          </a:solidFill>
          <a:ln/>
        </p:spPr>
      </p:sp>
      <p:pic>
        <p:nvPicPr>
          <p:cNvPr id="12" name="Image 1" descr="FaThermometerHalf">    </p:cNvPr>
          <p:cNvPicPr>
            <a:picLocks noChangeAspect="1"/>
          </p:cNvPicPr>
          <p:nvPr/>
        </p:nvPicPr>
        <p:blipFill>
          <a:blip r:embed="rId2"/>
          <a:stretch>
            <a:fillRect/>
          </a:stretch>
        </p:blipFill>
        <p:spPr>
          <a:xfrm>
            <a:off x="3364992" y="2075688"/>
            <a:ext cx="274320" cy="274320"/>
          </a:xfrm>
          <a:prstGeom prst="rect">
            <a:avLst/>
          </a:prstGeom>
        </p:spPr>
      </p:pic>
      <p:sp>
        <p:nvSpPr>
          <p:cNvPr id="13" name="Text 8"/>
          <p:cNvSpPr txBox="1"/>
          <p:nvPr/>
        </p:nvSpPr>
        <p:spPr>
          <a:xfrm>
            <a:off x="2542032" y="2560320"/>
            <a:ext cx="1920240" cy="274320"/>
          </a:xfrm>
          <a:prstGeom prst="rect">
            <a:avLst/>
          </a:prstGeom>
          <a:noFill/>
          <a:ln/>
        </p:spPr>
        <p:txBody>
          <a:bodyPr wrap="square" lIns="0" tIns="0" rIns="0" bIns="0" rtlCol="0" anchor="ctr"/>
          <a:lstStyle/>
          <a:p>
            <a:pPr algn="ctr" indent="0" marL="0">
              <a:buNone/>
            </a:pPr>
            <a:r>
              <a:rPr lang="en-US" sz="1600" b="1" dirty="0">
                <a:solidFill>
                  <a:schemeClr val="tx1"/>
                </a:solidFill>
              </a:rPr>
              <a:t>Calor</a:t>
            </a:r>
            <a:endParaRPr lang="en-US" sz="1600" dirty="0"/>
          </a:p>
        </p:txBody>
      </p:sp>
      <p:sp>
        <p:nvSpPr>
          <p:cNvPr id="14" name="Text 9"/>
          <p:cNvSpPr txBox="1"/>
          <p:nvPr/>
        </p:nvSpPr>
        <p:spPr>
          <a:xfrm>
            <a:off x="2542032" y="2834640"/>
            <a:ext cx="1920240" cy="274320"/>
          </a:xfrm>
          <a:prstGeom prst="rect">
            <a:avLst/>
          </a:prstGeom>
          <a:noFill/>
          <a:ln/>
        </p:spPr>
        <p:txBody>
          <a:bodyPr wrap="square" lIns="0" tIns="0" rIns="0" bIns="0" rtlCol="0" anchor="ctr"/>
          <a:lstStyle/>
          <a:p>
            <a:pPr algn="ctr" indent="0" marL="0">
              <a:buNone/>
            </a:pPr>
            <a:r>
              <a:rPr lang="en-US" sz="1400" dirty="0">
                <a:solidFill>
                  <a:schemeClr val="tx2"/>
                </a:solidFill>
              </a:rPr>
              <a:t>Zona caliente</a:t>
            </a:r>
            <a:endParaRPr lang="en-US" sz="1400" dirty="0"/>
          </a:p>
        </p:txBody>
      </p:sp>
      <p:sp>
        <p:nvSpPr>
          <p:cNvPr id="15" name="Signo Hinchazón"/>
          <p:cNvSpPr/>
          <p:nvPr/>
        </p:nvSpPr>
        <p:spPr>
          <a:xfrm>
            <a:off x="4626864" y="1828800"/>
            <a:ext cx="1920240" cy="1417320"/>
          </a:xfrm>
          <a:prstGeom prst="roundRect">
            <a:avLst>
              <a:gd name="adj" fmla="val 7742"/>
            </a:avLst>
          </a:prstGeom>
          <a:solidFill>
            <a:srgbClr val="FFFFFF"/>
          </a:solidFill>
          <a:ln/>
          <a:effectLst>
            <a:outerShdw sx="100000" sy="100000" kx="0" ky="0" algn="bl" rotWithShape="0" blurRad="76200" dist="25400" dir="5400000">
              <a:srgbClr val="1D3B4F">
                <a:alpha val="12000"/>
              </a:srgbClr>
            </a:outerShdw>
          </a:effectLst>
        </p:spPr>
      </p:sp>
      <p:sp>
        <p:nvSpPr>
          <p:cNvPr id="16" name="Círculo ícono"/>
          <p:cNvSpPr/>
          <p:nvPr/>
        </p:nvSpPr>
        <p:spPr>
          <a:xfrm>
            <a:off x="5312664" y="1938528"/>
            <a:ext cx="548640" cy="548640"/>
          </a:xfrm>
          <a:prstGeom prst="ellipse">
            <a:avLst/>
          </a:prstGeom>
          <a:solidFill>
            <a:srgbClr val="7B68C8"/>
          </a:solidFill>
          <a:ln/>
        </p:spPr>
      </p:sp>
      <p:pic>
        <p:nvPicPr>
          <p:cNvPr id="17" name="Image 2" descr="FaCircle">    </p:cNvPr>
          <p:cNvPicPr>
            <a:picLocks noChangeAspect="1"/>
          </p:cNvPicPr>
          <p:nvPr/>
        </p:nvPicPr>
        <p:blipFill>
          <a:blip r:embed="rId3"/>
          <a:stretch>
            <a:fillRect/>
          </a:stretch>
        </p:blipFill>
        <p:spPr>
          <a:xfrm>
            <a:off x="5449824" y="2075688"/>
            <a:ext cx="274320" cy="274320"/>
          </a:xfrm>
          <a:prstGeom prst="rect">
            <a:avLst/>
          </a:prstGeom>
        </p:spPr>
      </p:pic>
      <p:sp>
        <p:nvSpPr>
          <p:cNvPr id="18" name="Text 12"/>
          <p:cNvSpPr txBox="1"/>
          <p:nvPr/>
        </p:nvSpPr>
        <p:spPr>
          <a:xfrm>
            <a:off x="4626864" y="2560320"/>
            <a:ext cx="1920240" cy="274320"/>
          </a:xfrm>
          <a:prstGeom prst="rect">
            <a:avLst/>
          </a:prstGeom>
          <a:noFill/>
          <a:ln/>
        </p:spPr>
        <p:txBody>
          <a:bodyPr wrap="square" lIns="0" tIns="0" rIns="0" bIns="0" rtlCol="0" anchor="ctr"/>
          <a:lstStyle/>
          <a:p>
            <a:pPr algn="ctr" indent="0" marL="0">
              <a:buNone/>
            </a:pPr>
            <a:r>
              <a:rPr lang="en-US" sz="1600" b="1" dirty="0">
                <a:solidFill>
                  <a:schemeClr val="tx1"/>
                </a:solidFill>
              </a:rPr>
              <a:t>Hinchazón</a:t>
            </a:r>
            <a:endParaRPr lang="en-US" sz="1600" dirty="0"/>
          </a:p>
        </p:txBody>
      </p:sp>
      <p:sp>
        <p:nvSpPr>
          <p:cNvPr id="19" name="Text 13"/>
          <p:cNvSpPr txBox="1"/>
          <p:nvPr/>
        </p:nvSpPr>
        <p:spPr>
          <a:xfrm>
            <a:off x="4626864" y="2834640"/>
            <a:ext cx="1920240" cy="274320"/>
          </a:xfrm>
          <a:prstGeom prst="rect">
            <a:avLst/>
          </a:prstGeom>
          <a:noFill/>
          <a:ln/>
        </p:spPr>
        <p:txBody>
          <a:bodyPr wrap="square" lIns="0" tIns="0" rIns="0" bIns="0" rtlCol="0" anchor="ctr"/>
          <a:lstStyle/>
          <a:p>
            <a:pPr algn="ctr" indent="0" marL="0">
              <a:buNone/>
            </a:pPr>
            <a:r>
              <a:rPr lang="en-US" sz="1400" dirty="0">
                <a:solidFill>
                  <a:schemeClr val="tx2"/>
                </a:solidFill>
              </a:rPr>
              <a:t>Zona abultada</a:t>
            </a:r>
            <a:endParaRPr lang="en-US" sz="1400" dirty="0"/>
          </a:p>
        </p:txBody>
      </p:sp>
      <p:sp>
        <p:nvSpPr>
          <p:cNvPr id="20" name="Signo Dolor"/>
          <p:cNvSpPr/>
          <p:nvPr/>
        </p:nvSpPr>
        <p:spPr>
          <a:xfrm>
            <a:off x="6711696" y="1828800"/>
            <a:ext cx="1920240" cy="1417320"/>
          </a:xfrm>
          <a:prstGeom prst="roundRect">
            <a:avLst>
              <a:gd name="adj" fmla="val 7742"/>
            </a:avLst>
          </a:prstGeom>
          <a:solidFill>
            <a:srgbClr val="FFFFFF"/>
          </a:solidFill>
          <a:ln/>
          <a:effectLst>
            <a:outerShdw sx="100000" sy="100000" kx="0" ky="0" algn="bl" rotWithShape="0" blurRad="76200" dist="25400" dir="5400000">
              <a:srgbClr val="1D3B4F">
                <a:alpha val="12000"/>
              </a:srgbClr>
            </a:outerShdw>
          </a:effectLst>
        </p:spPr>
      </p:sp>
      <p:sp>
        <p:nvSpPr>
          <p:cNvPr id="21" name="Círculo ícono"/>
          <p:cNvSpPr/>
          <p:nvPr/>
        </p:nvSpPr>
        <p:spPr>
          <a:xfrm>
            <a:off x="7397496" y="1938528"/>
            <a:ext cx="548640" cy="548640"/>
          </a:xfrm>
          <a:prstGeom prst="ellipse">
            <a:avLst/>
          </a:prstGeom>
          <a:solidFill>
            <a:srgbClr val="1E8A94"/>
          </a:solidFill>
          <a:ln/>
        </p:spPr>
      </p:sp>
      <p:pic>
        <p:nvPicPr>
          <p:cNvPr id="22" name="Image 3" descr="FaBolt">    </p:cNvPr>
          <p:cNvPicPr>
            <a:picLocks noChangeAspect="1"/>
          </p:cNvPicPr>
          <p:nvPr/>
        </p:nvPicPr>
        <p:blipFill>
          <a:blip r:embed="rId4"/>
          <a:stretch>
            <a:fillRect/>
          </a:stretch>
        </p:blipFill>
        <p:spPr>
          <a:xfrm>
            <a:off x="7534656" y="2075688"/>
            <a:ext cx="274320" cy="274320"/>
          </a:xfrm>
          <a:prstGeom prst="rect">
            <a:avLst/>
          </a:prstGeom>
        </p:spPr>
      </p:pic>
      <p:sp>
        <p:nvSpPr>
          <p:cNvPr id="23" name="Text 16"/>
          <p:cNvSpPr txBox="1"/>
          <p:nvPr/>
        </p:nvSpPr>
        <p:spPr>
          <a:xfrm>
            <a:off x="6711696" y="2560320"/>
            <a:ext cx="1920240" cy="274320"/>
          </a:xfrm>
          <a:prstGeom prst="rect">
            <a:avLst/>
          </a:prstGeom>
          <a:noFill/>
          <a:ln/>
        </p:spPr>
        <p:txBody>
          <a:bodyPr wrap="square" lIns="0" tIns="0" rIns="0" bIns="0" rtlCol="0" anchor="ctr"/>
          <a:lstStyle/>
          <a:p>
            <a:pPr algn="ctr" indent="0" marL="0">
              <a:buNone/>
            </a:pPr>
            <a:r>
              <a:rPr lang="en-US" sz="1600" b="1" dirty="0">
                <a:solidFill>
                  <a:schemeClr val="tx1"/>
                </a:solidFill>
              </a:rPr>
              <a:t>Dolor</a:t>
            </a:r>
            <a:endParaRPr lang="en-US" sz="1600" dirty="0"/>
          </a:p>
        </p:txBody>
      </p:sp>
      <p:sp>
        <p:nvSpPr>
          <p:cNvPr id="24" name="Text 17"/>
          <p:cNvSpPr txBox="1"/>
          <p:nvPr/>
        </p:nvSpPr>
        <p:spPr>
          <a:xfrm>
            <a:off x="6711696" y="2834640"/>
            <a:ext cx="1920240" cy="274320"/>
          </a:xfrm>
          <a:prstGeom prst="rect">
            <a:avLst/>
          </a:prstGeom>
          <a:noFill/>
          <a:ln/>
        </p:spPr>
        <p:txBody>
          <a:bodyPr wrap="square" lIns="0" tIns="0" rIns="0" bIns="0" rtlCol="0" anchor="ctr"/>
          <a:lstStyle/>
          <a:p>
            <a:pPr algn="ctr" indent="0" marL="0">
              <a:buNone/>
            </a:pPr>
            <a:r>
              <a:rPr lang="en-US" sz="1400" dirty="0">
                <a:solidFill>
                  <a:schemeClr val="tx2"/>
                </a:solidFill>
              </a:rPr>
              <a:t>Zona sensible</a:t>
            </a:r>
            <a:endParaRPr lang="en-US" sz="1400" dirty="0"/>
          </a:p>
        </p:txBody>
      </p:sp>
      <p:sp>
        <p:nvSpPr>
          <p:cNvPr id="25" name="Infección"/>
          <p:cNvSpPr/>
          <p:nvPr/>
        </p:nvSpPr>
        <p:spPr>
          <a:xfrm>
            <a:off x="457200" y="3429000"/>
            <a:ext cx="4023360" cy="731520"/>
          </a:xfrm>
          <a:prstGeom prst="roundRect">
            <a:avLst>
              <a:gd name="adj" fmla="val 12500"/>
            </a:avLst>
          </a:prstGeom>
          <a:solidFill>
            <a:srgbClr val="D6EEF0"/>
          </a:solidFill>
          <a:ln/>
        </p:spPr>
      </p:sp>
      <p:sp>
        <p:nvSpPr>
          <p:cNvPr id="26" name="Inflamación"/>
          <p:cNvSpPr/>
          <p:nvPr/>
        </p:nvSpPr>
        <p:spPr>
          <a:xfrm>
            <a:off x="4663440" y="3429000"/>
            <a:ext cx="4023360" cy="731520"/>
          </a:xfrm>
          <a:prstGeom prst="roundRect">
            <a:avLst>
              <a:gd name="adj" fmla="val 12500"/>
            </a:avLst>
          </a:prstGeom>
          <a:solidFill>
            <a:srgbClr val="D6EEF0"/>
          </a:solidFill>
          <a:ln/>
        </p:spPr>
      </p:sp>
      <p:sp>
        <p:nvSpPr>
          <p:cNvPr id="27" name="Text 20"/>
          <p:cNvSpPr txBox="1"/>
          <p:nvPr/>
        </p:nvSpPr>
        <p:spPr>
          <a:xfrm>
            <a:off x="594360" y="3429000"/>
            <a:ext cx="3749040" cy="731520"/>
          </a:xfrm>
          <a:prstGeom prst="rect">
            <a:avLst/>
          </a:prstGeom>
          <a:noFill/>
          <a:ln/>
        </p:spPr>
        <p:txBody>
          <a:bodyPr wrap="square" lIns="0" tIns="0" rIns="0" bIns="0" rtlCol="0" anchor="ctr"/>
          <a:lstStyle/>
          <a:p>
            <a:pPr indent="0" marL="0">
              <a:buNone/>
            </a:pPr>
            <a:r>
              <a:rPr lang="en-US" sz="1400" b="1" dirty="0">
                <a:solidFill>
                  <a:schemeClr val="accent4"/>
                </a:solidFill>
              </a:rPr>
              <a:t>Infección: </a:t>
            </a:r>
            <a:pPr indent="0" marL="0">
              <a:buNone/>
            </a:pPr>
            <a:r>
              <a:rPr lang="en-US" sz="1400" dirty="0">
                <a:solidFill>
                  <a:schemeClr val="tx1"/>
                </a:solidFill>
              </a:rPr>
              <a:t>hay microbios dañando el cuerpo.</a:t>
            </a:r>
            <a:endParaRPr lang="en-US" sz="1400" dirty="0"/>
          </a:p>
        </p:txBody>
      </p:sp>
      <p:sp>
        <p:nvSpPr>
          <p:cNvPr id="28" name="Text 21"/>
          <p:cNvSpPr txBox="1"/>
          <p:nvPr/>
        </p:nvSpPr>
        <p:spPr>
          <a:xfrm>
            <a:off x="4800600" y="3429000"/>
            <a:ext cx="3749040" cy="731520"/>
          </a:xfrm>
          <a:prstGeom prst="rect">
            <a:avLst/>
          </a:prstGeom>
          <a:noFill/>
          <a:ln/>
        </p:spPr>
        <p:txBody>
          <a:bodyPr wrap="square" lIns="0" tIns="0" rIns="0" bIns="0" rtlCol="0" anchor="ctr"/>
          <a:lstStyle/>
          <a:p>
            <a:pPr indent="0" marL="0">
              <a:buNone/>
            </a:pPr>
            <a:r>
              <a:rPr lang="en-US" sz="1400" b="1" dirty="0">
                <a:solidFill>
                  <a:schemeClr val="accent1"/>
                </a:solidFill>
              </a:rPr>
              <a:t>Inflamación: </a:t>
            </a:r>
            <a:pPr indent="0" marL="0">
              <a:buNone/>
            </a:pPr>
            <a:r>
              <a:rPr lang="en-US" sz="1400" dirty="0">
                <a:solidFill>
                  <a:schemeClr val="tx1"/>
                </a:solidFill>
              </a:rPr>
              <a:t>la respuesta de tu cuerpo. Puede haber una sin la otra.</a:t>
            </a:r>
            <a:endParaRPr lang="en-US" sz="1400" dirty="0"/>
          </a:p>
        </p:txBody>
      </p:sp>
      <p:sp>
        <p:nvSpPr>
          <p:cNvPr id="29" name="Pregunta"/>
          <p:cNvSpPr/>
          <p:nvPr/>
        </p:nvSpPr>
        <p:spPr>
          <a:xfrm>
            <a:off x="457200" y="4297680"/>
            <a:ext cx="8229600" cy="502920"/>
          </a:xfrm>
          <a:prstGeom prst="roundRect">
            <a:avLst>
              <a:gd name="adj" fmla="val 18182"/>
            </a:avLst>
          </a:prstGeom>
          <a:solidFill>
            <a:srgbClr val="FDE4E2"/>
          </a:solidFill>
          <a:ln/>
        </p:spPr>
      </p:sp>
      <p:sp>
        <p:nvSpPr>
          <p:cNvPr id="30" name="Text 23"/>
          <p:cNvSpPr txBox="1"/>
          <p:nvPr/>
        </p:nvSpPr>
        <p:spPr>
          <a:xfrm>
            <a:off x="594360" y="4389120"/>
            <a:ext cx="320040" cy="320040"/>
          </a:xfrm>
          <a:prstGeom prst="ellipse">
            <a:avLst/>
          </a:prstGeom>
          <a:solidFill>
            <a:srgbClr val="D2504B"/>
          </a:solid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31" name="Texto pregunta"/>
          <p:cNvSpPr txBox="1"/>
          <p:nvPr/>
        </p:nvSpPr>
        <p:spPr>
          <a:xfrm>
            <a:off x="1051560" y="4297680"/>
            <a:ext cx="7498080" cy="502920"/>
          </a:xfrm>
          <a:prstGeom prst="rect">
            <a:avLst/>
          </a:prstGeom>
          <a:noFill/>
          <a:ln/>
        </p:spPr>
        <p:txBody>
          <a:bodyPr wrap="square" lIns="0" tIns="0" rIns="0" bIns="0" rtlCol="0" anchor="ctr"/>
          <a:lstStyle/>
          <a:p>
            <a:pPr indent="0" marL="0">
              <a:buNone/>
            </a:pPr>
            <a:r>
              <a:rPr lang="en-US" sz="1400" b="1" dirty="0">
                <a:solidFill>
                  <a:schemeClr val="tx1"/>
                </a:solidFill>
              </a:rPr>
              <a:t>¿Se te ocurre un caso con inflamación pero sin microbios? (Pista: un golpe)</a:t>
            </a:r>
            <a:endParaRPr lang="en-US" sz="1400" dirty="0"/>
          </a:p>
        </p:txBody>
      </p:sp>
      <p:sp>
        <p:nvSpPr>
          <p:cNvPr id="25" name="Slide Number Placeholder 0"/>
          <p:cNvSpPr>
            <a:spLocks noGrp="1"/>
          </p:cNvSpPr>
          <p:nvPr>
            <p:ph type="sldNum" sz="quarter" idx="4294967295"/>
          </p:nvPr>
        </p:nvSpPr>
        <p:spPr>
          <a:xfrm>
            <a:off x="8138160" y="482803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Siete etapas, siete órdenes</a:t>
            </a:r>
            <a:endParaRPr lang="en-US" sz="2800" dirty="0"/>
          </a:p>
        </p:txBody>
      </p:sp>
      <p:sp>
        <p:nvSpPr>
          <p:cNvPr id="4" name="Fila etapa 1"/>
          <p:cNvSpPr/>
          <p:nvPr/>
        </p:nvSpPr>
        <p:spPr>
          <a:xfrm>
            <a:off x="457200" y="1051560"/>
            <a:ext cx="8229600" cy="384048"/>
          </a:xfrm>
          <a:prstGeom prst="roundRect">
            <a:avLst>
              <a:gd name="adj" fmla="val 19048"/>
            </a:avLst>
          </a:prstGeom>
          <a:solidFill>
            <a:srgbClr val="FFFFFF"/>
          </a:solidFill>
          <a:ln/>
        </p:spPr>
      </p:sp>
      <p:sp>
        <p:nvSpPr>
          <p:cNvPr id="5" name="Insignia 1"/>
          <p:cNvSpPr txBox="1"/>
          <p:nvPr/>
        </p:nvSpPr>
        <p:spPr>
          <a:xfrm>
            <a:off x="530352" y="1088136"/>
            <a:ext cx="310896" cy="310896"/>
          </a:xfrm>
          <a:prstGeom prst="ellipse">
            <a:avLst/>
          </a:prstGeom>
          <a:solidFill>
            <a:srgbClr val="7B68C8"/>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3"/>
          <p:cNvSpPr txBox="1"/>
          <p:nvPr/>
        </p:nvSpPr>
        <p:spPr>
          <a:xfrm>
            <a:off x="960120" y="1051560"/>
            <a:ext cx="1737360" cy="384048"/>
          </a:xfrm>
          <a:prstGeom prst="rect">
            <a:avLst/>
          </a:prstGeom>
          <a:noFill/>
          <a:ln/>
        </p:spPr>
        <p:txBody>
          <a:bodyPr wrap="square" lIns="0" tIns="0" rIns="0" bIns="0" rtlCol="0" anchor="ctr"/>
          <a:lstStyle/>
          <a:p>
            <a:pPr indent="0" marL="0">
              <a:buNone/>
            </a:pPr>
            <a:r>
              <a:rPr lang="en-US" sz="1400" b="1" dirty="0">
                <a:solidFill>
                  <a:schemeClr val="tx1"/>
                </a:solidFill>
              </a:rPr>
              <a:t>Alarma</a:t>
            </a:r>
            <a:endParaRPr lang="en-US" sz="1400" dirty="0"/>
          </a:p>
        </p:txBody>
      </p:sp>
      <p:sp>
        <p:nvSpPr>
          <p:cNvPr id="7" name="Text 4"/>
          <p:cNvSpPr txBox="1"/>
          <p:nvPr/>
        </p:nvSpPr>
        <p:spPr>
          <a:xfrm>
            <a:off x="2697480" y="1051560"/>
            <a:ext cx="5897880" cy="384048"/>
          </a:xfrm>
          <a:prstGeom prst="rect">
            <a:avLst/>
          </a:prstGeom>
          <a:noFill/>
          <a:ln/>
        </p:spPr>
        <p:txBody>
          <a:bodyPr wrap="square" lIns="0" tIns="0" rIns="0" bIns="0" rtlCol="0" anchor="ctr"/>
          <a:lstStyle/>
          <a:p>
            <a:pPr indent="0" marL="0">
              <a:buNone/>
            </a:pPr>
            <a:r>
              <a:rPr lang="en-US" sz="1400" dirty="0">
                <a:solidFill>
                  <a:schemeClr val="tx1"/>
                </a:solidFill>
              </a:rPr>
              <a:t>Mastocitos y macrófagos detectan microbios y liberan histamina.</a:t>
            </a:r>
            <a:endParaRPr lang="en-US" sz="1400" dirty="0"/>
          </a:p>
        </p:txBody>
      </p:sp>
      <p:sp>
        <p:nvSpPr>
          <p:cNvPr id="8" name="Fila etapa 2"/>
          <p:cNvSpPr/>
          <p:nvPr/>
        </p:nvSpPr>
        <p:spPr>
          <a:xfrm>
            <a:off x="457200" y="1490472"/>
            <a:ext cx="8229600" cy="384048"/>
          </a:xfrm>
          <a:prstGeom prst="roundRect">
            <a:avLst>
              <a:gd name="adj" fmla="val 19048"/>
            </a:avLst>
          </a:prstGeom>
          <a:solidFill>
            <a:srgbClr val="D6EEF0"/>
          </a:solidFill>
          <a:ln/>
        </p:spPr>
      </p:sp>
      <p:sp>
        <p:nvSpPr>
          <p:cNvPr id="9" name="Insignia 2"/>
          <p:cNvSpPr txBox="1"/>
          <p:nvPr/>
        </p:nvSpPr>
        <p:spPr>
          <a:xfrm>
            <a:off x="530352" y="1527048"/>
            <a:ext cx="310896" cy="310896"/>
          </a:xfrm>
          <a:prstGeom prst="ellipse">
            <a:avLst/>
          </a:prstGeom>
          <a:solidFill>
            <a:srgbClr val="7B68C8"/>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Text 7"/>
          <p:cNvSpPr txBox="1"/>
          <p:nvPr/>
        </p:nvSpPr>
        <p:spPr>
          <a:xfrm>
            <a:off x="960120" y="1490472"/>
            <a:ext cx="1737360" cy="384048"/>
          </a:xfrm>
          <a:prstGeom prst="rect">
            <a:avLst/>
          </a:prstGeom>
          <a:noFill/>
          <a:ln/>
        </p:spPr>
        <p:txBody>
          <a:bodyPr wrap="square" lIns="0" tIns="0" rIns="0" bIns="0" rtlCol="0" anchor="ctr"/>
          <a:lstStyle/>
          <a:p>
            <a:pPr indent="0" marL="0">
              <a:buNone/>
            </a:pPr>
            <a:r>
              <a:rPr lang="en-US" sz="1400" b="1" dirty="0">
                <a:solidFill>
                  <a:schemeClr val="tx1"/>
                </a:solidFill>
              </a:rPr>
              <a:t>Vasos</a:t>
            </a:r>
            <a:endParaRPr lang="en-US" sz="1400" dirty="0"/>
          </a:p>
        </p:txBody>
      </p:sp>
      <p:sp>
        <p:nvSpPr>
          <p:cNvPr id="11" name="Text 8"/>
          <p:cNvSpPr txBox="1"/>
          <p:nvPr/>
        </p:nvSpPr>
        <p:spPr>
          <a:xfrm>
            <a:off x="2697480" y="1490472"/>
            <a:ext cx="5897880" cy="384048"/>
          </a:xfrm>
          <a:prstGeom prst="rect">
            <a:avLst/>
          </a:prstGeom>
          <a:noFill/>
          <a:ln/>
        </p:spPr>
        <p:txBody>
          <a:bodyPr wrap="square" lIns="0" tIns="0" rIns="0" bIns="0" rtlCol="0" anchor="ctr"/>
          <a:lstStyle/>
          <a:p>
            <a:pPr indent="0" marL="0">
              <a:buNone/>
            </a:pPr>
            <a:r>
              <a:rPr lang="en-US" sz="1400" dirty="0">
                <a:solidFill>
                  <a:schemeClr val="tx1"/>
                </a:solidFill>
              </a:rPr>
              <a:t>Los capilares se dilatan: llega más sangre (rubor y calor).</a:t>
            </a:r>
            <a:endParaRPr lang="en-US" sz="1400" dirty="0"/>
          </a:p>
        </p:txBody>
      </p:sp>
      <p:sp>
        <p:nvSpPr>
          <p:cNvPr id="12" name="Fila etapa 3"/>
          <p:cNvSpPr/>
          <p:nvPr/>
        </p:nvSpPr>
        <p:spPr>
          <a:xfrm>
            <a:off x="457200" y="1929384"/>
            <a:ext cx="8229600" cy="384048"/>
          </a:xfrm>
          <a:prstGeom prst="roundRect">
            <a:avLst>
              <a:gd name="adj" fmla="val 19048"/>
            </a:avLst>
          </a:prstGeom>
          <a:solidFill>
            <a:srgbClr val="FFFFFF"/>
          </a:solidFill>
          <a:ln/>
        </p:spPr>
      </p:sp>
      <p:sp>
        <p:nvSpPr>
          <p:cNvPr id="13" name="Insignia 3"/>
          <p:cNvSpPr txBox="1"/>
          <p:nvPr/>
        </p:nvSpPr>
        <p:spPr>
          <a:xfrm>
            <a:off x="530352" y="1965960"/>
            <a:ext cx="310896" cy="310896"/>
          </a:xfrm>
          <a:prstGeom prst="ellipse">
            <a:avLst/>
          </a:prstGeom>
          <a:solidFill>
            <a:srgbClr val="7B68C8"/>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4" name="Text 11"/>
          <p:cNvSpPr txBox="1"/>
          <p:nvPr/>
        </p:nvSpPr>
        <p:spPr>
          <a:xfrm>
            <a:off x="960120" y="1929384"/>
            <a:ext cx="1737360" cy="384048"/>
          </a:xfrm>
          <a:prstGeom prst="rect">
            <a:avLst/>
          </a:prstGeom>
          <a:noFill/>
          <a:ln/>
        </p:spPr>
        <p:txBody>
          <a:bodyPr wrap="square" lIns="0" tIns="0" rIns="0" bIns="0" rtlCol="0" anchor="ctr"/>
          <a:lstStyle/>
          <a:p>
            <a:pPr indent="0" marL="0">
              <a:buNone/>
            </a:pPr>
            <a:r>
              <a:rPr lang="en-US" sz="1400" b="1" dirty="0">
                <a:solidFill>
                  <a:schemeClr val="tx1"/>
                </a:solidFill>
              </a:rPr>
              <a:t>Permeabilidad</a:t>
            </a:r>
            <a:endParaRPr lang="en-US" sz="1400" dirty="0"/>
          </a:p>
        </p:txBody>
      </p:sp>
      <p:sp>
        <p:nvSpPr>
          <p:cNvPr id="15" name="Text 12"/>
          <p:cNvSpPr txBox="1"/>
          <p:nvPr/>
        </p:nvSpPr>
        <p:spPr>
          <a:xfrm>
            <a:off x="2697480" y="1929384"/>
            <a:ext cx="5897880" cy="384048"/>
          </a:xfrm>
          <a:prstGeom prst="rect">
            <a:avLst/>
          </a:prstGeom>
          <a:noFill/>
          <a:ln/>
        </p:spPr>
        <p:txBody>
          <a:bodyPr wrap="square" lIns="0" tIns="0" rIns="0" bIns="0" rtlCol="0" anchor="ctr"/>
          <a:lstStyle/>
          <a:p>
            <a:pPr indent="0" marL="0">
              <a:buNone/>
            </a:pPr>
            <a:r>
              <a:rPr lang="en-US" sz="1400" dirty="0">
                <a:solidFill>
                  <a:schemeClr val="tx1"/>
                </a:solidFill>
              </a:rPr>
              <a:t>Las paredes se abren: sale líquido (hinchazón) y pasan células.</a:t>
            </a:r>
            <a:endParaRPr lang="en-US" sz="1400" dirty="0"/>
          </a:p>
        </p:txBody>
      </p:sp>
      <p:sp>
        <p:nvSpPr>
          <p:cNvPr id="16" name="Fila etapa 4"/>
          <p:cNvSpPr/>
          <p:nvPr/>
        </p:nvSpPr>
        <p:spPr>
          <a:xfrm>
            <a:off x="457200" y="2368296"/>
            <a:ext cx="8229600" cy="384048"/>
          </a:xfrm>
          <a:prstGeom prst="roundRect">
            <a:avLst>
              <a:gd name="adj" fmla="val 19048"/>
            </a:avLst>
          </a:prstGeom>
          <a:solidFill>
            <a:srgbClr val="D6EEF0"/>
          </a:solidFill>
          <a:ln/>
        </p:spPr>
      </p:sp>
      <p:sp>
        <p:nvSpPr>
          <p:cNvPr id="17" name="Insignia 4"/>
          <p:cNvSpPr txBox="1"/>
          <p:nvPr/>
        </p:nvSpPr>
        <p:spPr>
          <a:xfrm>
            <a:off x="530352" y="2404872"/>
            <a:ext cx="310896" cy="310896"/>
          </a:xfrm>
          <a:prstGeom prst="ellipse">
            <a:avLst/>
          </a:prstGeom>
          <a:solidFill>
            <a:srgbClr val="1E8A94"/>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8" name="Text 15"/>
          <p:cNvSpPr txBox="1"/>
          <p:nvPr/>
        </p:nvSpPr>
        <p:spPr>
          <a:xfrm>
            <a:off x="960120" y="2368296"/>
            <a:ext cx="1737360" cy="384048"/>
          </a:xfrm>
          <a:prstGeom prst="rect">
            <a:avLst/>
          </a:prstGeom>
          <a:noFill/>
          <a:ln/>
        </p:spPr>
        <p:txBody>
          <a:bodyPr wrap="square" lIns="0" tIns="0" rIns="0" bIns="0" rtlCol="0" anchor="ctr"/>
          <a:lstStyle/>
          <a:p>
            <a:pPr indent="0" marL="0">
              <a:buNone/>
            </a:pPr>
            <a:r>
              <a:rPr lang="en-US" sz="1400" b="1" dirty="0">
                <a:solidFill>
                  <a:schemeClr val="tx1"/>
                </a:solidFill>
              </a:rPr>
              <a:t>Neutrófilos</a:t>
            </a:r>
            <a:endParaRPr lang="en-US" sz="1400" dirty="0"/>
          </a:p>
        </p:txBody>
      </p:sp>
      <p:sp>
        <p:nvSpPr>
          <p:cNvPr id="19" name="Text 16"/>
          <p:cNvSpPr txBox="1"/>
          <p:nvPr/>
        </p:nvSpPr>
        <p:spPr>
          <a:xfrm>
            <a:off x="2697480" y="2368296"/>
            <a:ext cx="5897880" cy="384048"/>
          </a:xfrm>
          <a:prstGeom prst="rect">
            <a:avLst/>
          </a:prstGeom>
          <a:noFill/>
          <a:ln/>
        </p:spPr>
        <p:txBody>
          <a:bodyPr wrap="square" lIns="0" tIns="0" rIns="0" bIns="0" rtlCol="0" anchor="ctr"/>
          <a:lstStyle/>
          <a:p>
            <a:pPr indent="0" marL="0">
              <a:buNone/>
            </a:pPr>
            <a:r>
              <a:rPr lang="en-US" sz="1400" dirty="0">
                <a:solidFill>
                  <a:schemeClr val="tx1"/>
                </a:solidFill>
              </a:rPr>
              <a:t>Siguen el rastro químico y salen del capilar hacia la herida.</a:t>
            </a:r>
            <a:endParaRPr lang="en-US" sz="1400" dirty="0"/>
          </a:p>
        </p:txBody>
      </p:sp>
      <p:sp>
        <p:nvSpPr>
          <p:cNvPr id="20" name="Fila etapa 5"/>
          <p:cNvSpPr/>
          <p:nvPr/>
        </p:nvSpPr>
        <p:spPr>
          <a:xfrm>
            <a:off x="457200" y="2807208"/>
            <a:ext cx="8229600" cy="384048"/>
          </a:xfrm>
          <a:prstGeom prst="roundRect">
            <a:avLst>
              <a:gd name="adj" fmla="val 19048"/>
            </a:avLst>
          </a:prstGeom>
          <a:solidFill>
            <a:srgbClr val="FFFFFF"/>
          </a:solidFill>
          <a:ln/>
        </p:spPr>
      </p:sp>
      <p:sp>
        <p:nvSpPr>
          <p:cNvPr id="21" name="Insignia 5"/>
          <p:cNvSpPr txBox="1"/>
          <p:nvPr/>
        </p:nvSpPr>
        <p:spPr>
          <a:xfrm>
            <a:off x="530352" y="2843784"/>
            <a:ext cx="310896" cy="310896"/>
          </a:xfrm>
          <a:prstGeom prst="ellipse">
            <a:avLst/>
          </a:prstGeom>
          <a:solidFill>
            <a:srgbClr val="1E8A94"/>
          </a:solid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2" name="Text 19"/>
          <p:cNvSpPr txBox="1"/>
          <p:nvPr/>
        </p:nvSpPr>
        <p:spPr>
          <a:xfrm>
            <a:off x="960120" y="2807208"/>
            <a:ext cx="1737360" cy="384048"/>
          </a:xfrm>
          <a:prstGeom prst="rect">
            <a:avLst/>
          </a:prstGeom>
          <a:noFill/>
          <a:ln/>
        </p:spPr>
        <p:txBody>
          <a:bodyPr wrap="square" lIns="0" tIns="0" rIns="0" bIns="0" rtlCol="0" anchor="ctr"/>
          <a:lstStyle/>
          <a:p>
            <a:pPr indent="0" marL="0">
              <a:buNone/>
            </a:pPr>
            <a:r>
              <a:rPr lang="en-US" sz="1400" b="1" dirty="0">
                <a:solidFill>
                  <a:schemeClr val="tx1"/>
                </a:solidFill>
              </a:rPr>
              <a:t>Fagocitosis</a:t>
            </a:r>
            <a:endParaRPr lang="en-US" sz="1400" dirty="0"/>
          </a:p>
        </p:txBody>
      </p:sp>
      <p:sp>
        <p:nvSpPr>
          <p:cNvPr id="23" name="Text 20"/>
          <p:cNvSpPr txBox="1"/>
          <p:nvPr/>
        </p:nvSpPr>
        <p:spPr>
          <a:xfrm>
            <a:off x="2697480" y="2807208"/>
            <a:ext cx="5897880" cy="384048"/>
          </a:xfrm>
          <a:prstGeom prst="rect">
            <a:avLst/>
          </a:prstGeom>
          <a:noFill/>
          <a:ln/>
        </p:spPr>
        <p:txBody>
          <a:bodyPr wrap="square" lIns="0" tIns="0" rIns="0" bIns="0" rtlCol="0" anchor="ctr"/>
          <a:lstStyle/>
          <a:p>
            <a:pPr indent="0" marL="0">
              <a:buNone/>
            </a:pPr>
            <a:r>
              <a:rPr lang="en-US" sz="1400" dirty="0">
                <a:solidFill>
                  <a:schemeClr val="tx1"/>
                </a:solidFill>
              </a:rPr>
              <a:t>Neutrófilos y macrófagos engullen y destruyen a los microbios.</a:t>
            </a:r>
            <a:endParaRPr lang="en-US" sz="1400" dirty="0"/>
          </a:p>
        </p:txBody>
      </p:sp>
      <p:sp>
        <p:nvSpPr>
          <p:cNvPr id="24" name="Fila etapa 6"/>
          <p:cNvSpPr/>
          <p:nvPr/>
        </p:nvSpPr>
        <p:spPr>
          <a:xfrm>
            <a:off x="457200" y="3246120"/>
            <a:ext cx="8229600" cy="384048"/>
          </a:xfrm>
          <a:prstGeom prst="roundRect">
            <a:avLst>
              <a:gd name="adj" fmla="val 19048"/>
            </a:avLst>
          </a:prstGeom>
          <a:solidFill>
            <a:srgbClr val="D6EEF0"/>
          </a:solidFill>
          <a:ln/>
        </p:spPr>
      </p:sp>
      <p:sp>
        <p:nvSpPr>
          <p:cNvPr id="25" name="Insignia 6"/>
          <p:cNvSpPr txBox="1"/>
          <p:nvPr/>
        </p:nvSpPr>
        <p:spPr>
          <a:xfrm>
            <a:off x="530352" y="3282696"/>
            <a:ext cx="310896" cy="310896"/>
          </a:xfrm>
          <a:prstGeom prst="ellipse">
            <a:avLst/>
          </a:prstGeom>
          <a:solidFill>
            <a:srgbClr val="3E9E78"/>
          </a:solid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26" name="Text 23"/>
          <p:cNvSpPr txBox="1"/>
          <p:nvPr/>
        </p:nvSpPr>
        <p:spPr>
          <a:xfrm>
            <a:off x="960120" y="3246120"/>
            <a:ext cx="1737360" cy="384048"/>
          </a:xfrm>
          <a:prstGeom prst="rect">
            <a:avLst/>
          </a:prstGeom>
          <a:noFill/>
          <a:ln/>
        </p:spPr>
        <p:txBody>
          <a:bodyPr wrap="square" lIns="0" tIns="0" rIns="0" bIns="0" rtlCol="0" anchor="ctr"/>
          <a:lstStyle/>
          <a:p>
            <a:pPr indent="0" marL="0">
              <a:buNone/>
            </a:pPr>
            <a:r>
              <a:rPr lang="en-US" sz="1400" b="1" dirty="0">
                <a:solidFill>
                  <a:schemeClr val="tx1"/>
                </a:solidFill>
              </a:rPr>
              <a:t>Limpieza</a:t>
            </a:r>
            <a:endParaRPr lang="en-US" sz="1400" dirty="0"/>
          </a:p>
        </p:txBody>
      </p:sp>
      <p:sp>
        <p:nvSpPr>
          <p:cNvPr id="27" name="Text 24"/>
          <p:cNvSpPr txBox="1"/>
          <p:nvPr/>
        </p:nvSpPr>
        <p:spPr>
          <a:xfrm>
            <a:off x="2697480" y="3246120"/>
            <a:ext cx="5897880" cy="384048"/>
          </a:xfrm>
          <a:prstGeom prst="rect">
            <a:avLst/>
          </a:prstGeom>
          <a:noFill/>
          <a:ln/>
        </p:spPr>
        <p:txBody>
          <a:bodyPr wrap="square" lIns="0" tIns="0" rIns="0" bIns="0" rtlCol="0" anchor="ctr"/>
          <a:lstStyle/>
          <a:p>
            <a:pPr indent="0" marL="0">
              <a:buNone/>
            </a:pPr>
            <a:r>
              <a:rPr lang="en-US" sz="1400" dirty="0">
                <a:solidFill>
                  <a:schemeClr val="tx1"/>
                </a:solidFill>
              </a:rPr>
              <a:t>Los macrófagos retiran el pus: células muertas y restos.</a:t>
            </a:r>
            <a:endParaRPr lang="en-US" sz="1400" dirty="0"/>
          </a:p>
        </p:txBody>
      </p:sp>
      <p:sp>
        <p:nvSpPr>
          <p:cNvPr id="28" name="Fila etapa 7"/>
          <p:cNvSpPr/>
          <p:nvPr/>
        </p:nvSpPr>
        <p:spPr>
          <a:xfrm>
            <a:off x="457200" y="3685032"/>
            <a:ext cx="8229600" cy="384048"/>
          </a:xfrm>
          <a:prstGeom prst="roundRect">
            <a:avLst>
              <a:gd name="adj" fmla="val 19048"/>
            </a:avLst>
          </a:prstGeom>
          <a:solidFill>
            <a:srgbClr val="FFFFFF"/>
          </a:solidFill>
          <a:ln/>
        </p:spPr>
      </p:sp>
      <p:sp>
        <p:nvSpPr>
          <p:cNvPr id="29" name="Insignia 7"/>
          <p:cNvSpPr txBox="1"/>
          <p:nvPr/>
        </p:nvSpPr>
        <p:spPr>
          <a:xfrm>
            <a:off x="530352" y="3721608"/>
            <a:ext cx="310896" cy="310896"/>
          </a:xfrm>
          <a:prstGeom prst="ellipse">
            <a:avLst/>
          </a:prstGeom>
          <a:solidFill>
            <a:srgbClr val="3E9E78"/>
          </a:solidFill>
          <a:ln/>
        </p:spPr>
        <p:txBody>
          <a:bodyPr wrap="square" lIns="0" tIns="0" rIns="0" bIns="0" rtlCol="0" anchor="ctr"/>
          <a:lstStyle/>
          <a:p>
            <a:pPr algn="ctr" indent="0" marL="0">
              <a:buNone/>
            </a:pPr>
            <a:r>
              <a:rPr lang="en-US" sz="1400" b="1" dirty="0">
                <a:solidFill>
                  <a:schemeClr val="bg1"/>
                </a:solidFill>
              </a:rPr>
              <a:t>7</a:t>
            </a:r>
            <a:endParaRPr lang="en-US" sz="1400" dirty="0"/>
          </a:p>
        </p:txBody>
      </p:sp>
      <p:sp>
        <p:nvSpPr>
          <p:cNvPr id="30" name="Text 27"/>
          <p:cNvSpPr txBox="1"/>
          <p:nvPr/>
        </p:nvSpPr>
        <p:spPr>
          <a:xfrm>
            <a:off x="960120" y="3685032"/>
            <a:ext cx="1737360" cy="384048"/>
          </a:xfrm>
          <a:prstGeom prst="rect">
            <a:avLst/>
          </a:prstGeom>
          <a:noFill/>
          <a:ln/>
        </p:spPr>
        <p:txBody>
          <a:bodyPr wrap="square" lIns="0" tIns="0" rIns="0" bIns="0" rtlCol="0" anchor="ctr"/>
          <a:lstStyle/>
          <a:p>
            <a:pPr indent="0" marL="0">
              <a:buNone/>
            </a:pPr>
            <a:r>
              <a:rPr lang="en-US" sz="1400" b="1" dirty="0">
                <a:solidFill>
                  <a:schemeClr val="tx1"/>
                </a:solidFill>
              </a:rPr>
              <a:t>Reparación</a:t>
            </a:r>
            <a:endParaRPr lang="en-US" sz="1400" dirty="0"/>
          </a:p>
        </p:txBody>
      </p:sp>
      <p:sp>
        <p:nvSpPr>
          <p:cNvPr id="31" name="Text 28"/>
          <p:cNvSpPr txBox="1"/>
          <p:nvPr/>
        </p:nvSpPr>
        <p:spPr>
          <a:xfrm>
            <a:off x="2697480" y="3685032"/>
            <a:ext cx="5897880" cy="384048"/>
          </a:xfrm>
          <a:prstGeom prst="rect">
            <a:avLst/>
          </a:prstGeom>
          <a:noFill/>
          <a:ln/>
        </p:spPr>
        <p:txBody>
          <a:bodyPr wrap="square" lIns="0" tIns="0" rIns="0" bIns="0" rtlCol="0" anchor="ctr"/>
          <a:lstStyle/>
          <a:p>
            <a:pPr indent="0" marL="0">
              <a:buNone/>
            </a:pPr>
            <a:r>
              <a:rPr lang="en-US" sz="1400" dirty="0">
                <a:solidFill>
                  <a:schemeClr val="tx1"/>
                </a:solidFill>
              </a:rPr>
              <a:t>Sin microbios, las señales se apagan y el tejido se repara.</a:t>
            </a:r>
            <a:endParaRPr lang="en-US" sz="1400" dirty="0"/>
          </a:p>
        </p:txBody>
      </p:sp>
      <p:sp>
        <p:nvSpPr>
          <p:cNvPr id="32" name="Shape 29"/>
          <p:cNvSpPr/>
          <p:nvPr/>
        </p:nvSpPr>
        <p:spPr>
          <a:xfrm>
            <a:off x="457200" y="4261104"/>
            <a:ext cx="182880" cy="182880"/>
          </a:xfrm>
          <a:prstGeom prst="ellipse">
            <a:avLst/>
          </a:prstGeom>
          <a:solidFill>
            <a:srgbClr val="7B68C8"/>
          </a:solidFill>
          <a:ln/>
        </p:spPr>
      </p:sp>
      <p:sp>
        <p:nvSpPr>
          <p:cNvPr id="33" name="Text 30"/>
          <p:cNvSpPr txBox="1"/>
          <p:nvPr/>
        </p:nvSpPr>
        <p:spPr>
          <a:xfrm>
            <a:off x="713232" y="4206240"/>
            <a:ext cx="2194560" cy="292608"/>
          </a:xfrm>
          <a:prstGeom prst="rect">
            <a:avLst/>
          </a:prstGeom>
          <a:noFill/>
          <a:ln/>
        </p:spPr>
        <p:txBody>
          <a:bodyPr wrap="square" lIns="0" tIns="0" rIns="0" bIns="0" rtlCol="0" anchor="ctr"/>
          <a:lstStyle/>
          <a:p>
            <a:pPr indent="0" marL="0">
              <a:buNone/>
            </a:pPr>
            <a:r>
              <a:rPr lang="en-US" sz="1400" dirty="0">
                <a:solidFill>
                  <a:schemeClr val="tx1"/>
                </a:solidFill>
              </a:rPr>
              <a:t>Avisar y abrir camino</a:t>
            </a:r>
            <a:endParaRPr lang="en-US" sz="1400" dirty="0"/>
          </a:p>
        </p:txBody>
      </p:sp>
      <p:sp>
        <p:nvSpPr>
          <p:cNvPr id="34" name="Shape 31"/>
          <p:cNvSpPr/>
          <p:nvPr/>
        </p:nvSpPr>
        <p:spPr>
          <a:xfrm>
            <a:off x="3291840" y="4261104"/>
            <a:ext cx="182880" cy="182880"/>
          </a:xfrm>
          <a:prstGeom prst="ellipse">
            <a:avLst/>
          </a:prstGeom>
          <a:solidFill>
            <a:srgbClr val="1E8A94"/>
          </a:solidFill>
          <a:ln/>
        </p:spPr>
      </p:sp>
      <p:sp>
        <p:nvSpPr>
          <p:cNvPr id="35" name="Text 32"/>
          <p:cNvSpPr txBox="1"/>
          <p:nvPr/>
        </p:nvSpPr>
        <p:spPr>
          <a:xfrm>
            <a:off x="3547872" y="4206240"/>
            <a:ext cx="2194560" cy="292608"/>
          </a:xfrm>
          <a:prstGeom prst="rect">
            <a:avLst/>
          </a:prstGeom>
          <a:noFill/>
          <a:ln/>
        </p:spPr>
        <p:txBody>
          <a:bodyPr wrap="square" lIns="0" tIns="0" rIns="0" bIns="0" rtlCol="0" anchor="ctr"/>
          <a:lstStyle/>
          <a:p>
            <a:pPr indent="0" marL="0">
              <a:buNone/>
            </a:pPr>
            <a:r>
              <a:rPr lang="en-US" sz="1400" dirty="0">
                <a:solidFill>
                  <a:schemeClr val="tx1"/>
                </a:solidFill>
              </a:rPr>
              <a:t>Combatir</a:t>
            </a:r>
            <a:endParaRPr lang="en-US" sz="1400" dirty="0"/>
          </a:p>
        </p:txBody>
      </p:sp>
      <p:sp>
        <p:nvSpPr>
          <p:cNvPr id="36" name="Shape 33"/>
          <p:cNvSpPr/>
          <p:nvPr/>
        </p:nvSpPr>
        <p:spPr>
          <a:xfrm>
            <a:off x="5120640" y="4261104"/>
            <a:ext cx="182880" cy="182880"/>
          </a:xfrm>
          <a:prstGeom prst="ellipse">
            <a:avLst/>
          </a:prstGeom>
          <a:solidFill>
            <a:srgbClr val="3E9E78"/>
          </a:solidFill>
          <a:ln/>
        </p:spPr>
      </p:sp>
      <p:sp>
        <p:nvSpPr>
          <p:cNvPr id="37" name="Text 34"/>
          <p:cNvSpPr txBox="1"/>
          <p:nvPr/>
        </p:nvSpPr>
        <p:spPr>
          <a:xfrm>
            <a:off x="5376672" y="4206240"/>
            <a:ext cx="2194560" cy="292608"/>
          </a:xfrm>
          <a:prstGeom prst="rect">
            <a:avLst/>
          </a:prstGeom>
          <a:noFill/>
          <a:ln/>
        </p:spPr>
        <p:txBody>
          <a:bodyPr wrap="square" lIns="0" tIns="0" rIns="0" bIns="0" rtlCol="0" anchor="ctr"/>
          <a:lstStyle/>
          <a:p>
            <a:pPr indent="0" marL="0">
              <a:buNone/>
            </a:pPr>
            <a:r>
              <a:rPr lang="en-US" sz="1400" dirty="0">
                <a:solidFill>
                  <a:schemeClr val="tx1"/>
                </a:solidFill>
              </a:rPr>
              <a:t>Limpiar y reparar</a:t>
            </a:r>
            <a:endParaRPr lang="en-US" sz="1400" dirty="0"/>
          </a:p>
        </p:txBody>
      </p:sp>
      <p:sp>
        <p:nvSpPr>
          <p:cNvPr id="25" name="Slide Number Placeholder 0"/>
          <p:cNvSpPr>
            <a:spLocks noGrp="1"/>
          </p:cNvSpPr>
          <p:nvPr>
            <p:ph type="sldNum" sz="quarter" idx="4294967295"/>
          </p:nvPr>
        </p:nvSpPr>
        <p:spPr>
          <a:xfrm>
            <a:off x="8138160" y="482803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Qué pasa dentro del tejido</a:t>
            </a:r>
            <a:endParaRPr lang="en-US" sz="2800" dirty="0"/>
          </a:p>
        </p:txBody>
      </p:sp>
      <p:sp>
        <p:nvSpPr>
          <p:cNvPr id="4" name="Tejido"/>
          <p:cNvSpPr/>
          <p:nvPr/>
        </p:nvSpPr>
        <p:spPr>
          <a:xfrm>
            <a:off x="457200" y="1417320"/>
            <a:ext cx="5212080" cy="2697480"/>
          </a:xfrm>
          <a:prstGeom prst="rect">
            <a:avLst/>
          </a:prstGeom>
          <a:solidFill>
            <a:srgbClr val="F4C7C1"/>
          </a:solidFill>
          <a:ln/>
        </p:spPr>
      </p:sp>
      <p:sp>
        <p:nvSpPr>
          <p:cNvPr id="5" name="Piel izquierda"/>
          <p:cNvSpPr/>
          <p:nvPr/>
        </p:nvSpPr>
        <p:spPr>
          <a:xfrm>
            <a:off x="457200" y="1097280"/>
            <a:ext cx="2011680" cy="320040"/>
          </a:xfrm>
          <a:prstGeom prst="rect">
            <a:avLst/>
          </a:prstGeom>
          <a:solidFill>
            <a:srgbClr val="E3B48E"/>
          </a:solidFill>
          <a:ln/>
        </p:spPr>
      </p:sp>
      <p:sp>
        <p:nvSpPr>
          <p:cNvPr id="6" name="Piel derecha"/>
          <p:cNvSpPr/>
          <p:nvPr/>
        </p:nvSpPr>
        <p:spPr>
          <a:xfrm>
            <a:off x="3474720" y="1097280"/>
            <a:ext cx="2194560" cy="320040"/>
          </a:xfrm>
          <a:prstGeom prst="rect">
            <a:avLst/>
          </a:prstGeom>
          <a:solidFill>
            <a:srgbClr val="E3B48E"/>
          </a:solidFill>
          <a:ln/>
        </p:spPr>
      </p:sp>
      <p:sp>
        <p:nvSpPr>
          <p:cNvPr id="7" name="Herida"/>
          <p:cNvSpPr/>
          <p:nvPr/>
        </p:nvSpPr>
        <p:spPr>
          <a:xfrm>
            <a:off x="2468880" y="1097280"/>
            <a:ext cx="1005840" cy="685800"/>
          </a:xfrm>
          <a:prstGeom prst="rect">
            <a:avLst/>
          </a:prstGeom>
          <a:solidFill>
            <a:srgbClr val="A63A3A"/>
          </a:solidFill>
          <a:ln/>
        </p:spPr>
      </p:sp>
      <p:sp>
        <p:nvSpPr>
          <p:cNvPr id="8" name="Capilar"/>
          <p:cNvSpPr/>
          <p:nvPr/>
        </p:nvSpPr>
        <p:spPr>
          <a:xfrm>
            <a:off x="457200" y="3429000"/>
            <a:ext cx="5212080" cy="548640"/>
          </a:xfrm>
          <a:prstGeom prst="rect">
            <a:avLst/>
          </a:prstGeom>
          <a:solidFill>
            <a:srgbClr val="D2504B"/>
          </a:solidFill>
          <a:ln w="25400">
            <a:solidFill>
              <a:srgbClr val="FFFFFF"/>
            </a:solidFill>
            <a:prstDash val="dash"/>
          </a:ln>
        </p:spPr>
      </p:sp>
      <p:sp>
        <p:nvSpPr>
          <p:cNvPr id="9" name="Shape 6"/>
          <p:cNvSpPr/>
          <p:nvPr/>
        </p:nvSpPr>
        <p:spPr>
          <a:xfrm>
            <a:off x="822960" y="3621024"/>
            <a:ext cx="256032" cy="164592"/>
          </a:xfrm>
          <a:prstGeom prst="ellipse">
            <a:avLst/>
          </a:prstGeom>
          <a:solidFill>
            <a:srgbClr val="8E2B2B"/>
          </a:solidFill>
          <a:ln/>
        </p:spPr>
      </p:sp>
      <p:sp>
        <p:nvSpPr>
          <p:cNvPr id="10" name="Shape 7"/>
          <p:cNvSpPr/>
          <p:nvPr/>
        </p:nvSpPr>
        <p:spPr>
          <a:xfrm>
            <a:off x="1554480" y="3621024"/>
            <a:ext cx="256032" cy="164592"/>
          </a:xfrm>
          <a:prstGeom prst="ellipse">
            <a:avLst/>
          </a:prstGeom>
          <a:solidFill>
            <a:srgbClr val="8E2B2B"/>
          </a:solidFill>
          <a:ln/>
        </p:spPr>
      </p:sp>
      <p:sp>
        <p:nvSpPr>
          <p:cNvPr id="11" name="Shape 8"/>
          <p:cNvSpPr/>
          <p:nvPr/>
        </p:nvSpPr>
        <p:spPr>
          <a:xfrm>
            <a:off x="4480560" y="3621024"/>
            <a:ext cx="256032" cy="164592"/>
          </a:xfrm>
          <a:prstGeom prst="ellipse">
            <a:avLst/>
          </a:prstGeom>
          <a:solidFill>
            <a:srgbClr val="8E2B2B"/>
          </a:solidFill>
          <a:ln/>
        </p:spPr>
      </p:sp>
      <p:sp>
        <p:nvSpPr>
          <p:cNvPr id="12" name="Shape 9"/>
          <p:cNvSpPr/>
          <p:nvPr/>
        </p:nvSpPr>
        <p:spPr>
          <a:xfrm>
            <a:off x="5120640" y="3621024"/>
            <a:ext cx="256032" cy="164592"/>
          </a:xfrm>
          <a:prstGeom prst="ellipse">
            <a:avLst/>
          </a:prstGeom>
          <a:solidFill>
            <a:srgbClr val="8E2B2B"/>
          </a:solidFill>
          <a:ln/>
        </p:spPr>
      </p:sp>
      <p:sp>
        <p:nvSpPr>
          <p:cNvPr id="13" name="Shape 10"/>
          <p:cNvSpPr/>
          <p:nvPr/>
        </p:nvSpPr>
        <p:spPr>
          <a:xfrm>
            <a:off x="2642616" y="1788566"/>
            <a:ext cx="201168" cy="80467"/>
          </a:xfrm>
          <a:prstGeom prst="roundRect">
            <a:avLst>
              <a:gd name="adj" fmla="val 50000"/>
            </a:avLst>
          </a:prstGeom>
          <a:solidFill>
            <a:srgbClr val="3E9E78"/>
          </a:solidFill>
          <a:ln/>
        </p:spPr>
      </p:sp>
      <p:sp>
        <p:nvSpPr>
          <p:cNvPr id="14" name="Shape 11"/>
          <p:cNvSpPr/>
          <p:nvPr/>
        </p:nvSpPr>
        <p:spPr>
          <a:xfrm>
            <a:off x="3008376" y="1605686"/>
            <a:ext cx="201168" cy="80467"/>
          </a:xfrm>
          <a:prstGeom prst="roundRect">
            <a:avLst>
              <a:gd name="adj" fmla="val 50000"/>
            </a:avLst>
          </a:prstGeom>
          <a:solidFill>
            <a:srgbClr val="3E9E78"/>
          </a:solidFill>
          <a:ln/>
        </p:spPr>
      </p:sp>
      <p:sp>
        <p:nvSpPr>
          <p:cNvPr id="15" name="Shape 12"/>
          <p:cNvSpPr/>
          <p:nvPr/>
        </p:nvSpPr>
        <p:spPr>
          <a:xfrm>
            <a:off x="2825496" y="2062886"/>
            <a:ext cx="201168" cy="80467"/>
          </a:xfrm>
          <a:prstGeom prst="roundRect">
            <a:avLst>
              <a:gd name="adj" fmla="val 50000"/>
            </a:avLst>
          </a:prstGeom>
          <a:solidFill>
            <a:srgbClr val="3E9E78"/>
          </a:solidFill>
          <a:ln/>
        </p:spPr>
      </p:sp>
      <p:sp>
        <p:nvSpPr>
          <p:cNvPr id="16" name="Shape 13"/>
          <p:cNvSpPr/>
          <p:nvPr/>
        </p:nvSpPr>
        <p:spPr>
          <a:xfrm>
            <a:off x="3191256" y="1971446"/>
            <a:ext cx="201168" cy="80467"/>
          </a:xfrm>
          <a:prstGeom prst="roundRect">
            <a:avLst>
              <a:gd name="adj" fmla="val 50000"/>
            </a:avLst>
          </a:prstGeom>
          <a:solidFill>
            <a:srgbClr val="3E9E78"/>
          </a:solidFill>
          <a:ln/>
        </p:spPr>
      </p:sp>
      <p:sp>
        <p:nvSpPr>
          <p:cNvPr id="17" name="Shape 14"/>
          <p:cNvSpPr/>
          <p:nvPr/>
        </p:nvSpPr>
        <p:spPr>
          <a:xfrm>
            <a:off x="1335024" y="2020824"/>
            <a:ext cx="438912" cy="438912"/>
          </a:xfrm>
          <a:prstGeom prst="ellipse">
            <a:avLst/>
          </a:prstGeom>
          <a:solidFill>
            <a:srgbClr val="E0A020"/>
          </a:solidFill>
          <a:ln/>
        </p:spPr>
      </p:sp>
      <p:sp>
        <p:nvSpPr>
          <p:cNvPr id="18" name="Shape 15"/>
          <p:cNvSpPr/>
          <p:nvPr/>
        </p:nvSpPr>
        <p:spPr>
          <a:xfrm>
            <a:off x="1664208" y="2009851"/>
            <a:ext cx="197510" cy="197510"/>
          </a:xfrm>
          <a:prstGeom prst="ellipse">
            <a:avLst/>
          </a:prstGeom>
          <a:solidFill>
            <a:srgbClr val="E0A020"/>
          </a:solidFill>
          <a:ln/>
        </p:spPr>
      </p:sp>
      <p:sp>
        <p:nvSpPr>
          <p:cNvPr id="19" name="Shape 16"/>
          <p:cNvSpPr/>
          <p:nvPr/>
        </p:nvSpPr>
        <p:spPr>
          <a:xfrm>
            <a:off x="1455725" y="2174443"/>
            <a:ext cx="153619" cy="153619"/>
          </a:xfrm>
          <a:prstGeom prst="ellipse">
            <a:avLst/>
          </a:prstGeom>
          <a:solidFill>
            <a:srgbClr val="A8700A"/>
          </a:solidFill>
          <a:ln/>
        </p:spPr>
      </p:sp>
      <p:sp>
        <p:nvSpPr>
          <p:cNvPr id="20" name="Shape 17"/>
          <p:cNvSpPr/>
          <p:nvPr/>
        </p:nvSpPr>
        <p:spPr>
          <a:xfrm>
            <a:off x="4261104" y="1929384"/>
            <a:ext cx="438912" cy="438912"/>
          </a:xfrm>
          <a:prstGeom prst="ellipse">
            <a:avLst/>
          </a:prstGeom>
          <a:solidFill>
            <a:srgbClr val="E0A020"/>
          </a:solidFill>
          <a:ln/>
        </p:spPr>
      </p:sp>
      <p:sp>
        <p:nvSpPr>
          <p:cNvPr id="21" name="Shape 18"/>
          <p:cNvSpPr/>
          <p:nvPr/>
        </p:nvSpPr>
        <p:spPr>
          <a:xfrm>
            <a:off x="4590288" y="1918411"/>
            <a:ext cx="197510" cy="197510"/>
          </a:xfrm>
          <a:prstGeom prst="ellipse">
            <a:avLst/>
          </a:prstGeom>
          <a:solidFill>
            <a:srgbClr val="E0A020"/>
          </a:solidFill>
          <a:ln/>
        </p:spPr>
      </p:sp>
      <p:sp>
        <p:nvSpPr>
          <p:cNvPr id="22" name="Shape 19"/>
          <p:cNvSpPr/>
          <p:nvPr/>
        </p:nvSpPr>
        <p:spPr>
          <a:xfrm>
            <a:off x="4381805" y="2083003"/>
            <a:ext cx="153619" cy="153619"/>
          </a:xfrm>
          <a:prstGeom prst="ellipse">
            <a:avLst/>
          </a:prstGeom>
          <a:solidFill>
            <a:srgbClr val="A8700A"/>
          </a:solidFill>
          <a:ln/>
        </p:spPr>
      </p:sp>
      <p:sp>
        <p:nvSpPr>
          <p:cNvPr id="23" name="Shape 20"/>
          <p:cNvSpPr/>
          <p:nvPr/>
        </p:nvSpPr>
        <p:spPr>
          <a:xfrm>
            <a:off x="2441448" y="2350008"/>
            <a:ext cx="237744" cy="237744"/>
          </a:xfrm>
          <a:prstGeom prst="ellipse">
            <a:avLst/>
          </a:prstGeom>
          <a:solidFill>
            <a:srgbClr val="FFFFFF"/>
          </a:solidFill>
          <a:ln w="19050">
            <a:solidFill>
              <a:srgbClr val="7B68C8"/>
            </a:solidFill>
            <a:prstDash val="solid"/>
          </a:ln>
        </p:spPr>
      </p:sp>
      <p:sp>
        <p:nvSpPr>
          <p:cNvPr id="24" name="Shape 21"/>
          <p:cNvSpPr/>
          <p:nvPr/>
        </p:nvSpPr>
        <p:spPr>
          <a:xfrm>
            <a:off x="2474732" y="2454615"/>
            <a:ext cx="52304" cy="52304"/>
          </a:xfrm>
          <a:prstGeom prst="ellipse">
            <a:avLst/>
          </a:prstGeom>
          <a:solidFill>
            <a:srgbClr val="7B68C8"/>
          </a:solidFill>
          <a:ln/>
        </p:spPr>
      </p:sp>
      <p:sp>
        <p:nvSpPr>
          <p:cNvPr id="25" name="Shape 22"/>
          <p:cNvSpPr/>
          <p:nvPr/>
        </p:nvSpPr>
        <p:spPr>
          <a:xfrm>
            <a:off x="2528225" y="2413010"/>
            <a:ext cx="52304" cy="52304"/>
          </a:xfrm>
          <a:prstGeom prst="ellipse">
            <a:avLst/>
          </a:prstGeom>
          <a:solidFill>
            <a:srgbClr val="7B68C8"/>
          </a:solidFill>
          <a:ln/>
        </p:spPr>
      </p:sp>
      <p:sp>
        <p:nvSpPr>
          <p:cNvPr id="26" name="Shape 23"/>
          <p:cNvSpPr/>
          <p:nvPr/>
        </p:nvSpPr>
        <p:spPr>
          <a:xfrm>
            <a:off x="2581717" y="2454615"/>
            <a:ext cx="52304" cy="52304"/>
          </a:xfrm>
          <a:prstGeom prst="ellipse">
            <a:avLst/>
          </a:prstGeom>
          <a:solidFill>
            <a:srgbClr val="7B68C8"/>
          </a:solidFill>
          <a:ln/>
        </p:spPr>
      </p:sp>
      <p:sp>
        <p:nvSpPr>
          <p:cNvPr id="27" name="Shape 24"/>
          <p:cNvSpPr/>
          <p:nvPr/>
        </p:nvSpPr>
        <p:spPr>
          <a:xfrm>
            <a:off x="2898648" y="2532888"/>
            <a:ext cx="237744" cy="237744"/>
          </a:xfrm>
          <a:prstGeom prst="ellipse">
            <a:avLst/>
          </a:prstGeom>
          <a:solidFill>
            <a:srgbClr val="FFFFFF"/>
          </a:solidFill>
          <a:ln w="19050">
            <a:solidFill>
              <a:srgbClr val="7B68C8"/>
            </a:solidFill>
            <a:prstDash val="solid"/>
          </a:ln>
        </p:spPr>
      </p:sp>
      <p:sp>
        <p:nvSpPr>
          <p:cNvPr id="28" name="Shape 25"/>
          <p:cNvSpPr/>
          <p:nvPr/>
        </p:nvSpPr>
        <p:spPr>
          <a:xfrm>
            <a:off x="2931932" y="2637495"/>
            <a:ext cx="52304" cy="52304"/>
          </a:xfrm>
          <a:prstGeom prst="ellipse">
            <a:avLst/>
          </a:prstGeom>
          <a:solidFill>
            <a:srgbClr val="7B68C8"/>
          </a:solidFill>
          <a:ln/>
        </p:spPr>
      </p:sp>
      <p:sp>
        <p:nvSpPr>
          <p:cNvPr id="29" name="Shape 26"/>
          <p:cNvSpPr/>
          <p:nvPr/>
        </p:nvSpPr>
        <p:spPr>
          <a:xfrm>
            <a:off x="2985425" y="2595890"/>
            <a:ext cx="52304" cy="52304"/>
          </a:xfrm>
          <a:prstGeom prst="ellipse">
            <a:avLst/>
          </a:prstGeom>
          <a:solidFill>
            <a:srgbClr val="7B68C8"/>
          </a:solidFill>
          <a:ln/>
        </p:spPr>
      </p:sp>
      <p:sp>
        <p:nvSpPr>
          <p:cNvPr id="30" name="Shape 27"/>
          <p:cNvSpPr/>
          <p:nvPr/>
        </p:nvSpPr>
        <p:spPr>
          <a:xfrm>
            <a:off x="3038917" y="2637495"/>
            <a:ext cx="52304" cy="52304"/>
          </a:xfrm>
          <a:prstGeom prst="ellipse">
            <a:avLst/>
          </a:prstGeom>
          <a:solidFill>
            <a:srgbClr val="7B68C8"/>
          </a:solidFill>
          <a:ln/>
        </p:spPr>
      </p:sp>
      <p:sp>
        <p:nvSpPr>
          <p:cNvPr id="31" name="Shape 28"/>
          <p:cNvSpPr/>
          <p:nvPr/>
        </p:nvSpPr>
        <p:spPr>
          <a:xfrm>
            <a:off x="3355848" y="2258568"/>
            <a:ext cx="237744" cy="237744"/>
          </a:xfrm>
          <a:prstGeom prst="ellipse">
            <a:avLst/>
          </a:prstGeom>
          <a:solidFill>
            <a:srgbClr val="FFFFFF"/>
          </a:solidFill>
          <a:ln w="19050">
            <a:solidFill>
              <a:srgbClr val="7B68C8"/>
            </a:solidFill>
            <a:prstDash val="solid"/>
          </a:ln>
        </p:spPr>
      </p:sp>
      <p:sp>
        <p:nvSpPr>
          <p:cNvPr id="32" name="Shape 29"/>
          <p:cNvSpPr/>
          <p:nvPr/>
        </p:nvSpPr>
        <p:spPr>
          <a:xfrm>
            <a:off x="3389132" y="2363175"/>
            <a:ext cx="52304" cy="52304"/>
          </a:xfrm>
          <a:prstGeom prst="ellipse">
            <a:avLst/>
          </a:prstGeom>
          <a:solidFill>
            <a:srgbClr val="7B68C8"/>
          </a:solidFill>
          <a:ln/>
        </p:spPr>
      </p:sp>
      <p:sp>
        <p:nvSpPr>
          <p:cNvPr id="33" name="Shape 30"/>
          <p:cNvSpPr/>
          <p:nvPr/>
        </p:nvSpPr>
        <p:spPr>
          <a:xfrm>
            <a:off x="3442625" y="2321570"/>
            <a:ext cx="52304" cy="52304"/>
          </a:xfrm>
          <a:prstGeom prst="ellipse">
            <a:avLst/>
          </a:prstGeom>
          <a:solidFill>
            <a:srgbClr val="7B68C8"/>
          </a:solidFill>
          <a:ln/>
        </p:spPr>
      </p:sp>
      <p:sp>
        <p:nvSpPr>
          <p:cNvPr id="34" name="Shape 31"/>
          <p:cNvSpPr/>
          <p:nvPr/>
        </p:nvSpPr>
        <p:spPr>
          <a:xfrm>
            <a:off x="3496117" y="2363175"/>
            <a:ext cx="52304" cy="52304"/>
          </a:xfrm>
          <a:prstGeom prst="ellipse">
            <a:avLst/>
          </a:prstGeom>
          <a:solidFill>
            <a:srgbClr val="7B68C8"/>
          </a:solidFill>
          <a:ln/>
        </p:spPr>
      </p:sp>
      <p:sp>
        <p:nvSpPr>
          <p:cNvPr id="35" name="Shape 32"/>
          <p:cNvSpPr/>
          <p:nvPr/>
        </p:nvSpPr>
        <p:spPr>
          <a:xfrm>
            <a:off x="2532888" y="3172968"/>
            <a:ext cx="237744" cy="237744"/>
          </a:xfrm>
          <a:prstGeom prst="ellipse">
            <a:avLst/>
          </a:prstGeom>
          <a:solidFill>
            <a:srgbClr val="FFFFFF"/>
          </a:solidFill>
          <a:ln w="19050">
            <a:solidFill>
              <a:srgbClr val="7B68C8"/>
            </a:solidFill>
            <a:prstDash val="solid"/>
          </a:ln>
        </p:spPr>
      </p:sp>
      <p:sp>
        <p:nvSpPr>
          <p:cNvPr id="36" name="Shape 33"/>
          <p:cNvSpPr/>
          <p:nvPr/>
        </p:nvSpPr>
        <p:spPr>
          <a:xfrm>
            <a:off x="2566172" y="3277575"/>
            <a:ext cx="52304" cy="52304"/>
          </a:xfrm>
          <a:prstGeom prst="ellipse">
            <a:avLst/>
          </a:prstGeom>
          <a:solidFill>
            <a:srgbClr val="7B68C8"/>
          </a:solidFill>
          <a:ln/>
        </p:spPr>
      </p:sp>
      <p:sp>
        <p:nvSpPr>
          <p:cNvPr id="37" name="Shape 34"/>
          <p:cNvSpPr/>
          <p:nvPr/>
        </p:nvSpPr>
        <p:spPr>
          <a:xfrm>
            <a:off x="2619665" y="3235970"/>
            <a:ext cx="52304" cy="52304"/>
          </a:xfrm>
          <a:prstGeom prst="ellipse">
            <a:avLst/>
          </a:prstGeom>
          <a:solidFill>
            <a:srgbClr val="7B68C8"/>
          </a:solidFill>
          <a:ln/>
        </p:spPr>
      </p:sp>
      <p:sp>
        <p:nvSpPr>
          <p:cNvPr id="38" name="Shape 35"/>
          <p:cNvSpPr/>
          <p:nvPr/>
        </p:nvSpPr>
        <p:spPr>
          <a:xfrm>
            <a:off x="2673157" y="3277575"/>
            <a:ext cx="52304" cy="52304"/>
          </a:xfrm>
          <a:prstGeom prst="ellipse">
            <a:avLst/>
          </a:prstGeom>
          <a:solidFill>
            <a:srgbClr val="7B68C8"/>
          </a:solidFill>
          <a:ln/>
        </p:spPr>
      </p:sp>
      <p:sp>
        <p:nvSpPr>
          <p:cNvPr id="39" name="Shape 36"/>
          <p:cNvSpPr/>
          <p:nvPr/>
        </p:nvSpPr>
        <p:spPr>
          <a:xfrm>
            <a:off x="1892808" y="3584448"/>
            <a:ext cx="237744" cy="237744"/>
          </a:xfrm>
          <a:prstGeom prst="ellipse">
            <a:avLst/>
          </a:prstGeom>
          <a:solidFill>
            <a:srgbClr val="FFFFFF"/>
          </a:solidFill>
          <a:ln w="19050">
            <a:solidFill>
              <a:srgbClr val="7B68C8"/>
            </a:solidFill>
            <a:prstDash val="solid"/>
          </a:ln>
        </p:spPr>
      </p:sp>
      <p:sp>
        <p:nvSpPr>
          <p:cNvPr id="40" name="Shape 37"/>
          <p:cNvSpPr/>
          <p:nvPr/>
        </p:nvSpPr>
        <p:spPr>
          <a:xfrm>
            <a:off x="1926092" y="3689055"/>
            <a:ext cx="52304" cy="52304"/>
          </a:xfrm>
          <a:prstGeom prst="ellipse">
            <a:avLst/>
          </a:prstGeom>
          <a:solidFill>
            <a:srgbClr val="7B68C8"/>
          </a:solidFill>
          <a:ln/>
        </p:spPr>
      </p:sp>
      <p:sp>
        <p:nvSpPr>
          <p:cNvPr id="41" name="Shape 38"/>
          <p:cNvSpPr/>
          <p:nvPr/>
        </p:nvSpPr>
        <p:spPr>
          <a:xfrm>
            <a:off x="1979585" y="3647450"/>
            <a:ext cx="52304" cy="52304"/>
          </a:xfrm>
          <a:prstGeom prst="ellipse">
            <a:avLst/>
          </a:prstGeom>
          <a:solidFill>
            <a:srgbClr val="7B68C8"/>
          </a:solidFill>
          <a:ln/>
        </p:spPr>
      </p:sp>
      <p:sp>
        <p:nvSpPr>
          <p:cNvPr id="42" name="Shape 39"/>
          <p:cNvSpPr/>
          <p:nvPr/>
        </p:nvSpPr>
        <p:spPr>
          <a:xfrm>
            <a:off x="2033077" y="3689055"/>
            <a:ext cx="52304" cy="52304"/>
          </a:xfrm>
          <a:prstGeom prst="ellipse">
            <a:avLst/>
          </a:prstGeom>
          <a:solidFill>
            <a:srgbClr val="7B68C8"/>
          </a:solidFill>
          <a:ln/>
        </p:spPr>
      </p:sp>
      <p:sp>
        <p:nvSpPr>
          <p:cNvPr id="43" name="Shape 40"/>
          <p:cNvSpPr/>
          <p:nvPr/>
        </p:nvSpPr>
        <p:spPr>
          <a:xfrm>
            <a:off x="3447288" y="3584448"/>
            <a:ext cx="237744" cy="237744"/>
          </a:xfrm>
          <a:prstGeom prst="ellipse">
            <a:avLst/>
          </a:prstGeom>
          <a:solidFill>
            <a:srgbClr val="FFFFFF"/>
          </a:solidFill>
          <a:ln w="19050">
            <a:solidFill>
              <a:srgbClr val="7B68C8"/>
            </a:solidFill>
            <a:prstDash val="solid"/>
          </a:ln>
        </p:spPr>
      </p:sp>
      <p:sp>
        <p:nvSpPr>
          <p:cNvPr id="44" name="Shape 41"/>
          <p:cNvSpPr/>
          <p:nvPr/>
        </p:nvSpPr>
        <p:spPr>
          <a:xfrm>
            <a:off x="3480572" y="3689055"/>
            <a:ext cx="52304" cy="52304"/>
          </a:xfrm>
          <a:prstGeom prst="ellipse">
            <a:avLst/>
          </a:prstGeom>
          <a:solidFill>
            <a:srgbClr val="7B68C8"/>
          </a:solidFill>
          <a:ln/>
        </p:spPr>
      </p:sp>
      <p:sp>
        <p:nvSpPr>
          <p:cNvPr id="45" name="Shape 42"/>
          <p:cNvSpPr/>
          <p:nvPr/>
        </p:nvSpPr>
        <p:spPr>
          <a:xfrm>
            <a:off x="3534065" y="3647450"/>
            <a:ext cx="52304" cy="52304"/>
          </a:xfrm>
          <a:prstGeom prst="ellipse">
            <a:avLst/>
          </a:prstGeom>
          <a:solidFill>
            <a:srgbClr val="7B68C8"/>
          </a:solidFill>
          <a:ln/>
        </p:spPr>
      </p:sp>
      <p:sp>
        <p:nvSpPr>
          <p:cNvPr id="46" name="Shape 43"/>
          <p:cNvSpPr/>
          <p:nvPr/>
        </p:nvSpPr>
        <p:spPr>
          <a:xfrm>
            <a:off x="3587557" y="3689055"/>
            <a:ext cx="52304" cy="52304"/>
          </a:xfrm>
          <a:prstGeom prst="ellipse">
            <a:avLst/>
          </a:prstGeom>
          <a:solidFill>
            <a:srgbClr val="7B68C8"/>
          </a:solidFill>
          <a:ln/>
        </p:spPr>
      </p:sp>
      <p:sp>
        <p:nvSpPr>
          <p:cNvPr id="47" name="Shape 44"/>
          <p:cNvSpPr/>
          <p:nvPr/>
        </p:nvSpPr>
        <p:spPr>
          <a:xfrm>
            <a:off x="2286000" y="2103120"/>
            <a:ext cx="64008" cy="64008"/>
          </a:xfrm>
          <a:prstGeom prst="ellipse">
            <a:avLst/>
          </a:prstGeom>
          <a:solidFill>
            <a:srgbClr val="7B68C8"/>
          </a:solidFill>
          <a:ln/>
        </p:spPr>
      </p:sp>
      <p:sp>
        <p:nvSpPr>
          <p:cNvPr id="48" name="Shape 45"/>
          <p:cNvSpPr/>
          <p:nvPr/>
        </p:nvSpPr>
        <p:spPr>
          <a:xfrm>
            <a:off x="3566160" y="2194560"/>
            <a:ext cx="64008" cy="64008"/>
          </a:xfrm>
          <a:prstGeom prst="ellipse">
            <a:avLst/>
          </a:prstGeom>
          <a:solidFill>
            <a:srgbClr val="7B68C8"/>
          </a:solidFill>
          <a:ln/>
        </p:spPr>
      </p:sp>
      <p:sp>
        <p:nvSpPr>
          <p:cNvPr id="49" name="Shape 46"/>
          <p:cNvSpPr/>
          <p:nvPr/>
        </p:nvSpPr>
        <p:spPr>
          <a:xfrm>
            <a:off x="2377440" y="2834640"/>
            <a:ext cx="64008" cy="64008"/>
          </a:xfrm>
          <a:prstGeom prst="ellipse">
            <a:avLst/>
          </a:prstGeom>
          <a:solidFill>
            <a:srgbClr val="7B68C8"/>
          </a:solidFill>
          <a:ln/>
        </p:spPr>
      </p:sp>
      <p:sp>
        <p:nvSpPr>
          <p:cNvPr id="50" name="Shape 47"/>
          <p:cNvSpPr/>
          <p:nvPr/>
        </p:nvSpPr>
        <p:spPr>
          <a:xfrm>
            <a:off x="3383280" y="2926080"/>
            <a:ext cx="64008" cy="64008"/>
          </a:xfrm>
          <a:prstGeom prst="ellipse">
            <a:avLst/>
          </a:prstGeom>
          <a:solidFill>
            <a:srgbClr val="7B68C8"/>
          </a:solidFill>
          <a:ln/>
        </p:spPr>
      </p:sp>
      <p:sp>
        <p:nvSpPr>
          <p:cNvPr id="51" name="Shape 48"/>
          <p:cNvSpPr/>
          <p:nvPr/>
        </p:nvSpPr>
        <p:spPr>
          <a:xfrm>
            <a:off x="2834640" y="3108960"/>
            <a:ext cx="64008" cy="64008"/>
          </a:xfrm>
          <a:prstGeom prst="ellipse">
            <a:avLst/>
          </a:prstGeom>
          <a:solidFill>
            <a:srgbClr val="7B68C8"/>
          </a:solidFill>
          <a:ln/>
        </p:spPr>
      </p:sp>
      <p:sp>
        <p:nvSpPr>
          <p:cNvPr id="52" name="Insignia 1"/>
          <p:cNvSpPr txBox="1"/>
          <p:nvPr/>
        </p:nvSpPr>
        <p:spPr>
          <a:xfrm>
            <a:off x="1143000" y="1920240"/>
            <a:ext cx="292608" cy="292608"/>
          </a:xfrm>
          <a:prstGeom prst="ellipse">
            <a:avLst/>
          </a:prstGeom>
          <a:solidFill>
            <a:srgbClr val="7B68C8"/>
          </a:solid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53" name="Insignia 2"/>
          <p:cNvSpPr txBox="1"/>
          <p:nvPr/>
        </p:nvSpPr>
        <p:spPr>
          <a:xfrm>
            <a:off x="914400" y="3017520"/>
            <a:ext cx="292608" cy="292608"/>
          </a:xfrm>
          <a:prstGeom prst="ellipse">
            <a:avLst/>
          </a:prstGeom>
          <a:solidFill>
            <a:srgbClr val="1E8A94"/>
          </a:solid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54" name="Insignia 3"/>
          <p:cNvSpPr txBox="1"/>
          <p:nvPr/>
        </p:nvSpPr>
        <p:spPr>
          <a:xfrm>
            <a:off x="2880360" y="3090672"/>
            <a:ext cx="292608" cy="292608"/>
          </a:xfrm>
          <a:prstGeom prst="ellipse">
            <a:avLst/>
          </a:prstGeom>
          <a:solidFill>
            <a:srgbClr val="1E8A94"/>
          </a:solid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55" name="Insignia 4"/>
          <p:cNvSpPr txBox="1"/>
          <p:nvPr/>
        </p:nvSpPr>
        <p:spPr>
          <a:xfrm>
            <a:off x="2240280" y="2834640"/>
            <a:ext cx="292608" cy="292608"/>
          </a:xfrm>
          <a:prstGeom prst="ellipse">
            <a:avLst/>
          </a:prstGeom>
          <a:solidFill>
            <a:srgbClr val="1E8A94"/>
          </a:solid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56" name="Insignia 5"/>
          <p:cNvSpPr txBox="1"/>
          <p:nvPr/>
        </p:nvSpPr>
        <p:spPr>
          <a:xfrm>
            <a:off x="3886200" y="1783080"/>
            <a:ext cx="292608" cy="292608"/>
          </a:xfrm>
          <a:prstGeom prst="ellipse">
            <a:avLst/>
          </a:prstGeom>
          <a:solidFill>
            <a:srgbClr val="3E9E78"/>
          </a:solid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57" name="Text 54"/>
          <p:cNvSpPr txBox="1"/>
          <p:nvPr/>
        </p:nvSpPr>
        <p:spPr>
          <a:xfrm>
            <a:off x="502920" y="1097280"/>
            <a:ext cx="914400" cy="320040"/>
          </a:xfrm>
          <a:prstGeom prst="rect">
            <a:avLst/>
          </a:prstGeom>
          <a:noFill/>
          <a:ln/>
        </p:spPr>
        <p:txBody>
          <a:bodyPr wrap="square" lIns="0" tIns="0" rIns="0" bIns="0" rtlCol="0" anchor="ctr"/>
          <a:lstStyle/>
          <a:p>
            <a:pPr indent="0" marL="0">
              <a:buNone/>
            </a:pPr>
            <a:r>
              <a:rPr lang="en-US" sz="1000" b="1" dirty="0">
                <a:solidFill>
                  <a:schemeClr val="tx1"/>
                </a:solidFill>
              </a:rPr>
              <a:t>Piel</a:t>
            </a:r>
            <a:endParaRPr lang="en-US" sz="1000" dirty="0"/>
          </a:p>
        </p:txBody>
      </p:sp>
      <p:sp>
        <p:nvSpPr>
          <p:cNvPr id="58" name="Text 55"/>
          <p:cNvSpPr txBox="1"/>
          <p:nvPr/>
        </p:nvSpPr>
        <p:spPr>
          <a:xfrm>
            <a:off x="2514600" y="1097280"/>
            <a:ext cx="914400" cy="274320"/>
          </a:xfrm>
          <a:prstGeom prst="rect">
            <a:avLst/>
          </a:prstGeom>
          <a:noFill/>
          <a:ln/>
        </p:spPr>
        <p:txBody>
          <a:bodyPr wrap="square" lIns="0" tIns="0" rIns="0" bIns="0" rtlCol="0" anchor="ctr"/>
          <a:lstStyle/>
          <a:p>
            <a:pPr algn="ctr" indent="0" marL="0">
              <a:buNone/>
            </a:pPr>
            <a:r>
              <a:rPr lang="en-US" sz="1000" b="1" dirty="0">
                <a:solidFill>
                  <a:schemeClr val="bg1"/>
                </a:solidFill>
              </a:rPr>
              <a:t>Herida</a:t>
            </a:r>
            <a:endParaRPr lang="en-US" sz="1000" dirty="0"/>
          </a:p>
        </p:txBody>
      </p:sp>
      <p:sp>
        <p:nvSpPr>
          <p:cNvPr id="59" name="Text 56"/>
          <p:cNvSpPr txBox="1"/>
          <p:nvPr/>
        </p:nvSpPr>
        <p:spPr>
          <a:xfrm>
            <a:off x="3657600" y="3822192"/>
            <a:ext cx="1737360" cy="228600"/>
          </a:xfrm>
          <a:prstGeom prst="rect">
            <a:avLst/>
          </a:prstGeom>
          <a:noFill/>
          <a:ln/>
        </p:spPr>
        <p:txBody>
          <a:bodyPr wrap="square" lIns="0" tIns="0" rIns="0" bIns="0" rtlCol="0" anchor="ctr"/>
          <a:lstStyle/>
          <a:p>
            <a:pPr algn="r" indent="0" marL="0">
              <a:buNone/>
            </a:pPr>
            <a:r>
              <a:rPr lang="en-US" sz="1000" b="1" dirty="0">
                <a:solidFill>
                  <a:schemeClr val="bg1"/>
                </a:solidFill>
              </a:rPr>
              <a:t>Capilar sanguíneo</a:t>
            </a:r>
            <a:endParaRPr lang="en-US" sz="1000" dirty="0"/>
          </a:p>
        </p:txBody>
      </p:sp>
      <p:sp>
        <p:nvSpPr>
          <p:cNvPr id="60" name="Leyenda 1"/>
          <p:cNvSpPr/>
          <p:nvPr/>
        </p:nvSpPr>
        <p:spPr>
          <a:xfrm>
            <a:off x="5943600" y="1097280"/>
            <a:ext cx="2743200" cy="512064"/>
          </a:xfrm>
          <a:prstGeom prst="roundRect">
            <a:avLst>
              <a:gd name="adj" fmla="val 21429"/>
            </a:avLst>
          </a:prstGeom>
          <a:solidFill>
            <a:srgbClr val="FFFFFF"/>
          </a:solidFill>
          <a:ln/>
          <a:effectLst>
            <a:outerShdw sx="100000" sy="100000" kx="0" ky="0" algn="bl" rotWithShape="0" blurRad="76200" dist="25400" dir="5400000">
              <a:srgbClr val="1D3B4F">
                <a:alpha val="12000"/>
              </a:srgbClr>
            </a:outerShdw>
          </a:effectLst>
        </p:spPr>
      </p:sp>
      <p:sp>
        <p:nvSpPr>
          <p:cNvPr id="61" name="Insignia 1"/>
          <p:cNvSpPr txBox="1"/>
          <p:nvPr/>
        </p:nvSpPr>
        <p:spPr>
          <a:xfrm>
            <a:off x="6035040" y="1188720"/>
            <a:ext cx="329184" cy="329184"/>
          </a:xfrm>
          <a:prstGeom prst="ellipse">
            <a:avLst/>
          </a:prstGeom>
          <a:solidFill>
            <a:srgbClr val="7B68C8"/>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2" name="Text 59"/>
          <p:cNvSpPr txBox="1"/>
          <p:nvPr/>
        </p:nvSpPr>
        <p:spPr>
          <a:xfrm>
            <a:off x="6492240" y="1097280"/>
            <a:ext cx="2148840" cy="512064"/>
          </a:xfrm>
          <a:prstGeom prst="rect">
            <a:avLst/>
          </a:prstGeom>
          <a:noFill/>
          <a:ln/>
        </p:spPr>
        <p:txBody>
          <a:bodyPr wrap="square" lIns="0" tIns="0" rIns="0" bIns="0" rtlCol="0" anchor="ctr"/>
          <a:lstStyle/>
          <a:p>
            <a:pPr indent="0" marL="0">
              <a:buNone/>
            </a:pPr>
            <a:r>
              <a:rPr lang="en-US" sz="1400" b="1" dirty="0">
                <a:solidFill>
                  <a:schemeClr val="tx1"/>
                </a:solidFill>
              </a:rPr>
              <a:t>Alarma</a:t>
            </a:r>
            <a:endParaRPr lang="en-US" sz="1400" dirty="0"/>
          </a:p>
          <a:p>
            <a:pPr indent="0" marL="0">
              <a:buNone/>
            </a:pPr>
            <a:r>
              <a:rPr lang="en-US" sz="1400" dirty="0">
                <a:solidFill>
                  <a:srgbClr val="5F7A89"/>
                </a:solidFill>
              </a:rPr>
              <a:t>histamina en el tejido</a:t>
            </a:r>
            <a:endParaRPr lang="en-US" sz="1400" dirty="0"/>
          </a:p>
        </p:txBody>
      </p:sp>
      <p:sp>
        <p:nvSpPr>
          <p:cNvPr id="63" name="Leyenda 2"/>
          <p:cNvSpPr/>
          <p:nvPr/>
        </p:nvSpPr>
        <p:spPr>
          <a:xfrm>
            <a:off x="5943600" y="1700784"/>
            <a:ext cx="2743200" cy="512064"/>
          </a:xfrm>
          <a:prstGeom prst="roundRect">
            <a:avLst>
              <a:gd name="adj" fmla="val 21429"/>
            </a:avLst>
          </a:prstGeom>
          <a:solidFill>
            <a:srgbClr val="FFFFFF"/>
          </a:solidFill>
          <a:ln/>
          <a:effectLst>
            <a:outerShdw sx="100000" sy="100000" kx="0" ky="0" algn="bl" rotWithShape="0" blurRad="76200" dist="25400" dir="5400000">
              <a:srgbClr val="1D3B4F">
                <a:alpha val="12000"/>
              </a:srgbClr>
            </a:outerShdw>
          </a:effectLst>
        </p:spPr>
      </p:sp>
      <p:sp>
        <p:nvSpPr>
          <p:cNvPr id="64" name="Insignia 2"/>
          <p:cNvSpPr txBox="1"/>
          <p:nvPr/>
        </p:nvSpPr>
        <p:spPr>
          <a:xfrm>
            <a:off x="6035040" y="1792224"/>
            <a:ext cx="329184" cy="329184"/>
          </a:xfrm>
          <a:prstGeom prst="ellipse">
            <a:avLst/>
          </a:prstGeom>
          <a:solidFill>
            <a:srgbClr val="1E8A94"/>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65" name="Text 62"/>
          <p:cNvSpPr txBox="1"/>
          <p:nvPr/>
        </p:nvSpPr>
        <p:spPr>
          <a:xfrm>
            <a:off x="6492240" y="1700784"/>
            <a:ext cx="2148840" cy="512064"/>
          </a:xfrm>
          <a:prstGeom prst="rect">
            <a:avLst/>
          </a:prstGeom>
          <a:noFill/>
          <a:ln/>
        </p:spPr>
        <p:txBody>
          <a:bodyPr wrap="square" lIns="0" tIns="0" rIns="0" bIns="0" rtlCol="0" anchor="ctr"/>
          <a:lstStyle/>
          <a:p>
            <a:pPr indent="0" marL="0">
              <a:buNone/>
            </a:pPr>
            <a:r>
              <a:rPr lang="en-US" sz="1400" b="1" dirty="0">
                <a:solidFill>
                  <a:schemeClr val="tx1"/>
                </a:solidFill>
              </a:rPr>
              <a:t>Capilar dilatado</a:t>
            </a:r>
            <a:endParaRPr lang="en-US" sz="1400" dirty="0"/>
          </a:p>
          <a:p>
            <a:pPr indent="0" marL="0">
              <a:buNone/>
            </a:pPr>
            <a:r>
              <a:rPr lang="en-US" sz="1400" dirty="0">
                <a:solidFill>
                  <a:srgbClr val="5F7A89"/>
                </a:solidFill>
              </a:rPr>
              <a:t>llega más sangre</a:t>
            </a:r>
            <a:endParaRPr lang="en-US" sz="1400" dirty="0"/>
          </a:p>
        </p:txBody>
      </p:sp>
      <p:sp>
        <p:nvSpPr>
          <p:cNvPr id="66" name="Leyenda 3"/>
          <p:cNvSpPr/>
          <p:nvPr/>
        </p:nvSpPr>
        <p:spPr>
          <a:xfrm>
            <a:off x="5943600" y="2304288"/>
            <a:ext cx="2743200" cy="512064"/>
          </a:xfrm>
          <a:prstGeom prst="roundRect">
            <a:avLst>
              <a:gd name="adj" fmla="val 21429"/>
            </a:avLst>
          </a:prstGeom>
          <a:solidFill>
            <a:srgbClr val="FFFFFF"/>
          </a:solidFill>
          <a:ln/>
          <a:effectLst>
            <a:outerShdw sx="100000" sy="100000" kx="0" ky="0" algn="bl" rotWithShape="0" blurRad="76200" dist="25400" dir="5400000">
              <a:srgbClr val="1D3B4F">
                <a:alpha val="12000"/>
              </a:srgbClr>
            </a:outerShdw>
          </a:effectLst>
        </p:spPr>
      </p:sp>
      <p:sp>
        <p:nvSpPr>
          <p:cNvPr id="67" name="Insignia 3"/>
          <p:cNvSpPr txBox="1"/>
          <p:nvPr/>
        </p:nvSpPr>
        <p:spPr>
          <a:xfrm>
            <a:off x="6035040" y="2395728"/>
            <a:ext cx="329184" cy="329184"/>
          </a:xfrm>
          <a:prstGeom prst="ellipse">
            <a:avLst/>
          </a:prstGeom>
          <a:solidFill>
            <a:srgbClr val="1E8A94"/>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68" name="Text 65"/>
          <p:cNvSpPr txBox="1"/>
          <p:nvPr/>
        </p:nvSpPr>
        <p:spPr>
          <a:xfrm>
            <a:off x="6492240" y="2304288"/>
            <a:ext cx="2148840" cy="512064"/>
          </a:xfrm>
          <a:prstGeom prst="rect">
            <a:avLst/>
          </a:prstGeom>
          <a:noFill/>
          <a:ln/>
        </p:spPr>
        <p:txBody>
          <a:bodyPr wrap="square" lIns="0" tIns="0" rIns="0" bIns="0" rtlCol="0" anchor="ctr"/>
          <a:lstStyle/>
          <a:p>
            <a:pPr indent="0" marL="0">
              <a:buNone/>
            </a:pPr>
            <a:r>
              <a:rPr lang="en-US" sz="1400" b="1" dirty="0">
                <a:solidFill>
                  <a:schemeClr val="tx1"/>
                </a:solidFill>
              </a:rPr>
              <a:t>Paredes abiertas</a:t>
            </a:r>
            <a:endParaRPr lang="en-US" sz="1400" dirty="0"/>
          </a:p>
          <a:p>
            <a:pPr indent="0" marL="0">
              <a:buNone/>
            </a:pPr>
            <a:r>
              <a:rPr lang="en-US" sz="1400" dirty="0">
                <a:solidFill>
                  <a:srgbClr val="5F7A89"/>
                </a:solidFill>
              </a:rPr>
              <a:t>sale líquido</a:t>
            </a:r>
            <a:endParaRPr lang="en-US" sz="1400" dirty="0"/>
          </a:p>
        </p:txBody>
      </p:sp>
      <p:sp>
        <p:nvSpPr>
          <p:cNvPr id="69" name="Leyenda 4"/>
          <p:cNvSpPr/>
          <p:nvPr/>
        </p:nvSpPr>
        <p:spPr>
          <a:xfrm>
            <a:off x="5943600" y="2907792"/>
            <a:ext cx="2743200" cy="512064"/>
          </a:xfrm>
          <a:prstGeom prst="roundRect">
            <a:avLst>
              <a:gd name="adj" fmla="val 21429"/>
            </a:avLst>
          </a:prstGeom>
          <a:solidFill>
            <a:srgbClr val="FFFFFF"/>
          </a:solidFill>
          <a:ln/>
          <a:effectLst>
            <a:outerShdw sx="100000" sy="100000" kx="0" ky="0" algn="bl" rotWithShape="0" blurRad="76200" dist="25400" dir="5400000">
              <a:srgbClr val="1D3B4F">
                <a:alpha val="12000"/>
              </a:srgbClr>
            </a:outerShdw>
          </a:effectLst>
        </p:spPr>
      </p:sp>
      <p:sp>
        <p:nvSpPr>
          <p:cNvPr id="70" name="Insignia 4"/>
          <p:cNvSpPr txBox="1"/>
          <p:nvPr/>
        </p:nvSpPr>
        <p:spPr>
          <a:xfrm>
            <a:off x="6035040" y="2999232"/>
            <a:ext cx="329184" cy="329184"/>
          </a:xfrm>
          <a:prstGeom prst="ellipse">
            <a:avLst/>
          </a:prstGeom>
          <a:solidFill>
            <a:srgbClr val="1E8A94"/>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71" name="Text 68"/>
          <p:cNvSpPr txBox="1"/>
          <p:nvPr/>
        </p:nvSpPr>
        <p:spPr>
          <a:xfrm>
            <a:off x="6492240" y="2907792"/>
            <a:ext cx="2148840" cy="512064"/>
          </a:xfrm>
          <a:prstGeom prst="rect">
            <a:avLst/>
          </a:prstGeom>
          <a:noFill/>
          <a:ln/>
        </p:spPr>
        <p:txBody>
          <a:bodyPr wrap="square" lIns="0" tIns="0" rIns="0" bIns="0" rtlCol="0" anchor="ctr"/>
          <a:lstStyle/>
          <a:p>
            <a:pPr indent="0" marL="0">
              <a:buNone/>
            </a:pPr>
            <a:r>
              <a:rPr lang="en-US" sz="1400" b="1" dirty="0">
                <a:solidFill>
                  <a:schemeClr val="tx1"/>
                </a:solidFill>
              </a:rPr>
              <a:t>Neutrófilos</a:t>
            </a:r>
            <a:endParaRPr lang="en-US" sz="1400" dirty="0"/>
          </a:p>
          <a:p>
            <a:pPr indent="0" marL="0">
              <a:buNone/>
            </a:pPr>
            <a:r>
              <a:rPr lang="en-US" sz="1400" dirty="0">
                <a:solidFill>
                  <a:srgbClr val="5F7A89"/>
                </a:solidFill>
              </a:rPr>
              <a:t>salen hacia la herida</a:t>
            </a:r>
            <a:endParaRPr lang="en-US" sz="1400" dirty="0"/>
          </a:p>
        </p:txBody>
      </p:sp>
      <p:sp>
        <p:nvSpPr>
          <p:cNvPr id="72" name="Leyenda 5"/>
          <p:cNvSpPr/>
          <p:nvPr/>
        </p:nvSpPr>
        <p:spPr>
          <a:xfrm>
            <a:off x="5943600" y="3511296"/>
            <a:ext cx="2743200" cy="512064"/>
          </a:xfrm>
          <a:prstGeom prst="roundRect">
            <a:avLst>
              <a:gd name="adj" fmla="val 21429"/>
            </a:avLst>
          </a:prstGeom>
          <a:solidFill>
            <a:srgbClr val="FFFFFF"/>
          </a:solidFill>
          <a:ln/>
          <a:effectLst>
            <a:outerShdw sx="100000" sy="100000" kx="0" ky="0" algn="bl" rotWithShape="0" blurRad="76200" dist="25400" dir="5400000">
              <a:srgbClr val="1D3B4F">
                <a:alpha val="12000"/>
              </a:srgbClr>
            </a:outerShdw>
          </a:effectLst>
        </p:spPr>
      </p:sp>
      <p:sp>
        <p:nvSpPr>
          <p:cNvPr id="73" name="Insignia 5"/>
          <p:cNvSpPr txBox="1"/>
          <p:nvPr/>
        </p:nvSpPr>
        <p:spPr>
          <a:xfrm>
            <a:off x="6035040" y="3602736"/>
            <a:ext cx="329184" cy="329184"/>
          </a:xfrm>
          <a:prstGeom prst="ellipse">
            <a:avLst/>
          </a:prstGeom>
          <a:solidFill>
            <a:srgbClr val="3E9E78"/>
          </a:solid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74" name="Text 71"/>
          <p:cNvSpPr txBox="1"/>
          <p:nvPr/>
        </p:nvSpPr>
        <p:spPr>
          <a:xfrm>
            <a:off x="6492240" y="3511296"/>
            <a:ext cx="2148840" cy="512064"/>
          </a:xfrm>
          <a:prstGeom prst="rect">
            <a:avLst/>
          </a:prstGeom>
          <a:noFill/>
          <a:ln/>
        </p:spPr>
        <p:txBody>
          <a:bodyPr wrap="square" lIns="0" tIns="0" rIns="0" bIns="0" rtlCol="0" anchor="ctr"/>
          <a:lstStyle/>
          <a:p>
            <a:pPr indent="0" marL="0">
              <a:buNone/>
            </a:pPr>
            <a:r>
              <a:rPr lang="en-US" sz="1400" b="1" dirty="0">
                <a:solidFill>
                  <a:schemeClr val="tx1"/>
                </a:solidFill>
              </a:rPr>
              <a:t>Fagocitosis</a:t>
            </a:r>
            <a:endParaRPr lang="en-US" sz="1400" dirty="0"/>
          </a:p>
          <a:p>
            <a:pPr indent="0" marL="0">
              <a:buNone/>
            </a:pPr>
            <a:r>
              <a:rPr lang="en-US" sz="1400" dirty="0">
                <a:solidFill>
                  <a:srgbClr val="5F7A89"/>
                </a:solidFill>
              </a:rPr>
              <a:t>se destruyen los microbios</a:t>
            </a:r>
            <a:endParaRPr lang="en-US" sz="1400" dirty="0"/>
          </a:p>
        </p:txBody>
      </p:sp>
      <p:sp>
        <p:nvSpPr>
          <p:cNvPr id="75" name="Text 72"/>
          <p:cNvSpPr txBox="1"/>
          <p:nvPr/>
        </p:nvSpPr>
        <p:spPr>
          <a:xfrm>
            <a:off x="457200" y="4224528"/>
            <a:ext cx="8229600" cy="457200"/>
          </a:xfrm>
          <a:prstGeom prst="rect">
            <a:avLst/>
          </a:prstGeom>
          <a:noFill/>
          <a:ln/>
        </p:spPr>
        <p:txBody>
          <a:bodyPr wrap="square" lIns="0" tIns="0" rIns="0" bIns="0" rtlCol="0" anchor="ctr"/>
          <a:lstStyle/>
          <a:p>
            <a:pPr indent="0" marL="0">
              <a:buNone/>
            </a:pPr>
            <a:r>
              <a:rPr lang="en-US" sz="1200" dirty="0">
                <a:solidFill>
                  <a:schemeClr val="tx2"/>
                </a:solidFill>
              </a:rPr>
              <a:t>Verde: bacterias · Blanco con núcleo violeta: neutrófilos · Ámbar: macrófagos · Puntos violeta: histamina</a:t>
            </a:r>
            <a:endParaRPr lang="en-US" sz="1200" dirty="0"/>
          </a:p>
        </p:txBody>
      </p:sp>
      <p:sp>
        <p:nvSpPr>
          <p:cNvPr id="25" name="Slide Number Placeholder 0"/>
          <p:cNvSpPr>
            <a:spLocks noGrp="1"/>
          </p:cNvSpPr>
          <p:nvPr>
            <p:ph type="sldNum" sz="quarter" idx="4294967295"/>
          </p:nvPr>
        </p:nvSpPr>
        <p:spPr>
          <a:xfrm>
            <a:off x="8138160" y="482803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Causa y efecto: el orden importa</a:t>
            </a:r>
            <a:endParaRPr lang="en-US" sz="2800" dirty="0"/>
          </a:p>
        </p:txBody>
      </p:sp>
      <p:graphicFrame>
        <p:nvGraphicFramePr>
          <p:cNvPr id="11" name="Tabla causa efecto"/>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2194560"/>
                <a:gridCol w="2834640"/>
                <a:gridCol w="3200400"/>
              </a:tblGrid>
              <a:tr h="365760">
                <a:tc>
                  <a:txBody>
                    <a:bodyPr/>
                    <a:lstStyle/>
                    <a:p>
                      <a:pPr indent="0" marL="0">
                        <a:buNone/>
                      </a:pPr>
                      <a:r>
                        <a:rPr lang="en-US" sz="1400" b="1" dirty="0">
                          <a:solidFill>
                            <a:srgbClr val="FFFFFF"/>
                          </a:solidFill>
                        </a:rPr>
                        <a:t>Etapa</a:t>
                      </a:r>
                      <a:endParaRPr lang="en-US" sz="1400" dirty="0"/>
                    </a:p>
                  </a:txBody>
                  <a:tcPr marL="91440" marR="91440" marT="36576" marB="36576"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1E8A94"/>
                    </a:solidFill>
                  </a:tcPr>
                </a:tc>
                <a:tc>
                  <a:txBody>
                    <a:bodyPr/>
                    <a:lstStyle/>
                    <a:p>
                      <a:pPr indent="0" marL="0">
                        <a:buNone/>
                      </a:pPr>
                      <a:r>
                        <a:rPr lang="en-US" sz="1400" b="1" dirty="0">
                          <a:solidFill>
                            <a:srgbClr val="FFFFFF"/>
                          </a:solidFill>
                        </a:rPr>
                        <a:t>Necesita antes…</a:t>
                      </a:r>
                      <a:endParaRPr lang="en-US" sz="1400" dirty="0"/>
                    </a:p>
                  </a:txBody>
                  <a:tcPr marL="91440" marR="91440" marT="36576" marB="36576"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1E8A94"/>
                    </a:solidFill>
                  </a:tcPr>
                </a:tc>
                <a:tc>
                  <a:txBody>
                    <a:bodyPr/>
                    <a:lstStyle/>
                    <a:p>
                      <a:pPr indent="0" marL="0">
                        <a:buNone/>
                      </a:pPr>
                      <a:r>
                        <a:rPr lang="en-US" sz="1400" b="1" dirty="0">
                          <a:solidFill>
                            <a:srgbClr val="FFFFFF"/>
                          </a:solidFill>
                        </a:rPr>
                        <a:t>Si te la saltas</a:t>
                      </a:r>
                      <a:endParaRPr lang="en-US" sz="1400" dirty="0"/>
                    </a:p>
                  </a:txBody>
                  <a:tcPr marL="91440" marR="91440" marT="36576" marB="36576"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1E8A94"/>
                    </a:solidFill>
                  </a:tcPr>
                </a:tc>
              </a:tr>
              <a:tr h="457200">
                <a:tc>
                  <a:txBody>
                    <a:bodyPr/>
                    <a:lstStyle/>
                    <a:p>
                      <a:pPr indent="0" marL="0">
                        <a:buNone/>
                      </a:pPr>
                      <a:r>
                        <a:rPr lang="en-US" sz="1400" b="1" dirty="0">
                          <a:solidFill>
                            <a:srgbClr val="1D3B4F"/>
                          </a:solidFill>
                        </a:rPr>
                        <a:t>Dilatar capilares</a:t>
                      </a:r>
                      <a:endParaRPr lang="en-US" sz="1400" dirty="0"/>
                    </a:p>
                  </a:txBody>
                  <a:tcPr marL="91440" marR="91440" marT="36576" marB="36576"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c>
                  <a:txBody>
                    <a:bodyPr/>
                    <a:lstStyle/>
                    <a:p>
                      <a:pPr indent="0" marL="0">
                        <a:buNone/>
                      </a:pPr>
                      <a:r>
                        <a:rPr lang="en-US" sz="1400" dirty="0">
                          <a:solidFill>
                            <a:srgbClr val="1D3B4F"/>
                          </a:solidFill>
                        </a:rPr>
                        <a:t>Señal química (alarma)</a:t>
                      </a:r>
                      <a:endParaRPr lang="en-US" sz="1400" dirty="0"/>
                    </a:p>
                  </a:txBody>
                  <a:tcPr marL="91440" marR="91440" marT="36576" marB="36576"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c>
                  <a:txBody>
                    <a:bodyPr/>
                    <a:lstStyle/>
                    <a:p>
                      <a:pPr indent="0" marL="0">
                        <a:buNone/>
                      </a:pPr>
                      <a:r>
                        <a:rPr lang="en-US" sz="1400" dirty="0">
                          <a:solidFill>
                            <a:srgbClr val="1D3B4F"/>
                          </a:solidFill>
                        </a:rPr>
                        <a:t>Los vasos no reciben ninguna orden</a:t>
                      </a:r>
                      <a:endParaRPr lang="en-US" sz="1400" dirty="0"/>
                    </a:p>
                  </a:txBody>
                  <a:tcPr marL="91440" marR="91440" marT="36576" marB="36576"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1D3B4F"/>
                          </a:solidFill>
                        </a:rPr>
                        <a:t>Llamar neutrófilos</a:t>
                      </a:r>
                      <a:endParaRPr lang="en-US" sz="1400" dirty="0"/>
                    </a:p>
                  </a:txBody>
                  <a:tcPr marL="91440" marR="91440" marT="36576" marB="36576"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D6EEF0"/>
                    </a:solidFill>
                  </a:tcPr>
                </a:tc>
                <a:tc>
                  <a:txBody>
                    <a:bodyPr/>
                    <a:lstStyle/>
                    <a:p>
                      <a:pPr indent="0" marL="0">
                        <a:buNone/>
                      </a:pPr>
                      <a:r>
                        <a:rPr lang="en-US" sz="1400" dirty="0">
                          <a:solidFill>
                            <a:srgbClr val="1D3B4F"/>
                          </a:solidFill>
                        </a:rPr>
                        <a:t>Paredes del capilar abiertas</a:t>
                      </a:r>
                      <a:endParaRPr lang="en-US" sz="1400" dirty="0"/>
                    </a:p>
                  </a:txBody>
                  <a:tcPr marL="91440" marR="91440" marT="36576" marB="36576"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D6EEF0"/>
                    </a:solidFill>
                  </a:tcPr>
                </a:tc>
                <a:tc>
                  <a:txBody>
                    <a:bodyPr/>
                    <a:lstStyle/>
                    <a:p>
                      <a:pPr indent="0" marL="0">
                        <a:buNone/>
                      </a:pPr>
                      <a:r>
                        <a:rPr lang="en-US" sz="1400" dirty="0">
                          <a:solidFill>
                            <a:srgbClr val="1D3B4F"/>
                          </a:solidFill>
                        </a:rPr>
                        <a:t>Pasan de largo: no pueden salir</a:t>
                      </a:r>
                      <a:endParaRPr lang="en-US" sz="1400" dirty="0"/>
                    </a:p>
                  </a:txBody>
                  <a:tcPr marL="91440" marR="91440" marT="36576" marB="36576"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D6EEF0"/>
                    </a:solidFill>
                  </a:tcPr>
                </a:tc>
              </a:tr>
              <a:tr h="457200">
                <a:tc>
                  <a:txBody>
                    <a:bodyPr/>
                    <a:lstStyle/>
                    <a:p>
                      <a:pPr indent="0" marL="0">
                        <a:buNone/>
                      </a:pPr>
                      <a:r>
                        <a:rPr lang="en-US" sz="1400" b="1" dirty="0">
                          <a:solidFill>
                            <a:srgbClr val="1D3B4F"/>
                          </a:solidFill>
                        </a:rPr>
                        <a:t>Fagocitosis</a:t>
                      </a:r>
                      <a:endParaRPr lang="en-US" sz="1400" dirty="0"/>
                    </a:p>
                  </a:txBody>
                  <a:tcPr marL="91440" marR="91440" marT="36576" marB="36576"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c>
                  <a:txBody>
                    <a:bodyPr/>
                    <a:lstStyle/>
                    <a:p>
                      <a:pPr indent="0" marL="0">
                        <a:buNone/>
                      </a:pPr>
                      <a:r>
                        <a:rPr lang="en-US" sz="1400" dirty="0">
                          <a:solidFill>
                            <a:srgbClr val="1D3B4F"/>
                          </a:solidFill>
                        </a:rPr>
                        <a:t>Neutrófilos en el tejido</a:t>
                      </a:r>
                      <a:endParaRPr lang="en-US" sz="1400" dirty="0"/>
                    </a:p>
                  </a:txBody>
                  <a:tcPr marL="91440" marR="91440" marT="36576" marB="36576"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c>
                  <a:txBody>
                    <a:bodyPr/>
                    <a:lstStyle/>
                    <a:p>
                      <a:pPr indent="0" marL="0">
                        <a:buNone/>
                      </a:pPr>
                      <a:r>
                        <a:rPr lang="en-US" sz="1400" dirty="0">
                          <a:solidFill>
                            <a:srgbClr val="1D3B4F"/>
                          </a:solidFill>
                        </a:rPr>
                        <a:t>Los macrófagos solos no alcanzan</a:t>
                      </a:r>
                      <a:endParaRPr lang="en-US" sz="1400" dirty="0"/>
                    </a:p>
                  </a:txBody>
                  <a:tcPr marL="91440" marR="91440" marT="36576" marB="36576"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1D3B4F"/>
                          </a:solidFill>
                        </a:rPr>
                        <a:t>Limpiar restos</a:t>
                      </a:r>
                      <a:endParaRPr lang="en-US" sz="1400" dirty="0"/>
                    </a:p>
                  </a:txBody>
                  <a:tcPr marL="91440" marR="91440" marT="36576" marB="36576"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D6EEF0"/>
                    </a:solidFill>
                  </a:tcPr>
                </a:tc>
                <a:tc>
                  <a:txBody>
                    <a:bodyPr/>
                    <a:lstStyle/>
                    <a:p>
                      <a:pPr indent="0" marL="0">
                        <a:buNone/>
                      </a:pPr>
                      <a:r>
                        <a:rPr lang="en-US" sz="1400" dirty="0">
                          <a:solidFill>
                            <a:srgbClr val="1D3B4F"/>
                          </a:solidFill>
                        </a:rPr>
                        <a:t>Restos que limpiar</a:t>
                      </a:r>
                      <a:endParaRPr lang="en-US" sz="1400" dirty="0"/>
                    </a:p>
                  </a:txBody>
                  <a:tcPr marL="91440" marR="91440" marT="36576" marB="36576"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D6EEF0"/>
                    </a:solidFill>
                  </a:tcPr>
                </a:tc>
                <a:tc>
                  <a:txBody>
                    <a:bodyPr/>
                    <a:lstStyle/>
                    <a:p>
                      <a:pPr indent="0" marL="0">
                        <a:buNone/>
                      </a:pPr>
                      <a:r>
                        <a:rPr lang="en-US" sz="1400" dirty="0">
                          <a:solidFill>
                            <a:srgbClr val="1D3B4F"/>
                          </a:solidFill>
                        </a:rPr>
                        <a:t>Se limpia después del combate</a:t>
                      </a:r>
                      <a:endParaRPr lang="en-US" sz="1400" dirty="0"/>
                    </a:p>
                  </a:txBody>
                  <a:tcPr marL="91440" marR="91440" marT="36576" marB="36576"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D6EEF0"/>
                    </a:solidFill>
                  </a:tcPr>
                </a:tc>
              </a:tr>
              <a:tr h="457200">
                <a:tc>
                  <a:txBody>
                    <a:bodyPr/>
                    <a:lstStyle/>
                    <a:p>
                      <a:pPr indent="0" marL="0">
                        <a:buNone/>
                      </a:pPr>
                      <a:r>
                        <a:rPr lang="en-US" sz="1400" b="1" dirty="0">
                          <a:solidFill>
                            <a:srgbClr val="1D3B4F"/>
                          </a:solidFill>
                        </a:rPr>
                        <a:t>Apagar</a:t>
                      </a:r>
                      <a:endParaRPr lang="en-US" sz="1400" dirty="0"/>
                    </a:p>
                  </a:txBody>
                  <a:tcPr marL="91440" marR="91440" marT="36576" marB="36576"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c>
                  <a:txBody>
                    <a:bodyPr/>
                    <a:lstStyle/>
                    <a:p>
                      <a:pPr indent="0" marL="0">
                        <a:buNone/>
                      </a:pPr>
                      <a:r>
                        <a:rPr lang="en-US" sz="1400" dirty="0">
                          <a:solidFill>
                            <a:srgbClr val="1D3B4F"/>
                          </a:solidFill>
                        </a:rPr>
                        <a:t>Sin microbios ni restos</a:t>
                      </a:r>
                      <a:endParaRPr lang="en-US" sz="1400" dirty="0"/>
                    </a:p>
                  </a:txBody>
                  <a:tcPr marL="91440" marR="91440" marT="36576" marB="36576"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c>
                  <a:txBody>
                    <a:bodyPr/>
                    <a:lstStyle/>
                    <a:p>
                      <a:pPr indent="0" marL="0">
                        <a:buNone/>
                      </a:pPr>
                      <a:r>
                        <a:rPr lang="en-US" sz="1400" dirty="0">
                          <a:solidFill>
                            <a:srgbClr val="1D3B4F"/>
                          </a:solidFill>
                        </a:rPr>
                        <a:t>Los microbios vuelven a multiplicarse</a:t>
                      </a:r>
                      <a:endParaRPr lang="en-US" sz="1400" dirty="0"/>
                    </a:p>
                  </a:txBody>
                  <a:tcPr marL="91440" marR="91440" marT="36576" marB="36576"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r>
            </a:tbl>
          </a:graphicData>
        </a:graphic>
      </p:graphicFrame>
      <p:sp>
        <p:nvSpPr>
          <p:cNvPr id="5" name="Pregunta"/>
          <p:cNvSpPr/>
          <p:nvPr/>
        </p:nvSpPr>
        <p:spPr>
          <a:xfrm>
            <a:off x="457200" y="4023360"/>
            <a:ext cx="8229600" cy="502920"/>
          </a:xfrm>
          <a:prstGeom prst="roundRect">
            <a:avLst>
              <a:gd name="adj" fmla="val 18182"/>
            </a:avLst>
          </a:prstGeom>
          <a:solidFill>
            <a:srgbClr val="FDE4E2"/>
          </a:solidFill>
          <a:ln/>
        </p:spPr>
      </p:sp>
      <p:sp>
        <p:nvSpPr>
          <p:cNvPr id="6" name="Text 2"/>
          <p:cNvSpPr txBox="1"/>
          <p:nvPr/>
        </p:nvSpPr>
        <p:spPr>
          <a:xfrm>
            <a:off x="594360" y="4114800"/>
            <a:ext cx="320040" cy="320040"/>
          </a:xfrm>
          <a:prstGeom prst="ellipse">
            <a:avLst/>
          </a:prstGeom>
          <a:solidFill>
            <a:srgbClr val="D2504B"/>
          </a:solid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7" name="Texto pregunta"/>
          <p:cNvSpPr txBox="1"/>
          <p:nvPr/>
        </p:nvSpPr>
        <p:spPr>
          <a:xfrm>
            <a:off x="1051560" y="4023360"/>
            <a:ext cx="7498080" cy="502920"/>
          </a:xfrm>
          <a:prstGeom prst="rect">
            <a:avLst/>
          </a:prstGeom>
          <a:noFill/>
          <a:ln/>
        </p:spPr>
        <p:txBody>
          <a:bodyPr wrap="square" lIns="0" tIns="0" rIns="0" bIns="0" rtlCol="0" anchor="ctr"/>
          <a:lstStyle/>
          <a:p>
            <a:pPr indent="0" marL="0">
              <a:buNone/>
            </a:pPr>
            <a:r>
              <a:rPr lang="en-US" sz="1400" b="1" dirty="0">
                <a:solidFill>
                  <a:schemeClr val="tx1"/>
                </a:solidFill>
              </a:rPr>
              <a:t>Por eso en el juego una orden sin causa no tiene efecto y gasta energía.</a:t>
            </a:r>
            <a:endParaRPr lang="en-US" sz="1400" dirty="0"/>
          </a:p>
        </p:txBody>
      </p:sp>
      <p:sp>
        <p:nvSpPr>
          <p:cNvPr id="25" name="Slide Number Placeholder 0"/>
          <p:cNvSpPr>
            <a:spLocks noGrp="1"/>
          </p:cNvSpPr>
          <p:nvPr>
            <p:ph type="sldNum" sz="quarter" idx="4294967295"/>
          </p:nvPr>
        </p:nvSpPr>
        <p:spPr>
          <a:xfrm>
            <a:off x="8138160" y="482803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Lo que ves y lo que ocurre</a:t>
            </a:r>
            <a:endParaRPr lang="en-US" sz="2800" dirty="0"/>
          </a:p>
        </p:txBody>
      </p:sp>
      <p:sp>
        <p:nvSpPr>
          <p:cNvPr id="4" name="Fila Rubor"/>
          <p:cNvSpPr/>
          <p:nvPr/>
        </p:nvSpPr>
        <p:spPr>
          <a:xfrm>
            <a:off x="457200" y="1051560"/>
            <a:ext cx="8229600" cy="512064"/>
          </a:xfrm>
          <a:prstGeom prst="roundRect">
            <a:avLst>
              <a:gd name="adj" fmla="val 21429"/>
            </a:avLst>
          </a:prstGeom>
          <a:solidFill>
            <a:srgbClr val="FFFFFF"/>
          </a:solidFill>
          <a:ln/>
          <a:effectLst>
            <a:outerShdw sx="100000" sy="100000" kx="0" ky="0" algn="bl" rotWithShape="0" blurRad="76200" dist="25400" dir="5400000">
              <a:srgbClr val="1D3B4F">
                <a:alpha val="12000"/>
              </a:srgbClr>
            </a:outerShdw>
          </a:effectLst>
        </p:spPr>
      </p:sp>
      <p:sp>
        <p:nvSpPr>
          <p:cNvPr id="5" name="Círculo ícono"/>
          <p:cNvSpPr/>
          <p:nvPr/>
        </p:nvSpPr>
        <p:spPr>
          <a:xfrm>
            <a:off x="566928" y="1106424"/>
            <a:ext cx="402336" cy="402336"/>
          </a:xfrm>
          <a:prstGeom prst="ellipse">
            <a:avLst/>
          </a:prstGeom>
          <a:solidFill>
            <a:srgbClr val="D2504B"/>
          </a:solidFill>
          <a:ln/>
        </p:spPr>
      </p:sp>
      <p:pic>
        <p:nvPicPr>
          <p:cNvPr id="6" name="Image 0" descr="FaTint">    </p:cNvPr>
          <p:cNvPicPr>
            <a:picLocks noChangeAspect="1"/>
          </p:cNvPicPr>
          <p:nvPr/>
        </p:nvPicPr>
        <p:blipFill>
          <a:blip r:embed="rId1"/>
          <a:stretch>
            <a:fillRect/>
          </a:stretch>
        </p:blipFill>
        <p:spPr>
          <a:xfrm>
            <a:off x="667512" y="1207008"/>
            <a:ext cx="201168" cy="201168"/>
          </a:xfrm>
          <a:prstGeom prst="rect">
            <a:avLst/>
          </a:prstGeom>
        </p:spPr>
      </p:pic>
      <p:sp>
        <p:nvSpPr>
          <p:cNvPr id="7" name="Text 3"/>
          <p:cNvSpPr txBox="1"/>
          <p:nvPr/>
        </p:nvSpPr>
        <p:spPr>
          <a:xfrm>
            <a:off x="1143000" y="1051560"/>
            <a:ext cx="1554480" cy="512064"/>
          </a:xfrm>
          <a:prstGeom prst="rect">
            <a:avLst/>
          </a:prstGeom>
          <a:noFill/>
          <a:ln/>
        </p:spPr>
        <p:txBody>
          <a:bodyPr wrap="square" lIns="0" tIns="0" rIns="0" bIns="0" rtlCol="0" anchor="ctr"/>
          <a:lstStyle/>
          <a:p>
            <a:pPr indent="0" marL="0">
              <a:buNone/>
            </a:pPr>
            <a:r>
              <a:rPr lang="en-US" sz="1600" b="1" dirty="0">
                <a:solidFill>
                  <a:schemeClr val="tx1"/>
                </a:solidFill>
              </a:rPr>
              <a:t>Rubor</a:t>
            </a:r>
            <a:endParaRPr lang="en-US" sz="1600" dirty="0"/>
          </a:p>
        </p:txBody>
      </p:sp>
      <p:sp>
        <p:nvSpPr>
          <p:cNvPr id="8" name="Text 4"/>
          <p:cNvSpPr txBox="1"/>
          <p:nvPr/>
        </p:nvSpPr>
        <p:spPr>
          <a:xfrm>
            <a:off x="2697480" y="1051560"/>
            <a:ext cx="5897880" cy="512064"/>
          </a:xfrm>
          <a:prstGeom prst="rect">
            <a:avLst/>
          </a:prstGeom>
          <a:noFill/>
          <a:ln/>
        </p:spPr>
        <p:txBody>
          <a:bodyPr wrap="square" lIns="0" tIns="0" rIns="0" bIns="0" rtlCol="0" anchor="ctr"/>
          <a:lstStyle/>
          <a:p>
            <a:pPr indent="0" marL="0">
              <a:buNone/>
            </a:pPr>
            <a:r>
              <a:rPr lang="en-US" sz="1400" dirty="0">
                <a:solidFill>
                  <a:schemeClr val="tx1"/>
                </a:solidFill>
              </a:rPr>
              <a:t>Los capilares se dilatan y llega más sangre a la zona.</a:t>
            </a:r>
            <a:endParaRPr lang="en-US" sz="1400" dirty="0"/>
          </a:p>
        </p:txBody>
      </p:sp>
      <p:sp>
        <p:nvSpPr>
          <p:cNvPr id="9" name="Fila Calor"/>
          <p:cNvSpPr/>
          <p:nvPr/>
        </p:nvSpPr>
        <p:spPr>
          <a:xfrm>
            <a:off x="457200" y="1655064"/>
            <a:ext cx="8229600" cy="512064"/>
          </a:xfrm>
          <a:prstGeom prst="roundRect">
            <a:avLst>
              <a:gd name="adj" fmla="val 21429"/>
            </a:avLst>
          </a:prstGeom>
          <a:solidFill>
            <a:srgbClr val="FFFFFF"/>
          </a:solidFill>
          <a:ln/>
          <a:effectLst>
            <a:outerShdw sx="100000" sy="100000" kx="0" ky="0" algn="bl" rotWithShape="0" blurRad="76200" dist="25400" dir="5400000">
              <a:srgbClr val="1D3B4F">
                <a:alpha val="12000"/>
              </a:srgbClr>
            </a:outerShdw>
          </a:effectLst>
        </p:spPr>
      </p:sp>
      <p:sp>
        <p:nvSpPr>
          <p:cNvPr id="10" name="Círculo ícono"/>
          <p:cNvSpPr/>
          <p:nvPr/>
        </p:nvSpPr>
        <p:spPr>
          <a:xfrm>
            <a:off x="566928" y="1709928"/>
            <a:ext cx="402336" cy="402336"/>
          </a:xfrm>
          <a:prstGeom prst="ellipse">
            <a:avLst/>
          </a:prstGeom>
          <a:solidFill>
            <a:srgbClr val="E0A020"/>
          </a:solidFill>
          <a:ln/>
        </p:spPr>
      </p:sp>
      <p:pic>
        <p:nvPicPr>
          <p:cNvPr id="11" name="Image 1" descr="FaThermometerHalf">    </p:cNvPr>
          <p:cNvPicPr>
            <a:picLocks noChangeAspect="1"/>
          </p:cNvPicPr>
          <p:nvPr/>
        </p:nvPicPr>
        <p:blipFill>
          <a:blip r:embed="rId2"/>
          <a:stretch>
            <a:fillRect/>
          </a:stretch>
        </p:blipFill>
        <p:spPr>
          <a:xfrm>
            <a:off x="667512" y="1810512"/>
            <a:ext cx="201168" cy="201168"/>
          </a:xfrm>
          <a:prstGeom prst="rect">
            <a:avLst/>
          </a:prstGeom>
        </p:spPr>
      </p:pic>
      <p:sp>
        <p:nvSpPr>
          <p:cNvPr id="12" name="Text 7"/>
          <p:cNvSpPr txBox="1"/>
          <p:nvPr/>
        </p:nvSpPr>
        <p:spPr>
          <a:xfrm>
            <a:off x="1143000" y="1655064"/>
            <a:ext cx="1554480" cy="512064"/>
          </a:xfrm>
          <a:prstGeom prst="rect">
            <a:avLst/>
          </a:prstGeom>
          <a:noFill/>
          <a:ln/>
        </p:spPr>
        <p:txBody>
          <a:bodyPr wrap="square" lIns="0" tIns="0" rIns="0" bIns="0" rtlCol="0" anchor="ctr"/>
          <a:lstStyle/>
          <a:p>
            <a:pPr indent="0" marL="0">
              <a:buNone/>
            </a:pPr>
            <a:r>
              <a:rPr lang="en-US" sz="1600" b="1" dirty="0">
                <a:solidFill>
                  <a:schemeClr val="tx1"/>
                </a:solidFill>
              </a:rPr>
              <a:t>Calor</a:t>
            </a:r>
            <a:endParaRPr lang="en-US" sz="1600" dirty="0"/>
          </a:p>
        </p:txBody>
      </p:sp>
      <p:sp>
        <p:nvSpPr>
          <p:cNvPr id="13" name="Text 8"/>
          <p:cNvSpPr txBox="1"/>
          <p:nvPr/>
        </p:nvSpPr>
        <p:spPr>
          <a:xfrm>
            <a:off x="2697480" y="1655064"/>
            <a:ext cx="5897880" cy="512064"/>
          </a:xfrm>
          <a:prstGeom prst="rect">
            <a:avLst/>
          </a:prstGeom>
          <a:noFill/>
          <a:ln/>
        </p:spPr>
        <p:txBody>
          <a:bodyPr wrap="square" lIns="0" tIns="0" rIns="0" bIns="0" rtlCol="0" anchor="ctr"/>
          <a:lstStyle/>
          <a:p>
            <a:pPr indent="0" marL="0">
              <a:buNone/>
            </a:pPr>
            <a:r>
              <a:rPr lang="en-US" sz="1400" dirty="0">
                <a:solidFill>
                  <a:schemeClr val="tx1"/>
                </a:solidFill>
              </a:rPr>
              <a:t>La sangre extra calienta la zona.</a:t>
            </a:r>
            <a:endParaRPr lang="en-US" sz="1400" dirty="0"/>
          </a:p>
        </p:txBody>
      </p:sp>
      <p:sp>
        <p:nvSpPr>
          <p:cNvPr id="14" name="Fila Hinchazón"/>
          <p:cNvSpPr/>
          <p:nvPr/>
        </p:nvSpPr>
        <p:spPr>
          <a:xfrm>
            <a:off x="457200" y="2258568"/>
            <a:ext cx="8229600" cy="512064"/>
          </a:xfrm>
          <a:prstGeom prst="roundRect">
            <a:avLst>
              <a:gd name="adj" fmla="val 21429"/>
            </a:avLst>
          </a:prstGeom>
          <a:solidFill>
            <a:srgbClr val="FFFFFF"/>
          </a:solidFill>
          <a:ln/>
          <a:effectLst>
            <a:outerShdw sx="100000" sy="100000" kx="0" ky="0" algn="bl" rotWithShape="0" blurRad="76200" dist="25400" dir="5400000">
              <a:srgbClr val="1D3B4F">
                <a:alpha val="12000"/>
              </a:srgbClr>
            </a:outerShdw>
          </a:effectLst>
        </p:spPr>
      </p:sp>
      <p:sp>
        <p:nvSpPr>
          <p:cNvPr id="15" name="Círculo ícono"/>
          <p:cNvSpPr/>
          <p:nvPr/>
        </p:nvSpPr>
        <p:spPr>
          <a:xfrm>
            <a:off x="566928" y="2313432"/>
            <a:ext cx="402336" cy="402336"/>
          </a:xfrm>
          <a:prstGeom prst="ellipse">
            <a:avLst/>
          </a:prstGeom>
          <a:solidFill>
            <a:srgbClr val="7B68C8"/>
          </a:solidFill>
          <a:ln/>
        </p:spPr>
      </p:sp>
      <p:pic>
        <p:nvPicPr>
          <p:cNvPr id="16" name="Image 2" descr="FaCircle">    </p:cNvPr>
          <p:cNvPicPr>
            <a:picLocks noChangeAspect="1"/>
          </p:cNvPicPr>
          <p:nvPr/>
        </p:nvPicPr>
        <p:blipFill>
          <a:blip r:embed="rId3"/>
          <a:stretch>
            <a:fillRect/>
          </a:stretch>
        </p:blipFill>
        <p:spPr>
          <a:xfrm>
            <a:off x="667512" y="2414016"/>
            <a:ext cx="201168" cy="201168"/>
          </a:xfrm>
          <a:prstGeom prst="rect">
            <a:avLst/>
          </a:prstGeom>
        </p:spPr>
      </p:pic>
      <p:sp>
        <p:nvSpPr>
          <p:cNvPr id="17" name="Text 11"/>
          <p:cNvSpPr txBox="1"/>
          <p:nvPr/>
        </p:nvSpPr>
        <p:spPr>
          <a:xfrm>
            <a:off x="1143000" y="2258568"/>
            <a:ext cx="1554480" cy="512064"/>
          </a:xfrm>
          <a:prstGeom prst="rect">
            <a:avLst/>
          </a:prstGeom>
          <a:noFill/>
          <a:ln/>
        </p:spPr>
        <p:txBody>
          <a:bodyPr wrap="square" lIns="0" tIns="0" rIns="0" bIns="0" rtlCol="0" anchor="ctr"/>
          <a:lstStyle/>
          <a:p>
            <a:pPr indent="0" marL="0">
              <a:buNone/>
            </a:pPr>
            <a:r>
              <a:rPr lang="en-US" sz="1600" b="1" dirty="0">
                <a:solidFill>
                  <a:schemeClr val="tx1"/>
                </a:solidFill>
              </a:rPr>
              <a:t>Hinchazón</a:t>
            </a:r>
            <a:endParaRPr lang="en-US" sz="1600" dirty="0"/>
          </a:p>
        </p:txBody>
      </p:sp>
      <p:sp>
        <p:nvSpPr>
          <p:cNvPr id="18" name="Text 12"/>
          <p:cNvSpPr txBox="1"/>
          <p:nvPr/>
        </p:nvSpPr>
        <p:spPr>
          <a:xfrm>
            <a:off x="2697480" y="2258568"/>
            <a:ext cx="5897880" cy="512064"/>
          </a:xfrm>
          <a:prstGeom prst="rect">
            <a:avLst/>
          </a:prstGeom>
          <a:noFill/>
          <a:ln/>
        </p:spPr>
        <p:txBody>
          <a:bodyPr wrap="square" lIns="0" tIns="0" rIns="0" bIns="0" rtlCol="0" anchor="ctr"/>
          <a:lstStyle/>
          <a:p>
            <a:pPr indent="0" marL="0">
              <a:buNone/>
            </a:pPr>
            <a:r>
              <a:rPr lang="en-US" sz="1400" dirty="0">
                <a:solidFill>
                  <a:schemeClr val="tx1"/>
                </a:solidFill>
              </a:rPr>
              <a:t>Sale líquido de los capilares hacia el tejido.</a:t>
            </a:r>
            <a:endParaRPr lang="en-US" sz="1400" dirty="0"/>
          </a:p>
        </p:txBody>
      </p:sp>
      <p:sp>
        <p:nvSpPr>
          <p:cNvPr id="19" name="Fila Dolor"/>
          <p:cNvSpPr/>
          <p:nvPr/>
        </p:nvSpPr>
        <p:spPr>
          <a:xfrm>
            <a:off x="457200" y="2862072"/>
            <a:ext cx="8229600" cy="512064"/>
          </a:xfrm>
          <a:prstGeom prst="roundRect">
            <a:avLst>
              <a:gd name="adj" fmla="val 21429"/>
            </a:avLst>
          </a:prstGeom>
          <a:solidFill>
            <a:srgbClr val="FFFFFF"/>
          </a:solidFill>
          <a:ln/>
          <a:effectLst>
            <a:outerShdw sx="100000" sy="100000" kx="0" ky="0" algn="bl" rotWithShape="0" blurRad="76200" dist="25400" dir="5400000">
              <a:srgbClr val="1D3B4F">
                <a:alpha val="12000"/>
              </a:srgbClr>
            </a:outerShdw>
          </a:effectLst>
        </p:spPr>
      </p:sp>
      <p:sp>
        <p:nvSpPr>
          <p:cNvPr id="20" name="Círculo ícono"/>
          <p:cNvSpPr/>
          <p:nvPr/>
        </p:nvSpPr>
        <p:spPr>
          <a:xfrm>
            <a:off x="566928" y="2916936"/>
            <a:ext cx="402336" cy="402336"/>
          </a:xfrm>
          <a:prstGeom prst="ellipse">
            <a:avLst/>
          </a:prstGeom>
          <a:solidFill>
            <a:srgbClr val="1E8A94"/>
          </a:solidFill>
          <a:ln/>
        </p:spPr>
      </p:sp>
      <p:pic>
        <p:nvPicPr>
          <p:cNvPr id="21" name="Image 3" descr="FaBolt">    </p:cNvPr>
          <p:cNvPicPr>
            <a:picLocks noChangeAspect="1"/>
          </p:cNvPicPr>
          <p:nvPr/>
        </p:nvPicPr>
        <p:blipFill>
          <a:blip r:embed="rId4"/>
          <a:stretch>
            <a:fillRect/>
          </a:stretch>
        </p:blipFill>
        <p:spPr>
          <a:xfrm>
            <a:off x="667512" y="3017520"/>
            <a:ext cx="201168" cy="201168"/>
          </a:xfrm>
          <a:prstGeom prst="rect">
            <a:avLst/>
          </a:prstGeom>
        </p:spPr>
      </p:pic>
      <p:sp>
        <p:nvSpPr>
          <p:cNvPr id="22" name="Text 15"/>
          <p:cNvSpPr txBox="1"/>
          <p:nvPr/>
        </p:nvSpPr>
        <p:spPr>
          <a:xfrm>
            <a:off x="1143000" y="2862072"/>
            <a:ext cx="1554480" cy="512064"/>
          </a:xfrm>
          <a:prstGeom prst="rect">
            <a:avLst/>
          </a:prstGeom>
          <a:noFill/>
          <a:ln/>
        </p:spPr>
        <p:txBody>
          <a:bodyPr wrap="square" lIns="0" tIns="0" rIns="0" bIns="0" rtlCol="0" anchor="ctr"/>
          <a:lstStyle/>
          <a:p>
            <a:pPr indent="0" marL="0">
              <a:buNone/>
            </a:pPr>
            <a:r>
              <a:rPr lang="en-US" sz="1600" b="1" dirty="0">
                <a:solidFill>
                  <a:schemeClr val="tx1"/>
                </a:solidFill>
              </a:rPr>
              <a:t>Dolor</a:t>
            </a:r>
            <a:endParaRPr lang="en-US" sz="1600" dirty="0"/>
          </a:p>
        </p:txBody>
      </p:sp>
      <p:sp>
        <p:nvSpPr>
          <p:cNvPr id="23" name="Text 16"/>
          <p:cNvSpPr txBox="1"/>
          <p:nvPr/>
        </p:nvSpPr>
        <p:spPr>
          <a:xfrm>
            <a:off x="2697480" y="2862072"/>
            <a:ext cx="5897880" cy="512064"/>
          </a:xfrm>
          <a:prstGeom prst="rect">
            <a:avLst/>
          </a:prstGeom>
          <a:noFill/>
          <a:ln/>
        </p:spPr>
        <p:txBody>
          <a:bodyPr wrap="square" lIns="0" tIns="0" rIns="0" bIns="0" rtlCol="0" anchor="ctr"/>
          <a:lstStyle/>
          <a:p>
            <a:pPr indent="0" marL="0">
              <a:buNone/>
            </a:pPr>
            <a:r>
              <a:rPr lang="en-US" sz="1400" dirty="0">
                <a:solidFill>
                  <a:schemeClr val="tx1"/>
                </a:solidFill>
              </a:rPr>
              <a:t>Las señales químicas y la presión activan los nervios.</a:t>
            </a:r>
            <a:endParaRPr lang="en-US" sz="1400" dirty="0"/>
          </a:p>
        </p:txBody>
      </p:sp>
      <p:sp>
        <p:nvSpPr>
          <p:cNvPr id="24" name="Fila Fiebre"/>
          <p:cNvSpPr/>
          <p:nvPr/>
        </p:nvSpPr>
        <p:spPr>
          <a:xfrm>
            <a:off x="457200" y="3465576"/>
            <a:ext cx="8229600" cy="512064"/>
          </a:xfrm>
          <a:prstGeom prst="roundRect">
            <a:avLst>
              <a:gd name="adj" fmla="val 21429"/>
            </a:avLst>
          </a:prstGeom>
          <a:solidFill>
            <a:srgbClr val="FFFFFF"/>
          </a:solidFill>
          <a:ln/>
          <a:effectLst>
            <a:outerShdw sx="100000" sy="100000" kx="0" ky="0" algn="bl" rotWithShape="0" blurRad="76200" dist="25400" dir="5400000">
              <a:srgbClr val="1D3B4F">
                <a:alpha val="12000"/>
              </a:srgbClr>
            </a:outerShdw>
          </a:effectLst>
        </p:spPr>
      </p:sp>
      <p:sp>
        <p:nvSpPr>
          <p:cNvPr id="25" name="Círculo ícono"/>
          <p:cNvSpPr/>
          <p:nvPr/>
        </p:nvSpPr>
        <p:spPr>
          <a:xfrm>
            <a:off x="566928" y="3520440"/>
            <a:ext cx="402336" cy="402336"/>
          </a:xfrm>
          <a:prstGeom prst="ellipse">
            <a:avLst/>
          </a:prstGeom>
          <a:solidFill>
            <a:srgbClr val="3E9E78"/>
          </a:solidFill>
          <a:ln/>
        </p:spPr>
      </p:sp>
      <p:pic>
        <p:nvPicPr>
          <p:cNvPr id="26" name="Image 4" descr="FaHeartbeat">    </p:cNvPr>
          <p:cNvPicPr>
            <a:picLocks noChangeAspect="1"/>
          </p:cNvPicPr>
          <p:nvPr/>
        </p:nvPicPr>
        <p:blipFill>
          <a:blip r:embed="rId5"/>
          <a:stretch>
            <a:fillRect/>
          </a:stretch>
        </p:blipFill>
        <p:spPr>
          <a:xfrm>
            <a:off x="667512" y="3621024"/>
            <a:ext cx="201168" cy="201168"/>
          </a:xfrm>
          <a:prstGeom prst="rect">
            <a:avLst/>
          </a:prstGeom>
        </p:spPr>
      </p:pic>
      <p:sp>
        <p:nvSpPr>
          <p:cNvPr id="27" name="Text 19"/>
          <p:cNvSpPr txBox="1"/>
          <p:nvPr/>
        </p:nvSpPr>
        <p:spPr>
          <a:xfrm>
            <a:off x="1143000" y="3465576"/>
            <a:ext cx="1554480" cy="512064"/>
          </a:xfrm>
          <a:prstGeom prst="rect">
            <a:avLst/>
          </a:prstGeom>
          <a:noFill/>
          <a:ln/>
        </p:spPr>
        <p:txBody>
          <a:bodyPr wrap="square" lIns="0" tIns="0" rIns="0" bIns="0" rtlCol="0" anchor="ctr"/>
          <a:lstStyle/>
          <a:p>
            <a:pPr indent="0" marL="0">
              <a:buNone/>
            </a:pPr>
            <a:r>
              <a:rPr lang="en-US" sz="1600" b="1" dirty="0">
                <a:solidFill>
                  <a:schemeClr val="tx1"/>
                </a:solidFill>
              </a:rPr>
              <a:t>Fiebre</a:t>
            </a:r>
            <a:endParaRPr lang="en-US" sz="1600" dirty="0"/>
          </a:p>
        </p:txBody>
      </p:sp>
      <p:sp>
        <p:nvSpPr>
          <p:cNvPr id="28" name="Text 20"/>
          <p:cNvSpPr txBox="1"/>
          <p:nvPr/>
        </p:nvSpPr>
        <p:spPr>
          <a:xfrm>
            <a:off x="2697480" y="3465576"/>
            <a:ext cx="5897880" cy="512064"/>
          </a:xfrm>
          <a:prstGeom prst="rect">
            <a:avLst/>
          </a:prstGeom>
          <a:noFill/>
          <a:ln/>
        </p:spPr>
        <p:txBody>
          <a:bodyPr wrap="square" lIns="0" tIns="0" rIns="0" bIns="0" rtlCol="0" anchor="ctr"/>
          <a:lstStyle/>
          <a:p>
            <a:pPr indent="0" marL="0">
              <a:buNone/>
            </a:pPr>
            <a:r>
              <a:rPr lang="en-US" sz="1400" dirty="0">
                <a:solidFill>
                  <a:schemeClr val="tx1"/>
                </a:solidFill>
              </a:rPr>
              <a:t>Señales químicas llegan al cerebro y sube la temperatura del cuerpo.</a:t>
            </a:r>
            <a:endParaRPr lang="en-US" sz="1400" dirty="0"/>
          </a:p>
        </p:txBody>
      </p:sp>
      <p:sp>
        <p:nvSpPr>
          <p:cNvPr id="29" name="Pregunta"/>
          <p:cNvSpPr/>
          <p:nvPr/>
        </p:nvSpPr>
        <p:spPr>
          <a:xfrm>
            <a:off x="457200" y="4160520"/>
            <a:ext cx="8229600" cy="502920"/>
          </a:xfrm>
          <a:prstGeom prst="roundRect">
            <a:avLst>
              <a:gd name="adj" fmla="val 18182"/>
            </a:avLst>
          </a:prstGeom>
          <a:solidFill>
            <a:srgbClr val="FDE4E2"/>
          </a:solidFill>
          <a:ln/>
        </p:spPr>
      </p:sp>
      <p:sp>
        <p:nvSpPr>
          <p:cNvPr id="30" name="Text 22"/>
          <p:cNvSpPr txBox="1"/>
          <p:nvPr/>
        </p:nvSpPr>
        <p:spPr>
          <a:xfrm>
            <a:off x="594360" y="4251960"/>
            <a:ext cx="320040" cy="320040"/>
          </a:xfrm>
          <a:prstGeom prst="ellipse">
            <a:avLst/>
          </a:prstGeom>
          <a:solidFill>
            <a:srgbClr val="D2504B"/>
          </a:solid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31" name="Texto pregunta"/>
          <p:cNvSpPr txBox="1"/>
          <p:nvPr/>
        </p:nvSpPr>
        <p:spPr>
          <a:xfrm>
            <a:off x="1051560" y="4160520"/>
            <a:ext cx="7498080" cy="502920"/>
          </a:xfrm>
          <a:prstGeom prst="rect">
            <a:avLst/>
          </a:prstGeom>
          <a:noFill/>
          <a:ln/>
        </p:spPr>
        <p:txBody>
          <a:bodyPr wrap="square" lIns="0" tIns="0" rIns="0" bIns="0" rtlCol="0" anchor="ctr"/>
          <a:lstStyle/>
          <a:p>
            <a:pPr indent="0" marL="0">
              <a:buNone/>
            </a:pPr>
            <a:r>
              <a:rPr lang="en-US" sz="1400" b="1" dirty="0">
                <a:solidFill>
                  <a:schemeClr val="tx1"/>
                </a:solidFill>
              </a:rPr>
              <a:t>¿Qué signo aparece primero en el juego? ¿Por qué ese y no otro?</a:t>
            </a:r>
            <a:endParaRPr lang="en-US" sz="1400" dirty="0"/>
          </a:p>
        </p:txBody>
      </p:sp>
      <p:sp>
        <p:nvSpPr>
          <p:cNvPr id="25" name="Slide Number Placeholder 0"/>
          <p:cNvSpPr>
            <a:spLocks noGrp="1"/>
          </p:cNvSpPr>
          <p:nvPr>
            <p:ph type="sldNum" sz="quarter" idx="4294967295"/>
          </p:nvPr>
        </p:nvSpPr>
        <p:spPr>
          <a:xfrm>
            <a:off x="8138160" y="482803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El pus no es suciedad: es evidencia del combate</a:t>
            </a:r>
            <a:endParaRPr lang="en-US" sz="2800" dirty="0"/>
          </a:p>
        </p:txBody>
      </p:sp>
      <p:sp>
        <p:nvSpPr>
          <p:cNvPr id="4" name="Ingrediente 1"/>
          <p:cNvSpPr/>
          <p:nvPr/>
        </p:nvSpPr>
        <p:spPr>
          <a:xfrm>
            <a:off x="457200" y="1143000"/>
            <a:ext cx="2011680" cy="1005840"/>
          </a:xfrm>
          <a:prstGeom prst="roundRect">
            <a:avLst>
              <a:gd name="adj" fmla="val 10909"/>
            </a:avLst>
          </a:prstGeom>
          <a:solidFill>
            <a:srgbClr val="FFFFFF"/>
          </a:solidFill>
          <a:ln/>
          <a:effectLst>
            <a:outerShdw sx="100000" sy="100000" kx="0" ky="0" algn="bl" rotWithShape="0" blurRad="76200" dist="25400" dir="5400000">
              <a:srgbClr val="1D3B4F">
                <a:alpha val="12000"/>
              </a:srgbClr>
            </a:outerShdw>
          </a:effectLst>
        </p:spPr>
      </p:sp>
      <p:sp>
        <p:nvSpPr>
          <p:cNvPr id="5" name="Shape 2"/>
          <p:cNvSpPr/>
          <p:nvPr/>
        </p:nvSpPr>
        <p:spPr>
          <a:xfrm>
            <a:off x="594360" y="1536192"/>
            <a:ext cx="219456" cy="219456"/>
          </a:xfrm>
          <a:prstGeom prst="ellipse">
            <a:avLst/>
          </a:prstGeom>
          <a:solidFill>
            <a:srgbClr val="D2504B"/>
          </a:solidFill>
          <a:ln/>
        </p:spPr>
      </p:sp>
      <p:sp>
        <p:nvSpPr>
          <p:cNvPr id="6" name="Text 3"/>
          <p:cNvSpPr txBox="1"/>
          <p:nvPr/>
        </p:nvSpPr>
        <p:spPr>
          <a:xfrm>
            <a:off x="914400" y="1143000"/>
            <a:ext cx="1463040" cy="1005840"/>
          </a:xfrm>
          <a:prstGeom prst="rect">
            <a:avLst/>
          </a:prstGeom>
          <a:noFill/>
          <a:ln/>
        </p:spPr>
        <p:txBody>
          <a:bodyPr wrap="square" lIns="0" tIns="0" rIns="0" bIns="0" rtlCol="0" anchor="ctr"/>
          <a:lstStyle/>
          <a:p>
            <a:pPr indent="0" marL="0">
              <a:buNone/>
            </a:pPr>
            <a:r>
              <a:rPr lang="en-US" sz="1600" b="1" dirty="0">
                <a:solidFill>
                  <a:schemeClr val="tx1"/>
                </a:solidFill>
              </a:rPr>
              <a:t>Líquido</a:t>
            </a:r>
            <a:endParaRPr lang="en-US" sz="1600" dirty="0"/>
          </a:p>
        </p:txBody>
      </p:sp>
      <p:sp>
        <p:nvSpPr>
          <p:cNvPr id="7" name="Text 4"/>
          <p:cNvSpPr txBox="1"/>
          <p:nvPr/>
        </p:nvSpPr>
        <p:spPr>
          <a:xfrm>
            <a:off x="2468880" y="1143000"/>
            <a:ext cx="274320" cy="1005840"/>
          </a:xfrm>
          <a:prstGeom prst="rect">
            <a:avLst/>
          </a:prstGeom>
          <a:noFill/>
          <a:ln/>
        </p:spPr>
        <p:txBody>
          <a:bodyPr wrap="square" lIns="0" tIns="0" rIns="0" bIns="0" rtlCol="0" anchor="ctr"/>
          <a:lstStyle/>
          <a:p>
            <a:pPr algn="ctr" indent="0" marL="0">
              <a:buNone/>
            </a:pPr>
            <a:r>
              <a:rPr lang="en-US" sz="2400" b="1" dirty="0">
                <a:solidFill>
                  <a:schemeClr val="accent1"/>
                </a:solidFill>
              </a:rPr>
              <a:t>+</a:t>
            </a:r>
            <a:endParaRPr lang="en-US" sz="2400" dirty="0"/>
          </a:p>
        </p:txBody>
      </p:sp>
      <p:sp>
        <p:nvSpPr>
          <p:cNvPr id="8" name="Ingrediente 2"/>
          <p:cNvSpPr/>
          <p:nvPr/>
        </p:nvSpPr>
        <p:spPr>
          <a:xfrm>
            <a:off x="2743200" y="1143000"/>
            <a:ext cx="2011680" cy="1005840"/>
          </a:xfrm>
          <a:prstGeom prst="roundRect">
            <a:avLst>
              <a:gd name="adj" fmla="val 10909"/>
            </a:avLst>
          </a:prstGeom>
          <a:solidFill>
            <a:srgbClr val="FFFFFF"/>
          </a:solidFill>
          <a:ln/>
          <a:effectLst>
            <a:outerShdw sx="100000" sy="100000" kx="0" ky="0" algn="bl" rotWithShape="0" blurRad="76200" dist="25400" dir="5400000">
              <a:srgbClr val="1D3B4F">
                <a:alpha val="12000"/>
              </a:srgbClr>
            </a:outerShdw>
          </a:effectLst>
        </p:spPr>
      </p:sp>
      <p:sp>
        <p:nvSpPr>
          <p:cNvPr id="9" name="Shape 6"/>
          <p:cNvSpPr/>
          <p:nvPr/>
        </p:nvSpPr>
        <p:spPr>
          <a:xfrm>
            <a:off x="2880360" y="1536192"/>
            <a:ext cx="219456" cy="219456"/>
          </a:xfrm>
          <a:prstGeom prst="ellipse">
            <a:avLst/>
          </a:prstGeom>
          <a:solidFill>
            <a:srgbClr val="7B68C8"/>
          </a:solidFill>
          <a:ln/>
        </p:spPr>
      </p:sp>
      <p:sp>
        <p:nvSpPr>
          <p:cNvPr id="10" name="Text 7"/>
          <p:cNvSpPr txBox="1"/>
          <p:nvPr/>
        </p:nvSpPr>
        <p:spPr>
          <a:xfrm>
            <a:off x="3200400" y="1143000"/>
            <a:ext cx="1463040" cy="1005840"/>
          </a:xfrm>
          <a:prstGeom prst="rect">
            <a:avLst/>
          </a:prstGeom>
          <a:noFill/>
          <a:ln/>
        </p:spPr>
        <p:txBody>
          <a:bodyPr wrap="square" lIns="0" tIns="0" rIns="0" bIns="0" rtlCol="0" anchor="ctr"/>
          <a:lstStyle/>
          <a:p>
            <a:pPr indent="0" marL="0">
              <a:buNone/>
            </a:pPr>
            <a:r>
              <a:rPr lang="en-US" sz="1600" b="1" dirty="0">
                <a:solidFill>
                  <a:schemeClr val="tx1"/>
                </a:solidFill>
              </a:rPr>
              <a:t>Neutrófilos muertos</a:t>
            </a:r>
            <a:endParaRPr lang="en-US" sz="1600" dirty="0"/>
          </a:p>
        </p:txBody>
      </p:sp>
      <p:sp>
        <p:nvSpPr>
          <p:cNvPr id="11" name="Text 8"/>
          <p:cNvSpPr txBox="1"/>
          <p:nvPr/>
        </p:nvSpPr>
        <p:spPr>
          <a:xfrm>
            <a:off x="4754880" y="1143000"/>
            <a:ext cx="274320" cy="1005840"/>
          </a:xfrm>
          <a:prstGeom prst="rect">
            <a:avLst/>
          </a:prstGeom>
          <a:noFill/>
          <a:ln/>
        </p:spPr>
        <p:txBody>
          <a:bodyPr wrap="square" lIns="0" tIns="0" rIns="0" bIns="0" rtlCol="0" anchor="ctr"/>
          <a:lstStyle/>
          <a:p>
            <a:pPr algn="ctr" indent="0" marL="0">
              <a:buNone/>
            </a:pPr>
            <a:r>
              <a:rPr lang="en-US" sz="2400" b="1" dirty="0">
                <a:solidFill>
                  <a:schemeClr val="accent1"/>
                </a:solidFill>
              </a:rPr>
              <a:t>+</a:t>
            </a:r>
            <a:endParaRPr lang="en-US" sz="2400" dirty="0"/>
          </a:p>
        </p:txBody>
      </p:sp>
      <p:sp>
        <p:nvSpPr>
          <p:cNvPr id="12" name="Ingrediente 3"/>
          <p:cNvSpPr/>
          <p:nvPr/>
        </p:nvSpPr>
        <p:spPr>
          <a:xfrm>
            <a:off x="5029200" y="1143000"/>
            <a:ext cx="2011680" cy="1005840"/>
          </a:xfrm>
          <a:prstGeom prst="roundRect">
            <a:avLst>
              <a:gd name="adj" fmla="val 10909"/>
            </a:avLst>
          </a:prstGeom>
          <a:solidFill>
            <a:srgbClr val="FFFFFF"/>
          </a:solidFill>
          <a:ln/>
          <a:effectLst>
            <a:outerShdw sx="100000" sy="100000" kx="0" ky="0" algn="bl" rotWithShape="0" blurRad="76200" dist="25400" dir="5400000">
              <a:srgbClr val="1D3B4F">
                <a:alpha val="12000"/>
              </a:srgbClr>
            </a:outerShdw>
          </a:effectLst>
        </p:spPr>
      </p:sp>
      <p:sp>
        <p:nvSpPr>
          <p:cNvPr id="13" name="Shape 10"/>
          <p:cNvSpPr/>
          <p:nvPr/>
        </p:nvSpPr>
        <p:spPr>
          <a:xfrm>
            <a:off x="5166360" y="1536192"/>
            <a:ext cx="219456" cy="219456"/>
          </a:xfrm>
          <a:prstGeom prst="ellipse">
            <a:avLst/>
          </a:prstGeom>
          <a:solidFill>
            <a:srgbClr val="3E9E78"/>
          </a:solidFill>
          <a:ln/>
        </p:spPr>
      </p:sp>
      <p:sp>
        <p:nvSpPr>
          <p:cNvPr id="14" name="Text 11"/>
          <p:cNvSpPr txBox="1"/>
          <p:nvPr/>
        </p:nvSpPr>
        <p:spPr>
          <a:xfrm>
            <a:off x="5486400" y="1143000"/>
            <a:ext cx="1463040" cy="1005840"/>
          </a:xfrm>
          <a:prstGeom prst="rect">
            <a:avLst/>
          </a:prstGeom>
          <a:noFill/>
          <a:ln/>
        </p:spPr>
        <p:txBody>
          <a:bodyPr wrap="square" lIns="0" tIns="0" rIns="0" bIns="0" rtlCol="0" anchor="ctr"/>
          <a:lstStyle/>
          <a:p>
            <a:pPr indent="0" marL="0">
              <a:buNone/>
            </a:pPr>
            <a:r>
              <a:rPr lang="en-US" sz="1600" b="1" dirty="0">
                <a:solidFill>
                  <a:schemeClr val="tx1"/>
                </a:solidFill>
              </a:rPr>
              <a:t>Microbios destruidos</a:t>
            </a:r>
            <a:endParaRPr lang="en-US" sz="1600" dirty="0"/>
          </a:p>
        </p:txBody>
      </p:sp>
      <p:sp>
        <p:nvSpPr>
          <p:cNvPr id="15" name="Text 12"/>
          <p:cNvSpPr txBox="1"/>
          <p:nvPr/>
        </p:nvSpPr>
        <p:spPr>
          <a:xfrm>
            <a:off x="7315200" y="1143000"/>
            <a:ext cx="320040" cy="1005840"/>
          </a:xfrm>
          <a:prstGeom prst="rect">
            <a:avLst/>
          </a:prstGeom>
          <a:noFill/>
          <a:ln/>
        </p:spPr>
        <p:txBody>
          <a:bodyPr wrap="square" lIns="0" tIns="0" rIns="0" bIns="0" rtlCol="0" anchor="ctr"/>
          <a:lstStyle/>
          <a:p>
            <a:pPr algn="ctr" indent="0" marL="0">
              <a:buNone/>
            </a:pPr>
            <a:r>
              <a:rPr lang="en-US" sz="2800" b="1" dirty="0">
                <a:solidFill>
                  <a:schemeClr val="accent1"/>
                </a:solidFill>
              </a:rPr>
              <a:t>=</a:t>
            </a:r>
            <a:endParaRPr lang="en-US" sz="2800" dirty="0"/>
          </a:p>
        </p:txBody>
      </p:sp>
      <p:sp>
        <p:nvSpPr>
          <p:cNvPr id="16" name="Pus"/>
          <p:cNvSpPr/>
          <p:nvPr/>
        </p:nvSpPr>
        <p:spPr>
          <a:xfrm>
            <a:off x="7680960" y="1143000"/>
            <a:ext cx="1005840" cy="1005840"/>
          </a:xfrm>
          <a:prstGeom prst="roundRect">
            <a:avLst>
              <a:gd name="adj" fmla="val 9091"/>
            </a:avLst>
          </a:prstGeom>
          <a:solidFill>
            <a:srgbClr val="F3E3A0"/>
          </a:solidFill>
          <a:ln/>
        </p:spPr>
      </p:sp>
      <p:sp>
        <p:nvSpPr>
          <p:cNvPr id="17" name="Text 14"/>
          <p:cNvSpPr txBox="1"/>
          <p:nvPr/>
        </p:nvSpPr>
        <p:spPr>
          <a:xfrm>
            <a:off x="7680960" y="1143000"/>
            <a:ext cx="1005840" cy="1005840"/>
          </a:xfrm>
          <a:prstGeom prst="rect">
            <a:avLst/>
          </a:prstGeom>
          <a:noFill/>
          <a:ln/>
        </p:spPr>
        <p:txBody>
          <a:bodyPr wrap="square" lIns="0" tIns="0" rIns="0" bIns="0" rtlCol="0" anchor="ctr"/>
          <a:lstStyle/>
          <a:p>
            <a:pPr algn="ctr" indent="0" marL="0">
              <a:buNone/>
            </a:pPr>
            <a:r>
              <a:rPr lang="en-US" sz="1800" b="1" dirty="0">
                <a:solidFill>
                  <a:schemeClr val="tx1"/>
                </a:solidFill>
              </a:rPr>
              <a:t>Pus</a:t>
            </a:r>
            <a:endParaRPr lang="en-US" sz="1800" dirty="0"/>
          </a:p>
        </p:txBody>
      </p:sp>
      <p:sp>
        <p:nvSpPr>
          <p:cNvPr id="18" name="Por qué se forma"/>
          <p:cNvSpPr/>
          <p:nvPr/>
        </p:nvSpPr>
        <p:spPr>
          <a:xfrm>
            <a:off x="457200" y="2377440"/>
            <a:ext cx="4023360" cy="1691640"/>
          </a:xfrm>
          <a:prstGeom prst="roundRect">
            <a:avLst>
              <a:gd name="adj" fmla="val 6486"/>
            </a:avLst>
          </a:prstGeom>
          <a:solidFill>
            <a:srgbClr val="FFFFFF"/>
          </a:solidFill>
          <a:ln/>
          <a:effectLst>
            <a:outerShdw sx="100000" sy="100000" kx="0" ky="0" algn="bl" rotWithShape="0" blurRad="76200" dist="25400" dir="5400000">
              <a:srgbClr val="1D3B4F">
                <a:alpha val="12000"/>
              </a:srgbClr>
            </a:outerShdw>
          </a:effectLst>
        </p:spPr>
      </p:sp>
      <p:sp>
        <p:nvSpPr>
          <p:cNvPr id="19" name="Text 16"/>
          <p:cNvSpPr txBox="1"/>
          <p:nvPr/>
        </p:nvSpPr>
        <p:spPr>
          <a:xfrm>
            <a:off x="685800" y="2468880"/>
            <a:ext cx="3611880" cy="1508760"/>
          </a:xfrm>
          <a:prstGeom prst="rect">
            <a:avLst/>
          </a:prstGeom>
          <a:noFill/>
          <a:ln/>
        </p:spPr>
        <p:txBody>
          <a:bodyPr wrap="square" lIns="0" tIns="0" rIns="0" bIns="0" rtlCol="0" anchor="t"/>
          <a:lstStyle/>
          <a:p>
            <a:pPr indent="0" marL="0">
              <a:spcAft>
                <a:spcPts val="400"/>
              </a:spcAft>
              <a:buNone/>
            </a:pPr>
            <a:r>
              <a:rPr lang="en-US" sz="1600" b="1" dirty="0">
                <a:solidFill>
                  <a:schemeClr val="accent1"/>
                </a:solidFill>
              </a:rPr>
              <a:t>Por qué se forma</a:t>
            </a:r>
            <a:endParaRPr lang="en-US" sz="1600" dirty="0"/>
          </a:p>
          <a:p>
            <a:pPr indent="0" marL="0">
              <a:spcAft>
                <a:spcPts val="400"/>
              </a:spcAft>
              <a:buNone/>
            </a:pPr>
            <a:r>
              <a:rPr lang="en-US" sz="1600" dirty="0">
                <a:solidFill>
                  <a:schemeClr val="tx1"/>
                </a:solidFill>
              </a:rPr>
              <a:t>Los neutrófilos viven poco: al combatir mueren y se acumulan junto a los microbios destruidos.</a:t>
            </a:r>
            <a:endParaRPr lang="en-US" sz="1600" dirty="0"/>
          </a:p>
        </p:txBody>
      </p:sp>
      <p:sp>
        <p:nvSpPr>
          <p:cNvPr id="20" name="Quién lo limpia"/>
          <p:cNvSpPr/>
          <p:nvPr/>
        </p:nvSpPr>
        <p:spPr>
          <a:xfrm>
            <a:off x="4663440" y="2377440"/>
            <a:ext cx="4023360" cy="1691640"/>
          </a:xfrm>
          <a:prstGeom prst="roundRect">
            <a:avLst>
              <a:gd name="adj" fmla="val 6486"/>
            </a:avLst>
          </a:prstGeom>
          <a:solidFill>
            <a:srgbClr val="FFFFFF"/>
          </a:solidFill>
          <a:ln/>
          <a:effectLst>
            <a:outerShdw sx="100000" sy="100000" kx="0" ky="0" algn="bl" rotWithShape="0" blurRad="76200" dist="25400" dir="5400000">
              <a:srgbClr val="1D3B4F">
                <a:alpha val="12000"/>
              </a:srgbClr>
            </a:outerShdw>
          </a:effectLst>
        </p:spPr>
      </p:sp>
      <p:sp>
        <p:nvSpPr>
          <p:cNvPr id="21" name="Text 18"/>
          <p:cNvSpPr txBox="1"/>
          <p:nvPr/>
        </p:nvSpPr>
        <p:spPr>
          <a:xfrm>
            <a:off x="4892040" y="2468880"/>
            <a:ext cx="3611880" cy="1508760"/>
          </a:xfrm>
          <a:prstGeom prst="rect">
            <a:avLst/>
          </a:prstGeom>
          <a:noFill/>
          <a:ln/>
        </p:spPr>
        <p:txBody>
          <a:bodyPr wrap="square" lIns="0" tIns="0" rIns="0" bIns="0" rtlCol="0" anchor="t"/>
          <a:lstStyle/>
          <a:p>
            <a:pPr indent="0" marL="0">
              <a:spcAft>
                <a:spcPts val="400"/>
              </a:spcAft>
              <a:buNone/>
            </a:pPr>
            <a:r>
              <a:rPr lang="en-US" sz="1600" b="1" dirty="0">
                <a:solidFill>
                  <a:schemeClr val="accent1"/>
                </a:solidFill>
              </a:rPr>
              <a:t>Quién lo limpia</a:t>
            </a:r>
            <a:endParaRPr lang="en-US" sz="1600" dirty="0"/>
          </a:p>
          <a:p>
            <a:pPr indent="0" marL="0">
              <a:spcAft>
                <a:spcPts val="400"/>
              </a:spcAft>
              <a:buNone/>
            </a:pPr>
            <a:r>
              <a:rPr lang="en-US" sz="1600" dirty="0">
                <a:solidFill>
                  <a:schemeClr val="tx1"/>
                </a:solidFill>
              </a:rPr>
              <a:t>Los macrófagos retiran el pus y despejan la zona para que el tejido se repare.</a:t>
            </a:r>
            <a:endParaRPr lang="en-US" sz="1600" dirty="0"/>
          </a:p>
        </p:txBody>
      </p:sp>
      <p:sp>
        <p:nvSpPr>
          <p:cNvPr id="22" name="Pregunta"/>
          <p:cNvSpPr/>
          <p:nvPr/>
        </p:nvSpPr>
        <p:spPr>
          <a:xfrm>
            <a:off x="457200" y="4251960"/>
            <a:ext cx="8229600" cy="502920"/>
          </a:xfrm>
          <a:prstGeom prst="roundRect">
            <a:avLst>
              <a:gd name="adj" fmla="val 18182"/>
            </a:avLst>
          </a:prstGeom>
          <a:solidFill>
            <a:srgbClr val="FDE4E2"/>
          </a:solidFill>
          <a:ln/>
        </p:spPr>
      </p:sp>
      <p:sp>
        <p:nvSpPr>
          <p:cNvPr id="23" name="Text 20"/>
          <p:cNvSpPr txBox="1"/>
          <p:nvPr/>
        </p:nvSpPr>
        <p:spPr>
          <a:xfrm>
            <a:off x="594360" y="4343400"/>
            <a:ext cx="320040" cy="320040"/>
          </a:xfrm>
          <a:prstGeom prst="ellipse">
            <a:avLst/>
          </a:prstGeom>
          <a:solidFill>
            <a:srgbClr val="D2504B"/>
          </a:solid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24" name="Texto pregunta"/>
          <p:cNvSpPr txBox="1"/>
          <p:nvPr/>
        </p:nvSpPr>
        <p:spPr>
          <a:xfrm>
            <a:off x="1051560" y="4251960"/>
            <a:ext cx="7498080" cy="502920"/>
          </a:xfrm>
          <a:prstGeom prst="rect">
            <a:avLst/>
          </a:prstGeom>
          <a:noFill/>
          <a:ln/>
        </p:spPr>
        <p:txBody>
          <a:bodyPr wrap="square" lIns="0" tIns="0" rIns="0" bIns="0" rtlCol="0" anchor="ctr"/>
          <a:lstStyle/>
          <a:p>
            <a:pPr indent="0" marL="0">
              <a:buNone/>
            </a:pPr>
            <a:r>
              <a:rPr lang="en-US" sz="1400" b="1" dirty="0">
                <a:solidFill>
                  <a:schemeClr val="tx1"/>
                </a:solidFill>
              </a:rPr>
              <a:t>¿Por qué apretar la herida para sacar el pus es mala idea?</a:t>
            </a:r>
            <a:endParaRPr lang="en-US" sz="1400" dirty="0"/>
          </a:p>
        </p:txBody>
      </p:sp>
      <p:sp>
        <p:nvSpPr>
          <p:cNvPr id="25" name="Slide Number Placeholder 0"/>
          <p:cNvSpPr>
            <a:spLocks noGrp="1"/>
          </p:cNvSpPr>
          <p:nvPr>
            <p:ph type="sldNum" sz="quarter" idx="4294967295"/>
          </p:nvPr>
        </p:nvSpPr>
        <p:spPr>
          <a:xfrm>
            <a:off x="8138160" y="482803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Una buena inflamación termina a tiempo</a:t>
            </a:r>
            <a:endParaRPr lang="en-US" sz="2800" dirty="0"/>
          </a:p>
        </p:txBody>
      </p:sp>
      <p:sp>
        <p:nvSpPr>
          <p:cNvPr id="4" name="Tarjeta Muy poca respuesta"/>
          <p:cNvSpPr/>
          <p:nvPr/>
        </p:nvSpPr>
        <p:spPr>
          <a:xfrm>
            <a:off x="457200" y="1143000"/>
            <a:ext cx="2560320" cy="2377440"/>
          </a:xfrm>
          <a:prstGeom prst="roundRect">
            <a:avLst>
              <a:gd name="adj" fmla="val 4615"/>
            </a:avLst>
          </a:prstGeom>
          <a:solidFill>
            <a:srgbClr val="FFFFFF"/>
          </a:solidFill>
          <a:ln/>
          <a:effectLst>
            <a:outerShdw sx="100000" sy="100000" kx="0" ky="0" algn="bl" rotWithShape="0" blurRad="76200" dist="25400" dir="5400000">
              <a:srgbClr val="1D3B4F">
                <a:alpha val="12000"/>
              </a:srgbClr>
            </a:outerShdw>
          </a:effectLst>
        </p:spPr>
      </p:sp>
      <p:sp>
        <p:nvSpPr>
          <p:cNvPr id="5" name="Shape 2"/>
          <p:cNvSpPr/>
          <p:nvPr/>
        </p:nvSpPr>
        <p:spPr>
          <a:xfrm>
            <a:off x="640080" y="1325880"/>
            <a:ext cx="2194560" cy="457200"/>
          </a:xfrm>
          <a:prstGeom prst="roundRect">
            <a:avLst>
              <a:gd name="adj" fmla="val 20000"/>
            </a:avLst>
          </a:prstGeom>
          <a:solidFill>
            <a:srgbClr val="D2504B"/>
          </a:solidFill>
          <a:ln/>
        </p:spPr>
      </p:sp>
      <p:sp>
        <p:nvSpPr>
          <p:cNvPr id="6" name="Text 3"/>
          <p:cNvSpPr txBox="1"/>
          <p:nvPr/>
        </p:nvSpPr>
        <p:spPr>
          <a:xfrm>
            <a:off x="640080" y="1325880"/>
            <a:ext cx="2194560" cy="457200"/>
          </a:xfrm>
          <a:prstGeom prst="rect">
            <a:avLst/>
          </a:prstGeom>
          <a:noFill/>
          <a:ln/>
        </p:spPr>
        <p:txBody>
          <a:bodyPr wrap="square" lIns="0" tIns="0" rIns="0" bIns="0" rtlCol="0" anchor="ctr"/>
          <a:lstStyle/>
          <a:p>
            <a:pPr algn="ctr" indent="0" marL="0">
              <a:buNone/>
            </a:pPr>
            <a:r>
              <a:rPr lang="en-US" sz="1400" b="1" dirty="0">
                <a:solidFill>
                  <a:schemeClr val="bg1"/>
                </a:solidFill>
              </a:rPr>
              <a:t>Muy poca respuesta</a:t>
            </a:r>
            <a:endParaRPr lang="en-US" sz="1400" dirty="0"/>
          </a:p>
        </p:txBody>
      </p:sp>
      <p:sp>
        <p:nvSpPr>
          <p:cNvPr id="7" name="Text 4"/>
          <p:cNvSpPr txBox="1"/>
          <p:nvPr/>
        </p:nvSpPr>
        <p:spPr>
          <a:xfrm>
            <a:off x="685800" y="1965960"/>
            <a:ext cx="2103120" cy="1508760"/>
          </a:xfrm>
          <a:prstGeom prst="rect">
            <a:avLst/>
          </a:prstGeom>
          <a:noFill/>
          <a:ln/>
        </p:spPr>
        <p:txBody>
          <a:bodyPr wrap="square" lIns="0" tIns="0" rIns="0" bIns="0" rtlCol="0" anchor="t"/>
          <a:lstStyle/>
          <a:p>
            <a:pPr indent="0" marL="0">
              <a:buNone/>
            </a:pPr>
            <a:r>
              <a:rPr lang="en-US" sz="1600" dirty="0">
                <a:solidFill>
                  <a:schemeClr val="tx1"/>
                </a:solidFill>
              </a:rPr>
              <a:t>La infección se disemina: los microbios se multiplican más rápido que las defensas.</a:t>
            </a:r>
            <a:endParaRPr lang="en-US" sz="1600" dirty="0"/>
          </a:p>
        </p:txBody>
      </p:sp>
      <p:sp>
        <p:nvSpPr>
          <p:cNvPr id="8" name="Tarjeta Respuesta justa"/>
          <p:cNvSpPr/>
          <p:nvPr/>
        </p:nvSpPr>
        <p:spPr>
          <a:xfrm>
            <a:off x="3291840" y="1143000"/>
            <a:ext cx="2560320" cy="2377440"/>
          </a:xfrm>
          <a:prstGeom prst="roundRect">
            <a:avLst>
              <a:gd name="adj" fmla="val 4615"/>
            </a:avLst>
          </a:prstGeom>
          <a:solidFill>
            <a:srgbClr val="FFFFFF"/>
          </a:solidFill>
          <a:ln/>
          <a:effectLst>
            <a:outerShdw sx="100000" sy="100000" kx="0" ky="0" algn="bl" rotWithShape="0" blurRad="76200" dist="25400" dir="5400000">
              <a:srgbClr val="1D3B4F">
                <a:alpha val="12000"/>
              </a:srgbClr>
            </a:outerShdw>
          </a:effectLst>
        </p:spPr>
      </p:sp>
      <p:sp>
        <p:nvSpPr>
          <p:cNvPr id="9" name="Shape 6"/>
          <p:cNvSpPr/>
          <p:nvPr/>
        </p:nvSpPr>
        <p:spPr>
          <a:xfrm>
            <a:off x="3474720" y="1325880"/>
            <a:ext cx="2194560" cy="457200"/>
          </a:xfrm>
          <a:prstGeom prst="roundRect">
            <a:avLst>
              <a:gd name="adj" fmla="val 20000"/>
            </a:avLst>
          </a:prstGeom>
          <a:solidFill>
            <a:srgbClr val="3E9E78"/>
          </a:solidFill>
          <a:ln/>
        </p:spPr>
      </p:sp>
      <p:sp>
        <p:nvSpPr>
          <p:cNvPr id="10" name="Text 7"/>
          <p:cNvSpPr txBox="1"/>
          <p:nvPr/>
        </p:nvSpPr>
        <p:spPr>
          <a:xfrm>
            <a:off x="3474720" y="1325880"/>
            <a:ext cx="2194560" cy="457200"/>
          </a:xfrm>
          <a:prstGeom prst="rect">
            <a:avLst/>
          </a:prstGeom>
          <a:noFill/>
          <a:ln/>
        </p:spPr>
        <p:txBody>
          <a:bodyPr wrap="square" lIns="0" tIns="0" rIns="0" bIns="0" rtlCol="0" anchor="ctr"/>
          <a:lstStyle/>
          <a:p>
            <a:pPr algn="ctr" indent="0" marL="0">
              <a:buNone/>
            </a:pPr>
            <a:r>
              <a:rPr lang="en-US" sz="1400" b="1" dirty="0">
                <a:solidFill>
                  <a:schemeClr val="bg1"/>
                </a:solidFill>
              </a:rPr>
              <a:t>Respuesta justa</a:t>
            </a:r>
            <a:endParaRPr lang="en-US" sz="1400" dirty="0"/>
          </a:p>
        </p:txBody>
      </p:sp>
      <p:sp>
        <p:nvSpPr>
          <p:cNvPr id="11" name="Text 8"/>
          <p:cNvSpPr txBox="1"/>
          <p:nvPr/>
        </p:nvSpPr>
        <p:spPr>
          <a:xfrm>
            <a:off x="3520440" y="1965960"/>
            <a:ext cx="2103120" cy="1508760"/>
          </a:xfrm>
          <a:prstGeom prst="rect">
            <a:avLst/>
          </a:prstGeom>
          <a:noFill/>
          <a:ln/>
        </p:spPr>
        <p:txBody>
          <a:bodyPr wrap="square" lIns="0" tIns="0" rIns="0" bIns="0" rtlCol="0" anchor="t"/>
          <a:lstStyle/>
          <a:p>
            <a:pPr indent="0" marL="0">
              <a:buNone/>
            </a:pPr>
            <a:r>
              <a:rPr lang="en-US" sz="1600" dirty="0">
                <a:solidFill>
                  <a:schemeClr val="tx1"/>
                </a:solidFill>
              </a:rPr>
              <a:t>Se elimina al microbio, el tejido se repara y la alarma se apaga.</a:t>
            </a:r>
            <a:endParaRPr lang="en-US" sz="1600" dirty="0"/>
          </a:p>
        </p:txBody>
      </p:sp>
      <p:sp>
        <p:nvSpPr>
          <p:cNvPr id="12" name="Tarjeta Demasiada o sin apagar"/>
          <p:cNvSpPr/>
          <p:nvPr/>
        </p:nvSpPr>
        <p:spPr>
          <a:xfrm>
            <a:off x="6126480" y="1143000"/>
            <a:ext cx="2560320" cy="2377440"/>
          </a:xfrm>
          <a:prstGeom prst="roundRect">
            <a:avLst>
              <a:gd name="adj" fmla="val 4615"/>
            </a:avLst>
          </a:prstGeom>
          <a:solidFill>
            <a:srgbClr val="FFFFFF"/>
          </a:solidFill>
          <a:ln/>
          <a:effectLst>
            <a:outerShdw sx="100000" sy="100000" kx="0" ky="0" algn="bl" rotWithShape="0" blurRad="76200" dist="25400" dir="5400000">
              <a:srgbClr val="1D3B4F">
                <a:alpha val="12000"/>
              </a:srgbClr>
            </a:outerShdw>
          </a:effectLst>
        </p:spPr>
      </p:sp>
      <p:sp>
        <p:nvSpPr>
          <p:cNvPr id="13" name="Shape 10"/>
          <p:cNvSpPr/>
          <p:nvPr/>
        </p:nvSpPr>
        <p:spPr>
          <a:xfrm>
            <a:off x="6309360" y="1325880"/>
            <a:ext cx="2194560" cy="457200"/>
          </a:xfrm>
          <a:prstGeom prst="roundRect">
            <a:avLst>
              <a:gd name="adj" fmla="val 20000"/>
            </a:avLst>
          </a:prstGeom>
          <a:solidFill>
            <a:srgbClr val="E0A020"/>
          </a:solidFill>
          <a:ln/>
        </p:spPr>
      </p:sp>
      <p:sp>
        <p:nvSpPr>
          <p:cNvPr id="14" name="Text 11"/>
          <p:cNvSpPr txBox="1"/>
          <p:nvPr/>
        </p:nvSpPr>
        <p:spPr>
          <a:xfrm>
            <a:off x="6309360" y="1325880"/>
            <a:ext cx="2194560" cy="457200"/>
          </a:xfrm>
          <a:prstGeom prst="rect">
            <a:avLst/>
          </a:prstGeom>
          <a:noFill/>
          <a:ln/>
        </p:spPr>
        <p:txBody>
          <a:bodyPr wrap="square" lIns="0" tIns="0" rIns="0" bIns="0" rtlCol="0" anchor="ctr"/>
          <a:lstStyle/>
          <a:p>
            <a:pPr algn="ctr" indent="0" marL="0">
              <a:buNone/>
            </a:pPr>
            <a:r>
              <a:rPr lang="en-US" sz="1400" b="1" dirty="0">
                <a:solidFill>
                  <a:schemeClr val="bg1"/>
                </a:solidFill>
              </a:rPr>
              <a:t>Demasiada o sin apagar</a:t>
            </a:r>
            <a:endParaRPr lang="en-US" sz="1400" dirty="0"/>
          </a:p>
        </p:txBody>
      </p:sp>
      <p:sp>
        <p:nvSpPr>
          <p:cNvPr id="15" name="Text 12"/>
          <p:cNvSpPr txBox="1"/>
          <p:nvPr/>
        </p:nvSpPr>
        <p:spPr>
          <a:xfrm>
            <a:off x="6355080" y="1965960"/>
            <a:ext cx="2103120" cy="1508760"/>
          </a:xfrm>
          <a:prstGeom prst="rect">
            <a:avLst/>
          </a:prstGeom>
          <a:noFill/>
          <a:ln/>
        </p:spPr>
        <p:txBody>
          <a:bodyPr wrap="square" lIns="0" tIns="0" rIns="0" bIns="0" rtlCol="0" anchor="t"/>
          <a:lstStyle/>
          <a:p>
            <a:pPr indent="0" marL="0">
              <a:buNone/>
            </a:pPr>
            <a:r>
              <a:rPr lang="en-US" sz="1600" dirty="0">
                <a:solidFill>
                  <a:schemeClr val="tx1"/>
                </a:solidFill>
              </a:rPr>
              <a:t>Las defensas dañan tejido sano: más dolor e hinchazón, y reparación lenta.</a:t>
            </a:r>
            <a:endParaRPr lang="en-US" sz="1600" dirty="0"/>
          </a:p>
        </p:txBody>
      </p:sp>
      <p:sp>
        <p:nvSpPr>
          <p:cNvPr id="16" name="Banner"/>
          <p:cNvSpPr/>
          <p:nvPr/>
        </p:nvSpPr>
        <p:spPr>
          <a:xfrm>
            <a:off x="457200" y="3749040"/>
            <a:ext cx="8229600" cy="502920"/>
          </a:xfrm>
          <a:prstGeom prst="roundRect">
            <a:avLst>
              <a:gd name="adj" fmla="val 18182"/>
            </a:avLst>
          </a:prstGeom>
          <a:solidFill>
            <a:srgbClr val="D6EEF0"/>
          </a:solidFill>
          <a:ln/>
        </p:spPr>
      </p:sp>
      <p:sp>
        <p:nvSpPr>
          <p:cNvPr id="17" name="Texto banner"/>
          <p:cNvSpPr txBox="1"/>
          <p:nvPr/>
        </p:nvSpPr>
        <p:spPr>
          <a:xfrm>
            <a:off x="640080" y="3749040"/>
            <a:ext cx="7863840" cy="502920"/>
          </a:xfrm>
          <a:prstGeom prst="rect">
            <a:avLst/>
          </a:prstGeom>
          <a:noFill/>
          <a:ln/>
        </p:spPr>
        <p:txBody>
          <a:bodyPr wrap="square" lIns="0" tIns="0" rIns="0" bIns="0" rtlCol="0" anchor="ctr"/>
          <a:lstStyle/>
          <a:p>
            <a:pPr indent="0" marL="0">
              <a:buNone/>
            </a:pPr>
            <a:r>
              <a:rPr lang="en-US" sz="1400" b="1" dirty="0">
                <a:solidFill>
                  <a:srgbClr val="1E8A94"/>
                </a:solidFill>
              </a:rPr>
              <a:t>En el juego: </a:t>
            </a:r>
            <a:pPr indent="0" marL="0">
              <a:buNone/>
            </a:pPr>
            <a:r>
              <a:rPr lang="en-US" sz="1400" dirty="0">
                <a:solidFill>
                  <a:schemeClr val="tx1"/>
                </a:solidFill>
              </a:rPr>
              <a:t>dar la alarma ayuda, pero apagar antes de tiempo o dejarla encendida tiene un costo.</a:t>
            </a:r>
            <a:endParaRPr lang="en-US" sz="1400" dirty="0"/>
          </a:p>
        </p:txBody>
      </p:sp>
      <p:sp>
        <p:nvSpPr>
          <p:cNvPr id="25" name="Slide Number Placeholder 0"/>
          <p:cNvSpPr>
            <a:spLocks noGrp="1"/>
          </p:cNvSpPr>
          <p:nvPr>
            <p:ph type="sldNum" sz="quarter" idx="4294967295"/>
          </p:nvPr>
        </p:nvSpPr>
        <p:spPr>
          <a:xfrm>
            <a:off x="8138160" y="482803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Cómo ayudar a tu segunda barrera</a:t>
            </a:r>
            <a:endParaRPr lang="en-US" sz="2800" dirty="0"/>
          </a:p>
        </p:txBody>
      </p:sp>
      <p:sp>
        <p:nvSpPr>
          <p:cNvPr id="4" name="Sí"/>
          <p:cNvSpPr/>
          <p:nvPr/>
        </p:nvSpPr>
        <p:spPr>
          <a:xfrm>
            <a:off x="457200" y="1097280"/>
            <a:ext cx="4023360" cy="3017520"/>
          </a:xfrm>
          <a:prstGeom prst="roundRect">
            <a:avLst>
              <a:gd name="adj" fmla="val 3636"/>
            </a:avLst>
          </a:prstGeom>
          <a:solidFill>
            <a:srgbClr val="FFFFFF"/>
          </a:solidFill>
          <a:ln/>
          <a:effectLst>
            <a:outerShdw sx="100000" sy="100000" kx="0" ky="0" algn="bl" rotWithShape="0" blurRad="76200" dist="25400" dir="5400000">
              <a:srgbClr val="1D3B4F">
                <a:alpha val="12000"/>
              </a:srgbClr>
            </a:outerShdw>
          </a:effectLst>
        </p:spPr>
      </p:sp>
      <p:sp>
        <p:nvSpPr>
          <p:cNvPr id="5" name="No"/>
          <p:cNvSpPr/>
          <p:nvPr/>
        </p:nvSpPr>
        <p:spPr>
          <a:xfrm>
            <a:off x="4663440" y="1097280"/>
            <a:ext cx="4023360" cy="3017520"/>
          </a:xfrm>
          <a:prstGeom prst="roundRect">
            <a:avLst>
              <a:gd name="adj" fmla="val 3636"/>
            </a:avLst>
          </a:prstGeom>
          <a:solidFill>
            <a:srgbClr val="FFFFFF"/>
          </a:solidFill>
          <a:ln/>
          <a:effectLst>
            <a:outerShdw sx="100000" sy="100000" kx="0" ky="0" algn="bl" rotWithShape="0" blurRad="76200" dist="25400" dir="5400000">
              <a:srgbClr val="1D3B4F">
                <a:alpha val="12000"/>
              </a:srgbClr>
            </a:outerShdw>
          </a:effectLst>
        </p:spPr>
      </p:sp>
      <p:sp>
        <p:nvSpPr>
          <p:cNvPr id="6" name="Círculo ícono"/>
          <p:cNvSpPr/>
          <p:nvPr/>
        </p:nvSpPr>
        <p:spPr>
          <a:xfrm>
            <a:off x="640080" y="1234440"/>
            <a:ext cx="457200" cy="457200"/>
          </a:xfrm>
          <a:prstGeom prst="ellipse">
            <a:avLst/>
          </a:prstGeom>
          <a:solidFill>
            <a:srgbClr val="3E9E78"/>
          </a:solidFill>
          <a:ln/>
        </p:spPr>
      </p:sp>
      <p:pic>
        <p:nvPicPr>
          <p:cNvPr id="7" name="Image 0" descr="FaCheck">    </p:cNvPr>
          <p:cNvPicPr>
            <a:picLocks noChangeAspect="1"/>
          </p:cNvPicPr>
          <p:nvPr/>
        </p:nvPicPr>
        <p:blipFill>
          <a:blip r:embed="rId1"/>
          <a:stretch>
            <a:fillRect/>
          </a:stretch>
        </p:blipFill>
        <p:spPr>
          <a:xfrm>
            <a:off x="754380" y="1348740"/>
            <a:ext cx="228600" cy="228600"/>
          </a:xfrm>
          <a:prstGeom prst="rect">
            <a:avLst/>
          </a:prstGeom>
        </p:spPr>
      </p:pic>
      <p:sp>
        <p:nvSpPr>
          <p:cNvPr id="8" name="Círculo ícono"/>
          <p:cNvSpPr/>
          <p:nvPr/>
        </p:nvSpPr>
        <p:spPr>
          <a:xfrm>
            <a:off x="4846320" y="1234440"/>
            <a:ext cx="457200" cy="457200"/>
          </a:xfrm>
          <a:prstGeom prst="ellipse">
            <a:avLst/>
          </a:prstGeom>
          <a:solidFill>
            <a:srgbClr val="D2504B"/>
          </a:solidFill>
          <a:ln/>
        </p:spPr>
      </p:sp>
      <p:pic>
        <p:nvPicPr>
          <p:cNvPr id="9" name="Image 1" descr="FaTimes">    </p:cNvPr>
          <p:cNvPicPr>
            <a:picLocks noChangeAspect="1"/>
          </p:cNvPicPr>
          <p:nvPr/>
        </p:nvPicPr>
        <p:blipFill>
          <a:blip r:embed="rId2"/>
          <a:stretch>
            <a:fillRect/>
          </a:stretch>
        </p:blipFill>
        <p:spPr>
          <a:xfrm>
            <a:off x="4960620" y="1348740"/>
            <a:ext cx="228600" cy="228600"/>
          </a:xfrm>
          <a:prstGeom prst="rect">
            <a:avLst/>
          </a:prstGeom>
        </p:spPr>
      </p:pic>
      <p:sp>
        <p:nvSpPr>
          <p:cNvPr id="10" name="Text 5"/>
          <p:cNvSpPr txBox="1"/>
          <p:nvPr/>
        </p:nvSpPr>
        <p:spPr>
          <a:xfrm>
            <a:off x="1234440" y="1234440"/>
            <a:ext cx="3108960" cy="4572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Sí conviene</a:t>
            </a:r>
            <a:endParaRPr lang="en-US" sz="1800" dirty="0"/>
          </a:p>
        </p:txBody>
      </p:sp>
      <p:sp>
        <p:nvSpPr>
          <p:cNvPr id="11" name="Text 6"/>
          <p:cNvSpPr txBox="1"/>
          <p:nvPr/>
        </p:nvSpPr>
        <p:spPr>
          <a:xfrm>
            <a:off x="5440680" y="1234440"/>
            <a:ext cx="3108960" cy="4572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No conviene</a:t>
            </a:r>
            <a:endParaRPr lang="en-US" sz="1800" dirty="0"/>
          </a:p>
        </p:txBody>
      </p:sp>
      <p:sp>
        <p:nvSpPr>
          <p:cNvPr id="12" name="Text 7"/>
          <p:cNvSpPr txBox="1"/>
          <p:nvPr/>
        </p:nvSpPr>
        <p:spPr>
          <a:xfrm>
            <a:off x="685800" y="1874520"/>
            <a:ext cx="3657600" cy="21488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Lavar la herida con agua y jabón</a:t>
            </a:r>
            <a:endParaRPr lang="en-US" sz="1400" dirty="0"/>
          </a:p>
          <a:p>
            <a:pPr marL="342900" indent="-342900">
              <a:spcAft>
                <a:spcPts val="600"/>
              </a:spcAft>
              <a:buSzPct val="100000"/>
              <a:buChar char="•"/>
            </a:pPr>
            <a:r>
              <a:rPr lang="en-US" sz="1400" dirty="0">
                <a:solidFill>
                  <a:schemeClr val="tx1"/>
                </a:solidFill>
              </a:rPr>
              <a:t>Cubrirla con un apósito limpio</a:t>
            </a:r>
            <a:endParaRPr lang="en-US" sz="1400" dirty="0"/>
          </a:p>
          <a:p>
            <a:pPr marL="342900" indent="-342900">
              <a:spcAft>
                <a:spcPts val="600"/>
              </a:spcAft>
              <a:buSzPct val="100000"/>
              <a:buChar char="•"/>
            </a:pPr>
            <a:r>
              <a:rPr lang="en-US" sz="1400" dirty="0">
                <a:solidFill>
                  <a:schemeClr val="tx1"/>
                </a:solidFill>
              </a:rPr>
              <a:t>No sacar la costra</a:t>
            </a:r>
            <a:endParaRPr lang="en-US" sz="1400" dirty="0"/>
          </a:p>
          <a:p>
            <a:pPr marL="342900" indent="-342900">
              <a:spcAft>
                <a:spcPts val="600"/>
              </a:spcAft>
              <a:buSzPct val="100000"/>
              <a:buChar char="•"/>
            </a:pPr>
            <a:r>
              <a:rPr lang="en-US" sz="1400" dirty="0">
                <a:solidFill>
                  <a:schemeClr val="tx1"/>
                </a:solidFill>
              </a:rPr>
              <a:t>Descansar y tomar líquidos</a:t>
            </a:r>
            <a:endParaRPr lang="en-US" sz="1400" dirty="0"/>
          </a:p>
          <a:p>
            <a:pPr marL="342900" indent="-342900">
              <a:spcAft>
                <a:spcPts val="600"/>
              </a:spcAft>
              <a:buSzPct val="100000"/>
              <a:buChar char="•"/>
            </a:pPr>
            <a:r>
              <a:rPr lang="en-US" sz="1400" dirty="0">
                <a:solidFill>
                  <a:schemeClr val="tx1"/>
                </a:solidFill>
              </a:rPr>
              <a:t>Avisar a un adulto si hay más rojez, pus o fiebre</a:t>
            </a:r>
            <a:endParaRPr lang="en-US" sz="1400" dirty="0"/>
          </a:p>
        </p:txBody>
      </p:sp>
      <p:sp>
        <p:nvSpPr>
          <p:cNvPr id="13" name="Text 8"/>
          <p:cNvSpPr txBox="1"/>
          <p:nvPr/>
        </p:nvSpPr>
        <p:spPr>
          <a:xfrm>
            <a:off x="4892040" y="1874520"/>
            <a:ext cx="3657600" cy="21488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Echar tierra o pasta de dientes</a:t>
            </a:r>
            <a:endParaRPr lang="en-US" sz="1400" dirty="0"/>
          </a:p>
          <a:p>
            <a:pPr marL="342900" indent="-342900">
              <a:spcAft>
                <a:spcPts val="600"/>
              </a:spcAft>
              <a:buSzPct val="100000"/>
              <a:buChar char="•"/>
            </a:pPr>
            <a:r>
              <a:rPr lang="en-US" sz="1400" dirty="0">
                <a:solidFill>
                  <a:schemeClr val="tx1"/>
                </a:solidFill>
              </a:rPr>
              <a:t>Rascar o apretar la herida</a:t>
            </a:r>
            <a:endParaRPr lang="en-US" sz="1400" dirty="0"/>
          </a:p>
          <a:p>
            <a:pPr marL="342900" indent="-342900">
              <a:spcAft>
                <a:spcPts val="600"/>
              </a:spcAft>
              <a:buSzPct val="100000"/>
              <a:buChar char="•"/>
            </a:pPr>
            <a:r>
              <a:rPr lang="en-US" sz="1400" dirty="0">
                <a:solidFill>
                  <a:schemeClr val="tx1"/>
                </a:solidFill>
              </a:rPr>
              <a:t>Taparla sin lavarla</a:t>
            </a:r>
            <a:endParaRPr lang="en-US" sz="1400" dirty="0"/>
          </a:p>
          <a:p>
            <a:pPr marL="342900" indent="-342900">
              <a:spcAft>
                <a:spcPts val="600"/>
              </a:spcAft>
              <a:buSzPct val="100000"/>
              <a:buChar char="•"/>
            </a:pPr>
            <a:r>
              <a:rPr lang="en-US" sz="1400" dirty="0">
                <a:solidFill>
                  <a:schemeClr val="tx1"/>
                </a:solidFill>
              </a:rPr>
              <a:t>Tomar antibióticos que sobraron</a:t>
            </a:r>
            <a:endParaRPr lang="en-US" sz="1400" dirty="0"/>
          </a:p>
          <a:p>
            <a:pPr marL="342900" indent="-342900">
              <a:spcAft>
                <a:spcPts val="600"/>
              </a:spcAft>
              <a:buSzPct val="100000"/>
              <a:buChar char="•"/>
            </a:pPr>
            <a:r>
              <a:rPr lang="en-US" sz="1400" dirty="0">
                <a:solidFill>
                  <a:schemeClr val="tx1"/>
                </a:solidFill>
              </a:rPr>
              <a:t>Esconder la herida</a:t>
            </a:r>
            <a:endParaRPr lang="en-US" sz="1400" dirty="0"/>
          </a:p>
        </p:txBody>
      </p:sp>
      <p:sp>
        <p:nvSpPr>
          <p:cNvPr id="14" name="Banner"/>
          <p:cNvSpPr/>
          <p:nvPr/>
        </p:nvSpPr>
        <p:spPr>
          <a:xfrm>
            <a:off x="457200" y="4251960"/>
            <a:ext cx="8229600" cy="502920"/>
          </a:xfrm>
          <a:prstGeom prst="roundRect">
            <a:avLst>
              <a:gd name="adj" fmla="val 18182"/>
            </a:avLst>
          </a:prstGeom>
          <a:solidFill>
            <a:srgbClr val="FDE4E2"/>
          </a:solidFill>
          <a:ln/>
        </p:spPr>
      </p:sp>
      <p:sp>
        <p:nvSpPr>
          <p:cNvPr id="15" name="Texto banner"/>
          <p:cNvSpPr txBox="1"/>
          <p:nvPr/>
        </p:nvSpPr>
        <p:spPr>
          <a:xfrm>
            <a:off x="640080" y="4251960"/>
            <a:ext cx="7863840" cy="502920"/>
          </a:xfrm>
          <a:prstGeom prst="rect">
            <a:avLst/>
          </a:prstGeom>
          <a:noFill/>
          <a:ln/>
        </p:spPr>
        <p:txBody>
          <a:bodyPr wrap="square" lIns="0" tIns="0" rIns="0" bIns="0" rtlCol="0" anchor="ctr"/>
          <a:lstStyle/>
          <a:p>
            <a:pPr indent="0" marL="0">
              <a:buNone/>
            </a:pPr>
            <a:r>
              <a:rPr lang="en-US" sz="1400" b="1" dirty="0">
                <a:solidFill>
                  <a:srgbClr val="D2504B"/>
                </a:solidFill>
              </a:rPr>
              <a:t>Ojo: </a:t>
            </a:r>
            <a:pPr indent="0" marL="0">
              <a:buNone/>
            </a:pPr>
            <a:r>
              <a:rPr lang="en-US" sz="1400" dirty="0">
                <a:solidFill>
                  <a:schemeClr val="tx1"/>
                </a:solidFill>
              </a:rPr>
              <a:t>los antibióticos los indica un médico. Si no se necesitan, no sirven.</a:t>
            </a:r>
            <a:endParaRPr lang="en-US" sz="1400" dirty="0"/>
          </a:p>
        </p:txBody>
      </p:sp>
      <p:sp>
        <p:nvSpPr>
          <p:cNvPr id="25" name="Slide Number Placeholder 0"/>
          <p:cNvSpPr>
            <a:spLocks noGrp="1"/>
          </p:cNvSpPr>
          <p:nvPr>
            <p:ph type="sldNum" sz="quarter" idx="4294967295"/>
          </p:nvPr>
        </p:nvSpPr>
        <p:spPr>
          <a:xfrm>
            <a:off x="8138160" y="482803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Segunda Barrera: tú eres el sistema inmune</a:t>
            </a:r>
            <a:endParaRPr lang="en-US" sz="2800" dirty="0"/>
          </a:p>
        </p:txBody>
      </p:sp>
      <p:sp>
        <p:nvSpPr>
          <p:cNvPr id="4" name="Tarjeta 3 casos"/>
          <p:cNvSpPr/>
          <p:nvPr/>
        </p:nvSpPr>
        <p:spPr>
          <a:xfrm>
            <a:off x="457200" y="1097280"/>
            <a:ext cx="2560320" cy="2971800"/>
          </a:xfrm>
          <a:prstGeom prst="roundRect">
            <a:avLst>
              <a:gd name="adj" fmla="val 4286"/>
            </a:avLst>
          </a:prstGeom>
          <a:solidFill>
            <a:srgbClr val="FFFFFF"/>
          </a:solidFill>
          <a:ln/>
          <a:effectLst>
            <a:outerShdw sx="100000" sy="100000" kx="0" ky="0" algn="bl" rotWithShape="0" blurRad="76200" dist="25400" dir="5400000">
              <a:srgbClr val="1D3B4F">
                <a:alpha val="12000"/>
              </a:srgbClr>
            </a:outerShdw>
          </a:effectLst>
        </p:spPr>
      </p:sp>
      <p:sp>
        <p:nvSpPr>
          <p:cNvPr id="5" name="Círculo ícono"/>
          <p:cNvSpPr/>
          <p:nvPr/>
        </p:nvSpPr>
        <p:spPr>
          <a:xfrm>
            <a:off x="685800" y="1280160"/>
            <a:ext cx="640080" cy="640080"/>
          </a:xfrm>
          <a:prstGeom prst="ellipse">
            <a:avLst/>
          </a:prstGeom>
          <a:solidFill>
            <a:srgbClr val="D2504B"/>
          </a:solidFill>
          <a:ln/>
        </p:spPr>
      </p:sp>
      <p:pic>
        <p:nvPicPr>
          <p:cNvPr id="6" name="Image 0" descr="FaBandAid">    </p:cNvPr>
          <p:cNvPicPr>
            <a:picLocks noChangeAspect="1"/>
          </p:cNvPicPr>
          <p:nvPr/>
        </p:nvPicPr>
        <p:blipFill>
          <a:blip r:embed="rId1"/>
          <a:stretch>
            <a:fillRect/>
          </a:stretch>
        </p:blipFill>
        <p:spPr>
          <a:xfrm>
            <a:off x="845820" y="1440180"/>
            <a:ext cx="320040" cy="320040"/>
          </a:xfrm>
          <a:prstGeom prst="rect">
            <a:avLst/>
          </a:prstGeom>
        </p:spPr>
      </p:pic>
      <p:sp>
        <p:nvSpPr>
          <p:cNvPr id="7" name="Text 3"/>
          <p:cNvSpPr txBox="1"/>
          <p:nvPr/>
        </p:nvSpPr>
        <p:spPr>
          <a:xfrm>
            <a:off x="1463040" y="1280160"/>
            <a:ext cx="1463040" cy="6400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3 casos</a:t>
            </a:r>
            <a:endParaRPr lang="en-US" sz="2000" dirty="0"/>
          </a:p>
        </p:txBody>
      </p:sp>
      <p:sp>
        <p:nvSpPr>
          <p:cNvPr id="8" name="Text 4"/>
          <p:cNvSpPr txBox="1"/>
          <p:nvPr/>
        </p:nvSpPr>
        <p:spPr>
          <a:xfrm>
            <a:off x="685800" y="2148840"/>
            <a:ext cx="2148840" cy="17830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Raspón en la cancha</a:t>
            </a:r>
            <a:endParaRPr lang="en-US" sz="1400" dirty="0"/>
          </a:p>
          <a:p>
            <a:pPr marL="342900" indent="-342900">
              <a:spcAft>
                <a:spcPts val="600"/>
              </a:spcAft>
              <a:buSzPct val="100000"/>
              <a:buChar char="•"/>
            </a:pPr>
            <a:r>
              <a:rPr lang="en-US" sz="1400" dirty="0">
                <a:solidFill>
                  <a:schemeClr val="tx1"/>
                </a:solidFill>
              </a:rPr>
              <a:t>Astilla en el dedo</a:t>
            </a:r>
            <a:endParaRPr lang="en-US" sz="1400" dirty="0"/>
          </a:p>
          <a:p>
            <a:pPr marL="342900" indent="-342900">
              <a:spcAft>
                <a:spcPts val="600"/>
              </a:spcAft>
              <a:buSzPct val="100000"/>
              <a:buChar char="•"/>
            </a:pPr>
            <a:r>
              <a:rPr lang="en-US" sz="1400" dirty="0">
                <a:solidFill>
                  <a:schemeClr val="tx1"/>
                </a:solidFill>
              </a:rPr>
              <a:t>Herida sin lavar</a:t>
            </a:r>
            <a:endParaRPr lang="en-US" sz="1400" dirty="0"/>
          </a:p>
        </p:txBody>
      </p:sp>
      <p:sp>
        <p:nvSpPr>
          <p:cNvPr id="9" name="Tarjeta 3 niveles"/>
          <p:cNvSpPr/>
          <p:nvPr/>
        </p:nvSpPr>
        <p:spPr>
          <a:xfrm>
            <a:off x="3291840" y="1097280"/>
            <a:ext cx="2560320" cy="2971800"/>
          </a:xfrm>
          <a:prstGeom prst="roundRect">
            <a:avLst>
              <a:gd name="adj" fmla="val 4286"/>
            </a:avLst>
          </a:prstGeom>
          <a:solidFill>
            <a:srgbClr val="FFFFFF"/>
          </a:solidFill>
          <a:ln/>
          <a:effectLst>
            <a:outerShdw sx="100000" sy="100000" kx="0" ky="0" algn="bl" rotWithShape="0" blurRad="76200" dist="25400" dir="5400000">
              <a:srgbClr val="1D3B4F">
                <a:alpha val="12000"/>
              </a:srgbClr>
            </a:outerShdw>
          </a:effectLst>
        </p:spPr>
      </p:sp>
      <p:sp>
        <p:nvSpPr>
          <p:cNvPr id="10" name="Círculo ícono"/>
          <p:cNvSpPr/>
          <p:nvPr/>
        </p:nvSpPr>
        <p:spPr>
          <a:xfrm>
            <a:off x="3520440" y="1280160"/>
            <a:ext cx="640080" cy="640080"/>
          </a:xfrm>
          <a:prstGeom prst="ellipse">
            <a:avLst/>
          </a:prstGeom>
          <a:solidFill>
            <a:srgbClr val="1E8A94"/>
          </a:solidFill>
          <a:ln/>
        </p:spPr>
      </p:sp>
      <p:pic>
        <p:nvPicPr>
          <p:cNvPr id="11" name="Image 1" descr="FaLayerGroup">    </p:cNvPr>
          <p:cNvPicPr>
            <a:picLocks noChangeAspect="1"/>
          </p:cNvPicPr>
          <p:nvPr/>
        </p:nvPicPr>
        <p:blipFill>
          <a:blip r:embed="rId2"/>
          <a:stretch>
            <a:fillRect/>
          </a:stretch>
        </p:blipFill>
        <p:spPr>
          <a:xfrm>
            <a:off x="3680460" y="1440180"/>
            <a:ext cx="320040" cy="320040"/>
          </a:xfrm>
          <a:prstGeom prst="rect">
            <a:avLst/>
          </a:prstGeom>
        </p:spPr>
      </p:pic>
      <p:sp>
        <p:nvSpPr>
          <p:cNvPr id="12" name="Text 7"/>
          <p:cNvSpPr txBox="1"/>
          <p:nvPr/>
        </p:nvSpPr>
        <p:spPr>
          <a:xfrm>
            <a:off x="4297680" y="1280160"/>
            <a:ext cx="1463040" cy="6400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3 niveles</a:t>
            </a:r>
            <a:endParaRPr lang="en-US" sz="2000" dirty="0"/>
          </a:p>
        </p:txBody>
      </p:sp>
      <p:sp>
        <p:nvSpPr>
          <p:cNvPr id="13" name="Text 8"/>
          <p:cNvSpPr txBox="1"/>
          <p:nvPr/>
        </p:nvSpPr>
        <p:spPr>
          <a:xfrm>
            <a:off x="3520440" y="2148840"/>
            <a:ext cx="2148840" cy="17830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Aprendizaje: con indicaciones</a:t>
            </a:r>
            <a:endParaRPr lang="en-US" sz="1400" dirty="0"/>
          </a:p>
          <a:p>
            <a:pPr marL="342900" indent="-342900">
              <a:spcAft>
                <a:spcPts val="600"/>
              </a:spcAft>
              <a:buSzPct val="100000"/>
              <a:buChar char="•"/>
            </a:pPr>
            <a:r>
              <a:rPr lang="en-US" sz="1400" dirty="0">
                <a:solidFill>
                  <a:schemeClr val="tx1"/>
                </a:solidFill>
              </a:rPr>
              <a:t>Entrenamiento: sin indicaciones</a:t>
            </a:r>
            <a:endParaRPr lang="en-US" sz="1400" dirty="0"/>
          </a:p>
          <a:p>
            <a:pPr marL="342900" indent="-342900">
              <a:spcAft>
                <a:spcPts val="600"/>
              </a:spcAft>
              <a:buSzPct val="100000"/>
              <a:buChar char="•"/>
            </a:pPr>
            <a:r>
              <a:rPr lang="en-US" sz="1400" dirty="0">
                <a:solidFill>
                  <a:schemeClr val="tx1"/>
                </a:solidFill>
              </a:rPr>
              <a:t>Misión: sin descripciones</a:t>
            </a:r>
            <a:endParaRPr lang="en-US" sz="1400" dirty="0"/>
          </a:p>
        </p:txBody>
      </p:sp>
      <p:sp>
        <p:nvSpPr>
          <p:cNvPr id="14" name="Tarjeta Puntaje"/>
          <p:cNvSpPr/>
          <p:nvPr/>
        </p:nvSpPr>
        <p:spPr>
          <a:xfrm>
            <a:off x="6126480" y="1097280"/>
            <a:ext cx="2560320" cy="2971800"/>
          </a:xfrm>
          <a:prstGeom prst="roundRect">
            <a:avLst>
              <a:gd name="adj" fmla="val 4286"/>
            </a:avLst>
          </a:prstGeom>
          <a:solidFill>
            <a:srgbClr val="FFFFFF"/>
          </a:solidFill>
          <a:ln/>
          <a:effectLst>
            <a:outerShdw sx="100000" sy="100000" kx="0" ky="0" algn="bl" rotWithShape="0" blurRad="76200" dist="25400" dir="5400000">
              <a:srgbClr val="1D3B4F">
                <a:alpha val="12000"/>
              </a:srgbClr>
            </a:outerShdw>
          </a:effectLst>
        </p:spPr>
      </p:sp>
      <p:sp>
        <p:nvSpPr>
          <p:cNvPr id="15" name="Círculo ícono"/>
          <p:cNvSpPr/>
          <p:nvPr/>
        </p:nvSpPr>
        <p:spPr>
          <a:xfrm>
            <a:off x="6355080" y="1280160"/>
            <a:ext cx="640080" cy="640080"/>
          </a:xfrm>
          <a:prstGeom prst="ellipse">
            <a:avLst/>
          </a:prstGeom>
          <a:solidFill>
            <a:srgbClr val="E0A020"/>
          </a:solidFill>
          <a:ln/>
        </p:spPr>
      </p:sp>
      <p:pic>
        <p:nvPicPr>
          <p:cNvPr id="16" name="Image 2" descr="FaTrophy">    </p:cNvPr>
          <p:cNvPicPr>
            <a:picLocks noChangeAspect="1"/>
          </p:cNvPicPr>
          <p:nvPr/>
        </p:nvPicPr>
        <p:blipFill>
          <a:blip r:embed="rId3"/>
          <a:stretch>
            <a:fillRect/>
          </a:stretch>
        </p:blipFill>
        <p:spPr>
          <a:xfrm>
            <a:off x="6515100" y="1440180"/>
            <a:ext cx="320040" cy="320040"/>
          </a:xfrm>
          <a:prstGeom prst="rect">
            <a:avLst/>
          </a:prstGeom>
        </p:spPr>
      </p:pic>
      <p:sp>
        <p:nvSpPr>
          <p:cNvPr id="17" name="Text 11"/>
          <p:cNvSpPr txBox="1"/>
          <p:nvPr/>
        </p:nvSpPr>
        <p:spPr>
          <a:xfrm>
            <a:off x="7132320" y="1280160"/>
            <a:ext cx="1463040" cy="6400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Puntaje</a:t>
            </a:r>
            <a:endParaRPr lang="en-US" sz="2000" dirty="0"/>
          </a:p>
        </p:txBody>
      </p:sp>
      <p:sp>
        <p:nvSpPr>
          <p:cNvPr id="18" name="Text 12"/>
          <p:cNvSpPr txBox="1"/>
          <p:nvPr/>
        </p:nvSpPr>
        <p:spPr>
          <a:xfrm>
            <a:off x="6355080" y="2148840"/>
            <a:ext cx="2148840" cy="17830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Estrellas y rango</a:t>
            </a:r>
            <a:endParaRPr lang="en-US" sz="1400" dirty="0"/>
          </a:p>
          <a:p>
            <a:pPr marL="342900" indent="-342900">
              <a:spcAft>
                <a:spcPts val="600"/>
              </a:spcAft>
              <a:buSzPct val="100000"/>
              <a:buChar char="•"/>
            </a:pPr>
            <a:r>
              <a:rPr lang="en-US" sz="1400" dirty="0">
                <a:solidFill>
                  <a:schemeClr val="tx1"/>
                </a:solidFill>
              </a:rPr>
              <a:t>7 medallas</a:t>
            </a:r>
            <a:endParaRPr lang="en-US" sz="1400" dirty="0"/>
          </a:p>
          <a:p>
            <a:pPr marL="342900" indent="-342900">
              <a:spcAft>
                <a:spcPts val="600"/>
              </a:spcAft>
              <a:buSzPct val="100000"/>
              <a:buChar char="•"/>
            </a:pPr>
            <a:r>
              <a:rPr lang="en-US" sz="1400" dirty="0">
                <a:solidFill>
                  <a:schemeClr val="tx1"/>
                </a:solidFill>
              </a:rPr>
              <a:t>Ranking del colegio</a:t>
            </a:r>
            <a:endParaRPr lang="en-US" sz="1400" dirty="0"/>
          </a:p>
        </p:txBody>
      </p:sp>
      <p:sp>
        <p:nvSpPr>
          <p:cNvPr id="19" name="Banner"/>
          <p:cNvSpPr/>
          <p:nvPr/>
        </p:nvSpPr>
        <p:spPr>
          <a:xfrm>
            <a:off x="457200" y="4251960"/>
            <a:ext cx="8229600" cy="502920"/>
          </a:xfrm>
          <a:prstGeom prst="roundRect">
            <a:avLst>
              <a:gd name="adj" fmla="val 18182"/>
            </a:avLst>
          </a:prstGeom>
          <a:solidFill>
            <a:srgbClr val="D6EEF0"/>
          </a:solidFill>
          <a:ln/>
        </p:spPr>
      </p:sp>
      <p:sp>
        <p:nvSpPr>
          <p:cNvPr id="20" name="Texto banner"/>
          <p:cNvSpPr txBox="1"/>
          <p:nvPr/>
        </p:nvSpPr>
        <p:spPr>
          <a:xfrm>
            <a:off x="640080" y="4251960"/>
            <a:ext cx="7863840" cy="502920"/>
          </a:xfrm>
          <a:prstGeom prst="rect">
            <a:avLst/>
          </a:prstGeom>
          <a:noFill/>
          <a:ln/>
        </p:spPr>
        <p:txBody>
          <a:bodyPr wrap="square" lIns="0" tIns="0" rIns="0" bIns="0" rtlCol="0" anchor="ctr"/>
          <a:lstStyle/>
          <a:p>
            <a:pPr indent="0" marL="0">
              <a:buNone/>
            </a:pPr>
            <a:r>
              <a:rPr lang="en-US" sz="1400" b="1" dirty="0">
                <a:solidFill>
                  <a:srgbClr val="1E8A94"/>
                </a:solidFill>
              </a:rPr>
              <a:t>Dónde está: </a:t>
            </a:r>
            <a:pPr indent="0" marL="0">
              <a:buNone/>
            </a:pPr>
            <a:r>
              <a:rPr lang="en-US" sz="1400" dirty="0">
                <a:solidFill>
                  <a:schemeClr val="tx1"/>
                </a:solidFill>
              </a:rPr>
              <a:t>sitio El Mundo de Felipe, sección 7° Básico · Biología, tarjeta «Segunda Barrera».</a:t>
            </a:r>
            <a:endParaRPr lang="en-US" sz="1400" dirty="0"/>
          </a:p>
        </p:txBody>
      </p:sp>
      <p:sp>
        <p:nvSpPr>
          <p:cNvPr id="25" name="Slide Number Placeholder 0"/>
          <p:cNvSpPr>
            <a:spLocks noGrp="1"/>
          </p:cNvSpPr>
          <p:nvPr>
            <p:ph type="sldNum" sz="quarter" idx="4294967295"/>
          </p:nvPr>
        </p:nvSpPr>
        <p:spPr>
          <a:xfrm>
            <a:off x="8138160" y="482803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Cómo se juega</a:t>
            </a:r>
            <a:endParaRPr lang="en-US" sz="2800" dirty="0"/>
          </a:p>
        </p:txBody>
      </p:sp>
      <p:sp>
        <p:nvSpPr>
          <p:cNvPr id="4" name="Paso 1"/>
          <p:cNvSpPr/>
          <p:nvPr/>
        </p:nvSpPr>
        <p:spPr>
          <a:xfrm>
            <a:off x="457200" y="1097280"/>
            <a:ext cx="1920240" cy="2331720"/>
          </a:xfrm>
          <a:prstGeom prst="roundRect">
            <a:avLst>
              <a:gd name="adj" fmla="val 5714"/>
            </a:avLst>
          </a:prstGeom>
          <a:solidFill>
            <a:srgbClr val="FFFFFF"/>
          </a:solidFill>
          <a:ln/>
          <a:effectLst>
            <a:outerShdw sx="100000" sy="100000" kx="0" ky="0" algn="bl" rotWithShape="0" blurRad="76200" dist="25400" dir="5400000">
              <a:srgbClr val="1D3B4F">
                <a:alpha val="12000"/>
              </a:srgbClr>
            </a:outerShdw>
          </a:effectLst>
        </p:spPr>
      </p:sp>
      <p:sp>
        <p:nvSpPr>
          <p:cNvPr id="5" name="Insignia 1"/>
          <p:cNvSpPr txBox="1"/>
          <p:nvPr/>
        </p:nvSpPr>
        <p:spPr>
          <a:xfrm>
            <a:off x="1143000" y="1234440"/>
            <a:ext cx="548640" cy="548640"/>
          </a:xfrm>
          <a:prstGeom prst="ellipse">
            <a:avLst/>
          </a:prstGeom>
          <a:solidFill>
            <a:srgbClr val="1E8A94"/>
          </a:solid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6" name="Text 3"/>
          <p:cNvSpPr txBox="1"/>
          <p:nvPr/>
        </p:nvSpPr>
        <p:spPr>
          <a:xfrm>
            <a:off x="548640" y="1920240"/>
            <a:ext cx="1737360" cy="365760"/>
          </a:xfrm>
          <a:prstGeom prst="rect">
            <a:avLst/>
          </a:prstGeom>
          <a:noFill/>
          <a:ln/>
        </p:spPr>
        <p:txBody>
          <a:bodyPr wrap="square" lIns="0" tIns="0" rIns="0" bIns="0" rtlCol="0" anchor="ctr"/>
          <a:lstStyle/>
          <a:p>
            <a:pPr algn="ctr" indent="0" marL="0">
              <a:buNone/>
            </a:pPr>
            <a:r>
              <a:rPr lang="en-US" sz="1600" b="1" dirty="0">
                <a:solidFill>
                  <a:schemeClr val="tx1"/>
                </a:solidFill>
              </a:rPr>
              <a:t>Lee el caso</a:t>
            </a:r>
            <a:endParaRPr lang="en-US" sz="1600" dirty="0"/>
          </a:p>
        </p:txBody>
      </p:sp>
      <p:sp>
        <p:nvSpPr>
          <p:cNvPr id="7" name="Text 4"/>
          <p:cNvSpPr txBox="1"/>
          <p:nvPr/>
        </p:nvSpPr>
        <p:spPr>
          <a:xfrm>
            <a:off x="594360" y="2286000"/>
            <a:ext cx="1645920" cy="1097280"/>
          </a:xfrm>
          <a:prstGeom prst="rect">
            <a:avLst/>
          </a:prstGeom>
          <a:noFill/>
          <a:ln/>
        </p:spPr>
        <p:txBody>
          <a:bodyPr wrap="square" lIns="0" tIns="0" rIns="0" bIns="0" rtlCol="0" anchor="t"/>
          <a:lstStyle/>
          <a:p>
            <a:pPr indent="0" marL="0">
              <a:buNone/>
            </a:pPr>
            <a:r>
              <a:rPr lang="en-US" sz="1400" dirty="0">
                <a:solidFill>
                  <a:schemeClr val="tx1"/>
                </a:solidFill>
              </a:rPr>
              <a:t>Quién se hirió, qué pasó y a qué estar atento.</a:t>
            </a:r>
            <a:endParaRPr lang="en-US" sz="1400" dirty="0"/>
          </a:p>
        </p:txBody>
      </p:sp>
      <p:sp>
        <p:nvSpPr>
          <p:cNvPr id="8" name="Paso 2"/>
          <p:cNvSpPr/>
          <p:nvPr/>
        </p:nvSpPr>
        <p:spPr>
          <a:xfrm>
            <a:off x="2542032" y="1097280"/>
            <a:ext cx="1920240" cy="2331720"/>
          </a:xfrm>
          <a:prstGeom prst="roundRect">
            <a:avLst>
              <a:gd name="adj" fmla="val 5714"/>
            </a:avLst>
          </a:prstGeom>
          <a:solidFill>
            <a:srgbClr val="FFFFFF"/>
          </a:solidFill>
          <a:ln/>
          <a:effectLst>
            <a:outerShdw sx="100000" sy="100000" kx="0" ky="0" algn="bl" rotWithShape="0" blurRad="76200" dist="25400" dir="5400000">
              <a:srgbClr val="1D3B4F">
                <a:alpha val="12000"/>
              </a:srgbClr>
            </a:outerShdw>
          </a:effectLst>
        </p:spPr>
      </p:sp>
      <p:sp>
        <p:nvSpPr>
          <p:cNvPr id="9" name="Insignia 2"/>
          <p:cNvSpPr txBox="1"/>
          <p:nvPr/>
        </p:nvSpPr>
        <p:spPr>
          <a:xfrm>
            <a:off x="3227832" y="1234440"/>
            <a:ext cx="548640" cy="548640"/>
          </a:xfrm>
          <a:prstGeom prst="ellipse">
            <a:avLst/>
          </a:prstGeom>
          <a:solidFill>
            <a:srgbClr val="1E8A94"/>
          </a:solid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0" name="Text 7"/>
          <p:cNvSpPr txBox="1"/>
          <p:nvPr/>
        </p:nvSpPr>
        <p:spPr>
          <a:xfrm>
            <a:off x="2633472" y="1920240"/>
            <a:ext cx="1737360" cy="365760"/>
          </a:xfrm>
          <a:prstGeom prst="rect">
            <a:avLst/>
          </a:prstGeom>
          <a:noFill/>
          <a:ln/>
        </p:spPr>
        <p:txBody>
          <a:bodyPr wrap="square" lIns="0" tIns="0" rIns="0" bIns="0" rtlCol="0" anchor="ctr"/>
          <a:lstStyle/>
          <a:p>
            <a:pPr algn="ctr" indent="0" marL="0">
              <a:buNone/>
            </a:pPr>
            <a:r>
              <a:rPr lang="en-US" sz="1600" b="1" dirty="0">
                <a:solidFill>
                  <a:schemeClr val="tx1"/>
                </a:solidFill>
              </a:rPr>
              <a:t>Observa</a:t>
            </a:r>
            <a:endParaRPr lang="en-US" sz="1600" dirty="0"/>
          </a:p>
        </p:txBody>
      </p:sp>
      <p:sp>
        <p:nvSpPr>
          <p:cNvPr id="11" name="Text 8"/>
          <p:cNvSpPr txBox="1"/>
          <p:nvPr/>
        </p:nvSpPr>
        <p:spPr>
          <a:xfrm>
            <a:off x="2679192" y="2286000"/>
            <a:ext cx="1645920" cy="1097280"/>
          </a:xfrm>
          <a:prstGeom prst="rect">
            <a:avLst/>
          </a:prstGeom>
          <a:noFill/>
          <a:ln/>
        </p:spPr>
        <p:txBody>
          <a:bodyPr wrap="square" lIns="0" tIns="0" rIns="0" bIns="0" rtlCol="0" anchor="t"/>
          <a:lstStyle/>
          <a:p>
            <a:pPr indent="0" marL="0">
              <a:buNone/>
            </a:pPr>
            <a:r>
              <a:rPr lang="en-US" sz="1400" dirty="0">
                <a:solidFill>
                  <a:schemeClr val="tx1"/>
                </a:solidFill>
              </a:rPr>
              <a:t>Mira el tejido, las bacterias y los signos de la persona.</a:t>
            </a:r>
            <a:endParaRPr lang="en-US" sz="1400" dirty="0"/>
          </a:p>
        </p:txBody>
      </p:sp>
      <p:sp>
        <p:nvSpPr>
          <p:cNvPr id="12" name="Paso 3"/>
          <p:cNvSpPr/>
          <p:nvPr/>
        </p:nvSpPr>
        <p:spPr>
          <a:xfrm>
            <a:off x="4626864" y="1097280"/>
            <a:ext cx="1920240" cy="2331720"/>
          </a:xfrm>
          <a:prstGeom prst="roundRect">
            <a:avLst>
              <a:gd name="adj" fmla="val 5714"/>
            </a:avLst>
          </a:prstGeom>
          <a:solidFill>
            <a:srgbClr val="FFFFFF"/>
          </a:solidFill>
          <a:ln/>
          <a:effectLst>
            <a:outerShdw sx="100000" sy="100000" kx="0" ky="0" algn="bl" rotWithShape="0" blurRad="76200" dist="25400" dir="5400000">
              <a:srgbClr val="1D3B4F">
                <a:alpha val="12000"/>
              </a:srgbClr>
            </a:outerShdw>
          </a:effectLst>
        </p:spPr>
      </p:sp>
      <p:sp>
        <p:nvSpPr>
          <p:cNvPr id="13" name="Insignia 3"/>
          <p:cNvSpPr txBox="1"/>
          <p:nvPr/>
        </p:nvSpPr>
        <p:spPr>
          <a:xfrm>
            <a:off x="5312664" y="1234440"/>
            <a:ext cx="548640" cy="548640"/>
          </a:xfrm>
          <a:prstGeom prst="ellipse">
            <a:avLst/>
          </a:prstGeom>
          <a:solidFill>
            <a:srgbClr val="1E8A94"/>
          </a:solid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4" name="Text 11"/>
          <p:cNvSpPr txBox="1"/>
          <p:nvPr/>
        </p:nvSpPr>
        <p:spPr>
          <a:xfrm>
            <a:off x="4718304" y="1920240"/>
            <a:ext cx="1737360" cy="365760"/>
          </a:xfrm>
          <a:prstGeom prst="rect">
            <a:avLst/>
          </a:prstGeom>
          <a:noFill/>
          <a:ln/>
        </p:spPr>
        <p:txBody>
          <a:bodyPr wrap="square" lIns="0" tIns="0" rIns="0" bIns="0" rtlCol="0" anchor="ctr"/>
          <a:lstStyle/>
          <a:p>
            <a:pPr algn="ctr" indent="0" marL="0">
              <a:buNone/>
            </a:pPr>
            <a:r>
              <a:rPr lang="en-US" sz="1600" b="1" dirty="0">
                <a:solidFill>
                  <a:schemeClr val="tx1"/>
                </a:solidFill>
              </a:rPr>
              <a:t>Da las órdenes</a:t>
            </a:r>
            <a:endParaRPr lang="en-US" sz="1600" dirty="0"/>
          </a:p>
        </p:txBody>
      </p:sp>
      <p:sp>
        <p:nvSpPr>
          <p:cNvPr id="15" name="Text 12"/>
          <p:cNvSpPr txBox="1"/>
          <p:nvPr/>
        </p:nvSpPr>
        <p:spPr>
          <a:xfrm>
            <a:off x="4764024" y="2286000"/>
            <a:ext cx="1645920" cy="1097280"/>
          </a:xfrm>
          <a:prstGeom prst="rect">
            <a:avLst/>
          </a:prstGeom>
          <a:noFill/>
          <a:ln/>
        </p:spPr>
        <p:txBody>
          <a:bodyPr wrap="square" lIns="0" tIns="0" rIns="0" bIns="0" rtlCol="0" anchor="t"/>
          <a:lstStyle/>
          <a:p>
            <a:pPr indent="0" marL="0">
              <a:buNone/>
            </a:pPr>
            <a:r>
              <a:rPr lang="en-US" sz="1400" dirty="0">
                <a:solidFill>
                  <a:schemeClr val="tx1"/>
                </a:solidFill>
              </a:rPr>
              <a:t>Clic o teclas 1 a 7, en el orden que corresponde.</a:t>
            </a:r>
            <a:endParaRPr lang="en-US" sz="1400" dirty="0"/>
          </a:p>
        </p:txBody>
      </p:sp>
      <p:sp>
        <p:nvSpPr>
          <p:cNvPr id="16" name="Paso 4"/>
          <p:cNvSpPr/>
          <p:nvPr/>
        </p:nvSpPr>
        <p:spPr>
          <a:xfrm>
            <a:off x="6711696" y="1097280"/>
            <a:ext cx="1920240" cy="2331720"/>
          </a:xfrm>
          <a:prstGeom prst="roundRect">
            <a:avLst>
              <a:gd name="adj" fmla="val 5714"/>
            </a:avLst>
          </a:prstGeom>
          <a:solidFill>
            <a:srgbClr val="FFFFFF"/>
          </a:solidFill>
          <a:ln/>
          <a:effectLst>
            <a:outerShdw sx="100000" sy="100000" kx="0" ky="0" algn="bl" rotWithShape="0" blurRad="76200" dist="25400" dir="5400000">
              <a:srgbClr val="1D3B4F">
                <a:alpha val="12000"/>
              </a:srgbClr>
            </a:outerShdw>
          </a:effectLst>
        </p:spPr>
      </p:sp>
      <p:sp>
        <p:nvSpPr>
          <p:cNvPr id="17" name="Insignia 4"/>
          <p:cNvSpPr txBox="1"/>
          <p:nvPr/>
        </p:nvSpPr>
        <p:spPr>
          <a:xfrm>
            <a:off x="7397496" y="1234440"/>
            <a:ext cx="548640" cy="548640"/>
          </a:xfrm>
          <a:prstGeom prst="ellipse">
            <a:avLst/>
          </a:prstGeom>
          <a:solidFill>
            <a:srgbClr val="1E8A94"/>
          </a:solid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18" name="Text 15"/>
          <p:cNvSpPr txBox="1"/>
          <p:nvPr/>
        </p:nvSpPr>
        <p:spPr>
          <a:xfrm>
            <a:off x="6803136" y="1920240"/>
            <a:ext cx="1737360" cy="365760"/>
          </a:xfrm>
          <a:prstGeom prst="rect">
            <a:avLst/>
          </a:prstGeom>
          <a:noFill/>
          <a:ln/>
        </p:spPr>
        <p:txBody>
          <a:bodyPr wrap="square" lIns="0" tIns="0" rIns="0" bIns="0" rtlCol="0" anchor="ctr"/>
          <a:lstStyle/>
          <a:p>
            <a:pPr algn="ctr" indent="0" marL="0">
              <a:buNone/>
            </a:pPr>
            <a:r>
              <a:rPr lang="en-US" sz="1600" b="1" dirty="0">
                <a:solidFill>
                  <a:schemeClr val="tx1"/>
                </a:solidFill>
              </a:rPr>
              <a:t>Elige los cuidados</a:t>
            </a:r>
            <a:endParaRPr lang="en-US" sz="1600" dirty="0"/>
          </a:p>
        </p:txBody>
      </p:sp>
      <p:sp>
        <p:nvSpPr>
          <p:cNvPr id="19" name="Text 16"/>
          <p:cNvSpPr txBox="1"/>
          <p:nvPr/>
        </p:nvSpPr>
        <p:spPr>
          <a:xfrm>
            <a:off x="6848856" y="2286000"/>
            <a:ext cx="1645920" cy="1097280"/>
          </a:xfrm>
          <a:prstGeom prst="rect">
            <a:avLst/>
          </a:prstGeom>
          <a:noFill/>
          <a:ln/>
        </p:spPr>
        <p:txBody>
          <a:bodyPr wrap="square" lIns="0" tIns="0" rIns="0" bIns="0" rtlCol="0" anchor="t"/>
          <a:lstStyle/>
          <a:p>
            <a:pPr indent="0" marL="0">
              <a:buNone/>
            </a:pPr>
            <a:r>
              <a:rPr lang="en-US" sz="1400" dirty="0">
                <a:solidFill>
                  <a:schemeClr val="tx1"/>
                </a:solidFill>
              </a:rPr>
              <a:t>Al ganar, escoge las 3 mejores acciones y revisa tu informe.</a:t>
            </a:r>
            <a:endParaRPr lang="en-US" sz="1400" dirty="0"/>
          </a:p>
        </p:txBody>
      </p:sp>
      <p:sp>
        <p:nvSpPr>
          <p:cNvPr id="20" name="Energía"/>
          <p:cNvSpPr/>
          <p:nvPr/>
        </p:nvSpPr>
        <p:spPr>
          <a:xfrm>
            <a:off x="457200" y="3611880"/>
            <a:ext cx="4023360" cy="548640"/>
          </a:xfrm>
          <a:prstGeom prst="roundRect">
            <a:avLst>
              <a:gd name="adj" fmla="val 16667"/>
            </a:avLst>
          </a:prstGeom>
          <a:solidFill>
            <a:srgbClr val="D6EEF0"/>
          </a:solidFill>
          <a:ln/>
        </p:spPr>
      </p:sp>
      <p:sp>
        <p:nvSpPr>
          <p:cNvPr id="21" name="Pausa"/>
          <p:cNvSpPr/>
          <p:nvPr/>
        </p:nvSpPr>
        <p:spPr>
          <a:xfrm>
            <a:off x="4663440" y="3611880"/>
            <a:ext cx="4023360" cy="548640"/>
          </a:xfrm>
          <a:prstGeom prst="roundRect">
            <a:avLst>
              <a:gd name="adj" fmla="val 16667"/>
            </a:avLst>
          </a:prstGeom>
          <a:solidFill>
            <a:srgbClr val="D6EEF0"/>
          </a:solidFill>
          <a:ln/>
        </p:spPr>
      </p:sp>
      <p:sp>
        <p:nvSpPr>
          <p:cNvPr id="22" name="Text 19"/>
          <p:cNvSpPr txBox="1"/>
          <p:nvPr/>
        </p:nvSpPr>
        <p:spPr>
          <a:xfrm>
            <a:off x="594360" y="3611880"/>
            <a:ext cx="3749040" cy="548640"/>
          </a:xfrm>
          <a:prstGeom prst="rect">
            <a:avLst/>
          </a:prstGeom>
          <a:noFill/>
          <a:ln/>
        </p:spPr>
        <p:txBody>
          <a:bodyPr wrap="square" lIns="0" tIns="0" rIns="0" bIns="0" rtlCol="0" anchor="ctr"/>
          <a:lstStyle/>
          <a:p>
            <a:pPr indent="0" marL="0">
              <a:buNone/>
            </a:pPr>
            <a:r>
              <a:rPr lang="en-US" sz="1400" b="1" dirty="0">
                <a:solidFill>
                  <a:schemeClr val="accent1"/>
                </a:solidFill>
              </a:rPr>
              <a:t>Energía: </a:t>
            </a:r>
            <a:pPr indent="0" marL="0">
              <a:buNone/>
            </a:pPr>
            <a:r>
              <a:rPr lang="en-US" sz="1400" dirty="0">
                <a:solidFill>
                  <a:schemeClr val="tx1"/>
                </a:solidFill>
              </a:rPr>
              <a:t>cada orden gasta; si falla, pierdes más.</a:t>
            </a:r>
            <a:endParaRPr lang="en-US" sz="1400" dirty="0"/>
          </a:p>
        </p:txBody>
      </p:sp>
      <p:sp>
        <p:nvSpPr>
          <p:cNvPr id="23" name="Text 20"/>
          <p:cNvSpPr txBox="1"/>
          <p:nvPr/>
        </p:nvSpPr>
        <p:spPr>
          <a:xfrm>
            <a:off x="4800600" y="3611880"/>
            <a:ext cx="3749040" cy="548640"/>
          </a:xfrm>
          <a:prstGeom prst="rect">
            <a:avLst/>
          </a:prstGeom>
          <a:noFill/>
          <a:ln/>
        </p:spPr>
        <p:txBody>
          <a:bodyPr wrap="square" lIns="0" tIns="0" rIns="0" bIns="0" rtlCol="0" anchor="ctr"/>
          <a:lstStyle/>
          <a:p>
            <a:pPr indent="0" marL="0">
              <a:buNone/>
            </a:pPr>
            <a:r>
              <a:rPr lang="en-US" sz="1400" b="1" dirty="0">
                <a:solidFill>
                  <a:schemeClr val="accent1"/>
                </a:solidFill>
              </a:rPr>
              <a:t>Tiempo real: </a:t>
            </a:r>
            <a:pPr indent="0" marL="0">
              <a:buNone/>
            </a:pPr>
            <a:r>
              <a:rPr lang="en-US" sz="1400" dirty="0">
                <a:solidFill>
                  <a:schemeClr val="tx1"/>
                </a:solidFill>
              </a:rPr>
              <a:t>las bacterias crecen mientras decides.</a:t>
            </a:r>
            <a:endParaRPr lang="en-US" sz="1400" dirty="0"/>
          </a:p>
        </p:txBody>
      </p:sp>
      <p:sp>
        <p:nvSpPr>
          <p:cNvPr id="24" name="Pregunta"/>
          <p:cNvSpPr/>
          <p:nvPr/>
        </p:nvSpPr>
        <p:spPr>
          <a:xfrm>
            <a:off x="457200" y="4297680"/>
            <a:ext cx="8229600" cy="502920"/>
          </a:xfrm>
          <a:prstGeom prst="roundRect">
            <a:avLst>
              <a:gd name="adj" fmla="val 18182"/>
            </a:avLst>
          </a:prstGeom>
          <a:solidFill>
            <a:srgbClr val="FDE4E2"/>
          </a:solidFill>
          <a:ln/>
        </p:spPr>
      </p:sp>
      <p:sp>
        <p:nvSpPr>
          <p:cNvPr id="25" name="Text 22"/>
          <p:cNvSpPr txBox="1"/>
          <p:nvPr/>
        </p:nvSpPr>
        <p:spPr>
          <a:xfrm>
            <a:off x="594360" y="4389120"/>
            <a:ext cx="320040" cy="320040"/>
          </a:xfrm>
          <a:prstGeom prst="ellipse">
            <a:avLst/>
          </a:prstGeom>
          <a:solidFill>
            <a:srgbClr val="D2504B"/>
          </a:solid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26" name="Texto pregunta"/>
          <p:cNvSpPr txBox="1"/>
          <p:nvPr/>
        </p:nvSpPr>
        <p:spPr>
          <a:xfrm>
            <a:off x="1051560" y="4297680"/>
            <a:ext cx="7498080" cy="502920"/>
          </a:xfrm>
          <a:prstGeom prst="rect">
            <a:avLst/>
          </a:prstGeom>
          <a:noFill/>
          <a:ln/>
        </p:spPr>
        <p:txBody>
          <a:bodyPr wrap="square" lIns="0" tIns="0" rIns="0" bIns="0" rtlCol="0" anchor="ctr"/>
          <a:lstStyle/>
          <a:p>
            <a:pPr indent="0" marL="0">
              <a:buNone/>
            </a:pPr>
            <a:r>
              <a:rPr lang="en-US" sz="1400" b="1" dirty="0">
                <a:solidFill>
                  <a:schemeClr val="tx1"/>
                </a:solidFill>
              </a:rPr>
              <a:t>Empieza en Aprendizaje: después, desafíate en Entrenamiento y Misión.</a:t>
            </a:r>
            <a:endParaRPr lang="en-US" sz="1400" dirty="0"/>
          </a:p>
        </p:txBody>
      </p:sp>
      <p:sp>
        <p:nvSpPr>
          <p:cNvPr id="25" name="Slide Number Placeholder 0"/>
          <p:cNvSpPr>
            <a:spLocks noGrp="1"/>
          </p:cNvSpPr>
          <p:nvPr>
            <p:ph type="sldNum" sz="quarter" idx="4294967295"/>
          </p:nvPr>
        </p:nvSpPr>
        <p:spPr>
          <a:xfrm>
            <a:off x="8138160" y="482803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Para tu bitácora</a:t>
            </a:r>
            <a:endParaRPr lang="en-US" sz="2800" dirty="0"/>
          </a:p>
        </p:txBody>
      </p:sp>
      <p:sp>
        <p:nvSpPr>
          <p:cNvPr id="4" name="Pregunta 1"/>
          <p:cNvSpPr/>
          <p:nvPr/>
        </p:nvSpPr>
        <p:spPr>
          <a:xfrm>
            <a:off x="457200" y="1051560"/>
            <a:ext cx="8229600" cy="512064"/>
          </a:xfrm>
          <a:prstGeom prst="roundRect">
            <a:avLst>
              <a:gd name="adj" fmla="val 21429"/>
            </a:avLst>
          </a:prstGeom>
          <a:solidFill>
            <a:srgbClr val="FFFFFF"/>
          </a:solidFill>
          <a:ln/>
          <a:effectLst>
            <a:outerShdw sx="100000" sy="100000" kx="0" ky="0" algn="bl" rotWithShape="0" blurRad="76200" dist="25400" dir="5400000">
              <a:srgbClr val="1D3B4F">
                <a:alpha val="12000"/>
              </a:srgbClr>
            </a:outerShdw>
          </a:effectLst>
        </p:spPr>
      </p:sp>
      <p:sp>
        <p:nvSpPr>
          <p:cNvPr id="5" name="Insignia 1"/>
          <p:cNvSpPr txBox="1"/>
          <p:nvPr/>
        </p:nvSpPr>
        <p:spPr>
          <a:xfrm>
            <a:off x="566928" y="1133856"/>
            <a:ext cx="347472" cy="347472"/>
          </a:xfrm>
          <a:prstGeom prst="ellipse">
            <a:avLst/>
          </a:prstGeom>
          <a:solidFill>
            <a:srgbClr val="D2504B"/>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3"/>
          <p:cNvSpPr txBox="1"/>
          <p:nvPr/>
        </p:nvSpPr>
        <p:spPr>
          <a:xfrm>
            <a:off x="1097280" y="1051560"/>
            <a:ext cx="7406640" cy="512064"/>
          </a:xfrm>
          <a:prstGeom prst="rect">
            <a:avLst/>
          </a:prstGeom>
          <a:noFill/>
          <a:ln/>
        </p:spPr>
        <p:txBody>
          <a:bodyPr wrap="square" lIns="0" tIns="0" rIns="0" bIns="0" rtlCol="0" anchor="ctr"/>
          <a:lstStyle/>
          <a:p>
            <a:pPr indent="0" marL="0">
              <a:buNone/>
            </a:pPr>
            <a:r>
              <a:rPr lang="en-US" sz="1400" b="1" dirty="0">
                <a:solidFill>
                  <a:schemeClr val="tx1"/>
                </a:solidFill>
              </a:rPr>
              <a:t>¿Por qué hay que dar la alarma antes de dilatar los capilares?</a:t>
            </a:r>
            <a:endParaRPr lang="en-US" sz="1400" dirty="0"/>
          </a:p>
        </p:txBody>
      </p:sp>
      <p:sp>
        <p:nvSpPr>
          <p:cNvPr id="7" name="Pregunta 2"/>
          <p:cNvSpPr/>
          <p:nvPr/>
        </p:nvSpPr>
        <p:spPr>
          <a:xfrm>
            <a:off x="457200" y="1655064"/>
            <a:ext cx="8229600" cy="512064"/>
          </a:xfrm>
          <a:prstGeom prst="roundRect">
            <a:avLst>
              <a:gd name="adj" fmla="val 21429"/>
            </a:avLst>
          </a:prstGeom>
          <a:solidFill>
            <a:srgbClr val="FDE4E2"/>
          </a:solidFill>
          <a:ln/>
          <a:effectLst>
            <a:outerShdw sx="100000" sy="100000" kx="0" ky="0" algn="bl" rotWithShape="0" blurRad="76200" dist="25400" dir="5400000">
              <a:srgbClr val="1D3B4F">
                <a:alpha val="12000"/>
              </a:srgbClr>
            </a:outerShdw>
          </a:effectLst>
        </p:spPr>
      </p:sp>
      <p:sp>
        <p:nvSpPr>
          <p:cNvPr id="8" name="Insignia 2"/>
          <p:cNvSpPr txBox="1"/>
          <p:nvPr/>
        </p:nvSpPr>
        <p:spPr>
          <a:xfrm>
            <a:off x="566928" y="1737360"/>
            <a:ext cx="347472" cy="347472"/>
          </a:xfrm>
          <a:prstGeom prst="ellipse">
            <a:avLst/>
          </a:prstGeom>
          <a:solidFill>
            <a:srgbClr val="D2504B"/>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9" name="Text 6"/>
          <p:cNvSpPr txBox="1"/>
          <p:nvPr/>
        </p:nvSpPr>
        <p:spPr>
          <a:xfrm>
            <a:off x="1097280" y="1655064"/>
            <a:ext cx="7406640" cy="512064"/>
          </a:xfrm>
          <a:prstGeom prst="rect">
            <a:avLst/>
          </a:prstGeom>
          <a:noFill/>
          <a:ln/>
        </p:spPr>
        <p:txBody>
          <a:bodyPr wrap="square" lIns="0" tIns="0" rIns="0" bIns="0" rtlCol="0" anchor="ctr"/>
          <a:lstStyle/>
          <a:p>
            <a:pPr indent="0" marL="0">
              <a:buNone/>
            </a:pPr>
            <a:r>
              <a:rPr lang="en-US" sz="1400" b="1" dirty="0">
                <a:solidFill>
                  <a:schemeClr val="tx1"/>
                </a:solidFill>
              </a:rPr>
              <a:t>¿Qué signo viste primero y qué proceso lo causa?</a:t>
            </a:r>
            <a:endParaRPr lang="en-US" sz="1400" dirty="0"/>
          </a:p>
        </p:txBody>
      </p:sp>
      <p:sp>
        <p:nvSpPr>
          <p:cNvPr id="10" name="Pregunta 3"/>
          <p:cNvSpPr/>
          <p:nvPr/>
        </p:nvSpPr>
        <p:spPr>
          <a:xfrm>
            <a:off x="457200" y="2258568"/>
            <a:ext cx="8229600" cy="512064"/>
          </a:xfrm>
          <a:prstGeom prst="roundRect">
            <a:avLst>
              <a:gd name="adj" fmla="val 21429"/>
            </a:avLst>
          </a:prstGeom>
          <a:solidFill>
            <a:srgbClr val="FFFFFF"/>
          </a:solidFill>
          <a:ln/>
          <a:effectLst>
            <a:outerShdw sx="100000" sy="100000" kx="0" ky="0" algn="bl" rotWithShape="0" blurRad="76200" dist="25400" dir="5400000">
              <a:srgbClr val="1D3B4F">
                <a:alpha val="12000"/>
              </a:srgbClr>
            </a:outerShdw>
          </a:effectLst>
        </p:spPr>
      </p:sp>
      <p:sp>
        <p:nvSpPr>
          <p:cNvPr id="11" name="Insignia 3"/>
          <p:cNvSpPr txBox="1"/>
          <p:nvPr/>
        </p:nvSpPr>
        <p:spPr>
          <a:xfrm>
            <a:off x="566928" y="2340864"/>
            <a:ext cx="347472" cy="347472"/>
          </a:xfrm>
          <a:prstGeom prst="ellipse">
            <a:avLst/>
          </a:prstGeom>
          <a:solidFill>
            <a:srgbClr val="D2504B"/>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2" name="Text 9"/>
          <p:cNvSpPr txBox="1"/>
          <p:nvPr/>
        </p:nvSpPr>
        <p:spPr>
          <a:xfrm>
            <a:off x="1097280" y="2258568"/>
            <a:ext cx="7406640" cy="512064"/>
          </a:xfrm>
          <a:prstGeom prst="rect">
            <a:avLst/>
          </a:prstGeom>
          <a:noFill/>
          <a:ln/>
        </p:spPr>
        <p:txBody>
          <a:bodyPr wrap="square" lIns="0" tIns="0" rIns="0" bIns="0" rtlCol="0" anchor="ctr"/>
          <a:lstStyle/>
          <a:p>
            <a:pPr indent="0" marL="0">
              <a:buNone/>
            </a:pPr>
            <a:r>
              <a:rPr lang="en-US" sz="1400" b="1" dirty="0">
                <a:solidFill>
                  <a:schemeClr val="tx1"/>
                </a:solidFill>
              </a:rPr>
              <a:t>¿Qué pasó cuando apagaste la inflamación antes de tiempo?</a:t>
            </a:r>
            <a:endParaRPr lang="en-US" sz="1400" dirty="0"/>
          </a:p>
        </p:txBody>
      </p:sp>
      <p:sp>
        <p:nvSpPr>
          <p:cNvPr id="13" name="Pregunta 4"/>
          <p:cNvSpPr/>
          <p:nvPr/>
        </p:nvSpPr>
        <p:spPr>
          <a:xfrm>
            <a:off x="457200" y="2862072"/>
            <a:ext cx="8229600" cy="512064"/>
          </a:xfrm>
          <a:prstGeom prst="roundRect">
            <a:avLst>
              <a:gd name="adj" fmla="val 21429"/>
            </a:avLst>
          </a:prstGeom>
          <a:solidFill>
            <a:srgbClr val="FDE4E2"/>
          </a:solidFill>
          <a:ln/>
          <a:effectLst>
            <a:outerShdw sx="100000" sy="100000" kx="0" ky="0" algn="bl" rotWithShape="0" blurRad="76200" dist="25400" dir="5400000">
              <a:srgbClr val="1D3B4F">
                <a:alpha val="12000"/>
              </a:srgbClr>
            </a:outerShdw>
          </a:effectLst>
        </p:spPr>
      </p:sp>
      <p:sp>
        <p:nvSpPr>
          <p:cNvPr id="14" name="Insignia 4"/>
          <p:cNvSpPr txBox="1"/>
          <p:nvPr/>
        </p:nvSpPr>
        <p:spPr>
          <a:xfrm>
            <a:off x="566928" y="2944368"/>
            <a:ext cx="347472" cy="347472"/>
          </a:xfrm>
          <a:prstGeom prst="ellipse">
            <a:avLst/>
          </a:prstGeom>
          <a:solidFill>
            <a:srgbClr val="D2504B"/>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5" name="Text 12"/>
          <p:cNvSpPr txBox="1"/>
          <p:nvPr/>
        </p:nvSpPr>
        <p:spPr>
          <a:xfrm>
            <a:off x="1097280" y="2862072"/>
            <a:ext cx="7406640" cy="512064"/>
          </a:xfrm>
          <a:prstGeom prst="rect">
            <a:avLst/>
          </a:prstGeom>
          <a:noFill/>
          <a:ln/>
        </p:spPr>
        <p:txBody>
          <a:bodyPr wrap="square" lIns="0" tIns="0" rIns="0" bIns="0" rtlCol="0" anchor="ctr"/>
          <a:lstStyle/>
          <a:p>
            <a:pPr indent="0" marL="0">
              <a:buNone/>
            </a:pPr>
            <a:r>
              <a:rPr lang="en-US" sz="1400" b="1" dirty="0">
                <a:solidFill>
                  <a:schemeClr val="tx1"/>
                </a:solidFill>
              </a:rPr>
              <a:t>¿Por qué la astilla hizo más difícil el caso 2?</a:t>
            </a:r>
            <a:endParaRPr lang="en-US" sz="1400" dirty="0"/>
          </a:p>
        </p:txBody>
      </p:sp>
      <p:sp>
        <p:nvSpPr>
          <p:cNvPr id="16" name="Pregunta 5"/>
          <p:cNvSpPr/>
          <p:nvPr/>
        </p:nvSpPr>
        <p:spPr>
          <a:xfrm>
            <a:off x="457200" y="3465576"/>
            <a:ext cx="8229600" cy="512064"/>
          </a:xfrm>
          <a:prstGeom prst="roundRect">
            <a:avLst>
              <a:gd name="adj" fmla="val 21429"/>
            </a:avLst>
          </a:prstGeom>
          <a:solidFill>
            <a:srgbClr val="FFFFFF"/>
          </a:solidFill>
          <a:ln/>
          <a:effectLst>
            <a:outerShdw sx="100000" sy="100000" kx="0" ky="0" algn="bl" rotWithShape="0" blurRad="76200" dist="25400" dir="5400000">
              <a:srgbClr val="1D3B4F">
                <a:alpha val="12000"/>
              </a:srgbClr>
            </a:outerShdw>
          </a:effectLst>
        </p:spPr>
      </p:sp>
      <p:sp>
        <p:nvSpPr>
          <p:cNvPr id="17" name="Insignia 5"/>
          <p:cNvSpPr txBox="1"/>
          <p:nvPr/>
        </p:nvSpPr>
        <p:spPr>
          <a:xfrm>
            <a:off x="566928" y="3547872"/>
            <a:ext cx="347472" cy="347472"/>
          </a:xfrm>
          <a:prstGeom prst="ellipse">
            <a:avLst/>
          </a:prstGeom>
          <a:solidFill>
            <a:srgbClr val="D2504B"/>
          </a:solid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18" name="Text 15"/>
          <p:cNvSpPr txBox="1"/>
          <p:nvPr/>
        </p:nvSpPr>
        <p:spPr>
          <a:xfrm>
            <a:off x="1097280" y="3465576"/>
            <a:ext cx="7406640" cy="512064"/>
          </a:xfrm>
          <a:prstGeom prst="rect">
            <a:avLst/>
          </a:prstGeom>
          <a:noFill/>
          <a:ln/>
        </p:spPr>
        <p:txBody>
          <a:bodyPr wrap="square" lIns="0" tIns="0" rIns="0" bIns="0" rtlCol="0" anchor="ctr"/>
          <a:lstStyle/>
          <a:p>
            <a:pPr indent="0" marL="0">
              <a:buNone/>
            </a:pPr>
            <a:r>
              <a:rPr lang="en-US" sz="1400" b="1" dirty="0">
                <a:solidFill>
                  <a:schemeClr val="tx1"/>
                </a:solidFill>
              </a:rPr>
              <a:t>¿Qué cuidados evitan que tu segunda barrera trabaje de más?</a:t>
            </a:r>
            <a:endParaRPr lang="en-US" sz="1400" dirty="0"/>
          </a:p>
        </p:txBody>
      </p:sp>
      <p:sp>
        <p:nvSpPr>
          <p:cNvPr id="19" name="Banner"/>
          <p:cNvSpPr/>
          <p:nvPr/>
        </p:nvSpPr>
        <p:spPr>
          <a:xfrm>
            <a:off x="457200" y="4160520"/>
            <a:ext cx="8229600" cy="502920"/>
          </a:xfrm>
          <a:prstGeom prst="roundRect">
            <a:avLst>
              <a:gd name="adj" fmla="val 18182"/>
            </a:avLst>
          </a:prstGeom>
          <a:solidFill>
            <a:srgbClr val="D6EEF0"/>
          </a:solidFill>
          <a:ln/>
        </p:spPr>
      </p:sp>
      <p:sp>
        <p:nvSpPr>
          <p:cNvPr id="20" name="Texto banner"/>
          <p:cNvSpPr txBox="1"/>
          <p:nvPr/>
        </p:nvSpPr>
        <p:spPr>
          <a:xfrm>
            <a:off x="640080" y="4160520"/>
            <a:ext cx="7863840" cy="502920"/>
          </a:xfrm>
          <a:prstGeom prst="rect">
            <a:avLst/>
          </a:prstGeom>
          <a:noFill/>
          <a:ln/>
        </p:spPr>
        <p:txBody>
          <a:bodyPr wrap="square" lIns="0" tIns="0" rIns="0" bIns="0" rtlCol="0" anchor="ctr"/>
          <a:lstStyle/>
          <a:p>
            <a:pPr indent="0" marL="0">
              <a:buNone/>
            </a:pPr>
            <a:r>
              <a:rPr lang="en-US" sz="1400" b="1" dirty="0">
                <a:solidFill>
                  <a:srgbClr val="1E8A94"/>
                </a:solidFill>
              </a:rPr>
              <a:t>Tip: </a:t>
            </a:r>
            <a:pPr indent="0" marL="0">
              <a:buNone/>
            </a:pPr>
            <a:r>
              <a:rPr lang="en-US" sz="1400" dirty="0">
                <a:solidFill>
                  <a:schemeClr val="tx1"/>
                </a:solidFill>
              </a:rPr>
              <a:t>responde con tus palabras y usa al menos tres términos de la clase.</a:t>
            </a:r>
            <a:endParaRPr lang="en-US" sz="1400" dirty="0"/>
          </a:p>
        </p:txBody>
      </p:sp>
      <p:sp>
        <p:nvSpPr>
          <p:cNvPr id="25" name="Slide Number Placeholder 0"/>
          <p:cNvSpPr>
            <a:spLocks noGrp="1"/>
          </p:cNvSpPr>
          <p:nvPr>
            <p:ph type="sldNum" sz="quarter" idx="4294967295"/>
          </p:nvPr>
        </p:nvSpPr>
        <p:spPr>
          <a:xfrm>
            <a:off x="8138160" y="482803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ext 0"/>
          <p:cNvSpPr/>
          <p:nvPr>
            <p:ph idx="100" type="title" hasCustomPrompt="1"/>
          </p:nvPr>
        </p:nvSpPr>
        <p:spPr>
          <a:xfrm>
            <a:off x="457200" y="411480"/>
            <a:ext cx="8229600" cy="822960"/>
          </a:xfrm>
          <a:prstGeom prst="rect">
            <a:avLst/>
          </a:prstGeom>
          <a:noFill/>
          <a:ln/>
        </p:spPr>
        <p:txBody>
          <a:bodyPr wrap="square" lIns="0" tIns="0" rIns="0" bIns="0" rtlCol="0" anchor="ctr"/>
          <a:lstStyle/>
          <a:p>
            <a:pPr algn="l" indent="0" marL="0">
              <a:buNone/>
            </a:pPr>
            <a:r>
              <a:rPr lang="en-US" sz="3200" b="1" dirty="0">
                <a:solidFill>
                  <a:schemeClr val="bg1"/>
                </a:solidFill>
              </a:rPr>
              <a:t>Pero… ¿y si el microbio sigue ahí?</a:t>
            </a:r>
            <a:endParaRPr lang="en-US" sz="3200" dirty="0"/>
          </a:p>
        </p:txBody>
      </p:sp>
      <p:sp>
        <p:nvSpPr>
          <p:cNvPr id="4" name="Puente hemograma"/>
          <p:cNvSpPr/>
          <p:nvPr/>
        </p:nvSpPr>
        <p:spPr>
          <a:xfrm>
            <a:off x="457200" y="1463040"/>
            <a:ext cx="4023360" cy="2194560"/>
          </a:xfrm>
          <a:prstGeom prst="roundRect">
            <a:avLst>
              <a:gd name="adj" fmla="val 5000"/>
            </a:avLst>
          </a:prstGeom>
          <a:solidFill>
            <a:srgbClr val="FFFFFF"/>
          </a:solidFill>
          <a:ln/>
          <a:effectLst>
            <a:outerShdw sx="100000" sy="100000" kx="0" ky="0" algn="bl" rotWithShape="0" blurRad="76200" dist="25400" dir="5400000">
              <a:srgbClr val="1D3B4F">
                <a:alpha val="12000"/>
              </a:srgbClr>
            </a:outerShdw>
          </a:effectLst>
        </p:spPr>
      </p:sp>
      <p:sp>
        <p:nvSpPr>
          <p:cNvPr id="5" name="Círculo ícono"/>
          <p:cNvSpPr/>
          <p:nvPr/>
        </p:nvSpPr>
        <p:spPr>
          <a:xfrm>
            <a:off x="685800" y="1645920"/>
            <a:ext cx="548640" cy="548640"/>
          </a:xfrm>
          <a:prstGeom prst="ellipse">
            <a:avLst/>
          </a:prstGeom>
          <a:solidFill>
            <a:srgbClr val="D2504B"/>
          </a:solidFill>
          <a:ln/>
        </p:spPr>
      </p:sp>
      <p:pic>
        <p:nvPicPr>
          <p:cNvPr id="6" name="Image 0" descr="FaVial">    </p:cNvPr>
          <p:cNvPicPr>
            <a:picLocks noChangeAspect="1"/>
          </p:cNvPicPr>
          <p:nvPr/>
        </p:nvPicPr>
        <p:blipFill>
          <a:blip r:embed="rId1"/>
          <a:stretch>
            <a:fillRect/>
          </a:stretch>
        </p:blipFill>
        <p:spPr>
          <a:xfrm>
            <a:off x="822960" y="1783080"/>
            <a:ext cx="274320" cy="274320"/>
          </a:xfrm>
          <a:prstGeom prst="rect">
            <a:avLst/>
          </a:prstGeom>
        </p:spPr>
      </p:pic>
      <p:sp>
        <p:nvSpPr>
          <p:cNvPr id="7" name="Text 3"/>
          <p:cNvSpPr txBox="1"/>
          <p:nvPr/>
        </p:nvSpPr>
        <p:spPr>
          <a:xfrm>
            <a:off x="1371600" y="1645920"/>
            <a:ext cx="2926080" cy="548640"/>
          </a:xfrm>
          <a:prstGeom prst="rect">
            <a:avLst/>
          </a:prstGeom>
          <a:noFill/>
          <a:ln/>
        </p:spPr>
        <p:txBody>
          <a:bodyPr wrap="square" lIns="0" tIns="0" rIns="0" bIns="0" rtlCol="0" anchor="ctr"/>
          <a:lstStyle/>
          <a:p>
            <a:pPr indent="0" marL="0">
              <a:buNone/>
            </a:pPr>
            <a:r>
              <a:rPr lang="en-US" sz="1600" b="1" dirty="0">
                <a:solidFill>
                  <a:schemeClr val="tx1"/>
                </a:solidFill>
              </a:rPr>
              <a:t>El hemograma lo cuenta</a:t>
            </a:r>
            <a:endParaRPr lang="en-US" sz="1600" dirty="0"/>
          </a:p>
        </p:txBody>
      </p:sp>
      <p:sp>
        <p:nvSpPr>
          <p:cNvPr id="8" name="Text 4"/>
          <p:cNvSpPr txBox="1"/>
          <p:nvPr/>
        </p:nvSpPr>
        <p:spPr>
          <a:xfrm>
            <a:off x="685800" y="2331720"/>
            <a:ext cx="3566160" cy="1234440"/>
          </a:xfrm>
          <a:prstGeom prst="rect">
            <a:avLst/>
          </a:prstGeom>
          <a:noFill/>
          <a:ln/>
        </p:spPr>
        <p:txBody>
          <a:bodyPr wrap="square" lIns="0" tIns="0" rIns="0" bIns="0" rtlCol="0" anchor="t"/>
          <a:lstStyle/>
          <a:p>
            <a:pPr indent="0" marL="0">
              <a:buNone/>
            </a:pPr>
            <a:r>
              <a:rPr lang="en-US" sz="1400" dirty="0">
                <a:solidFill>
                  <a:schemeClr val="tx1"/>
                </a:solidFill>
              </a:rPr>
              <a:t>En una infección bacteriana suele aumentar el número de leucocitos, sobre todo de neutrófilos.</a:t>
            </a:r>
            <a:endParaRPr lang="en-US" sz="1400" dirty="0"/>
          </a:p>
        </p:txBody>
      </p:sp>
      <p:sp>
        <p:nvSpPr>
          <p:cNvPr id="9" name="Puente tercera línea"/>
          <p:cNvSpPr/>
          <p:nvPr/>
        </p:nvSpPr>
        <p:spPr>
          <a:xfrm>
            <a:off x="4663440" y="1463040"/>
            <a:ext cx="4023360" cy="2194560"/>
          </a:xfrm>
          <a:prstGeom prst="roundRect">
            <a:avLst>
              <a:gd name="adj" fmla="val 5000"/>
            </a:avLst>
          </a:prstGeom>
          <a:solidFill>
            <a:srgbClr val="FFFFFF"/>
          </a:solidFill>
          <a:ln/>
          <a:effectLst>
            <a:outerShdw sx="100000" sy="100000" kx="0" ky="0" algn="bl" rotWithShape="0" blurRad="76200" dist="25400" dir="5400000">
              <a:srgbClr val="1D3B4F">
                <a:alpha val="12000"/>
              </a:srgbClr>
            </a:outerShdw>
          </a:effectLst>
        </p:spPr>
      </p:sp>
      <p:sp>
        <p:nvSpPr>
          <p:cNvPr id="10" name="Círculo ícono"/>
          <p:cNvSpPr/>
          <p:nvPr/>
        </p:nvSpPr>
        <p:spPr>
          <a:xfrm>
            <a:off x="4892040" y="1645920"/>
            <a:ext cx="548640" cy="548640"/>
          </a:xfrm>
          <a:prstGeom prst="ellipse">
            <a:avLst/>
          </a:prstGeom>
          <a:solidFill>
            <a:srgbClr val="7B68C8"/>
          </a:solidFill>
          <a:ln/>
        </p:spPr>
      </p:sp>
      <p:pic>
        <p:nvPicPr>
          <p:cNvPr id="11" name="Image 1" descr="FaShieldAlt">    </p:cNvPr>
          <p:cNvPicPr>
            <a:picLocks noChangeAspect="1"/>
          </p:cNvPicPr>
          <p:nvPr/>
        </p:nvPicPr>
        <p:blipFill>
          <a:blip r:embed="rId2"/>
          <a:stretch>
            <a:fillRect/>
          </a:stretch>
        </p:blipFill>
        <p:spPr>
          <a:xfrm>
            <a:off x="5029200" y="1783080"/>
            <a:ext cx="274320" cy="274320"/>
          </a:xfrm>
          <a:prstGeom prst="rect">
            <a:avLst/>
          </a:prstGeom>
        </p:spPr>
      </p:pic>
      <p:sp>
        <p:nvSpPr>
          <p:cNvPr id="12" name="Text 7"/>
          <p:cNvSpPr txBox="1"/>
          <p:nvPr/>
        </p:nvSpPr>
        <p:spPr>
          <a:xfrm>
            <a:off x="5577840" y="1645920"/>
            <a:ext cx="2926080" cy="548640"/>
          </a:xfrm>
          <a:prstGeom prst="rect">
            <a:avLst/>
          </a:prstGeom>
          <a:noFill/>
          <a:ln/>
        </p:spPr>
        <p:txBody>
          <a:bodyPr wrap="square" lIns="0" tIns="0" rIns="0" bIns="0" rtlCol="0" anchor="ctr"/>
          <a:lstStyle/>
          <a:p>
            <a:pPr indent="0" marL="0">
              <a:buNone/>
            </a:pPr>
            <a:r>
              <a:rPr lang="en-US" sz="1600" b="1" dirty="0">
                <a:solidFill>
                  <a:schemeClr val="tx1"/>
                </a:solidFill>
              </a:rPr>
              <a:t>Entra la tercera línea</a:t>
            </a:r>
            <a:endParaRPr lang="en-US" sz="1600" dirty="0"/>
          </a:p>
        </p:txBody>
      </p:sp>
      <p:sp>
        <p:nvSpPr>
          <p:cNvPr id="13" name="Text 8"/>
          <p:cNvSpPr txBox="1"/>
          <p:nvPr/>
        </p:nvSpPr>
        <p:spPr>
          <a:xfrm>
            <a:off x="4892040" y="2331720"/>
            <a:ext cx="3566160" cy="1234440"/>
          </a:xfrm>
          <a:prstGeom prst="rect">
            <a:avLst/>
          </a:prstGeom>
          <a:noFill/>
          <a:ln/>
        </p:spPr>
        <p:txBody>
          <a:bodyPr wrap="square" lIns="0" tIns="0" rIns="0" bIns="0" rtlCol="0" anchor="t"/>
          <a:lstStyle/>
          <a:p>
            <a:pPr indent="0" marL="0">
              <a:buNone/>
            </a:pPr>
            <a:r>
              <a:rPr lang="en-US" sz="1400" dirty="0">
                <a:solidFill>
                  <a:schemeClr val="tx1"/>
                </a:solidFill>
              </a:rPr>
              <a:t>Linfocitos T y B, anticuerpos y memoria: una respuesta específica contra ese microbio.</a:t>
            </a:r>
            <a:endParaRPr lang="en-US" sz="1400" dirty="0"/>
          </a:p>
        </p:txBody>
      </p:sp>
      <p:sp>
        <p:nvSpPr>
          <p:cNvPr id="14" name="Text 9"/>
          <p:cNvSpPr txBox="1"/>
          <p:nvPr/>
        </p:nvSpPr>
        <p:spPr>
          <a:xfrm>
            <a:off x="457200" y="3977640"/>
            <a:ext cx="8229600" cy="457200"/>
          </a:xfrm>
          <a:prstGeom prst="rect">
            <a:avLst/>
          </a:prstGeom>
          <a:noFill/>
          <a:ln/>
        </p:spPr>
        <p:txBody>
          <a:bodyPr wrap="square" lIns="0" tIns="0" rIns="0" bIns="0" rtlCol="0" anchor="ctr"/>
          <a:lstStyle/>
          <a:p>
            <a:pPr indent="0" marL="0">
              <a:buNone/>
            </a:pPr>
            <a:r>
              <a:rPr lang="en-US" sz="1800" b="1" dirty="0">
                <a:solidFill>
                  <a:schemeClr val="bg1"/>
                </a:solidFill>
              </a:rPr>
              <a:t>Hoy: tu cuerpo tiene una alarma rápida, ordenada y que se apaga sola.</a:t>
            </a:r>
            <a:endParaRPr lang="en-US" sz="1800" dirty="0"/>
          </a:p>
        </p:txBody>
      </p:sp>
    </p:spTree>
  </p:cSld>
  <p:clrMapOvr>
    <a:masterClrMapping/>
  </p:clrMapOvr>
</p:sld>
</file>

<file path=ppt/theme/theme1.xml><?xml version="1.0" encoding="utf-8"?>
<a:theme xmlns:a="http://schemas.openxmlformats.org/drawingml/2006/main" name="Segunda Barrera">
  <a:themeElements>
    <a:clrScheme name="Segunda Barrera">
      <a:dk1>
        <a:srgbClr val="1D3B4F"/>
      </a:dk1>
      <a:lt1>
        <a:srgbClr val="FFFFFF"/>
      </a:lt1>
      <a:dk2>
        <a:srgbClr val="5F7A89"/>
      </a:dk2>
      <a:lt2>
        <a:srgbClr val="F3F9FA"/>
      </a:lt2>
      <a:accent1>
        <a:srgbClr val="1E8A94"/>
      </a:accent1>
      <a:accent2>
        <a:srgbClr val="E0A020"/>
      </a:accent2>
      <a:accent3>
        <a:srgbClr val="7B68C8"/>
      </a:accent3>
      <a:accent4>
        <a:srgbClr val="D2504B"/>
      </a:accent4>
      <a:accent5>
        <a:srgbClr val="3E9E78"/>
      </a:accent5>
      <a:accent6>
        <a:srgbClr val="E8736F"/>
      </a:accent6>
      <a:hlink>
        <a:srgbClr val="1E8A94"/>
      </a:hlink>
      <a:folHlink>
        <a:srgbClr val="7B68C8"/>
      </a:folHlink>
    </a:clrScheme>
    <a:fontScheme name="Segunda Barrer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 segunda barrera: la inflamación</dc:title>
  <dc:subject>PptxGenJS Presentation</dc:subject>
  <dc:creator>Prof. Felipe Jiménez</dc:creator>
  <cp:lastModifiedBy>Prof. Felipe Jiménez</cp:lastModifiedBy>
  <cp:revision>1</cp:revision>
  <dcterms:created xsi:type="dcterms:W3CDTF">2026-10-23T01:36:01Z</dcterms:created>
  <dcterms:modified xsi:type="dcterms:W3CDTF">2026-10-23T01:36:01Z</dcterms:modified>
</cp:coreProperties>
</file>