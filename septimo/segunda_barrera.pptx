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f7506aa9-8b1a-a3de-771c-6de06cb2a2d3}">
          <p14:sldIdLst>
            <p14:sldId id="256"/>
            <p14:sldId id="257"/>
            <p14:sldId id="258"/>
            <p14:sldId id="259"/>
            <p14:sldId id="260"/>
          </p14:sldIdLst>
        </p14:section>
        <p14:section name="Contexto" id="{683f3382-053d-c160-b7c9-61d2d8936ef1}">
          <p14:sldIdLst>
            <p14:sldId id="261"/>
            <p14:sldId id="262"/>
            <p14:sldId id="263"/>
            <p14:sldId id="264"/>
            <p14:sldId id="265"/>
            <p14:sldId id="266"/>
            <p14:sldId id="267"/>
            <p14:sldId id="268"/>
            <p14:sldId id="269"/>
            <p14:sldId id="270"/>
          </p14:sldIdLst>
        </p14:section>
        <p14:section name="Juego" id="{37b62074-2356-dc64-75c9-4d43e2d66c47}">
          <p14:sldIdLst>
            <p14:sldId id="271"/>
            <p14:sldId id="272"/>
          </p14:sldIdLst>
        </p14:section>
        <p14:section name="Cierre" id="{81c8b108-1d7c-18be-aa92-97f28b1c15e8}">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Presenta el tema: la segunda línea de defensa y el juego que se usará en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Ruta sugerida de 90 minutos. Los tiempos son una guía: si el curso necesita más tiempo en el juego, acorta la parte de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(2-3 min). Deja que los estudiantes respondan en voz alta antes de revelar la idea: la inflamación no es la herida, es la defensa. Que anoten su hipótesis en la bitácora.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Repaso breve de la clase anterior. Hoy trabajamos la segunda línea. La tercera (linfocitos T y B, anticuerpos, vacunas)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Comparación primera vs. segunda línea. Insiste: la segunda línea no distingue qué microbio es, pero sí detecta que algo anda mal. No tiene memoria; eso es de la tercera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 los cuatro protagonistas. Neutrófilos y macrófagos son glóbulos blancos que fagocitan. Mastocitos y macrófagos residentes están en el tejido desde antes de la herida.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Definición. Distingue inflamación (respuesta del cuerpo) de infección (presencia de microbios). Las dos suelen ir juntas, pero no son lo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siete etapas son exactamente las siete órdenes del juego. Marca los tres grupos de color: avisar y abrir camino, combatir, limpiar y reparar.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Esquema del tejido. Recorre los números 1 a 5 con el curso. Es el mismo corte que verán en la pantalla del juego.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Reportaje animado de 1 min 24 s, sin audio: los subtítulos van en pantalla. Reprodúcelo una vez completo y una segunda vez pausando en cada etapa. Pide que cuenten las 7 etapas y que anoten qué signo aparece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explica la lógica del juego: cada orden tiene una causa que debe cumplirse antes. Si se salta, la orden no tiene efecto. Pregunta: ¿por qué el cuerpo funciona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signo visible tiene una causa. En el juego aparecen como barras en la columna "Lo que siente la persona". La fiebre es un efecto general, no solo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pus es evidencia de que hubo combate, no suciedad. Los neutrófilos viven poco: al morir se acumulan. Aprovecha para decir que apretar una herida empuja microbios hacia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la inflamación es útil solo en su justa medida y cuando termina a tiempo. Conecta con el juego: apagar antes de tiempo y no apagar tienen consecuencias distintas.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Cuidados: coinciden con las tarjetas de acciones que aparecen al terminar cada caso del juego. Los antibióticos los indica un médico. Si hay fiebre, más rojez o pus: avisar a un adulto y consultar en el CESFAM.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juego. Se juega en el computador o celular desde la sección de 7° Básico del sitio. Recomienda comenzar en Aprendizaje, donde el sistema indica la orden que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juega. Las teclas 1 a 7 activan las órdenes. En Aprendizaje la orden recomendada brilla. Pide que lean el informe de cada caso: ahí está el gráfico y la tabla de sus órdenes.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para la bitácora, durante o después del juego. Pide respuestas con vocabulario científico: histamina, capilar, neutrófilo, fagocitosis, 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puente. Si el microbio sigue ganando, entra la tercera línea. En el hemograma de una infección bacteriana suele aumentar el número de leucocitos, sobre todo de neutrófilos. Eso se trabaja en la siguiente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3F9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828032"/>
            <a:ext cx="5486400" cy="228600"/>
          </a:xfrm>
          <a:prstGeom prst="rect">
            <a:avLst/>
          </a:prstGeom>
          <a:noFill/>
          <a:ln/>
        </p:spPr>
        <p:txBody>
          <a:bodyPr wrap="square" lIns="0" tIns="0" rIns="0" bIns="0" rtlCol="0" anchor="ctr"/>
          <a:lstStyle/>
          <a:p>
            <a:pPr indent="0" marL="0">
              <a:buNone/>
            </a:pPr>
            <a:r>
              <a:rPr lang="en-US" sz="900" dirty="0">
                <a:solidFill>
                  <a:schemeClr val="tx2"/>
                </a:solidFill>
              </a:rPr>
              <a:t>Unidad 3 · Inmunología · La segunda barrera</a:t>
            </a:r>
            <a:endParaRPr lang="en-US" sz="9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rgbClr val="F3F9FA"/>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D3B4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tiqueta"/>
          <p:cNvSpPr/>
          <p:nvPr/>
        </p:nvSpPr>
        <p:spPr>
          <a:xfrm>
            <a:off x="457200" y="411480"/>
            <a:ext cx="3291840" cy="347472"/>
          </a:xfrm>
          <a:prstGeom prst="roundRect">
            <a:avLst>
              <a:gd name="adj" fmla="val 26316"/>
            </a:avLst>
          </a:prstGeom>
          <a:solidFill>
            <a:srgbClr val="D6EEF0"/>
          </a:solidFill>
          <a:ln/>
        </p:spPr>
      </p:sp>
      <p:sp>
        <p:nvSpPr>
          <p:cNvPr id="4" name="Text 1"/>
          <p:cNvSpPr txBox="1"/>
          <p:nvPr/>
        </p:nvSpPr>
        <p:spPr>
          <a:xfrm>
            <a:off x="457200" y="411480"/>
            <a:ext cx="3291840" cy="347472"/>
          </a:xfrm>
          <a:prstGeom prst="rect">
            <a:avLst/>
          </a:prstGeom>
          <a:noFill/>
          <a:ln/>
        </p:spPr>
        <p:txBody>
          <a:bodyPr wrap="square" lIns="0" tIns="0" rIns="0" bIns="0" rtlCol="0" anchor="ctr"/>
          <a:lstStyle/>
          <a:p>
            <a:pPr algn="ctr" indent="0" marL="0">
              <a:buNone/>
            </a:pPr>
            <a:r>
              <a:rPr lang="en-US" sz="1000" b="1" dirty="0">
                <a:solidFill>
                  <a:schemeClr val="accent1"/>
                </a:solidFill>
              </a:rPr>
              <a:t>UNIDAD 3 · INMUNOLOGÍA · OA4</a:t>
            </a:r>
            <a:endParaRPr lang="en-US" sz="1000" dirty="0"/>
          </a:p>
        </p:txBody>
      </p:sp>
      <p:sp>
        <p:nvSpPr>
          <p:cNvPr id="5" name="Título portada"/>
          <p:cNvSpPr txBox="1"/>
          <p:nvPr/>
        </p:nvSpPr>
        <p:spPr>
          <a:xfrm>
            <a:off x="457200" y="1188720"/>
            <a:ext cx="4754880" cy="1554480"/>
          </a:xfrm>
          <a:prstGeom prst="rect">
            <a:avLst/>
          </a:prstGeom>
          <a:noFill/>
          <a:ln/>
        </p:spPr>
        <p:txBody>
          <a:bodyPr wrap="square" lIns="0" tIns="0" rIns="0" bIns="0" rtlCol="0" anchor="t"/>
          <a:lstStyle/>
          <a:p>
            <a:pPr indent="0" marL="0">
              <a:buNone/>
            </a:pPr>
            <a:r>
              <a:rPr lang="en-US" sz="3600" b="1" dirty="0">
                <a:solidFill>
                  <a:schemeClr val="tx1"/>
                </a:solidFill>
                <a:latin typeface="Cambria" pitchFamily="34" charset="0"/>
                <a:ea typeface="Cambria" pitchFamily="34" charset="-122"/>
                <a:cs typeface="Cambria" pitchFamily="34" charset="-120"/>
              </a:rPr>
              <a:t>¿Y si el microbio logra entrar?</a:t>
            </a:r>
            <a:endParaRPr lang="en-US" sz="3600" dirty="0"/>
          </a:p>
        </p:txBody>
      </p:sp>
      <p:sp>
        <p:nvSpPr>
          <p:cNvPr id="6" name="Text 3"/>
          <p:cNvSpPr txBox="1"/>
          <p:nvPr/>
        </p:nvSpPr>
        <p:spPr>
          <a:xfrm>
            <a:off x="457200" y="2880360"/>
            <a:ext cx="4754880" cy="457200"/>
          </a:xfrm>
          <a:prstGeom prst="rect">
            <a:avLst/>
          </a:prstGeom>
          <a:noFill/>
          <a:ln/>
        </p:spPr>
        <p:txBody>
          <a:bodyPr wrap="square" lIns="0" tIns="0" rIns="0" bIns="0" rtlCol="0" anchor="ctr"/>
          <a:lstStyle/>
          <a:p>
            <a:pPr indent="0" marL="0">
              <a:buNone/>
            </a:pPr>
            <a:r>
              <a:rPr lang="en-US" sz="2000" dirty="0">
                <a:solidFill>
                  <a:schemeClr val="accent1"/>
                </a:solidFill>
              </a:rPr>
              <a:t>La segunda barrera: la inflamación</a:t>
            </a:r>
            <a:endParaRPr lang="en-US" sz="2000" dirty="0"/>
          </a:p>
        </p:txBody>
      </p:sp>
      <p:sp>
        <p:nvSpPr>
          <p:cNvPr id="7" name="Text 4"/>
          <p:cNvSpPr txBox="1"/>
          <p:nvPr/>
        </p:nvSpPr>
        <p:spPr>
          <a:xfrm>
            <a:off x="457200" y="4434840"/>
            <a:ext cx="5029200" cy="274320"/>
          </a:xfrm>
          <a:prstGeom prst="rect">
            <a:avLst/>
          </a:prstGeom>
          <a:noFill/>
          <a:ln/>
        </p:spPr>
        <p:txBody>
          <a:bodyPr wrap="square" lIns="0" tIns="0" rIns="0" bIns="0" rtlCol="0" anchor="ctr"/>
          <a:lstStyle/>
          <a:p>
            <a:pPr indent="0" marL="0">
              <a:buNone/>
            </a:pPr>
            <a:r>
              <a:rPr lang="en-US" sz="1200" dirty="0">
                <a:solidFill>
                  <a:schemeClr val="tx2"/>
                </a:solidFill>
              </a:rPr>
              <a:t>Ciencias Naturales · 7° Básico · Prof. Felipe Jiménez</a:t>
            </a:r>
            <a:endParaRPr lang="en-US" sz="1200" dirty="0"/>
          </a:p>
        </p:txBody>
      </p:sp>
      <p:sp>
        <p:nvSpPr>
          <p:cNvPr id="8" name="Círculo"/>
          <p:cNvSpPr/>
          <p:nvPr/>
        </p:nvSpPr>
        <p:spPr>
          <a:xfrm>
            <a:off x="5486400" y="822960"/>
            <a:ext cx="3200400" cy="3200400"/>
          </a:xfrm>
          <a:prstGeom prst="ellipse">
            <a:avLst/>
          </a:prstGeom>
          <a:solidFill>
            <a:srgbClr val="D6EEF0"/>
          </a:solidFill>
          <a:ln/>
        </p:spPr>
      </p:sp>
      <p:sp>
        <p:nvSpPr>
          <p:cNvPr id="9" name="Shape 6"/>
          <p:cNvSpPr/>
          <p:nvPr/>
        </p:nvSpPr>
        <p:spPr>
          <a:xfrm>
            <a:off x="5989320" y="1325880"/>
            <a:ext cx="2194560" cy="2194560"/>
          </a:xfrm>
          <a:prstGeom prst="ellipse">
            <a:avLst/>
          </a:prstGeom>
          <a:solidFill>
            <a:srgbClr val="1E8A94"/>
          </a:solidFill>
          <a:ln/>
        </p:spPr>
      </p:sp>
      <p:pic>
        <p:nvPicPr>
          <p:cNvPr id="10" name="Image 0" descr="Llama de inflamación">    </p:cNvPr>
          <p:cNvPicPr>
            <a:picLocks noChangeAspect="1"/>
          </p:cNvPicPr>
          <p:nvPr/>
        </p:nvPicPr>
        <p:blipFill>
          <a:blip r:embed="rId1"/>
          <a:stretch>
            <a:fillRect/>
          </a:stretch>
        </p:blipFill>
        <p:spPr>
          <a:xfrm>
            <a:off x="6583680" y="1920240"/>
            <a:ext cx="1005840" cy="1005840"/>
          </a:xfrm>
          <a:prstGeom prst="rect">
            <a:avLst/>
          </a:prstGeom>
        </p:spPr>
      </p:pic>
      <p:sp>
        <p:nvSpPr>
          <p:cNvPr id="11" name="Shape 7"/>
          <p:cNvSpPr/>
          <p:nvPr/>
        </p:nvSpPr>
        <p:spPr>
          <a:xfrm>
            <a:off x="5623560" y="1143000"/>
            <a:ext cx="365760" cy="365760"/>
          </a:xfrm>
          <a:prstGeom prst="ellipse">
            <a:avLst/>
          </a:prstGeom>
          <a:solidFill>
            <a:srgbClr val="7B68C8"/>
          </a:solidFill>
          <a:ln/>
        </p:spPr>
      </p:sp>
      <p:sp>
        <p:nvSpPr>
          <p:cNvPr id="12" name="Shape 8"/>
          <p:cNvSpPr/>
          <p:nvPr/>
        </p:nvSpPr>
        <p:spPr>
          <a:xfrm>
            <a:off x="5696712" y="1234440"/>
            <a:ext cx="73152" cy="73152"/>
          </a:xfrm>
          <a:prstGeom prst="ellipse">
            <a:avLst/>
          </a:prstGeom>
          <a:solidFill>
            <a:srgbClr val="E9E4FF"/>
          </a:solidFill>
          <a:ln/>
        </p:spPr>
      </p:sp>
      <p:sp>
        <p:nvSpPr>
          <p:cNvPr id="13" name="Shape 9"/>
          <p:cNvSpPr/>
          <p:nvPr/>
        </p:nvSpPr>
        <p:spPr>
          <a:xfrm>
            <a:off x="5806440" y="1207008"/>
            <a:ext cx="73152" cy="73152"/>
          </a:xfrm>
          <a:prstGeom prst="ellipse">
            <a:avLst/>
          </a:prstGeom>
          <a:solidFill>
            <a:srgbClr val="E9E4FF"/>
          </a:solidFill>
          <a:ln/>
        </p:spPr>
      </p:sp>
      <p:sp>
        <p:nvSpPr>
          <p:cNvPr id="14" name="Shape 10"/>
          <p:cNvSpPr/>
          <p:nvPr/>
        </p:nvSpPr>
        <p:spPr>
          <a:xfrm>
            <a:off x="5852160" y="1307592"/>
            <a:ext cx="73152" cy="73152"/>
          </a:xfrm>
          <a:prstGeom prst="ellipse">
            <a:avLst/>
          </a:prstGeom>
          <a:solidFill>
            <a:srgbClr val="E9E4FF"/>
          </a:solidFill>
          <a:ln/>
        </p:spPr>
      </p:sp>
      <p:sp>
        <p:nvSpPr>
          <p:cNvPr id="15" name="Shape 11"/>
          <p:cNvSpPr/>
          <p:nvPr/>
        </p:nvSpPr>
        <p:spPr>
          <a:xfrm>
            <a:off x="5751576" y="1362456"/>
            <a:ext cx="73152" cy="73152"/>
          </a:xfrm>
          <a:prstGeom prst="ellipse">
            <a:avLst/>
          </a:prstGeom>
          <a:solidFill>
            <a:srgbClr val="E9E4FF"/>
          </a:solidFill>
          <a:ln/>
        </p:spPr>
      </p:sp>
      <p:sp>
        <p:nvSpPr>
          <p:cNvPr id="16" name="Shape 12"/>
          <p:cNvSpPr/>
          <p:nvPr/>
        </p:nvSpPr>
        <p:spPr>
          <a:xfrm>
            <a:off x="5678424" y="1316736"/>
            <a:ext cx="73152" cy="73152"/>
          </a:xfrm>
          <a:prstGeom prst="ellipse">
            <a:avLst/>
          </a:prstGeom>
          <a:solidFill>
            <a:srgbClr val="E9E4FF"/>
          </a:solidFill>
          <a:ln/>
        </p:spPr>
      </p:sp>
      <p:sp>
        <p:nvSpPr>
          <p:cNvPr id="17" name="Shape 13"/>
          <p:cNvSpPr/>
          <p:nvPr/>
        </p:nvSpPr>
        <p:spPr>
          <a:xfrm>
            <a:off x="5788152" y="1289304"/>
            <a:ext cx="73152" cy="73152"/>
          </a:xfrm>
          <a:prstGeom prst="ellipse">
            <a:avLst/>
          </a:prstGeom>
          <a:solidFill>
            <a:srgbClr val="E9E4FF"/>
          </a:solidFill>
          <a:ln/>
        </p:spPr>
      </p:sp>
      <p:sp>
        <p:nvSpPr>
          <p:cNvPr id="18" name="Shape 14"/>
          <p:cNvSpPr/>
          <p:nvPr/>
        </p:nvSpPr>
        <p:spPr>
          <a:xfrm>
            <a:off x="8138160" y="1920240"/>
            <a:ext cx="365760" cy="365760"/>
          </a:xfrm>
          <a:prstGeom prst="ellipse">
            <a:avLst/>
          </a:prstGeom>
          <a:solidFill>
            <a:srgbClr val="FFFFFF"/>
          </a:solidFill>
          <a:ln w="19050">
            <a:solidFill>
              <a:srgbClr val="7B68C8"/>
            </a:solidFill>
            <a:prstDash val="solid"/>
          </a:ln>
        </p:spPr>
      </p:sp>
      <p:sp>
        <p:nvSpPr>
          <p:cNvPr id="19" name="Shape 15"/>
          <p:cNvSpPr/>
          <p:nvPr/>
        </p:nvSpPr>
        <p:spPr>
          <a:xfrm>
            <a:off x="8189366" y="2081174"/>
            <a:ext cx="80467" cy="80467"/>
          </a:xfrm>
          <a:prstGeom prst="ellipse">
            <a:avLst/>
          </a:prstGeom>
          <a:solidFill>
            <a:srgbClr val="7B68C8"/>
          </a:solidFill>
          <a:ln/>
        </p:spPr>
      </p:sp>
      <p:sp>
        <p:nvSpPr>
          <p:cNvPr id="20" name="Shape 16"/>
          <p:cNvSpPr/>
          <p:nvPr/>
        </p:nvSpPr>
        <p:spPr>
          <a:xfrm>
            <a:off x="8271662" y="2017166"/>
            <a:ext cx="80467" cy="80467"/>
          </a:xfrm>
          <a:prstGeom prst="ellipse">
            <a:avLst/>
          </a:prstGeom>
          <a:solidFill>
            <a:srgbClr val="7B68C8"/>
          </a:solidFill>
          <a:ln/>
        </p:spPr>
      </p:sp>
      <p:sp>
        <p:nvSpPr>
          <p:cNvPr id="21" name="Shape 17"/>
          <p:cNvSpPr/>
          <p:nvPr/>
        </p:nvSpPr>
        <p:spPr>
          <a:xfrm>
            <a:off x="8353958" y="2081174"/>
            <a:ext cx="80467" cy="80467"/>
          </a:xfrm>
          <a:prstGeom prst="ellipse">
            <a:avLst/>
          </a:prstGeom>
          <a:solidFill>
            <a:srgbClr val="7B68C8"/>
          </a:solidFill>
          <a:ln/>
        </p:spPr>
      </p:sp>
      <p:sp>
        <p:nvSpPr>
          <p:cNvPr id="22" name="Shape 18"/>
          <p:cNvSpPr/>
          <p:nvPr/>
        </p:nvSpPr>
        <p:spPr>
          <a:xfrm>
            <a:off x="5687568" y="3401568"/>
            <a:ext cx="512064" cy="512064"/>
          </a:xfrm>
          <a:prstGeom prst="ellipse">
            <a:avLst/>
          </a:prstGeom>
          <a:solidFill>
            <a:srgbClr val="E0A020"/>
          </a:solidFill>
          <a:ln/>
        </p:spPr>
      </p:sp>
      <p:sp>
        <p:nvSpPr>
          <p:cNvPr id="23" name="Shape 19"/>
          <p:cNvSpPr/>
          <p:nvPr/>
        </p:nvSpPr>
        <p:spPr>
          <a:xfrm>
            <a:off x="6071616" y="3388766"/>
            <a:ext cx="230429" cy="230429"/>
          </a:xfrm>
          <a:prstGeom prst="ellipse">
            <a:avLst/>
          </a:prstGeom>
          <a:solidFill>
            <a:srgbClr val="E0A020"/>
          </a:solidFill>
          <a:ln/>
        </p:spPr>
      </p:sp>
      <p:sp>
        <p:nvSpPr>
          <p:cNvPr id="24" name="Shape 20"/>
          <p:cNvSpPr/>
          <p:nvPr/>
        </p:nvSpPr>
        <p:spPr>
          <a:xfrm>
            <a:off x="5828386" y="3580790"/>
            <a:ext cx="179222" cy="179222"/>
          </a:xfrm>
          <a:prstGeom prst="ellipse">
            <a:avLst/>
          </a:prstGeom>
          <a:solidFill>
            <a:srgbClr val="A8700A"/>
          </a:solidFill>
          <a:ln/>
        </p:spPr>
      </p:sp>
      <p:sp>
        <p:nvSpPr>
          <p:cNvPr id="25" name="Shape 21"/>
          <p:cNvSpPr/>
          <p:nvPr/>
        </p:nvSpPr>
        <p:spPr>
          <a:xfrm>
            <a:off x="7863840" y="3566160"/>
            <a:ext cx="365760" cy="365760"/>
          </a:xfrm>
          <a:prstGeom prst="ellipse">
            <a:avLst/>
          </a:prstGeom>
          <a:solidFill>
            <a:srgbClr val="FFFFFF"/>
          </a:solidFill>
          <a:ln w="19050">
            <a:solidFill>
              <a:srgbClr val="7B68C8"/>
            </a:solidFill>
            <a:prstDash val="solid"/>
          </a:ln>
        </p:spPr>
      </p:sp>
      <p:sp>
        <p:nvSpPr>
          <p:cNvPr id="26" name="Shape 22"/>
          <p:cNvSpPr/>
          <p:nvPr/>
        </p:nvSpPr>
        <p:spPr>
          <a:xfrm>
            <a:off x="7915046" y="3727094"/>
            <a:ext cx="80467" cy="80467"/>
          </a:xfrm>
          <a:prstGeom prst="ellipse">
            <a:avLst/>
          </a:prstGeom>
          <a:solidFill>
            <a:srgbClr val="7B68C8"/>
          </a:solidFill>
          <a:ln/>
        </p:spPr>
      </p:sp>
      <p:sp>
        <p:nvSpPr>
          <p:cNvPr id="27" name="Shape 23"/>
          <p:cNvSpPr/>
          <p:nvPr/>
        </p:nvSpPr>
        <p:spPr>
          <a:xfrm>
            <a:off x="7997342" y="3663086"/>
            <a:ext cx="80467" cy="80467"/>
          </a:xfrm>
          <a:prstGeom prst="ellipse">
            <a:avLst/>
          </a:prstGeom>
          <a:solidFill>
            <a:srgbClr val="7B68C8"/>
          </a:solidFill>
          <a:ln/>
        </p:spPr>
      </p:sp>
      <p:sp>
        <p:nvSpPr>
          <p:cNvPr id="28" name="Shape 24"/>
          <p:cNvSpPr/>
          <p:nvPr/>
        </p:nvSpPr>
        <p:spPr>
          <a:xfrm>
            <a:off x="8079638" y="3727094"/>
            <a:ext cx="80467" cy="80467"/>
          </a:xfrm>
          <a:prstGeom prst="ellipse">
            <a:avLst/>
          </a:prstGeom>
          <a:solidFill>
            <a:srgbClr val="7B68C8"/>
          </a:solidFill>
          <a:ln/>
        </p:spPr>
      </p:sp>
      <p:sp>
        <p:nvSpPr>
          <p:cNvPr id="29" name="Shape 25"/>
          <p:cNvSpPr/>
          <p:nvPr/>
        </p:nvSpPr>
        <p:spPr>
          <a:xfrm>
            <a:off x="6858000" y="685800"/>
            <a:ext cx="365760" cy="365760"/>
          </a:xfrm>
          <a:prstGeom prst="ellipse">
            <a:avLst/>
          </a:prstGeom>
          <a:solidFill>
            <a:srgbClr val="FFFFFF"/>
          </a:solidFill>
          <a:ln w="19050">
            <a:solidFill>
              <a:srgbClr val="7B68C8"/>
            </a:solidFill>
            <a:prstDash val="solid"/>
          </a:ln>
        </p:spPr>
      </p:sp>
      <p:sp>
        <p:nvSpPr>
          <p:cNvPr id="30" name="Shape 26"/>
          <p:cNvSpPr/>
          <p:nvPr/>
        </p:nvSpPr>
        <p:spPr>
          <a:xfrm>
            <a:off x="6909206" y="846734"/>
            <a:ext cx="80467" cy="80467"/>
          </a:xfrm>
          <a:prstGeom prst="ellipse">
            <a:avLst/>
          </a:prstGeom>
          <a:solidFill>
            <a:srgbClr val="7B68C8"/>
          </a:solidFill>
          <a:ln/>
        </p:spPr>
      </p:sp>
      <p:sp>
        <p:nvSpPr>
          <p:cNvPr id="31" name="Shape 27"/>
          <p:cNvSpPr/>
          <p:nvPr/>
        </p:nvSpPr>
        <p:spPr>
          <a:xfrm>
            <a:off x="6991502" y="782726"/>
            <a:ext cx="80467" cy="80467"/>
          </a:xfrm>
          <a:prstGeom prst="ellipse">
            <a:avLst/>
          </a:prstGeom>
          <a:solidFill>
            <a:srgbClr val="7B68C8"/>
          </a:solidFill>
          <a:ln/>
        </p:spPr>
      </p:sp>
      <p:sp>
        <p:nvSpPr>
          <p:cNvPr id="32" name="Shape 28"/>
          <p:cNvSpPr/>
          <p:nvPr/>
        </p:nvSpPr>
        <p:spPr>
          <a:xfrm>
            <a:off x="7073798" y="846734"/>
            <a:ext cx="80467" cy="80467"/>
          </a:xfrm>
          <a:prstGeom prst="ellipse">
            <a:avLst/>
          </a:prstGeom>
          <a:solidFill>
            <a:srgbClr val="7B68C8"/>
          </a:solidFill>
          <a:ln/>
        </p:spPr>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Ruta de la clase · 90 minutos</a:t>
            </a:r>
            <a:endParaRPr lang="en-US" sz="2800" dirty="0"/>
          </a:p>
        </p:txBody>
      </p:sp>
      <p:sp>
        <p:nvSpPr>
          <p:cNvPr id="4" name="Tarjeta Contexto"/>
          <p:cNvSpPr/>
          <p:nvPr/>
        </p:nvSpPr>
        <p:spPr>
          <a:xfrm>
            <a:off x="457200" y="1097280"/>
            <a:ext cx="2560320" cy="2971800"/>
          </a:xfrm>
          <a:prstGeom prst="roundRect">
            <a:avLst>
              <a:gd name="adj" fmla="val 4286"/>
            </a:avLst>
          </a:prstGeom>
          <a:solidFill>
            <a:srgbClr val="FFFFFF"/>
          </a:solidFill>
          <a:ln/>
          <a:effectLst>
            <a:outerShdw sx="100000" sy="100000" kx="0" ky="0" algn="bl" rotWithShape="0" blurRad="76200" dist="25400" dir="5400000">
              <a:srgbClr val="1D3B4F">
                <a:alpha val="12000"/>
              </a:srgbClr>
            </a:outerShdw>
          </a:effectLst>
        </p:spPr>
      </p:sp>
      <p:sp>
        <p:nvSpPr>
          <p:cNvPr id="5" name="Círculo ícono"/>
          <p:cNvSpPr/>
          <p:nvPr/>
        </p:nvSpPr>
        <p:spPr>
          <a:xfrm>
            <a:off x="685800" y="1280160"/>
            <a:ext cx="640080" cy="640080"/>
          </a:xfrm>
          <a:prstGeom prst="ellipse">
            <a:avLst/>
          </a:prstGeom>
          <a:solidFill>
            <a:srgbClr val="E0A020"/>
          </a:solidFill>
          <a:ln/>
        </p:spPr>
      </p:sp>
      <p:pic>
        <p:nvPicPr>
          <p:cNvPr id="6" name="Image 0" descr="FaLightbulb">    </p:cNvPr>
          <p:cNvPicPr>
            <a:picLocks noChangeAspect="1"/>
          </p:cNvPicPr>
          <p:nvPr/>
        </p:nvPicPr>
        <p:blipFill>
          <a:blip r:embed="rId1"/>
          <a:stretch>
            <a:fillRect/>
          </a:stretch>
        </p:blipFill>
        <p:spPr>
          <a:xfrm>
            <a:off x="845820" y="1440180"/>
            <a:ext cx="320040" cy="320040"/>
          </a:xfrm>
          <a:prstGeom prst="rect">
            <a:avLst/>
          </a:prstGeom>
        </p:spPr>
      </p:pic>
      <p:sp>
        <p:nvSpPr>
          <p:cNvPr id="7" name="Text 3"/>
          <p:cNvSpPr txBox="1"/>
          <p:nvPr/>
        </p:nvSpPr>
        <p:spPr>
          <a:xfrm>
            <a:off x="1463040" y="1261872"/>
            <a:ext cx="1463040" cy="36576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Contexto</a:t>
            </a:r>
            <a:endParaRPr lang="en-US" sz="2000" dirty="0"/>
          </a:p>
        </p:txBody>
      </p:sp>
      <p:sp>
        <p:nvSpPr>
          <p:cNvPr id="8" name="Text 4"/>
          <p:cNvSpPr txBox="1"/>
          <p:nvPr/>
        </p:nvSpPr>
        <p:spPr>
          <a:xfrm>
            <a:off x="1463040" y="1627632"/>
            <a:ext cx="1463040" cy="274320"/>
          </a:xfrm>
          <a:prstGeom prst="rect">
            <a:avLst/>
          </a:prstGeom>
          <a:noFill/>
          <a:ln/>
        </p:spPr>
        <p:txBody>
          <a:bodyPr wrap="square" lIns="0" tIns="0" rIns="0" bIns="0" rtlCol="0" anchor="ctr"/>
          <a:lstStyle/>
          <a:p>
            <a:pPr indent="0" marL="0">
              <a:buNone/>
            </a:pPr>
            <a:r>
              <a:rPr lang="en-US" sz="1400" dirty="0">
                <a:solidFill>
                  <a:schemeClr val="tx2"/>
                </a:solidFill>
              </a:rPr>
              <a:t>25 min</a:t>
            </a:r>
            <a:endParaRPr lang="en-US" sz="1400" dirty="0"/>
          </a:p>
        </p:txBody>
      </p:sp>
      <p:sp>
        <p:nvSpPr>
          <p:cNvPr id="9" name="Text 5"/>
          <p:cNvSpPr txBox="1"/>
          <p:nvPr/>
        </p:nvSpPr>
        <p:spPr>
          <a:xfrm>
            <a:off x="685800" y="2148840"/>
            <a:ext cx="214884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Hook: la rodilla roja</a:t>
            </a:r>
            <a:endParaRPr lang="en-US" sz="1400" dirty="0"/>
          </a:p>
          <a:p>
            <a:pPr marL="342900" indent="-342900">
              <a:spcAft>
                <a:spcPts val="600"/>
              </a:spcAft>
              <a:buSzPct val="100000"/>
              <a:buChar char="•"/>
            </a:pPr>
            <a:r>
              <a:rPr lang="en-US" sz="1400" dirty="0">
                <a:solidFill>
                  <a:schemeClr val="tx1"/>
                </a:solidFill>
              </a:rPr>
              <a:t>Tres líneas de defensa</a:t>
            </a:r>
            <a:endParaRPr lang="en-US" sz="1400" dirty="0"/>
          </a:p>
          <a:p>
            <a:pPr marL="342900" indent="-342900">
              <a:spcAft>
                <a:spcPts val="600"/>
              </a:spcAft>
              <a:buSzPct val="100000"/>
              <a:buChar char="•"/>
            </a:pPr>
            <a:r>
              <a:rPr lang="en-US" sz="1400" dirty="0">
                <a:solidFill>
                  <a:schemeClr val="tx1"/>
                </a:solidFill>
              </a:rPr>
              <a:t>Células e inflamación</a:t>
            </a:r>
            <a:endParaRPr lang="en-US" sz="1400" dirty="0"/>
          </a:p>
          <a:p>
            <a:pPr marL="342900" indent="-342900">
              <a:spcAft>
                <a:spcPts val="600"/>
              </a:spcAft>
              <a:buSzPct val="100000"/>
              <a:buChar char="•"/>
            </a:pPr>
            <a:r>
              <a:rPr lang="en-US" sz="1400" dirty="0">
                <a:solidFill>
                  <a:schemeClr val="tx1"/>
                </a:solidFill>
              </a:rPr>
              <a:t>Signos y cuidados</a:t>
            </a:r>
            <a:endParaRPr lang="en-US" sz="1400" dirty="0"/>
          </a:p>
        </p:txBody>
      </p:sp>
      <p:sp>
        <p:nvSpPr>
          <p:cNvPr id="10" name="Tarjeta Juego"/>
          <p:cNvSpPr/>
          <p:nvPr/>
        </p:nvSpPr>
        <p:spPr>
          <a:xfrm>
            <a:off x="3291840" y="1097280"/>
            <a:ext cx="2560320" cy="2971800"/>
          </a:xfrm>
          <a:prstGeom prst="roundRect">
            <a:avLst>
              <a:gd name="adj" fmla="val 4286"/>
            </a:avLst>
          </a:prstGeom>
          <a:solidFill>
            <a:srgbClr val="FFFFFF"/>
          </a:solidFill>
          <a:ln/>
          <a:effectLst>
            <a:outerShdw sx="100000" sy="100000" kx="0" ky="0" algn="bl" rotWithShape="0" blurRad="76200" dist="25400" dir="5400000">
              <a:srgbClr val="1D3B4F">
                <a:alpha val="12000"/>
              </a:srgbClr>
            </a:outerShdw>
          </a:effectLst>
        </p:spPr>
      </p:sp>
      <p:sp>
        <p:nvSpPr>
          <p:cNvPr id="11" name="Círculo ícono"/>
          <p:cNvSpPr/>
          <p:nvPr/>
        </p:nvSpPr>
        <p:spPr>
          <a:xfrm>
            <a:off x="3520440" y="1280160"/>
            <a:ext cx="640080" cy="640080"/>
          </a:xfrm>
          <a:prstGeom prst="ellipse">
            <a:avLst/>
          </a:prstGeom>
          <a:solidFill>
            <a:srgbClr val="1E8A94"/>
          </a:solidFill>
          <a:ln/>
        </p:spPr>
      </p:sp>
      <p:pic>
        <p:nvPicPr>
          <p:cNvPr id="12" name="Image 1" descr="FaGamepad">    </p:cNvPr>
          <p:cNvPicPr>
            <a:picLocks noChangeAspect="1"/>
          </p:cNvPicPr>
          <p:nvPr/>
        </p:nvPicPr>
        <p:blipFill>
          <a:blip r:embed="rId2"/>
          <a:stretch>
            <a:fillRect/>
          </a:stretch>
        </p:blipFill>
        <p:spPr>
          <a:xfrm>
            <a:off x="3680460" y="1440180"/>
            <a:ext cx="320040" cy="320040"/>
          </a:xfrm>
          <a:prstGeom prst="rect">
            <a:avLst/>
          </a:prstGeom>
        </p:spPr>
      </p:pic>
      <p:sp>
        <p:nvSpPr>
          <p:cNvPr id="13" name="Text 8"/>
          <p:cNvSpPr txBox="1"/>
          <p:nvPr/>
        </p:nvSpPr>
        <p:spPr>
          <a:xfrm>
            <a:off x="4297680" y="1261872"/>
            <a:ext cx="1463040" cy="36576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Juego</a:t>
            </a:r>
            <a:endParaRPr lang="en-US" sz="2000" dirty="0"/>
          </a:p>
        </p:txBody>
      </p:sp>
      <p:sp>
        <p:nvSpPr>
          <p:cNvPr id="14" name="Text 9"/>
          <p:cNvSpPr txBox="1"/>
          <p:nvPr/>
        </p:nvSpPr>
        <p:spPr>
          <a:xfrm>
            <a:off x="4297680" y="1627632"/>
            <a:ext cx="1463040" cy="274320"/>
          </a:xfrm>
          <a:prstGeom prst="rect">
            <a:avLst/>
          </a:prstGeom>
          <a:noFill/>
          <a:ln/>
        </p:spPr>
        <p:txBody>
          <a:bodyPr wrap="square" lIns="0" tIns="0" rIns="0" bIns="0" rtlCol="0" anchor="ctr"/>
          <a:lstStyle/>
          <a:p>
            <a:pPr indent="0" marL="0">
              <a:buNone/>
            </a:pPr>
            <a:r>
              <a:rPr lang="en-US" sz="1400" dirty="0">
                <a:solidFill>
                  <a:schemeClr val="tx2"/>
                </a:solidFill>
              </a:rPr>
              <a:t>45 min</a:t>
            </a:r>
            <a:endParaRPr lang="en-US" sz="1400" dirty="0"/>
          </a:p>
        </p:txBody>
      </p:sp>
      <p:sp>
        <p:nvSpPr>
          <p:cNvPr id="15" name="Text 10"/>
          <p:cNvSpPr txBox="1"/>
          <p:nvPr/>
        </p:nvSpPr>
        <p:spPr>
          <a:xfrm>
            <a:off x="3520440" y="2148840"/>
            <a:ext cx="214884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Instrucciones</a:t>
            </a:r>
            <a:endParaRPr lang="en-US" sz="1400" dirty="0"/>
          </a:p>
          <a:p>
            <a:pPr marL="342900" indent="-342900">
              <a:spcAft>
                <a:spcPts val="600"/>
              </a:spcAft>
              <a:buSzPct val="100000"/>
              <a:buChar char="•"/>
            </a:pPr>
            <a:r>
              <a:rPr lang="en-US" sz="1400" dirty="0">
                <a:solidFill>
                  <a:schemeClr val="tx1"/>
                </a:solidFill>
              </a:rPr>
              <a:t>Nivel Aprendizaje</a:t>
            </a:r>
            <a:endParaRPr lang="en-US" sz="1400" dirty="0"/>
          </a:p>
          <a:p>
            <a:pPr marL="342900" indent="-342900">
              <a:spcAft>
                <a:spcPts val="600"/>
              </a:spcAft>
              <a:buSzPct val="100000"/>
              <a:buChar char="•"/>
            </a:pPr>
            <a:r>
              <a:rPr lang="en-US" sz="1400" dirty="0">
                <a:solidFill>
                  <a:schemeClr val="tx1"/>
                </a:solidFill>
              </a:rPr>
              <a:t>Casos 1, 2 y 3</a:t>
            </a:r>
            <a:endParaRPr lang="en-US" sz="1400" dirty="0"/>
          </a:p>
          <a:p>
            <a:pPr marL="342900" indent="-342900">
              <a:spcAft>
                <a:spcPts val="600"/>
              </a:spcAft>
              <a:buSzPct val="100000"/>
              <a:buChar char="•"/>
            </a:pPr>
            <a:r>
              <a:rPr lang="en-US" sz="1400" dirty="0">
                <a:solidFill>
                  <a:schemeClr val="tx1"/>
                </a:solidFill>
              </a:rPr>
              <a:t>Informe de cada caso</a:t>
            </a:r>
            <a:endParaRPr lang="en-US" sz="1400" dirty="0"/>
          </a:p>
        </p:txBody>
      </p:sp>
      <p:sp>
        <p:nvSpPr>
          <p:cNvPr id="16" name="Tarjeta Cierre"/>
          <p:cNvSpPr/>
          <p:nvPr/>
        </p:nvSpPr>
        <p:spPr>
          <a:xfrm>
            <a:off x="6126480" y="1097280"/>
            <a:ext cx="2560320" cy="2971800"/>
          </a:xfrm>
          <a:prstGeom prst="roundRect">
            <a:avLst>
              <a:gd name="adj" fmla="val 4286"/>
            </a:avLst>
          </a:prstGeom>
          <a:solidFill>
            <a:srgbClr val="FFFFFF"/>
          </a:solidFill>
          <a:ln/>
          <a:effectLst>
            <a:outerShdw sx="100000" sy="100000" kx="0" ky="0" algn="bl" rotWithShape="0" blurRad="76200" dist="25400" dir="5400000">
              <a:srgbClr val="1D3B4F">
                <a:alpha val="12000"/>
              </a:srgbClr>
            </a:outerShdw>
          </a:effectLst>
        </p:spPr>
      </p:sp>
      <p:sp>
        <p:nvSpPr>
          <p:cNvPr id="17" name="Círculo ícono"/>
          <p:cNvSpPr/>
          <p:nvPr/>
        </p:nvSpPr>
        <p:spPr>
          <a:xfrm>
            <a:off x="6355080" y="1280160"/>
            <a:ext cx="640080" cy="640080"/>
          </a:xfrm>
          <a:prstGeom prst="ellipse">
            <a:avLst/>
          </a:prstGeom>
          <a:solidFill>
            <a:srgbClr val="7B68C8"/>
          </a:solidFill>
          <a:ln/>
        </p:spPr>
      </p:sp>
      <p:pic>
        <p:nvPicPr>
          <p:cNvPr id="18" name="Image 2" descr="FaBookOpen">    </p:cNvPr>
          <p:cNvPicPr>
            <a:picLocks noChangeAspect="1"/>
          </p:cNvPicPr>
          <p:nvPr/>
        </p:nvPicPr>
        <p:blipFill>
          <a:blip r:embed="rId3"/>
          <a:stretch>
            <a:fillRect/>
          </a:stretch>
        </p:blipFill>
        <p:spPr>
          <a:xfrm>
            <a:off x="6515100" y="1440180"/>
            <a:ext cx="320040" cy="320040"/>
          </a:xfrm>
          <a:prstGeom prst="rect">
            <a:avLst/>
          </a:prstGeom>
        </p:spPr>
      </p:pic>
      <p:sp>
        <p:nvSpPr>
          <p:cNvPr id="19" name="Text 13"/>
          <p:cNvSpPr txBox="1"/>
          <p:nvPr/>
        </p:nvSpPr>
        <p:spPr>
          <a:xfrm>
            <a:off x="7132320" y="1261872"/>
            <a:ext cx="1463040" cy="36576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Cierre</a:t>
            </a:r>
            <a:endParaRPr lang="en-US" sz="2000" dirty="0"/>
          </a:p>
        </p:txBody>
      </p:sp>
      <p:sp>
        <p:nvSpPr>
          <p:cNvPr id="20" name="Text 14"/>
          <p:cNvSpPr txBox="1"/>
          <p:nvPr/>
        </p:nvSpPr>
        <p:spPr>
          <a:xfrm>
            <a:off x="7132320" y="1627632"/>
            <a:ext cx="1463040" cy="274320"/>
          </a:xfrm>
          <a:prstGeom prst="rect">
            <a:avLst/>
          </a:prstGeom>
          <a:noFill/>
          <a:ln/>
        </p:spPr>
        <p:txBody>
          <a:bodyPr wrap="square" lIns="0" tIns="0" rIns="0" bIns="0" rtlCol="0" anchor="ctr"/>
          <a:lstStyle/>
          <a:p>
            <a:pPr indent="0" marL="0">
              <a:buNone/>
            </a:pPr>
            <a:r>
              <a:rPr lang="en-US" sz="1400" dirty="0">
                <a:solidFill>
                  <a:schemeClr val="tx2"/>
                </a:solidFill>
              </a:rPr>
              <a:t>20 min</a:t>
            </a:r>
            <a:endParaRPr lang="en-US" sz="1400" dirty="0"/>
          </a:p>
        </p:txBody>
      </p:sp>
      <p:sp>
        <p:nvSpPr>
          <p:cNvPr id="21" name="Text 15"/>
          <p:cNvSpPr txBox="1"/>
          <p:nvPr/>
        </p:nvSpPr>
        <p:spPr>
          <a:xfrm>
            <a:off x="6355080" y="2148840"/>
            <a:ext cx="214884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Preguntas de bitácora</a:t>
            </a:r>
            <a:endParaRPr lang="en-US" sz="1400" dirty="0"/>
          </a:p>
          <a:p>
            <a:pPr marL="342900" indent="-342900">
              <a:spcAft>
                <a:spcPts val="600"/>
              </a:spcAft>
              <a:buSzPct val="100000"/>
              <a:buChar char="•"/>
            </a:pPr>
            <a:r>
              <a:rPr lang="en-US" sz="1400" dirty="0">
                <a:solidFill>
                  <a:schemeClr val="tx1"/>
                </a:solidFill>
              </a:rPr>
              <a:t>Puesta en común</a:t>
            </a:r>
            <a:endParaRPr lang="en-US" sz="1400" dirty="0"/>
          </a:p>
          <a:p>
            <a:pPr marL="342900" indent="-342900">
              <a:spcAft>
                <a:spcPts val="600"/>
              </a:spcAft>
              <a:buSzPct val="100000"/>
              <a:buChar char="•"/>
            </a:pPr>
            <a:r>
              <a:rPr lang="en-US" sz="1400" dirty="0">
                <a:solidFill>
                  <a:schemeClr val="tx1"/>
                </a:solidFill>
              </a:rPr>
              <a:t>Puente al hemograma</a:t>
            </a:r>
            <a:endParaRPr lang="en-US" sz="1400" dirty="0"/>
          </a:p>
        </p:txBody>
      </p:sp>
      <p:sp>
        <p:nvSpPr>
          <p:cNvPr id="22" name="Banner"/>
          <p:cNvSpPr/>
          <p:nvPr/>
        </p:nvSpPr>
        <p:spPr>
          <a:xfrm>
            <a:off x="457200" y="4251960"/>
            <a:ext cx="8229600" cy="502920"/>
          </a:xfrm>
          <a:prstGeom prst="roundRect">
            <a:avLst>
              <a:gd name="adj" fmla="val 18182"/>
            </a:avLst>
          </a:prstGeom>
          <a:solidFill>
            <a:srgbClr val="D6EEF0"/>
          </a:solidFill>
          <a:ln/>
        </p:spPr>
      </p:sp>
      <p:sp>
        <p:nvSpPr>
          <p:cNvPr id="23" name="Texto banner"/>
          <p:cNvSpPr txBox="1"/>
          <p:nvPr/>
        </p:nvSpPr>
        <p:spPr>
          <a:xfrm>
            <a:off x="640080" y="4251960"/>
            <a:ext cx="7863840" cy="502920"/>
          </a:xfrm>
          <a:prstGeom prst="rect">
            <a:avLst/>
          </a:prstGeom>
          <a:noFill/>
          <a:ln/>
        </p:spPr>
        <p:txBody>
          <a:bodyPr wrap="square" lIns="0" tIns="0" rIns="0" bIns="0" rtlCol="0" anchor="ctr"/>
          <a:lstStyle/>
          <a:p>
            <a:pPr indent="0" marL="0">
              <a:buNone/>
            </a:pPr>
            <a:r>
              <a:rPr lang="en-US" sz="1400" b="1" dirty="0">
                <a:solidFill>
                  <a:srgbClr val="1E8A94"/>
                </a:solidFill>
              </a:rPr>
              <a:t>Objetivo: </a:t>
            </a:r>
            <a:pPr indent="0" marL="0">
              <a:buNone/>
            </a:pPr>
            <a:r>
              <a:rPr lang="en-US" sz="1400" dirty="0">
                <a:solidFill>
                  <a:schemeClr val="tx1"/>
                </a:solidFill>
              </a:rPr>
              <a:t>explicar, con un modelo, cómo actúa la inflamación cuando un microbio logra pasar la primera barrera.</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La rodilla roja: ¿herida o defensa?</a:t>
            </a:r>
            <a:endParaRPr lang="en-US" sz="2800" dirty="0"/>
          </a:p>
        </p:txBody>
      </p:sp>
      <p:sp>
        <p:nvSpPr>
          <p:cNvPr id="4" name="Tarjeta relato"/>
          <p:cNvSpPr/>
          <p:nvPr/>
        </p:nvSpPr>
        <p:spPr>
          <a:xfrm>
            <a:off x="457200" y="1097280"/>
            <a:ext cx="4937760" cy="2971800"/>
          </a:xfrm>
          <a:prstGeom prst="roundRect">
            <a:avLst>
              <a:gd name="adj" fmla="val 3692"/>
            </a:avLst>
          </a:prstGeom>
          <a:solidFill>
            <a:srgbClr val="FFFFFF"/>
          </a:solidFill>
          <a:ln/>
          <a:effectLst>
            <a:outerShdw sx="100000" sy="100000" kx="0" ky="0" algn="bl" rotWithShape="0" blurRad="76200" dist="25400" dir="5400000">
              <a:srgbClr val="1D3B4F">
                <a:alpha val="12000"/>
              </a:srgbClr>
            </a:outerShdw>
          </a:effectLst>
        </p:spPr>
      </p:sp>
      <p:sp>
        <p:nvSpPr>
          <p:cNvPr id="5" name="Relato"/>
          <p:cNvSpPr txBox="1"/>
          <p:nvPr/>
        </p:nvSpPr>
        <p:spPr>
          <a:xfrm>
            <a:off x="731520" y="1325880"/>
            <a:ext cx="4389120" cy="2560320"/>
          </a:xfrm>
          <a:prstGeom prst="rect">
            <a:avLst/>
          </a:prstGeom>
          <a:noFill/>
          <a:ln/>
        </p:spPr>
        <p:txBody>
          <a:bodyPr wrap="square" lIns="0" tIns="0" rIns="0" bIns="0" rtlCol="0" anchor="t"/>
          <a:lstStyle/>
          <a:p>
            <a:pPr indent="0" marL="0">
              <a:spcAft>
                <a:spcPts val="600"/>
              </a:spcAft>
              <a:buNone/>
            </a:pPr>
            <a:r>
              <a:rPr lang="en-US" sz="1800" dirty="0">
                <a:solidFill>
                  <a:schemeClr val="tx1"/>
                </a:solidFill>
              </a:rPr>
              <a:t>Te raspas la rodilla jugando a la pelota.</a:t>
            </a:r>
            <a:endParaRPr lang="en-US" sz="1800" dirty="0"/>
          </a:p>
          <a:p>
            <a:pPr indent="0" marL="0">
              <a:spcAft>
                <a:spcPts val="600"/>
              </a:spcAft>
              <a:buNone/>
            </a:pPr>
            <a:r>
              <a:rPr lang="en-US" sz="1800" dirty="0">
                <a:solidFill>
                  <a:schemeClr val="tx1"/>
                </a:solidFill>
              </a:rPr>
              <a:t>Dos horas después, la zona está </a:t>
            </a:r>
            <a:pPr indent="0" marL="0">
              <a:spcAft>
                <a:spcPts val="600"/>
              </a:spcAft>
              <a:buNone/>
            </a:pPr>
            <a:r>
              <a:rPr lang="en-US" sz="1800" b="1" dirty="0">
                <a:solidFill>
                  <a:schemeClr val="accent4"/>
                </a:solidFill>
              </a:rPr>
              <a:t>roja</a:t>
            </a:r>
            <a:pPr indent="0" marL="0">
              <a:spcAft>
                <a:spcPts val="600"/>
              </a:spcAft>
              <a:buNone/>
            </a:pPr>
            <a:r>
              <a:rPr lang="en-US" sz="1800" dirty="0">
                <a:solidFill>
                  <a:schemeClr val="tx1"/>
                </a:solidFill>
              </a:rPr>
              <a:t>, </a:t>
            </a:r>
            <a:pPr indent="0" marL="0">
              <a:spcAft>
                <a:spcPts val="600"/>
              </a:spcAft>
              <a:buNone/>
            </a:pPr>
            <a:r>
              <a:rPr lang="en-US" sz="1800" b="1" dirty="0">
                <a:solidFill>
                  <a:schemeClr val="accent2"/>
                </a:solidFill>
              </a:rPr>
              <a:t>caliente</a:t>
            </a:r>
            <a:pPr indent="0" marL="0">
              <a:spcAft>
                <a:spcPts val="600"/>
              </a:spcAft>
              <a:buNone/>
            </a:pPr>
            <a:r>
              <a:rPr lang="en-US" sz="1800" dirty="0">
                <a:solidFill>
                  <a:schemeClr val="tx1"/>
                </a:solidFill>
              </a:rPr>
              <a:t>, </a:t>
            </a:r>
            <a:pPr indent="0" marL="0">
              <a:spcAft>
                <a:spcPts val="600"/>
              </a:spcAft>
              <a:buNone/>
            </a:pPr>
            <a:r>
              <a:rPr lang="en-US" sz="1800" b="1" dirty="0">
                <a:solidFill>
                  <a:schemeClr val="accent3"/>
                </a:solidFill>
              </a:rPr>
              <a:t>hinchada</a:t>
            </a:r>
            <a:pPr indent="0" marL="0">
              <a:spcAft>
                <a:spcPts val="600"/>
              </a:spcAft>
              <a:buNone/>
            </a:pPr>
            <a:r>
              <a:rPr lang="en-US" sz="1800" dirty="0">
                <a:solidFill>
                  <a:schemeClr val="tx1"/>
                </a:solidFill>
              </a:rPr>
              <a:t> y </a:t>
            </a:r>
            <a:pPr indent="0" marL="0">
              <a:spcAft>
                <a:spcPts val="600"/>
              </a:spcAft>
              <a:buNone/>
            </a:pPr>
            <a:r>
              <a:rPr lang="en-US" sz="1800" b="1" dirty="0">
                <a:solidFill>
                  <a:schemeClr val="accent1"/>
                </a:solidFill>
              </a:rPr>
              <a:t>duele</a:t>
            </a:r>
            <a:endParaRPr lang="en-US" sz="1800" dirty="0"/>
          </a:p>
          <a:p>
            <a:pPr indent="0" marL="0">
              <a:spcAft>
                <a:spcPts val="600"/>
              </a:spcAft>
              <a:buNone/>
            </a:pPr>
            <a:r>
              <a:rPr lang="en-US" sz="800" dirty="0">
                <a:solidFill>
                  <a:schemeClr val="tx1"/>
                </a:solidFill>
              </a:rPr>
              <a:t> </a:t>
            </a:r>
            <a:endParaRPr lang="en-US" sz="1800" dirty="0"/>
          </a:p>
          <a:p>
            <a:pPr indent="0" marL="0">
              <a:spcAft>
                <a:spcPts val="600"/>
              </a:spcAft>
              <a:buNone/>
            </a:pPr>
            <a:r>
              <a:rPr lang="en-US" sz="1800" b="1" dirty="0">
                <a:solidFill>
                  <a:schemeClr val="tx1"/>
                </a:solidFill>
              </a:rPr>
              <a:t>Nadie te puso nada. Tu cuerpo lo hizo solo, y a propósito.</a:t>
            </a:r>
            <a:endParaRPr lang="en-US" sz="1800" dirty="0"/>
          </a:p>
        </p:txBody>
      </p:sp>
      <p:sp>
        <p:nvSpPr>
          <p:cNvPr id="6" name="Signo Rubor"/>
          <p:cNvSpPr/>
          <p:nvPr/>
        </p:nvSpPr>
        <p:spPr>
          <a:xfrm>
            <a:off x="5669280" y="1097280"/>
            <a:ext cx="3017520" cy="640080"/>
          </a:xfrm>
          <a:prstGeom prst="roundRect">
            <a:avLst>
              <a:gd name="adj" fmla="val 17143"/>
            </a:avLst>
          </a:prstGeom>
          <a:solidFill>
            <a:srgbClr val="FFFFFF"/>
          </a:solidFill>
          <a:ln/>
          <a:effectLst>
            <a:outerShdw sx="100000" sy="100000" kx="0" ky="0" algn="bl" rotWithShape="0" blurRad="76200" dist="25400" dir="5400000">
              <a:srgbClr val="1D3B4F">
                <a:alpha val="12000"/>
              </a:srgbClr>
            </a:outerShdw>
          </a:effectLst>
        </p:spPr>
      </p:sp>
      <p:sp>
        <p:nvSpPr>
          <p:cNvPr id="7" name="Círculo ícono"/>
          <p:cNvSpPr/>
          <p:nvPr/>
        </p:nvSpPr>
        <p:spPr>
          <a:xfrm>
            <a:off x="5806440" y="1170432"/>
            <a:ext cx="493776" cy="493776"/>
          </a:xfrm>
          <a:prstGeom prst="ellipse">
            <a:avLst/>
          </a:prstGeom>
          <a:solidFill>
            <a:srgbClr val="D2504B"/>
          </a:solidFill>
          <a:ln/>
        </p:spPr>
      </p:sp>
      <p:pic>
        <p:nvPicPr>
          <p:cNvPr id="8" name="Image 0" descr="FaTint">    </p:cNvPr>
          <p:cNvPicPr>
            <a:picLocks noChangeAspect="1"/>
          </p:cNvPicPr>
          <p:nvPr/>
        </p:nvPicPr>
        <p:blipFill>
          <a:blip r:embed="rId1"/>
          <a:stretch>
            <a:fillRect/>
          </a:stretch>
        </p:blipFill>
        <p:spPr>
          <a:xfrm>
            <a:off x="5929884" y="1293876"/>
            <a:ext cx="246888" cy="246888"/>
          </a:xfrm>
          <a:prstGeom prst="rect">
            <a:avLst/>
          </a:prstGeom>
        </p:spPr>
      </p:pic>
      <p:sp>
        <p:nvSpPr>
          <p:cNvPr id="9" name="Text 5"/>
          <p:cNvSpPr txBox="1"/>
          <p:nvPr/>
        </p:nvSpPr>
        <p:spPr>
          <a:xfrm>
            <a:off x="6446520" y="1097280"/>
            <a:ext cx="2103120" cy="640080"/>
          </a:xfrm>
          <a:prstGeom prst="rect">
            <a:avLst/>
          </a:prstGeom>
          <a:noFill/>
          <a:ln/>
        </p:spPr>
        <p:txBody>
          <a:bodyPr wrap="square" lIns="0" tIns="0" rIns="0" bIns="0" rtlCol="0" anchor="ctr"/>
          <a:lstStyle/>
          <a:p>
            <a:pPr indent="0" marL="0">
              <a:buNone/>
            </a:pPr>
            <a:r>
              <a:rPr lang="en-US" sz="1800" b="1" dirty="0">
                <a:solidFill>
                  <a:schemeClr val="tx1"/>
                </a:solidFill>
              </a:rPr>
              <a:t>Rubor</a:t>
            </a:r>
            <a:endParaRPr lang="en-US" sz="1800" dirty="0"/>
          </a:p>
        </p:txBody>
      </p:sp>
      <p:sp>
        <p:nvSpPr>
          <p:cNvPr id="10" name="Signo Calor"/>
          <p:cNvSpPr/>
          <p:nvPr/>
        </p:nvSpPr>
        <p:spPr>
          <a:xfrm>
            <a:off x="5669280" y="1856232"/>
            <a:ext cx="3017520" cy="640080"/>
          </a:xfrm>
          <a:prstGeom prst="roundRect">
            <a:avLst>
              <a:gd name="adj" fmla="val 17143"/>
            </a:avLst>
          </a:prstGeom>
          <a:solidFill>
            <a:srgbClr val="FFFFFF"/>
          </a:solidFill>
          <a:ln/>
          <a:effectLst>
            <a:outerShdw sx="100000" sy="100000" kx="0" ky="0" algn="bl" rotWithShape="0" blurRad="76200" dist="25400" dir="5400000">
              <a:srgbClr val="1D3B4F">
                <a:alpha val="12000"/>
              </a:srgbClr>
            </a:outerShdw>
          </a:effectLst>
        </p:spPr>
      </p:sp>
      <p:sp>
        <p:nvSpPr>
          <p:cNvPr id="11" name="Círculo ícono"/>
          <p:cNvSpPr/>
          <p:nvPr/>
        </p:nvSpPr>
        <p:spPr>
          <a:xfrm>
            <a:off x="5806440" y="1929384"/>
            <a:ext cx="493776" cy="493776"/>
          </a:xfrm>
          <a:prstGeom prst="ellipse">
            <a:avLst/>
          </a:prstGeom>
          <a:solidFill>
            <a:srgbClr val="E0A020"/>
          </a:solidFill>
          <a:ln/>
        </p:spPr>
      </p:sp>
      <p:pic>
        <p:nvPicPr>
          <p:cNvPr id="12" name="Image 1" descr="FaThermometerHalf">    </p:cNvPr>
          <p:cNvPicPr>
            <a:picLocks noChangeAspect="1"/>
          </p:cNvPicPr>
          <p:nvPr/>
        </p:nvPicPr>
        <p:blipFill>
          <a:blip r:embed="rId2"/>
          <a:stretch>
            <a:fillRect/>
          </a:stretch>
        </p:blipFill>
        <p:spPr>
          <a:xfrm>
            <a:off x="5929884" y="2052828"/>
            <a:ext cx="246888" cy="246888"/>
          </a:xfrm>
          <a:prstGeom prst="rect">
            <a:avLst/>
          </a:prstGeom>
        </p:spPr>
      </p:pic>
      <p:sp>
        <p:nvSpPr>
          <p:cNvPr id="13" name="Text 8"/>
          <p:cNvSpPr txBox="1"/>
          <p:nvPr/>
        </p:nvSpPr>
        <p:spPr>
          <a:xfrm>
            <a:off x="6446520" y="1856232"/>
            <a:ext cx="2103120" cy="640080"/>
          </a:xfrm>
          <a:prstGeom prst="rect">
            <a:avLst/>
          </a:prstGeom>
          <a:noFill/>
          <a:ln/>
        </p:spPr>
        <p:txBody>
          <a:bodyPr wrap="square" lIns="0" tIns="0" rIns="0" bIns="0" rtlCol="0" anchor="ctr"/>
          <a:lstStyle/>
          <a:p>
            <a:pPr indent="0" marL="0">
              <a:buNone/>
            </a:pPr>
            <a:r>
              <a:rPr lang="en-US" sz="1800" b="1" dirty="0">
                <a:solidFill>
                  <a:schemeClr val="tx1"/>
                </a:solidFill>
              </a:rPr>
              <a:t>Calor</a:t>
            </a:r>
            <a:endParaRPr lang="en-US" sz="1800" dirty="0"/>
          </a:p>
        </p:txBody>
      </p:sp>
      <p:sp>
        <p:nvSpPr>
          <p:cNvPr id="14" name="Signo Hinchazón"/>
          <p:cNvSpPr/>
          <p:nvPr/>
        </p:nvSpPr>
        <p:spPr>
          <a:xfrm>
            <a:off x="5669280" y="2615184"/>
            <a:ext cx="3017520" cy="640080"/>
          </a:xfrm>
          <a:prstGeom prst="roundRect">
            <a:avLst>
              <a:gd name="adj" fmla="val 17143"/>
            </a:avLst>
          </a:prstGeom>
          <a:solidFill>
            <a:srgbClr val="FFFFFF"/>
          </a:solidFill>
          <a:ln/>
          <a:effectLst>
            <a:outerShdw sx="100000" sy="100000" kx="0" ky="0" algn="bl" rotWithShape="0" blurRad="76200" dist="25400" dir="5400000">
              <a:srgbClr val="1D3B4F">
                <a:alpha val="12000"/>
              </a:srgbClr>
            </a:outerShdw>
          </a:effectLst>
        </p:spPr>
      </p:sp>
      <p:sp>
        <p:nvSpPr>
          <p:cNvPr id="15" name="Círculo ícono"/>
          <p:cNvSpPr/>
          <p:nvPr/>
        </p:nvSpPr>
        <p:spPr>
          <a:xfrm>
            <a:off x="5806440" y="2688336"/>
            <a:ext cx="493776" cy="493776"/>
          </a:xfrm>
          <a:prstGeom prst="ellipse">
            <a:avLst/>
          </a:prstGeom>
          <a:solidFill>
            <a:srgbClr val="7B68C8"/>
          </a:solidFill>
          <a:ln/>
        </p:spPr>
      </p:sp>
      <p:pic>
        <p:nvPicPr>
          <p:cNvPr id="16" name="Image 2" descr="FaCircle">    </p:cNvPr>
          <p:cNvPicPr>
            <a:picLocks noChangeAspect="1"/>
          </p:cNvPicPr>
          <p:nvPr/>
        </p:nvPicPr>
        <p:blipFill>
          <a:blip r:embed="rId3"/>
          <a:stretch>
            <a:fillRect/>
          </a:stretch>
        </p:blipFill>
        <p:spPr>
          <a:xfrm>
            <a:off x="5929884" y="2811780"/>
            <a:ext cx="246888" cy="246888"/>
          </a:xfrm>
          <a:prstGeom prst="rect">
            <a:avLst/>
          </a:prstGeom>
        </p:spPr>
      </p:pic>
      <p:sp>
        <p:nvSpPr>
          <p:cNvPr id="17" name="Text 11"/>
          <p:cNvSpPr txBox="1"/>
          <p:nvPr/>
        </p:nvSpPr>
        <p:spPr>
          <a:xfrm>
            <a:off x="6446520" y="2615184"/>
            <a:ext cx="2103120" cy="640080"/>
          </a:xfrm>
          <a:prstGeom prst="rect">
            <a:avLst/>
          </a:prstGeom>
          <a:noFill/>
          <a:ln/>
        </p:spPr>
        <p:txBody>
          <a:bodyPr wrap="square" lIns="0" tIns="0" rIns="0" bIns="0" rtlCol="0" anchor="ctr"/>
          <a:lstStyle/>
          <a:p>
            <a:pPr indent="0" marL="0">
              <a:buNone/>
            </a:pPr>
            <a:r>
              <a:rPr lang="en-US" sz="1800" b="1" dirty="0">
                <a:solidFill>
                  <a:schemeClr val="tx1"/>
                </a:solidFill>
              </a:rPr>
              <a:t>Hinchazón</a:t>
            </a:r>
            <a:endParaRPr lang="en-US" sz="1800" dirty="0"/>
          </a:p>
        </p:txBody>
      </p:sp>
      <p:sp>
        <p:nvSpPr>
          <p:cNvPr id="18" name="Signo Dolor"/>
          <p:cNvSpPr/>
          <p:nvPr/>
        </p:nvSpPr>
        <p:spPr>
          <a:xfrm>
            <a:off x="5669280" y="3374136"/>
            <a:ext cx="3017520" cy="640080"/>
          </a:xfrm>
          <a:prstGeom prst="roundRect">
            <a:avLst>
              <a:gd name="adj" fmla="val 17143"/>
            </a:avLst>
          </a:prstGeom>
          <a:solidFill>
            <a:srgbClr val="FFFFFF"/>
          </a:solidFill>
          <a:ln/>
          <a:effectLst>
            <a:outerShdw sx="100000" sy="100000" kx="0" ky="0" algn="bl" rotWithShape="0" blurRad="76200" dist="25400" dir="5400000">
              <a:srgbClr val="1D3B4F">
                <a:alpha val="12000"/>
              </a:srgbClr>
            </a:outerShdw>
          </a:effectLst>
        </p:spPr>
      </p:sp>
      <p:sp>
        <p:nvSpPr>
          <p:cNvPr id="19" name="Círculo ícono"/>
          <p:cNvSpPr/>
          <p:nvPr/>
        </p:nvSpPr>
        <p:spPr>
          <a:xfrm>
            <a:off x="5806440" y="3447288"/>
            <a:ext cx="493776" cy="493776"/>
          </a:xfrm>
          <a:prstGeom prst="ellipse">
            <a:avLst/>
          </a:prstGeom>
          <a:solidFill>
            <a:srgbClr val="1E8A94"/>
          </a:solidFill>
          <a:ln/>
        </p:spPr>
      </p:sp>
      <p:pic>
        <p:nvPicPr>
          <p:cNvPr id="20" name="Image 3" descr="FaBolt">    </p:cNvPr>
          <p:cNvPicPr>
            <a:picLocks noChangeAspect="1"/>
          </p:cNvPicPr>
          <p:nvPr/>
        </p:nvPicPr>
        <p:blipFill>
          <a:blip r:embed="rId4"/>
          <a:stretch>
            <a:fillRect/>
          </a:stretch>
        </p:blipFill>
        <p:spPr>
          <a:xfrm>
            <a:off x="5929884" y="3570732"/>
            <a:ext cx="246888" cy="246888"/>
          </a:xfrm>
          <a:prstGeom prst="rect">
            <a:avLst/>
          </a:prstGeom>
        </p:spPr>
      </p:pic>
      <p:sp>
        <p:nvSpPr>
          <p:cNvPr id="21" name="Text 14"/>
          <p:cNvSpPr txBox="1"/>
          <p:nvPr/>
        </p:nvSpPr>
        <p:spPr>
          <a:xfrm>
            <a:off x="6446520" y="3374136"/>
            <a:ext cx="2103120" cy="640080"/>
          </a:xfrm>
          <a:prstGeom prst="rect">
            <a:avLst/>
          </a:prstGeom>
          <a:noFill/>
          <a:ln/>
        </p:spPr>
        <p:txBody>
          <a:bodyPr wrap="square" lIns="0" tIns="0" rIns="0" bIns="0" rtlCol="0" anchor="ctr"/>
          <a:lstStyle/>
          <a:p>
            <a:pPr indent="0" marL="0">
              <a:buNone/>
            </a:pPr>
            <a:r>
              <a:rPr lang="en-US" sz="1800" b="1" dirty="0">
                <a:solidFill>
                  <a:schemeClr val="tx1"/>
                </a:solidFill>
              </a:rPr>
              <a:t>Dolor</a:t>
            </a:r>
            <a:endParaRPr lang="en-US" sz="1800" dirty="0"/>
          </a:p>
        </p:txBody>
      </p:sp>
      <p:sp>
        <p:nvSpPr>
          <p:cNvPr id="22" name="Pregunta"/>
          <p:cNvSpPr/>
          <p:nvPr/>
        </p:nvSpPr>
        <p:spPr>
          <a:xfrm>
            <a:off x="457200" y="4251960"/>
            <a:ext cx="8229600" cy="502920"/>
          </a:xfrm>
          <a:prstGeom prst="roundRect">
            <a:avLst>
              <a:gd name="adj" fmla="val 18182"/>
            </a:avLst>
          </a:prstGeom>
          <a:solidFill>
            <a:srgbClr val="FDE4E2"/>
          </a:solidFill>
          <a:ln/>
        </p:spPr>
      </p:sp>
      <p:sp>
        <p:nvSpPr>
          <p:cNvPr id="23" name="Text 16"/>
          <p:cNvSpPr txBox="1"/>
          <p:nvPr/>
        </p:nvSpPr>
        <p:spPr>
          <a:xfrm>
            <a:off x="594360" y="434340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4" name="Texto pregunta"/>
          <p:cNvSpPr txBox="1"/>
          <p:nvPr/>
        </p:nvSpPr>
        <p:spPr>
          <a:xfrm>
            <a:off x="1051560" y="425196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En tu bitácora: ¿para qué crees que tu cuerpo hace esto?</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Tres líneas de defensa: hoy, la segunda</a:t>
            </a:r>
            <a:endParaRPr lang="en-US" sz="2800" dirty="0"/>
          </a:p>
        </p:txBody>
      </p:sp>
      <p:sp>
        <p:nvSpPr>
          <p:cNvPr id="4" name="Línea 1"/>
          <p:cNvSpPr/>
          <p:nvPr/>
        </p:nvSpPr>
        <p:spPr>
          <a:xfrm>
            <a:off x="457200" y="1097280"/>
            <a:ext cx="8229600" cy="822960"/>
          </a:xfrm>
          <a:prstGeom prst="roundRect">
            <a:avLst>
              <a:gd name="adj" fmla="val 13333"/>
            </a:avLst>
          </a:prstGeom>
          <a:solidFill>
            <a:srgbClr val="FFFFFF"/>
          </a:solidFill>
          <a:ln/>
          <a:effectLst>
            <a:outerShdw sx="100000" sy="100000" kx="0" ky="0" algn="bl" rotWithShape="0" blurRad="76200" dist="25400" dir="5400000">
              <a:srgbClr val="1D3B4F">
                <a:alpha val="12000"/>
              </a:srgbClr>
            </a:outerShdw>
          </a:effectLst>
        </p:spPr>
      </p:sp>
      <p:sp>
        <p:nvSpPr>
          <p:cNvPr id="5" name="Insignia 1"/>
          <p:cNvSpPr txBox="1"/>
          <p:nvPr/>
        </p:nvSpPr>
        <p:spPr>
          <a:xfrm>
            <a:off x="640080" y="1234440"/>
            <a:ext cx="548640" cy="548640"/>
          </a:xfrm>
          <a:prstGeom prst="ellipse">
            <a:avLst/>
          </a:prstGeom>
          <a:solidFill>
            <a:srgbClr val="1E8A94"/>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371600" y="1097280"/>
            <a:ext cx="5669280" cy="822960"/>
          </a:xfrm>
          <a:prstGeom prst="rect">
            <a:avLst/>
          </a:prstGeom>
          <a:noFill/>
          <a:ln/>
        </p:spPr>
        <p:txBody>
          <a:bodyPr wrap="square" lIns="0" tIns="0" rIns="0" bIns="0" rtlCol="0" anchor="ctr"/>
          <a:lstStyle/>
          <a:p>
            <a:pPr indent="0" marL="0">
              <a:buNone/>
            </a:pPr>
            <a:r>
              <a:rPr lang="en-US" sz="1400" b="1" dirty="0">
                <a:solidFill>
                  <a:schemeClr val="tx1"/>
                </a:solidFill>
              </a:rPr>
              <a:t>Primera línea · Barreras primarias</a:t>
            </a:r>
            <a:endParaRPr lang="en-US" sz="1400" dirty="0"/>
          </a:p>
          <a:p>
            <a:pPr indent="0" marL="0">
              <a:buNone/>
            </a:pPr>
            <a:r>
              <a:rPr lang="en-US" sz="1400" dirty="0">
                <a:solidFill>
                  <a:schemeClr val="tx1"/>
                </a:solidFill>
              </a:rPr>
              <a:t>Impiden que el microbio entre: piel, mucosas, cilios, lágrimas, saliva y ácido del estómago.</a:t>
            </a:r>
            <a:endParaRPr lang="en-US" sz="1400" dirty="0"/>
          </a:p>
        </p:txBody>
      </p:sp>
      <p:sp>
        <p:nvSpPr>
          <p:cNvPr id="7" name="Etiqueta 1"/>
          <p:cNvSpPr/>
          <p:nvPr/>
        </p:nvSpPr>
        <p:spPr>
          <a:xfrm>
            <a:off x="7269480" y="1344168"/>
            <a:ext cx="1234440" cy="329184"/>
          </a:xfrm>
          <a:prstGeom prst="roundRect">
            <a:avLst>
              <a:gd name="adj" fmla="val 27778"/>
            </a:avLst>
          </a:prstGeom>
          <a:solidFill>
            <a:srgbClr val="E4EEF1"/>
          </a:solidFill>
          <a:ln/>
        </p:spPr>
      </p:sp>
      <p:sp>
        <p:nvSpPr>
          <p:cNvPr id="8" name="Text 5"/>
          <p:cNvSpPr txBox="1"/>
          <p:nvPr/>
        </p:nvSpPr>
        <p:spPr>
          <a:xfrm>
            <a:off x="7269480" y="1344168"/>
            <a:ext cx="1234440" cy="329184"/>
          </a:xfrm>
          <a:prstGeom prst="rect">
            <a:avLst/>
          </a:prstGeom>
          <a:noFill/>
          <a:ln/>
        </p:spPr>
        <p:txBody>
          <a:bodyPr wrap="square" lIns="0" tIns="0" rIns="0" bIns="0" rtlCol="0" anchor="ctr"/>
          <a:lstStyle/>
          <a:p>
            <a:pPr algn="ctr" indent="0" marL="0">
              <a:buNone/>
            </a:pPr>
            <a:r>
              <a:rPr lang="en-US" sz="1200" b="1" dirty="0">
                <a:solidFill>
                  <a:schemeClr val="tx1"/>
                </a:solidFill>
              </a:rPr>
              <a:t>Ya la vimos</a:t>
            </a:r>
            <a:endParaRPr lang="en-US" sz="1200" dirty="0"/>
          </a:p>
        </p:txBody>
      </p:sp>
      <p:sp>
        <p:nvSpPr>
          <p:cNvPr id="9" name="Línea 2"/>
          <p:cNvSpPr/>
          <p:nvPr/>
        </p:nvSpPr>
        <p:spPr>
          <a:xfrm>
            <a:off x="457200" y="2057400"/>
            <a:ext cx="8229600" cy="822960"/>
          </a:xfrm>
          <a:prstGeom prst="roundRect">
            <a:avLst>
              <a:gd name="adj" fmla="val 13333"/>
            </a:avLst>
          </a:prstGeom>
          <a:solidFill>
            <a:srgbClr val="D6EEF0"/>
          </a:solidFill>
          <a:ln/>
          <a:effectLst>
            <a:outerShdw sx="100000" sy="100000" kx="0" ky="0" algn="bl" rotWithShape="0" blurRad="76200" dist="25400" dir="5400000">
              <a:srgbClr val="1D3B4F">
                <a:alpha val="12000"/>
              </a:srgbClr>
            </a:outerShdw>
          </a:effectLst>
        </p:spPr>
      </p:sp>
      <p:sp>
        <p:nvSpPr>
          <p:cNvPr id="10" name="Insignia 2"/>
          <p:cNvSpPr txBox="1"/>
          <p:nvPr/>
        </p:nvSpPr>
        <p:spPr>
          <a:xfrm>
            <a:off x="640080" y="2194560"/>
            <a:ext cx="548640" cy="548640"/>
          </a:xfrm>
          <a:prstGeom prst="ellipse">
            <a:avLst/>
          </a:prstGeom>
          <a:solidFill>
            <a:srgbClr val="E0A020"/>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8"/>
          <p:cNvSpPr txBox="1"/>
          <p:nvPr/>
        </p:nvSpPr>
        <p:spPr>
          <a:xfrm>
            <a:off x="1371600" y="2057400"/>
            <a:ext cx="5669280" cy="822960"/>
          </a:xfrm>
          <a:prstGeom prst="rect">
            <a:avLst/>
          </a:prstGeom>
          <a:noFill/>
          <a:ln/>
        </p:spPr>
        <p:txBody>
          <a:bodyPr wrap="square" lIns="0" tIns="0" rIns="0" bIns="0" rtlCol="0" anchor="ctr"/>
          <a:lstStyle/>
          <a:p>
            <a:pPr indent="0" marL="0">
              <a:buNone/>
            </a:pPr>
            <a:r>
              <a:rPr lang="en-US" sz="1400" b="1" dirty="0">
                <a:solidFill>
                  <a:schemeClr val="tx1"/>
                </a:solidFill>
              </a:rPr>
              <a:t>Segunda línea · Inflamación y fagocitos</a:t>
            </a:r>
            <a:endParaRPr lang="en-US" sz="1400" dirty="0"/>
          </a:p>
          <a:p>
            <a:pPr indent="0" marL="0">
              <a:buNone/>
            </a:pPr>
            <a:r>
              <a:rPr lang="en-US" sz="1400" dirty="0">
                <a:solidFill>
                  <a:schemeClr val="tx1"/>
                </a:solidFill>
              </a:rPr>
              <a:t>Actúa cuando el microbio ya entró: macrófagos, neutrófilos e inflamación. Rápida, pero no específica.</a:t>
            </a:r>
            <a:endParaRPr lang="en-US" sz="1400" dirty="0"/>
          </a:p>
        </p:txBody>
      </p:sp>
      <p:sp>
        <p:nvSpPr>
          <p:cNvPr id="12" name="Etiqueta 2"/>
          <p:cNvSpPr/>
          <p:nvPr/>
        </p:nvSpPr>
        <p:spPr>
          <a:xfrm>
            <a:off x="7269480" y="2304288"/>
            <a:ext cx="1234440" cy="329184"/>
          </a:xfrm>
          <a:prstGeom prst="roundRect">
            <a:avLst>
              <a:gd name="adj" fmla="val 27778"/>
            </a:avLst>
          </a:prstGeom>
          <a:solidFill>
            <a:srgbClr val="1E8A94"/>
          </a:solidFill>
          <a:ln/>
        </p:spPr>
      </p:sp>
      <p:sp>
        <p:nvSpPr>
          <p:cNvPr id="13" name="Text 10"/>
          <p:cNvSpPr txBox="1"/>
          <p:nvPr/>
        </p:nvSpPr>
        <p:spPr>
          <a:xfrm>
            <a:off x="7269480" y="2304288"/>
            <a:ext cx="1234440" cy="329184"/>
          </a:xfrm>
          <a:prstGeom prst="rect">
            <a:avLst/>
          </a:prstGeom>
          <a:noFill/>
          <a:ln/>
        </p:spPr>
        <p:txBody>
          <a:bodyPr wrap="square" lIns="0" tIns="0" rIns="0" bIns="0" rtlCol="0" anchor="ctr"/>
          <a:lstStyle/>
          <a:p>
            <a:pPr algn="ctr" indent="0" marL="0">
              <a:buNone/>
            </a:pPr>
            <a:r>
              <a:rPr lang="en-US" sz="1200" b="1" dirty="0">
                <a:solidFill>
                  <a:schemeClr val="bg1"/>
                </a:solidFill>
              </a:rPr>
              <a:t>HOY</a:t>
            </a:r>
            <a:endParaRPr lang="en-US" sz="1200" dirty="0"/>
          </a:p>
        </p:txBody>
      </p:sp>
      <p:sp>
        <p:nvSpPr>
          <p:cNvPr id="14" name="Línea 3"/>
          <p:cNvSpPr/>
          <p:nvPr/>
        </p:nvSpPr>
        <p:spPr>
          <a:xfrm>
            <a:off x="457200" y="3017520"/>
            <a:ext cx="8229600" cy="822960"/>
          </a:xfrm>
          <a:prstGeom prst="roundRect">
            <a:avLst>
              <a:gd name="adj" fmla="val 13333"/>
            </a:avLst>
          </a:prstGeom>
          <a:solidFill>
            <a:srgbClr val="FFFFFF"/>
          </a:solidFill>
          <a:ln/>
          <a:effectLst>
            <a:outerShdw sx="100000" sy="100000" kx="0" ky="0" algn="bl" rotWithShape="0" blurRad="76200" dist="25400" dir="5400000">
              <a:srgbClr val="1D3B4F">
                <a:alpha val="12000"/>
              </a:srgbClr>
            </a:outerShdw>
          </a:effectLst>
        </p:spPr>
      </p:sp>
      <p:sp>
        <p:nvSpPr>
          <p:cNvPr id="15" name="Insignia 3"/>
          <p:cNvSpPr txBox="1"/>
          <p:nvPr/>
        </p:nvSpPr>
        <p:spPr>
          <a:xfrm>
            <a:off x="640080" y="3154680"/>
            <a:ext cx="548640" cy="548640"/>
          </a:xfrm>
          <a:prstGeom prst="ellipse">
            <a:avLst/>
          </a:prstGeom>
          <a:solidFill>
            <a:srgbClr val="7B68C8"/>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Text 13"/>
          <p:cNvSpPr txBox="1"/>
          <p:nvPr/>
        </p:nvSpPr>
        <p:spPr>
          <a:xfrm>
            <a:off x="1371600" y="3017520"/>
            <a:ext cx="5669280" cy="822960"/>
          </a:xfrm>
          <a:prstGeom prst="rect">
            <a:avLst/>
          </a:prstGeom>
          <a:noFill/>
          <a:ln/>
        </p:spPr>
        <p:txBody>
          <a:bodyPr wrap="square" lIns="0" tIns="0" rIns="0" bIns="0" rtlCol="0" anchor="ctr"/>
          <a:lstStyle/>
          <a:p>
            <a:pPr indent="0" marL="0">
              <a:buNone/>
            </a:pPr>
            <a:r>
              <a:rPr lang="en-US" sz="1400" b="1" dirty="0">
                <a:solidFill>
                  <a:schemeClr val="tx1"/>
                </a:solidFill>
              </a:rPr>
              <a:t>Tercera línea · Respuesta específica</a:t>
            </a:r>
            <a:endParaRPr lang="en-US" sz="1400" dirty="0"/>
          </a:p>
          <a:p>
            <a:pPr indent="0" marL="0">
              <a:buNone/>
            </a:pPr>
            <a:r>
              <a:rPr lang="en-US" sz="1400" dirty="0">
                <a:solidFill>
                  <a:schemeClr val="tx1"/>
                </a:solidFill>
              </a:rPr>
              <a:t>Linfocitos T y B, anticuerpos y memoria. Es la base de las vacunas.</a:t>
            </a:r>
            <a:endParaRPr lang="en-US" sz="1400" dirty="0"/>
          </a:p>
        </p:txBody>
      </p:sp>
      <p:sp>
        <p:nvSpPr>
          <p:cNvPr id="17" name="Etiqueta 3"/>
          <p:cNvSpPr/>
          <p:nvPr/>
        </p:nvSpPr>
        <p:spPr>
          <a:xfrm>
            <a:off x="7269480" y="3264408"/>
            <a:ext cx="1234440" cy="329184"/>
          </a:xfrm>
          <a:prstGeom prst="roundRect">
            <a:avLst>
              <a:gd name="adj" fmla="val 27778"/>
            </a:avLst>
          </a:prstGeom>
          <a:solidFill>
            <a:srgbClr val="E4EEF1"/>
          </a:solidFill>
          <a:ln/>
        </p:spPr>
      </p:sp>
      <p:sp>
        <p:nvSpPr>
          <p:cNvPr id="18" name="Text 15"/>
          <p:cNvSpPr txBox="1"/>
          <p:nvPr/>
        </p:nvSpPr>
        <p:spPr>
          <a:xfrm>
            <a:off x="7269480" y="3264408"/>
            <a:ext cx="1234440" cy="329184"/>
          </a:xfrm>
          <a:prstGeom prst="rect">
            <a:avLst/>
          </a:prstGeom>
          <a:noFill/>
          <a:ln/>
        </p:spPr>
        <p:txBody>
          <a:bodyPr wrap="square" lIns="0" tIns="0" rIns="0" bIns="0" rtlCol="0" anchor="ctr"/>
          <a:lstStyle/>
          <a:p>
            <a:pPr algn="ctr" indent="0" marL="0">
              <a:buNone/>
            </a:pPr>
            <a:r>
              <a:rPr lang="en-US" sz="1200" b="1" dirty="0">
                <a:solidFill>
                  <a:schemeClr val="tx1"/>
                </a:solidFill>
              </a:rPr>
              <a:t>Más adelante</a:t>
            </a:r>
            <a:endParaRPr lang="en-US" sz="1200" dirty="0"/>
          </a:p>
        </p:txBody>
      </p:sp>
      <p:sp>
        <p:nvSpPr>
          <p:cNvPr id="19" name="Pregunta"/>
          <p:cNvSpPr/>
          <p:nvPr/>
        </p:nvSpPr>
        <p:spPr>
          <a:xfrm>
            <a:off x="457200" y="4023360"/>
            <a:ext cx="8229600" cy="502920"/>
          </a:xfrm>
          <a:prstGeom prst="roundRect">
            <a:avLst>
              <a:gd name="adj" fmla="val 18182"/>
            </a:avLst>
          </a:prstGeom>
          <a:solidFill>
            <a:srgbClr val="FDE4E2"/>
          </a:solidFill>
          <a:ln/>
        </p:spPr>
      </p:sp>
      <p:sp>
        <p:nvSpPr>
          <p:cNvPr id="20" name="Text 17"/>
          <p:cNvSpPr txBox="1"/>
          <p:nvPr/>
        </p:nvSpPr>
        <p:spPr>
          <a:xfrm>
            <a:off x="594360" y="411480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1" name="Texto pregunta"/>
          <p:cNvSpPr txBox="1"/>
          <p:nvPr/>
        </p:nvSpPr>
        <p:spPr>
          <a:xfrm>
            <a:off x="1051560" y="402336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¿Qué crees que pasa cuando las barreras primarias fallan?</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Primera y segunda línea, frente a frente</a:t>
            </a:r>
            <a:endParaRPr lang="en-US" sz="2800" dirty="0"/>
          </a:p>
        </p:txBody>
      </p:sp>
      <p:graphicFrame>
        <p:nvGraphicFramePr>
          <p:cNvPr id="6" name="Tabla comparación"/>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3017520"/>
                <a:gridCol w="3291840"/>
              </a:tblGrid>
              <a:tr h="365760">
                <a:tc>
                  <a:txBody>
                    <a:bodyPr/>
                    <a:lstStyle/>
                    <a:p>
                      <a:pPr indent="0" marL="0">
                        <a:buNone/>
                      </a:pP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1E8A94"/>
                    </a:solidFill>
                  </a:tcPr>
                </a:tc>
                <a:tc>
                  <a:txBody>
                    <a:bodyPr/>
                    <a:lstStyle/>
                    <a:p>
                      <a:pPr indent="0" marL="0">
                        <a:buNone/>
                      </a:pPr>
                      <a:r>
                        <a:rPr lang="en-US" sz="1400" b="1" dirty="0">
                          <a:solidFill>
                            <a:srgbClr val="FFFFFF"/>
                          </a:solidFill>
                        </a:rPr>
                        <a:t>Primera línea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1E8A94"/>
                    </a:solidFill>
                  </a:tcPr>
                </a:tc>
                <a:tc>
                  <a:txBody>
                    <a:bodyPr/>
                    <a:lstStyle/>
                    <a:p>
                      <a:pPr indent="0" marL="0">
                        <a:buNone/>
                      </a:pPr>
                      <a:r>
                        <a:rPr lang="en-US" sz="1400" b="1" dirty="0">
                          <a:solidFill>
                            <a:srgbClr val="FFFFFF"/>
                          </a:solidFill>
                        </a:rPr>
                        <a:t>Segunda línea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1E8A94"/>
                    </a:solidFill>
                  </a:tcPr>
                </a:tc>
              </a:tr>
              <a:tr h="502920">
                <a:tc>
                  <a:txBody>
                    <a:bodyPr/>
                    <a:lstStyle/>
                    <a:p>
                      <a:pPr indent="0" marL="0">
                        <a:buNone/>
                      </a:pPr>
                      <a:r>
                        <a:rPr lang="en-US" sz="1400" b="1" dirty="0">
                          <a:solidFill>
                            <a:srgbClr val="1D3B4F"/>
                          </a:solidFill>
                        </a:rPr>
                        <a:t>Cuándo actúa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Siempre, antes de que el microbio entre</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Cuando ya entró: de minutos a horas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D3B4F"/>
                          </a:solidFill>
                        </a:rPr>
                        <a:t>Qué hace</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Bloquea o frena la entrada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Detecta el daño, llama refuerzos y destruye microbios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r>
              <a:tr h="548640">
                <a:tc>
                  <a:txBody>
                    <a:bodyPr/>
                    <a:lstStyle/>
                    <a:p>
                      <a:pPr indent="0" marL="0">
                        <a:buNone/>
                      </a:pPr>
                      <a:r>
                        <a:rPr lang="en-US" sz="1400" b="1" dirty="0">
                          <a:solidFill>
                            <a:srgbClr val="1D3B4F"/>
                          </a:solidFill>
                        </a:rPr>
                        <a:t>Quiénes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Piel, mucosas, cilios, lágrimas, saliva, ácido, microbiota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Macrófagos, mastocitos, neutrófilos y capilares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D3B4F"/>
                          </a:solidFill>
                        </a:rPr>
                        <a:t>¿Distingue al microbio?</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No: bloquea a todos por igual</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No: responde igual ante cualquier microbio</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r>
              <a:tr h="502920">
                <a:tc>
                  <a:txBody>
                    <a:bodyPr/>
                    <a:lstStyle/>
                    <a:p>
                      <a:pPr indent="0" marL="0">
                        <a:buNone/>
                      </a:pPr>
                      <a:r>
                        <a:rPr lang="en-US" sz="1400" b="1" dirty="0">
                          <a:solidFill>
                            <a:srgbClr val="1D3B4F"/>
                          </a:solidFill>
                        </a:rPr>
                        <a:t>¿Tiene memoria?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No</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No (la memoria es de la tercera línea)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r>
            </a:tbl>
          </a:graphicData>
        </a:graphic>
      </p:graphicFrame>
      <p:sp>
        <p:nvSpPr>
          <p:cNvPr id="5" name="Pregunta"/>
          <p:cNvSpPr/>
          <p:nvPr/>
        </p:nvSpPr>
        <p:spPr>
          <a:xfrm>
            <a:off x="457200" y="4251960"/>
            <a:ext cx="8229600" cy="502920"/>
          </a:xfrm>
          <a:prstGeom prst="roundRect">
            <a:avLst>
              <a:gd name="adj" fmla="val 18182"/>
            </a:avLst>
          </a:prstGeom>
          <a:solidFill>
            <a:srgbClr val="FDE4E2"/>
          </a:solidFill>
          <a:ln/>
        </p:spPr>
      </p:sp>
      <p:sp>
        <p:nvSpPr>
          <p:cNvPr id="6" name="Text 2"/>
          <p:cNvSpPr txBox="1"/>
          <p:nvPr/>
        </p:nvSpPr>
        <p:spPr>
          <a:xfrm>
            <a:off x="594360" y="434340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o pregunta"/>
          <p:cNvSpPr txBox="1"/>
          <p:nvPr/>
        </p:nvSpPr>
        <p:spPr>
          <a:xfrm>
            <a:off x="1051560" y="425196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Si responde igual ante todos los microbios, ¿es lo mismo que una vacuna? ¿Por qué?</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Los protagonistas de la inflamación</a:t>
            </a:r>
            <a:endParaRPr lang="en-US" sz="2800" dirty="0"/>
          </a:p>
        </p:txBody>
      </p:sp>
      <p:sp>
        <p:nvSpPr>
          <p:cNvPr id="4" name="Tarjeta Mastocitos"/>
          <p:cNvSpPr/>
          <p:nvPr/>
        </p:nvSpPr>
        <p:spPr>
          <a:xfrm>
            <a:off x="457200" y="1097280"/>
            <a:ext cx="1920240" cy="297180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5" name="Shape 2"/>
          <p:cNvSpPr/>
          <p:nvPr/>
        </p:nvSpPr>
        <p:spPr>
          <a:xfrm>
            <a:off x="960120" y="1280160"/>
            <a:ext cx="914400" cy="914400"/>
          </a:xfrm>
          <a:prstGeom prst="ellipse">
            <a:avLst/>
          </a:prstGeom>
          <a:solidFill>
            <a:srgbClr val="D6EEF0"/>
          </a:solidFill>
          <a:ln/>
        </p:spPr>
      </p:sp>
      <p:sp>
        <p:nvSpPr>
          <p:cNvPr id="6" name="Shape 3"/>
          <p:cNvSpPr/>
          <p:nvPr/>
        </p:nvSpPr>
        <p:spPr>
          <a:xfrm>
            <a:off x="1143000" y="1463040"/>
            <a:ext cx="548640" cy="548640"/>
          </a:xfrm>
          <a:prstGeom prst="ellipse">
            <a:avLst/>
          </a:prstGeom>
          <a:solidFill>
            <a:srgbClr val="7B68C8"/>
          </a:solidFill>
          <a:ln/>
        </p:spPr>
      </p:sp>
      <p:sp>
        <p:nvSpPr>
          <p:cNvPr id="7" name="Shape 4"/>
          <p:cNvSpPr/>
          <p:nvPr/>
        </p:nvSpPr>
        <p:spPr>
          <a:xfrm>
            <a:off x="1271016" y="1618488"/>
            <a:ext cx="73152" cy="73152"/>
          </a:xfrm>
          <a:prstGeom prst="ellipse">
            <a:avLst/>
          </a:prstGeom>
          <a:solidFill>
            <a:srgbClr val="E9E4FF"/>
          </a:solidFill>
          <a:ln/>
        </p:spPr>
      </p:sp>
      <p:sp>
        <p:nvSpPr>
          <p:cNvPr id="8" name="Shape 5"/>
          <p:cNvSpPr/>
          <p:nvPr/>
        </p:nvSpPr>
        <p:spPr>
          <a:xfrm>
            <a:off x="1435608" y="1577340"/>
            <a:ext cx="73152" cy="73152"/>
          </a:xfrm>
          <a:prstGeom prst="ellipse">
            <a:avLst/>
          </a:prstGeom>
          <a:solidFill>
            <a:srgbClr val="E9E4FF"/>
          </a:solidFill>
          <a:ln/>
        </p:spPr>
      </p:sp>
      <p:sp>
        <p:nvSpPr>
          <p:cNvPr id="9" name="Shape 6"/>
          <p:cNvSpPr/>
          <p:nvPr/>
        </p:nvSpPr>
        <p:spPr>
          <a:xfrm>
            <a:off x="1504188" y="1728216"/>
            <a:ext cx="73152" cy="73152"/>
          </a:xfrm>
          <a:prstGeom prst="ellipse">
            <a:avLst/>
          </a:prstGeom>
          <a:solidFill>
            <a:srgbClr val="E9E4FF"/>
          </a:solidFill>
          <a:ln/>
        </p:spPr>
      </p:sp>
      <p:sp>
        <p:nvSpPr>
          <p:cNvPr id="10" name="Shape 7"/>
          <p:cNvSpPr/>
          <p:nvPr/>
        </p:nvSpPr>
        <p:spPr>
          <a:xfrm>
            <a:off x="1353312" y="1810512"/>
            <a:ext cx="73152" cy="73152"/>
          </a:xfrm>
          <a:prstGeom prst="ellipse">
            <a:avLst/>
          </a:prstGeom>
          <a:solidFill>
            <a:srgbClr val="E9E4FF"/>
          </a:solidFill>
          <a:ln/>
        </p:spPr>
      </p:sp>
      <p:sp>
        <p:nvSpPr>
          <p:cNvPr id="11" name="Shape 8"/>
          <p:cNvSpPr/>
          <p:nvPr/>
        </p:nvSpPr>
        <p:spPr>
          <a:xfrm>
            <a:off x="1243584" y="1741932"/>
            <a:ext cx="73152" cy="73152"/>
          </a:xfrm>
          <a:prstGeom prst="ellipse">
            <a:avLst/>
          </a:prstGeom>
          <a:solidFill>
            <a:srgbClr val="E9E4FF"/>
          </a:solidFill>
          <a:ln/>
        </p:spPr>
      </p:sp>
      <p:sp>
        <p:nvSpPr>
          <p:cNvPr id="12" name="Shape 9"/>
          <p:cNvSpPr/>
          <p:nvPr/>
        </p:nvSpPr>
        <p:spPr>
          <a:xfrm>
            <a:off x="1408176" y="1700784"/>
            <a:ext cx="73152" cy="73152"/>
          </a:xfrm>
          <a:prstGeom prst="ellipse">
            <a:avLst/>
          </a:prstGeom>
          <a:solidFill>
            <a:srgbClr val="E9E4FF"/>
          </a:solidFill>
          <a:ln/>
        </p:spPr>
      </p:sp>
      <p:sp>
        <p:nvSpPr>
          <p:cNvPr id="13" name="Text 10"/>
          <p:cNvSpPr txBox="1"/>
          <p:nvPr/>
        </p:nvSpPr>
        <p:spPr>
          <a:xfrm>
            <a:off x="594360" y="2331720"/>
            <a:ext cx="1645920" cy="32004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Mastocitos</a:t>
            </a:r>
            <a:endParaRPr lang="en-US" sz="1800" dirty="0"/>
          </a:p>
        </p:txBody>
      </p:sp>
      <p:sp>
        <p:nvSpPr>
          <p:cNvPr id="14" name="Text 11"/>
          <p:cNvSpPr txBox="1"/>
          <p:nvPr/>
        </p:nvSpPr>
        <p:spPr>
          <a:xfrm>
            <a:off x="594360" y="2697480"/>
            <a:ext cx="1645920" cy="1280160"/>
          </a:xfrm>
          <a:prstGeom prst="rect">
            <a:avLst/>
          </a:prstGeom>
          <a:noFill/>
          <a:ln/>
        </p:spPr>
        <p:txBody>
          <a:bodyPr wrap="square" lIns="0" tIns="0" rIns="0" bIns="0" rtlCol="0" anchor="t"/>
          <a:lstStyle/>
          <a:p>
            <a:pPr indent="0" marL="0">
              <a:buNone/>
            </a:pPr>
            <a:r>
              <a:rPr lang="en-US" sz="1400" dirty="0">
                <a:solidFill>
                  <a:schemeClr val="tx1"/>
                </a:solidFill>
              </a:rPr>
              <a:t>Viven en el tejido. Al detectar daño liberan histamina.</a:t>
            </a:r>
            <a:endParaRPr lang="en-US" sz="1400" dirty="0"/>
          </a:p>
        </p:txBody>
      </p:sp>
      <p:sp>
        <p:nvSpPr>
          <p:cNvPr id="15" name="Tarjeta Macrófagos"/>
          <p:cNvSpPr/>
          <p:nvPr/>
        </p:nvSpPr>
        <p:spPr>
          <a:xfrm>
            <a:off x="2542032" y="1097280"/>
            <a:ext cx="1920240" cy="297180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16" name="Shape 13"/>
          <p:cNvSpPr/>
          <p:nvPr/>
        </p:nvSpPr>
        <p:spPr>
          <a:xfrm>
            <a:off x="3044952" y="1280160"/>
            <a:ext cx="914400" cy="914400"/>
          </a:xfrm>
          <a:prstGeom prst="ellipse">
            <a:avLst/>
          </a:prstGeom>
          <a:solidFill>
            <a:srgbClr val="D6EEF0"/>
          </a:solidFill>
          <a:ln/>
        </p:spPr>
      </p:sp>
      <p:sp>
        <p:nvSpPr>
          <p:cNvPr id="17" name="Shape 14"/>
          <p:cNvSpPr/>
          <p:nvPr/>
        </p:nvSpPr>
        <p:spPr>
          <a:xfrm>
            <a:off x="3227832" y="1463040"/>
            <a:ext cx="548640" cy="548640"/>
          </a:xfrm>
          <a:prstGeom prst="ellipse">
            <a:avLst/>
          </a:prstGeom>
          <a:solidFill>
            <a:srgbClr val="E0A020"/>
          </a:solidFill>
          <a:ln/>
        </p:spPr>
      </p:sp>
      <p:sp>
        <p:nvSpPr>
          <p:cNvPr id="18" name="Shape 15"/>
          <p:cNvSpPr/>
          <p:nvPr/>
        </p:nvSpPr>
        <p:spPr>
          <a:xfrm>
            <a:off x="3639312" y="1449324"/>
            <a:ext cx="246888" cy="246888"/>
          </a:xfrm>
          <a:prstGeom prst="ellipse">
            <a:avLst/>
          </a:prstGeom>
          <a:solidFill>
            <a:srgbClr val="E0A020"/>
          </a:solidFill>
          <a:ln/>
        </p:spPr>
      </p:sp>
      <p:sp>
        <p:nvSpPr>
          <p:cNvPr id="19" name="Shape 16"/>
          <p:cNvSpPr/>
          <p:nvPr/>
        </p:nvSpPr>
        <p:spPr>
          <a:xfrm>
            <a:off x="3378708" y="1655064"/>
            <a:ext cx="192024" cy="192024"/>
          </a:xfrm>
          <a:prstGeom prst="ellipse">
            <a:avLst/>
          </a:prstGeom>
          <a:solidFill>
            <a:srgbClr val="A8700A"/>
          </a:solidFill>
          <a:ln/>
        </p:spPr>
      </p:sp>
      <p:sp>
        <p:nvSpPr>
          <p:cNvPr id="20" name="Text 17"/>
          <p:cNvSpPr txBox="1"/>
          <p:nvPr/>
        </p:nvSpPr>
        <p:spPr>
          <a:xfrm>
            <a:off x="2679192" y="2331720"/>
            <a:ext cx="1645920" cy="32004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Macrófagos</a:t>
            </a:r>
            <a:endParaRPr lang="en-US" sz="1800" dirty="0"/>
          </a:p>
        </p:txBody>
      </p:sp>
      <p:sp>
        <p:nvSpPr>
          <p:cNvPr id="21" name="Text 18"/>
          <p:cNvSpPr txBox="1"/>
          <p:nvPr/>
        </p:nvSpPr>
        <p:spPr>
          <a:xfrm>
            <a:off x="2679192" y="2697480"/>
            <a:ext cx="1645920" cy="1280160"/>
          </a:xfrm>
          <a:prstGeom prst="rect">
            <a:avLst/>
          </a:prstGeom>
          <a:noFill/>
          <a:ln/>
        </p:spPr>
        <p:txBody>
          <a:bodyPr wrap="square" lIns="0" tIns="0" rIns="0" bIns="0" rtlCol="0" anchor="t"/>
          <a:lstStyle/>
          <a:p>
            <a:pPr indent="0" marL="0">
              <a:buNone/>
            </a:pPr>
            <a:r>
              <a:rPr lang="en-US" sz="1400" dirty="0">
                <a:solidFill>
                  <a:schemeClr val="tx1"/>
                </a:solidFill>
              </a:rPr>
              <a:t>Residentes del tejido: dan la alarma, se comen microbios y limpian.</a:t>
            </a:r>
            <a:endParaRPr lang="en-US" sz="1400" dirty="0"/>
          </a:p>
        </p:txBody>
      </p:sp>
      <p:sp>
        <p:nvSpPr>
          <p:cNvPr id="22" name="Tarjeta Neutrófilos"/>
          <p:cNvSpPr/>
          <p:nvPr/>
        </p:nvSpPr>
        <p:spPr>
          <a:xfrm>
            <a:off x="4626864" y="1097280"/>
            <a:ext cx="1920240" cy="297180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23" name="Shape 20"/>
          <p:cNvSpPr/>
          <p:nvPr/>
        </p:nvSpPr>
        <p:spPr>
          <a:xfrm>
            <a:off x="5129784" y="1280160"/>
            <a:ext cx="914400" cy="914400"/>
          </a:xfrm>
          <a:prstGeom prst="ellipse">
            <a:avLst/>
          </a:prstGeom>
          <a:solidFill>
            <a:srgbClr val="D6EEF0"/>
          </a:solidFill>
          <a:ln/>
        </p:spPr>
      </p:sp>
      <p:sp>
        <p:nvSpPr>
          <p:cNvPr id="24" name="Shape 21"/>
          <p:cNvSpPr/>
          <p:nvPr/>
        </p:nvSpPr>
        <p:spPr>
          <a:xfrm>
            <a:off x="5312664" y="1463040"/>
            <a:ext cx="548640" cy="548640"/>
          </a:xfrm>
          <a:prstGeom prst="ellipse">
            <a:avLst/>
          </a:prstGeom>
          <a:solidFill>
            <a:srgbClr val="FFFFFF"/>
          </a:solidFill>
          <a:ln w="19050">
            <a:solidFill>
              <a:srgbClr val="7B68C8"/>
            </a:solidFill>
            <a:prstDash val="solid"/>
          </a:ln>
        </p:spPr>
      </p:sp>
      <p:sp>
        <p:nvSpPr>
          <p:cNvPr id="25" name="Shape 22"/>
          <p:cNvSpPr/>
          <p:nvPr/>
        </p:nvSpPr>
        <p:spPr>
          <a:xfrm>
            <a:off x="5389474" y="1704442"/>
            <a:ext cx="120701" cy="120701"/>
          </a:xfrm>
          <a:prstGeom prst="ellipse">
            <a:avLst/>
          </a:prstGeom>
          <a:solidFill>
            <a:srgbClr val="7B68C8"/>
          </a:solidFill>
          <a:ln/>
        </p:spPr>
      </p:sp>
      <p:sp>
        <p:nvSpPr>
          <p:cNvPr id="26" name="Shape 23"/>
          <p:cNvSpPr/>
          <p:nvPr/>
        </p:nvSpPr>
        <p:spPr>
          <a:xfrm>
            <a:off x="5512918" y="1608430"/>
            <a:ext cx="120701" cy="120701"/>
          </a:xfrm>
          <a:prstGeom prst="ellipse">
            <a:avLst/>
          </a:prstGeom>
          <a:solidFill>
            <a:srgbClr val="7B68C8"/>
          </a:solidFill>
          <a:ln/>
        </p:spPr>
      </p:sp>
      <p:sp>
        <p:nvSpPr>
          <p:cNvPr id="27" name="Shape 24"/>
          <p:cNvSpPr/>
          <p:nvPr/>
        </p:nvSpPr>
        <p:spPr>
          <a:xfrm>
            <a:off x="5636362" y="1704442"/>
            <a:ext cx="120701" cy="120701"/>
          </a:xfrm>
          <a:prstGeom prst="ellipse">
            <a:avLst/>
          </a:prstGeom>
          <a:solidFill>
            <a:srgbClr val="7B68C8"/>
          </a:solidFill>
          <a:ln/>
        </p:spPr>
      </p:sp>
      <p:sp>
        <p:nvSpPr>
          <p:cNvPr id="28" name="Text 25"/>
          <p:cNvSpPr txBox="1"/>
          <p:nvPr/>
        </p:nvSpPr>
        <p:spPr>
          <a:xfrm>
            <a:off x="4764024" y="2331720"/>
            <a:ext cx="1645920" cy="32004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Neutrófilos</a:t>
            </a:r>
            <a:endParaRPr lang="en-US" sz="1800" dirty="0"/>
          </a:p>
        </p:txBody>
      </p:sp>
      <p:sp>
        <p:nvSpPr>
          <p:cNvPr id="29" name="Text 26"/>
          <p:cNvSpPr txBox="1"/>
          <p:nvPr/>
        </p:nvSpPr>
        <p:spPr>
          <a:xfrm>
            <a:off x="4764024" y="2697480"/>
            <a:ext cx="1645920" cy="1280160"/>
          </a:xfrm>
          <a:prstGeom prst="rect">
            <a:avLst/>
          </a:prstGeom>
          <a:noFill/>
          <a:ln/>
        </p:spPr>
        <p:txBody>
          <a:bodyPr wrap="square" lIns="0" tIns="0" rIns="0" bIns="0" rtlCol="0" anchor="t"/>
          <a:lstStyle/>
          <a:p>
            <a:pPr indent="0" marL="0">
              <a:buNone/>
            </a:pPr>
            <a:r>
              <a:rPr lang="en-US" sz="1400" dirty="0">
                <a:solidFill>
                  <a:schemeClr val="tx1"/>
                </a:solidFill>
              </a:rPr>
              <a:t>Llegan por la sangre. Son los primeros en llegar y viven poco.</a:t>
            </a:r>
            <a:endParaRPr lang="en-US" sz="1400" dirty="0"/>
          </a:p>
        </p:txBody>
      </p:sp>
      <p:sp>
        <p:nvSpPr>
          <p:cNvPr id="30" name="Tarjeta Capilares"/>
          <p:cNvSpPr/>
          <p:nvPr/>
        </p:nvSpPr>
        <p:spPr>
          <a:xfrm>
            <a:off x="6711696" y="1097280"/>
            <a:ext cx="1920240" cy="297180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31" name="Shape 28"/>
          <p:cNvSpPr/>
          <p:nvPr/>
        </p:nvSpPr>
        <p:spPr>
          <a:xfrm>
            <a:off x="7214616" y="1280160"/>
            <a:ext cx="914400" cy="914400"/>
          </a:xfrm>
          <a:prstGeom prst="ellipse">
            <a:avLst/>
          </a:prstGeom>
          <a:solidFill>
            <a:srgbClr val="D6EEF0"/>
          </a:solidFill>
          <a:ln/>
        </p:spPr>
      </p:sp>
      <p:sp>
        <p:nvSpPr>
          <p:cNvPr id="32" name="Shape 29"/>
          <p:cNvSpPr/>
          <p:nvPr/>
        </p:nvSpPr>
        <p:spPr>
          <a:xfrm>
            <a:off x="6986016" y="1554480"/>
            <a:ext cx="1371600" cy="365760"/>
          </a:xfrm>
          <a:prstGeom prst="roundRect">
            <a:avLst>
              <a:gd name="adj" fmla="val 50000"/>
            </a:avLst>
          </a:prstGeom>
          <a:solidFill>
            <a:srgbClr val="D2504B"/>
          </a:solidFill>
          <a:ln/>
        </p:spPr>
      </p:sp>
      <p:sp>
        <p:nvSpPr>
          <p:cNvPr id="33" name="Shape 30"/>
          <p:cNvSpPr/>
          <p:nvPr/>
        </p:nvSpPr>
        <p:spPr>
          <a:xfrm>
            <a:off x="7882128" y="1627632"/>
            <a:ext cx="219456" cy="219456"/>
          </a:xfrm>
          <a:prstGeom prst="ellipse">
            <a:avLst/>
          </a:prstGeom>
          <a:solidFill>
            <a:srgbClr val="FFFFFF"/>
          </a:solidFill>
          <a:ln w="19050">
            <a:solidFill>
              <a:srgbClr val="7B68C8"/>
            </a:solidFill>
            <a:prstDash val="solid"/>
          </a:ln>
        </p:spPr>
      </p:sp>
      <p:sp>
        <p:nvSpPr>
          <p:cNvPr id="34" name="Shape 31"/>
          <p:cNvSpPr/>
          <p:nvPr/>
        </p:nvSpPr>
        <p:spPr>
          <a:xfrm>
            <a:off x="7912852" y="1724193"/>
            <a:ext cx="48280" cy="48280"/>
          </a:xfrm>
          <a:prstGeom prst="ellipse">
            <a:avLst/>
          </a:prstGeom>
          <a:solidFill>
            <a:srgbClr val="7B68C8"/>
          </a:solidFill>
          <a:ln/>
        </p:spPr>
      </p:sp>
      <p:sp>
        <p:nvSpPr>
          <p:cNvPr id="35" name="Shape 32"/>
          <p:cNvSpPr/>
          <p:nvPr/>
        </p:nvSpPr>
        <p:spPr>
          <a:xfrm>
            <a:off x="7962229" y="1685788"/>
            <a:ext cx="48280" cy="48280"/>
          </a:xfrm>
          <a:prstGeom prst="ellipse">
            <a:avLst/>
          </a:prstGeom>
          <a:solidFill>
            <a:srgbClr val="7B68C8"/>
          </a:solidFill>
          <a:ln/>
        </p:spPr>
      </p:sp>
      <p:sp>
        <p:nvSpPr>
          <p:cNvPr id="36" name="Shape 33"/>
          <p:cNvSpPr/>
          <p:nvPr/>
        </p:nvSpPr>
        <p:spPr>
          <a:xfrm>
            <a:off x="8011607" y="1724193"/>
            <a:ext cx="48280" cy="48280"/>
          </a:xfrm>
          <a:prstGeom prst="ellipse">
            <a:avLst/>
          </a:prstGeom>
          <a:solidFill>
            <a:srgbClr val="7B68C8"/>
          </a:solidFill>
          <a:ln/>
        </p:spPr>
      </p:sp>
      <p:sp>
        <p:nvSpPr>
          <p:cNvPr id="37" name="Text 34"/>
          <p:cNvSpPr txBox="1"/>
          <p:nvPr/>
        </p:nvSpPr>
        <p:spPr>
          <a:xfrm>
            <a:off x="6848856" y="2331720"/>
            <a:ext cx="1645920" cy="32004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Capilares</a:t>
            </a:r>
            <a:endParaRPr lang="en-US" sz="1800" dirty="0"/>
          </a:p>
        </p:txBody>
      </p:sp>
      <p:sp>
        <p:nvSpPr>
          <p:cNvPr id="38" name="Text 35"/>
          <p:cNvSpPr txBox="1"/>
          <p:nvPr/>
        </p:nvSpPr>
        <p:spPr>
          <a:xfrm>
            <a:off x="6848856" y="2697480"/>
            <a:ext cx="1645920" cy="1280160"/>
          </a:xfrm>
          <a:prstGeom prst="rect">
            <a:avLst/>
          </a:prstGeom>
          <a:noFill/>
          <a:ln/>
        </p:spPr>
        <p:txBody>
          <a:bodyPr wrap="square" lIns="0" tIns="0" rIns="0" bIns="0" rtlCol="0" anchor="t"/>
          <a:lstStyle/>
          <a:p>
            <a:pPr indent="0" marL="0">
              <a:buNone/>
            </a:pPr>
            <a:r>
              <a:rPr lang="en-US" sz="1400" dirty="0">
                <a:solidFill>
                  <a:schemeClr val="tx1"/>
                </a:solidFill>
              </a:rPr>
              <a:t>Vasos finos. Al abrirse, dejan pasar líquido y células de defensa.</a:t>
            </a:r>
            <a:endParaRPr lang="en-US" sz="1400" dirty="0"/>
          </a:p>
        </p:txBody>
      </p:sp>
      <p:sp>
        <p:nvSpPr>
          <p:cNvPr id="39" name="Banner"/>
          <p:cNvSpPr/>
          <p:nvPr/>
        </p:nvSpPr>
        <p:spPr>
          <a:xfrm>
            <a:off x="457200" y="4251960"/>
            <a:ext cx="8229600" cy="502920"/>
          </a:xfrm>
          <a:prstGeom prst="roundRect">
            <a:avLst>
              <a:gd name="adj" fmla="val 18182"/>
            </a:avLst>
          </a:prstGeom>
          <a:solidFill>
            <a:srgbClr val="D6EEF0"/>
          </a:solidFill>
          <a:ln/>
        </p:spPr>
      </p:sp>
      <p:sp>
        <p:nvSpPr>
          <p:cNvPr id="40" name="Texto banner"/>
          <p:cNvSpPr txBox="1"/>
          <p:nvPr/>
        </p:nvSpPr>
        <p:spPr>
          <a:xfrm>
            <a:off x="640080" y="4251960"/>
            <a:ext cx="7863840" cy="502920"/>
          </a:xfrm>
          <a:prstGeom prst="rect">
            <a:avLst/>
          </a:prstGeom>
          <a:noFill/>
          <a:ln/>
        </p:spPr>
        <p:txBody>
          <a:bodyPr wrap="square" lIns="0" tIns="0" rIns="0" bIns="0" rtlCol="0" anchor="ctr"/>
          <a:lstStyle/>
          <a:p>
            <a:pPr indent="0" marL="0">
              <a:buNone/>
            </a:pPr>
            <a:r>
              <a:rPr lang="en-US" sz="1400" b="1" dirty="0">
                <a:solidFill>
                  <a:srgbClr val="1E8A94"/>
                </a:solidFill>
              </a:rPr>
              <a:t>Dato: </a:t>
            </a:r>
            <a:pPr indent="0" marL="0">
              <a:buNone/>
            </a:pPr>
            <a:r>
              <a:rPr lang="en-US" sz="1400" dirty="0">
                <a:solidFill>
                  <a:schemeClr val="tx1"/>
                </a:solidFill>
              </a:rPr>
              <a:t>neutrófilos y macrófagos son fagocitos: células que se comen a los microbios.</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La inflamación: la alarma del cuerpo</a:t>
            </a:r>
            <a:endParaRPr lang="en-US" sz="2800" dirty="0"/>
          </a:p>
        </p:txBody>
      </p:sp>
      <p:sp>
        <p:nvSpPr>
          <p:cNvPr id="4" name="Text 1"/>
          <p:cNvSpPr txBox="1"/>
          <p:nvPr/>
        </p:nvSpPr>
        <p:spPr>
          <a:xfrm>
            <a:off x="457200" y="1051560"/>
            <a:ext cx="8229600" cy="685800"/>
          </a:xfrm>
          <a:prstGeom prst="rect">
            <a:avLst/>
          </a:prstGeom>
          <a:noFill/>
          <a:ln/>
        </p:spPr>
        <p:txBody>
          <a:bodyPr wrap="square" lIns="0" tIns="0" rIns="0" bIns="0" rtlCol="0" anchor="t"/>
          <a:lstStyle/>
          <a:p>
            <a:pPr indent="0" marL="0">
              <a:buNone/>
            </a:pPr>
            <a:r>
              <a:rPr lang="en-US" sz="1600" b="1" dirty="0">
                <a:solidFill>
                  <a:schemeClr val="accent1"/>
                </a:solidFill>
              </a:rPr>
              <a:t>Inflamación: </a:t>
            </a:r>
            <a:pPr indent="0" marL="0">
              <a:buNone/>
            </a:pPr>
            <a:r>
              <a:rPr lang="en-US" sz="1600" dirty="0">
                <a:solidFill>
                  <a:schemeClr val="tx1"/>
                </a:solidFill>
              </a:rPr>
              <a:t>respuesta rápida del cuerpo ante un daño o una infección. Concentra defensas en la zona afectada y ayuda a reparar el tejido.</a:t>
            </a:r>
            <a:endParaRPr lang="en-US" sz="1600" dirty="0"/>
          </a:p>
        </p:txBody>
      </p:sp>
      <p:sp>
        <p:nvSpPr>
          <p:cNvPr id="5" name="Signo Rubor"/>
          <p:cNvSpPr/>
          <p:nvPr/>
        </p:nvSpPr>
        <p:spPr>
          <a:xfrm>
            <a:off x="457200" y="1828800"/>
            <a:ext cx="1920240" cy="1417320"/>
          </a:xfrm>
          <a:prstGeom prst="roundRect">
            <a:avLst>
              <a:gd name="adj" fmla="val 7742"/>
            </a:avLst>
          </a:prstGeom>
          <a:solidFill>
            <a:srgbClr val="FFFFFF"/>
          </a:solidFill>
          <a:ln/>
          <a:effectLst>
            <a:outerShdw sx="100000" sy="100000" kx="0" ky="0" algn="bl" rotWithShape="0" blurRad="76200" dist="25400" dir="5400000">
              <a:srgbClr val="1D3B4F">
                <a:alpha val="12000"/>
              </a:srgbClr>
            </a:outerShdw>
          </a:effectLst>
        </p:spPr>
      </p:sp>
      <p:sp>
        <p:nvSpPr>
          <p:cNvPr id="6" name="Círculo ícono"/>
          <p:cNvSpPr/>
          <p:nvPr/>
        </p:nvSpPr>
        <p:spPr>
          <a:xfrm>
            <a:off x="1143000" y="1938528"/>
            <a:ext cx="548640" cy="548640"/>
          </a:xfrm>
          <a:prstGeom prst="ellipse">
            <a:avLst/>
          </a:prstGeom>
          <a:solidFill>
            <a:srgbClr val="D2504B"/>
          </a:solidFill>
          <a:ln/>
        </p:spPr>
      </p:sp>
      <p:pic>
        <p:nvPicPr>
          <p:cNvPr id="7" name="Image 0" descr="FaTint">    </p:cNvPr>
          <p:cNvPicPr>
            <a:picLocks noChangeAspect="1"/>
          </p:cNvPicPr>
          <p:nvPr/>
        </p:nvPicPr>
        <p:blipFill>
          <a:blip r:embed="rId1"/>
          <a:stretch>
            <a:fillRect/>
          </a:stretch>
        </p:blipFill>
        <p:spPr>
          <a:xfrm>
            <a:off x="1280160" y="2075688"/>
            <a:ext cx="274320" cy="274320"/>
          </a:xfrm>
          <a:prstGeom prst="rect">
            <a:avLst/>
          </a:prstGeom>
        </p:spPr>
      </p:pic>
      <p:sp>
        <p:nvSpPr>
          <p:cNvPr id="8" name="Text 4"/>
          <p:cNvSpPr txBox="1"/>
          <p:nvPr/>
        </p:nvSpPr>
        <p:spPr>
          <a:xfrm>
            <a:off x="457200" y="2560320"/>
            <a:ext cx="1920240" cy="274320"/>
          </a:xfrm>
          <a:prstGeom prst="rect">
            <a:avLst/>
          </a:prstGeom>
          <a:noFill/>
          <a:ln/>
        </p:spPr>
        <p:txBody>
          <a:bodyPr wrap="square" lIns="0" tIns="0" rIns="0" bIns="0" rtlCol="0" anchor="ctr"/>
          <a:lstStyle/>
          <a:p>
            <a:pPr algn="ctr" indent="0" marL="0">
              <a:buNone/>
            </a:pPr>
            <a:r>
              <a:rPr lang="en-US" sz="1600" b="1" dirty="0">
                <a:solidFill>
                  <a:schemeClr val="tx1"/>
                </a:solidFill>
              </a:rPr>
              <a:t>Rubor</a:t>
            </a:r>
            <a:endParaRPr lang="en-US" sz="1600" dirty="0"/>
          </a:p>
        </p:txBody>
      </p:sp>
      <p:sp>
        <p:nvSpPr>
          <p:cNvPr id="9" name="Text 5"/>
          <p:cNvSpPr txBox="1"/>
          <p:nvPr/>
        </p:nvSpPr>
        <p:spPr>
          <a:xfrm>
            <a:off x="457200" y="2834640"/>
            <a:ext cx="1920240" cy="274320"/>
          </a:xfrm>
          <a:prstGeom prst="rect">
            <a:avLst/>
          </a:prstGeom>
          <a:noFill/>
          <a:ln/>
        </p:spPr>
        <p:txBody>
          <a:bodyPr wrap="square" lIns="0" tIns="0" rIns="0" bIns="0" rtlCol="0" anchor="ctr"/>
          <a:lstStyle/>
          <a:p>
            <a:pPr algn="ctr" indent="0" marL="0">
              <a:buNone/>
            </a:pPr>
            <a:r>
              <a:rPr lang="en-US" sz="1400" dirty="0">
                <a:solidFill>
                  <a:schemeClr val="tx2"/>
                </a:solidFill>
              </a:rPr>
              <a:t>Zona roja</a:t>
            </a:r>
            <a:endParaRPr lang="en-US" sz="1400" dirty="0"/>
          </a:p>
        </p:txBody>
      </p:sp>
      <p:sp>
        <p:nvSpPr>
          <p:cNvPr id="10" name="Signo Calor"/>
          <p:cNvSpPr/>
          <p:nvPr/>
        </p:nvSpPr>
        <p:spPr>
          <a:xfrm>
            <a:off x="2542032" y="1828800"/>
            <a:ext cx="1920240" cy="1417320"/>
          </a:xfrm>
          <a:prstGeom prst="roundRect">
            <a:avLst>
              <a:gd name="adj" fmla="val 7742"/>
            </a:avLst>
          </a:prstGeom>
          <a:solidFill>
            <a:srgbClr val="FFFFFF"/>
          </a:solidFill>
          <a:ln/>
          <a:effectLst>
            <a:outerShdw sx="100000" sy="100000" kx="0" ky="0" algn="bl" rotWithShape="0" blurRad="76200" dist="25400" dir="5400000">
              <a:srgbClr val="1D3B4F">
                <a:alpha val="12000"/>
              </a:srgbClr>
            </a:outerShdw>
          </a:effectLst>
        </p:spPr>
      </p:sp>
      <p:sp>
        <p:nvSpPr>
          <p:cNvPr id="11" name="Círculo ícono"/>
          <p:cNvSpPr/>
          <p:nvPr/>
        </p:nvSpPr>
        <p:spPr>
          <a:xfrm>
            <a:off x="3227832" y="1938528"/>
            <a:ext cx="548640" cy="548640"/>
          </a:xfrm>
          <a:prstGeom prst="ellipse">
            <a:avLst/>
          </a:prstGeom>
          <a:solidFill>
            <a:srgbClr val="E0A020"/>
          </a:solidFill>
          <a:ln/>
        </p:spPr>
      </p:sp>
      <p:pic>
        <p:nvPicPr>
          <p:cNvPr id="12" name="Image 1" descr="FaThermometerHalf">    </p:cNvPr>
          <p:cNvPicPr>
            <a:picLocks noChangeAspect="1"/>
          </p:cNvPicPr>
          <p:nvPr/>
        </p:nvPicPr>
        <p:blipFill>
          <a:blip r:embed="rId2"/>
          <a:stretch>
            <a:fillRect/>
          </a:stretch>
        </p:blipFill>
        <p:spPr>
          <a:xfrm>
            <a:off x="3364992" y="2075688"/>
            <a:ext cx="274320" cy="274320"/>
          </a:xfrm>
          <a:prstGeom prst="rect">
            <a:avLst/>
          </a:prstGeom>
        </p:spPr>
      </p:pic>
      <p:sp>
        <p:nvSpPr>
          <p:cNvPr id="13" name="Text 8"/>
          <p:cNvSpPr txBox="1"/>
          <p:nvPr/>
        </p:nvSpPr>
        <p:spPr>
          <a:xfrm>
            <a:off x="2542032" y="2560320"/>
            <a:ext cx="1920240" cy="274320"/>
          </a:xfrm>
          <a:prstGeom prst="rect">
            <a:avLst/>
          </a:prstGeom>
          <a:noFill/>
          <a:ln/>
        </p:spPr>
        <p:txBody>
          <a:bodyPr wrap="square" lIns="0" tIns="0" rIns="0" bIns="0" rtlCol="0" anchor="ctr"/>
          <a:lstStyle/>
          <a:p>
            <a:pPr algn="ctr" indent="0" marL="0">
              <a:buNone/>
            </a:pPr>
            <a:r>
              <a:rPr lang="en-US" sz="1600" b="1" dirty="0">
                <a:solidFill>
                  <a:schemeClr val="tx1"/>
                </a:solidFill>
              </a:rPr>
              <a:t>Calor</a:t>
            </a:r>
            <a:endParaRPr lang="en-US" sz="1600" dirty="0"/>
          </a:p>
        </p:txBody>
      </p:sp>
      <p:sp>
        <p:nvSpPr>
          <p:cNvPr id="14" name="Text 9"/>
          <p:cNvSpPr txBox="1"/>
          <p:nvPr/>
        </p:nvSpPr>
        <p:spPr>
          <a:xfrm>
            <a:off x="2542032" y="2834640"/>
            <a:ext cx="1920240" cy="274320"/>
          </a:xfrm>
          <a:prstGeom prst="rect">
            <a:avLst/>
          </a:prstGeom>
          <a:noFill/>
          <a:ln/>
        </p:spPr>
        <p:txBody>
          <a:bodyPr wrap="square" lIns="0" tIns="0" rIns="0" bIns="0" rtlCol="0" anchor="ctr"/>
          <a:lstStyle/>
          <a:p>
            <a:pPr algn="ctr" indent="0" marL="0">
              <a:buNone/>
            </a:pPr>
            <a:r>
              <a:rPr lang="en-US" sz="1400" dirty="0">
                <a:solidFill>
                  <a:schemeClr val="tx2"/>
                </a:solidFill>
              </a:rPr>
              <a:t>Zona caliente</a:t>
            </a:r>
            <a:endParaRPr lang="en-US" sz="1400" dirty="0"/>
          </a:p>
        </p:txBody>
      </p:sp>
      <p:sp>
        <p:nvSpPr>
          <p:cNvPr id="15" name="Signo Hinchazón"/>
          <p:cNvSpPr/>
          <p:nvPr/>
        </p:nvSpPr>
        <p:spPr>
          <a:xfrm>
            <a:off x="4626864" y="1828800"/>
            <a:ext cx="1920240" cy="1417320"/>
          </a:xfrm>
          <a:prstGeom prst="roundRect">
            <a:avLst>
              <a:gd name="adj" fmla="val 7742"/>
            </a:avLst>
          </a:prstGeom>
          <a:solidFill>
            <a:srgbClr val="FFFFFF"/>
          </a:solidFill>
          <a:ln/>
          <a:effectLst>
            <a:outerShdw sx="100000" sy="100000" kx="0" ky="0" algn="bl" rotWithShape="0" blurRad="76200" dist="25400" dir="5400000">
              <a:srgbClr val="1D3B4F">
                <a:alpha val="12000"/>
              </a:srgbClr>
            </a:outerShdw>
          </a:effectLst>
        </p:spPr>
      </p:sp>
      <p:sp>
        <p:nvSpPr>
          <p:cNvPr id="16" name="Círculo ícono"/>
          <p:cNvSpPr/>
          <p:nvPr/>
        </p:nvSpPr>
        <p:spPr>
          <a:xfrm>
            <a:off x="5312664" y="1938528"/>
            <a:ext cx="548640" cy="548640"/>
          </a:xfrm>
          <a:prstGeom prst="ellipse">
            <a:avLst/>
          </a:prstGeom>
          <a:solidFill>
            <a:srgbClr val="7B68C8"/>
          </a:solidFill>
          <a:ln/>
        </p:spPr>
      </p:sp>
      <p:pic>
        <p:nvPicPr>
          <p:cNvPr id="17" name="Image 2" descr="FaCircle">    </p:cNvPr>
          <p:cNvPicPr>
            <a:picLocks noChangeAspect="1"/>
          </p:cNvPicPr>
          <p:nvPr/>
        </p:nvPicPr>
        <p:blipFill>
          <a:blip r:embed="rId3"/>
          <a:stretch>
            <a:fillRect/>
          </a:stretch>
        </p:blipFill>
        <p:spPr>
          <a:xfrm>
            <a:off x="5449824" y="2075688"/>
            <a:ext cx="274320" cy="274320"/>
          </a:xfrm>
          <a:prstGeom prst="rect">
            <a:avLst/>
          </a:prstGeom>
        </p:spPr>
      </p:pic>
      <p:sp>
        <p:nvSpPr>
          <p:cNvPr id="18" name="Text 12"/>
          <p:cNvSpPr txBox="1"/>
          <p:nvPr/>
        </p:nvSpPr>
        <p:spPr>
          <a:xfrm>
            <a:off x="4626864" y="2560320"/>
            <a:ext cx="1920240" cy="274320"/>
          </a:xfrm>
          <a:prstGeom prst="rect">
            <a:avLst/>
          </a:prstGeom>
          <a:noFill/>
          <a:ln/>
        </p:spPr>
        <p:txBody>
          <a:bodyPr wrap="square" lIns="0" tIns="0" rIns="0" bIns="0" rtlCol="0" anchor="ctr"/>
          <a:lstStyle/>
          <a:p>
            <a:pPr algn="ctr" indent="0" marL="0">
              <a:buNone/>
            </a:pPr>
            <a:r>
              <a:rPr lang="en-US" sz="1600" b="1" dirty="0">
                <a:solidFill>
                  <a:schemeClr val="tx1"/>
                </a:solidFill>
              </a:rPr>
              <a:t>Hinchazón</a:t>
            </a:r>
            <a:endParaRPr lang="en-US" sz="1600" dirty="0"/>
          </a:p>
        </p:txBody>
      </p:sp>
      <p:sp>
        <p:nvSpPr>
          <p:cNvPr id="19" name="Text 13"/>
          <p:cNvSpPr txBox="1"/>
          <p:nvPr/>
        </p:nvSpPr>
        <p:spPr>
          <a:xfrm>
            <a:off x="4626864" y="2834640"/>
            <a:ext cx="1920240" cy="274320"/>
          </a:xfrm>
          <a:prstGeom prst="rect">
            <a:avLst/>
          </a:prstGeom>
          <a:noFill/>
          <a:ln/>
        </p:spPr>
        <p:txBody>
          <a:bodyPr wrap="square" lIns="0" tIns="0" rIns="0" bIns="0" rtlCol="0" anchor="ctr"/>
          <a:lstStyle/>
          <a:p>
            <a:pPr algn="ctr" indent="0" marL="0">
              <a:buNone/>
            </a:pPr>
            <a:r>
              <a:rPr lang="en-US" sz="1400" dirty="0">
                <a:solidFill>
                  <a:schemeClr val="tx2"/>
                </a:solidFill>
              </a:rPr>
              <a:t>Zona abultada</a:t>
            </a:r>
            <a:endParaRPr lang="en-US" sz="1400" dirty="0"/>
          </a:p>
        </p:txBody>
      </p:sp>
      <p:sp>
        <p:nvSpPr>
          <p:cNvPr id="20" name="Signo Dolor"/>
          <p:cNvSpPr/>
          <p:nvPr/>
        </p:nvSpPr>
        <p:spPr>
          <a:xfrm>
            <a:off x="6711696" y="1828800"/>
            <a:ext cx="1920240" cy="1417320"/>
          </a:xfrm>
          <a:prstGeom prst="roundRect">
            <a:avLst>
              <a:gd name="adj" fmla="val 7742"/>
            </a:avLst>
          </a:prstGeom>
          <a:solidFill>
            <a:srgbClr val="FFFFFF"/>
          </a:solidFill>
          <a:ln/>
          <a:effectLst>
            <a:outerShdw sx="100000" sy="100000" kx="0" ky="0" algn="bl" rotWithShape="0" blurRad="76200" dist="25400" dir="5400000">
              <a:srgbClr val="1D3B4F">
                <a:alpha val="12000"/>
              </a:srgbClr>
            </a:outerShdw>
          </a:effectLst>
        </p:spPr>
      </p:sp>
      <p:sp>
        <p:nvSpPr>
          <p:cNvPr id="21" name="Círculo ícono"/>
          <p:cNvSpPr/>
          <p:nvPr/>
        </p:nvSpPr>
        <p:spPr>
          <a:xfrm>
            <a:off x="7397496" y="1938528"/>
            <a:ext cx="548640" cy="548640"/>
          </a:xfrm>
          <a:prstGeom prst="ellipse">
            <a:avLst/>
          </a:prstGeom>
          <a:solidFill>
            <a:srgbClr val="1E8A94"/>
          </a:solidFill>
          <a:ln/>
        </p:spPr>
      </p:sp>
      <p:pic>
        <p:nvPicPr>
          <p:cNvPr id="22" name="Image 3" descr="FaBolt">    </p:cNvPr>
          <p:cNvPicPr>
            <a:picLocks noChangeAspect="1"/>
          </p:cNvPicPr>
          <p:nvPr/>
        </p:nvPicPr>
        <p:blipFill>
          <a:blip r:embed="rId4"/>
          <a:stretch>
            <a:fillRect/>
          </a:stretch>
        </p:blipFill>
        <p:spPr>
          <a:xfrm>
            <a:off x="7534656" y="2075688"/>
            <a:ext cx="274320" cy="274320"/>
          </a:xfrm>
          <a:prstGeom prst="rect">
            <a:avLst/>
          </a:prstGeom>
        </p:spPr>
      </p:pic>
      <p:sp>
        <p:nvSpPr>
          <p:cNvPr id="23" name="Text 16"/>
          <p:cNvSpPr txBox="1"/>
          <p:nvPr/>
        </p:nvSpPr>
        <p:spPr>
          <a:xfrm>
            <a:off x="6711696" y="2560320"/>
            <a:ext cx="1920240" cy="274320"/>
          </a:xfrm>
          <a:prstGeom prst="rect">
            <a:avLst/>
          </a:prstGeom>
          <a:noFill/>
          <a:ln/>
        </p:spPr>
        <p:txBody>
          <a:bodyPr wrap="square" lIns="0" tIns="0" rIns="0" bIns="0" rtlCol="0" anchor="ctr"/>
          <a:lstStyle/>
          <a:p>
            <a:pPr algn="ctr" indent="0" marL="0">
              <a:buNone/>
            </a:pPr>
            <a:r>
              <a:rPr lang="en-US" sz="1600" b="1" dirty="0">
                <a:solidFill>
                  <a:schemeClr val="tx1"/>
                </a:solidFill>
              </a:rPr>
              <a:t>Dolor</a:t>
            </a:r>
            <a:endParaRPr lang="en-US" sz="1600" dirty="0"/>
          </a:p>
        </p:txBody>
      </p:sp>
      <p:sp>
        <p:nvSpPr>
          <p:cNvPr id="24" name="Text 17"/>
          <p:cNvSpPr txBox="1"/>
          <p:nvPr/>
        </p:nvSpPr>
        <p:spPr>
          <a:xfrm>
            <a:off x="6711696" y="2834640"/>
            <a:ext cx="1920240" cy="274320"/>
          </a:xfrm>
          <a:prstGeom prst="rect">
            <a:avLst/>
          </a:prstGeom>
          <a:noFill/>
          <a:ln/>
        </p:spPr>
        <p:txBody>
          <a:bodyPr wrap="square" lIns="0" tIns="0" rIns="0" bIns="0" rtlCol="0" anchor="ctr"/>
          <a:lstStyle/>
          <a:p>
            <a:pPr algn="ctr" indent="0" marL="0">
              <a:buNone/>
            </a:pPr>
            <a:r>
              <a:rPr lang="en-US" sz="1400" dirty="0">
                <a:solidFill>
                  <a:schemeClr val="tx2"/>
                </a:solidFill>
              </a:rPr>
              <a:t>Zona sensible</a:t>
            </a:r>
            <a:endParaRPr lang="en-US" sz="1400" dirty="0"/>
          </a:p>
        </p:txBody>
      </p:sp>
      <p:sp>
        <p:nvSpPr>
          <p:cNvPr id="25" name="Infección"/>
          <p:cNvSpPr/>
          <p:nvPr/>
        </p:nvSpPr>
        <p:spPr>
          <a:xfrm>
            <a:off x="457200" y="3429000"/>
            <a:ext cx="4023360" cy="731520"/>
          </a:xfrm>
          <a:prstGeom prst="roundRect">
            <a:avLst>
              <a:gd name="adj" fmla="val 12500"/>
            </a:avLst>
          </a:prstGeom>
          <a:solidFill>
            <a:srgbClr val="D6EEF0"/>
          </a:solidFill>
          <a:ln/>
        </p:spPr>
      </p:sp>
      <p:sp>
        <p:nvSpPr>
          <p:cNvPr id="26" name="Inflamación"/>
          <p:cNvSpPr/>
          <p:nvPr/>
        </p:nvSpPr>
        <p:spPr>
          <a:xfrm>
            <a:off x="4663440" y="3429000"/>
            <a:ext cx="4023360" cy="731520"/>
          </a:xfrm>
          <a:prstGeom prst="roundRect">
            <a:avLst>
              <a:gd name="adj" fmla="val 12500"/>
            </a:avLst>
          </a:prstGeom>
          <a:solidFill>
            <a:srgbClr val="D6EEF0"/>
          </a:solidFill>
          <a:ln/>
        </p:spPr>
      </p:sp>
      <p:sp>
        <p:nvSpPr>
          <p:cNvPr id="27" name="Text 20"/>
          <p:cNvSpPr txBox="1"/>
          <p:nvPr/>
        </p:nvSpPr>
        <p:spPr>
          <a:xfrm>
            <a:off x="594360" y="3429000"/>
            <a:ext cx="3749040" cy="731520"/>
          </a:xfrm>
          <a:prstGeom prst="rect">
            <a:avLst/>
          </a:prstGeom>
          <a:noFill/>
          <a:ln/>
        </p:spPr>
        <p:txBody>
          <a:bodyPr wrap="square" lIns="0" tIns="0" rIns="0" bIns="0" rtlCol="0" anchor="ctr"/>
          <a:lstStyle/>
          <a:p>
            <a:pPr indent="0" marL="0">
              <a:buNone/>
            </a:pPr>
            <a:r>
              <a:rPr lang="en-US" sz="1400" b="1" dirty="0">
                <a:solidFill>
                  <a:schemeClr val="accent4"/>
                </a:solidFill>
              </a:rPr>
              <a:t>Infección: </a:t>
            </a:r>
            <a:pPr indent="0" marL="0">
              <a:buNone/>
            </a:pPr>
            <a:r>
              <a:rPr lang="en-US" sz="1400" dirty="0">
                <a:solidFill>
                  <a:schemeClr val="tx1"/>
                </a:solidFill>
              </a:rPr>
              <a:t>hay microbios dañando el cuerpo.</a:t>
            </a:r>
            <a:endParaRPr lang="en-US" sz="1400" dirty="0"/>
          </a:p>
        </p:txBody>
      </p:sp>
      <p:sp>
        <p:nvSpPr>
          <p:cNvPr id="28" name="Text 21"/>
          <p:cNvSpPr txBox="1"/>
          <p:nvPr/>
        </p:nvSpPr>
        <p:spPr>
          <a:xfrm>
            <a:off x="4800600" y="3429000"/>
            <a:ext cx="3749040" cy="731520"/>
          </a:xfrm>
          <a:prstGeom prst="rect">
            <a:avLst/>
          </a:prstGeom>
          <a:noFill/>
          <a:ln/>
        </p:spPr>
        <p:txBody>
          <a:bodyPr wrap="square" lIns="0" tIns="0" rIns="0" bIns="0" rtlCol="0" anchor="ctr"/>
          <a:lstStyle/>
          <a:p>
            <a:pPr indent="0" marL="0">
              <a:buNone/>
            </a:pPr>
            <a:r>
              <a:rPr lang="en-US" sz="1400" b="1" dirty="0">
                <a:solidFill>
                  <a:schemeClr val="accent1"/>
                </a:solidFill>
              </a:rPr>
              <a:t>Inflamación: </a:t>
            </a:r>
            <a:pPr indent="0" marL="0">
              <a:buNone/>
            </a:pPr>
            <a:r>
              <a:rPr lang="en-US" sz="1400" dirty="0">
                <a:solidFill>
                  <a:schemeClr val="tx1"/>
                </a:solidFill>
              </a:rPr>
              <a:t>la respuesta de tu cuerpo. Puede haber una sin la otra.</a:t>
            </a:r>
            <a:endParaRPr lang="en-US" sz="1400" dirty="0"/>
          </a:p>
        </p:txBody>
      </p:sp>
      <p:sp>
        <p:nvSpPr>
          <p:cNvPr id="29" name="Pregunta"/>
          <p:cNvSpPr/>
          <p:nvPr/>
        </p:nvSpPr>
        <p:spPr>
          <a:xfrm>
            <a:off x="457200" y="4297680"/>
            <a:ext cx="8229600" cy="502920"/>
          </a:xfrm>
          <a:prstGeom prst="roundRect">
            <a:avLst>
              <a:gd name="adj" fmla="val 18182"/>
            </a:avLst>
          </a:prstGeom>
          <a:solidFill>
            <a:srgbClr val="FDE4E2"/>
          </a:solidFill>
          <a:ln/>
        </p:spPr>
      </p:sp>
      <p:sp>
        <p:nvSpPr>
          <p:cNvPr id="30" name="Text 23"/>
          <p:cNvSpPr txBox="1"/>
          <p:nvPr/>
        </p:nvSpPr>
        <p:spPr>
          <a:xfrm>
            <a:off x="594360" y="438912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1" name="Texto pregunta"/>
          <p:cNvSpPr txBox="1"/>
          <p:nvPr/>
        </p:nvSpPr>
        <p:spPr>
          <a:xfrm>
            <a:off x="1051560" y="429768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¿Se te ocurre un caso con inflamación pero sin microbios? (Pista: un golpe)</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Siete etapas, siete órdenes</a:t>
            </a:r>
            <a:endParaRPr lang="en-US" sz="2800" dirty="0"/>
          </a:p>
        </p:txBody>
      </p:sp>
      <p:sp>
        <p:nvSpPr>
          <p:cNvPr id="4" name="A1 Fila etapa"/>
          <p:cNvSpPr/>
          <p:nvPr/>
        </p:nvSpPr>
        <p:spPr>
          <a:xfrm>
            <a:off x="457200" y="1051560"/>
            <a:ext cx="8229600" cy="384048"/>
          </a:xfrm>
          <a:prstGeom prst="roundRect">
            <a:avLst>
              <a:gd name="adj" fmla="val 19048"/>
            </a:avLst>
          </a:prstGeom>
          <a:solidFill>
            <a:srgbClr val="FFFFFF"/>
          </a:solidFill>
          <a:ln/>
        </p:spPr>
      </p:sp>
      <p:sp>
        <p:nvSpPr>
          <p:cNvPr id="5" name="A1 Número etapa"/>
          <p:cNvSpPr txBox="1"/>
          <p:nvPr/>
        </p:nvSpPr>
        <p:spPr>
          <a:xfrm>
            <a:off x="530352" y="1088136"/>
            <a:ext cx="310896" cy="310896"/>
          </a:xfrm>
          <a:prstGeom prst="ellipse">
            <a:avLst/>
          </a:prstGeom>
          <a:solidFill>
            <a:srgbClr val="7B68C8"/>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A1 Nombre etapa"/>
          <p:cNvSpPr txBox="1"/>
          <p:nvPr/>
        </p:nvSpPr>
        <p:spPr>
          <a:xfrm>
            <a:off x="960120" y="1051560"/>
            <a:ext cx="1737360" cy="384048"/>
          </a:xfrm>
          <a:prstGeom prst="rect">
            <a:avLst/>
          </a:prstGeom>
          <a:noFill/>
          <a:ln/>
        </p:spPr>
        <p:txBody>
          <a:bodyPr wrap="square" lIns="0" tIns="0" rIns="0" bIns="0" rtlCol="0" anchor="ctr"/>
          <a:lstStyle/>
          <a:p>
            <a:pPr indent="0" marL="0">
              <a:buNone/>
            </a:pPr>
            <a:r>
              <a:rPr lang="en-US" sz="1400" b="1" dirty="0">
                <a:solidFill>
                  <a:schemeClr val="tx1"/>
                </a:solidFill>
              </a:rPr>
              <a:t>Alarma</a:t>
            </a:r>
            <a:endParaRPr lang="en-US" sz="1400" dirty="0"/>
          </a:p>
        </p:txBody>
      </p:sp>
      <p:sp>
        <p:nvSpPr>
          <p:cNvPr id="7" name="A1 Descripción etapa"/>
          <p:cNvSpPr txBox="1"/>
          <p:nvPr/>
        </p:nvSpPr>
        <p:spPr>
          <a:xfrm>
            <a:off x="2697480" y="1051560"/>
            <a:ext cx="5897880" cy="384048"/>
          </a:xfrm>
          <a:prstGeom prst="rect">
            <a:avLst/>
          </a:prstGeom>
          <a:noFill/>
          <a:ln/>
        </p:spPr>
        <p:txBody>
          <a:bodyPr wrap="square" lIns="0" tIns="0" rIns="0" bIns="0" rtlCol="0" anchor="ctr"/>
          <a:lstStyle/>
          <a:p>
            <a:pPr indent="0" marL="0">
              <a:buNone/>
            </a:pPr>
            <a:r>
              <a:rPr lang="en-US" sz="1400" dirty="0">
                <a:solidFill>
                  <a:schemeClr val="tx1"/>
                </a:solidFill>
              </a:rPr>
              <a:t>Mastocitos y macrófagos detectan microbios y liberan histamina.</a:t>
            </a:r>
            <a:endParaRPr lang="en-US" sz="1400" dirty="0"/>
          </a:p>
        </p:txBody>
      </p:sp>
      <p:sp>
        <p:nvSpPr>
          <p:cNvPr id="8" name="A2 Fila etapa"/>
          <p:cNvSpPr/>
          <p:nvPr/>
        </p:nvSpPr>
        <p:spPr>
          <a:xfrm>
            <a:off x="457200" y="1490472"/>
            <a:ext cx="8229600" cy="384048"/>
          </a:xfrm>
          <a:prstGeom prst="roundRect">
            <a:avLst>
              <a:gd name="adj" fmla="val 19048"/>
            </a:avLst>
          </a:prstGeom>
          <a:solidFill>
            <a:srgbClr val="D6EEF0"/>
          </a:solidFill>
          <a:ln/>
        </p:spPr>
      </p:sp>
      <p:sp>
        <p:nvSpPr>
          <p:cNvPr id="9" name="A2 Número etapa"/>
          <p:cNvSpPr txBox="1"/>
          <p:nvPr/>
        </p:nvSpPr>
        <p:spPr>
          <a:xfrm>
            <a:off x="530352" y="1527048"/>
            <a:ext cx="310896" cy="310896"/>
          </a:xfrm>
          <a:prstGeom prst="ellipse">
            <a:avLst/>
          </a:prstGeom>
          <a:solidFill>
            <a:srgbClr val="7B68C8"/>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A2 Nombre etapa"/>
          <p:cNvSpPr txBox="1"/>
          <p:nvPr/>
        </p:nvSpPr>
        <p:spPr>
          <a:xfrm>
            <a:off x="960120" y="1490472"/>
            <a:ext cx="1737360" cy="384048"/>
          </a:xfrm>
          <a:prstGeom prst="rect">
            <a:avLst/>
          </a:prstGeom>
          <a:noFill/>
          <a:ln/>
        </p:spPr>
        <p:txBody>
          <a:bodyPr wrap="square" lIns="0" tIns="0" rIns="0" bIns="0" rtlCol="0" anchor="ctr"/>
          <a:lstStyle/>
          <a:p>
            <a:pPr indent="0" marL="0">
              <a:buNone/>
            </a:pPr>
            <a:r>
              <a:rPr lang="en-US" sz="1400" b="1" dirty="0">
                <a:solidFill>
                  <a:schemeClr val="tx1"/>
                </a:solidFill>
              </a:rPr>
              <a:t>Vasos</a:t>
            </a:r>
            <a:endParaRPr lang="en-US" sz="1400" dirty="0"/>
          </a:p>
        </p:txBody>
      </p:sp>
      <p:sp>
        <p:nvSpPr>
          <p:cNvPr id="11" name="A2 Descripción etapa"/>
          <p:cNvSpPr txBox="1"/>
          <p:nvPr/>
        </p:nvSpPr>
        <p:spPr>
          <a:xfrm>
            <a:off x="2697480" y="1490472"/>
            <a:ext cx="5897880" cy="384048"/>
          </a:xfrm>
          <a:prstGeom prst="rect">
            <a:avLst/>
          </a:prstGeom>
          <a:noFill/>
          <a:ln/>
        </p:spPr>
        <p:txBody>
          <a:bodyPr wrap="square" lIns="0" tIns="0" rIns="0" bIns="0" rtlCol="0" anchor="ctr"/>
          <a:lstStyle/>
          <a:p>
            <a:pPr indent="0" marL="0">
              <a:buNone/>
            </a:pPr>
            <a:r>
              <a:rPr lang="en-US" sz="1400" dirty="0">
                <a:solidFill>
                  <a:schemeClr val="tx1"/>
                </a:solidFill>
              </a:rPr>
              <a:t>Los capilares se dilatan: llega más sangre (rubor y calor).</a:t>
            </a:r>
            <a:endParaRPr lang="en-US" sz="1400" dirty="0"/>
          </a:p>
        </p:txBody>
      </p:sp>
      <p:sp>
        <p:nvSpPr>
          <p:cNvPr id="12" name="A3 Fila etapa"/>
          <p:cNvSpPr/>
          <p:nvPr/>
        </p:nvSpPr>
        <p:spPr>
          <a:xfrm>
            <a:off x="457200" y="1929384"/>
            <a:ext cx="8229600" cy="384048"/>
          </a:xfrm>
          <a:prstGeom prst="roundRect">
            <a:avLst>
              <a:gd name="adj" fmla="val 19048"/>
            </a:avLst>
          </a:prstGeom>
          <a:solidFill>
            <a:srgbClr val="FFFFFF"/>
          </a:solidFill>
          <a:ln/>
        </p:spPr>
      </p:sp>
      <p:sp>
        <p:nvSpPr>
          <p:cNvPr id="13" name="A3 Número etapa"/>
          <p:cNvSpPr txBox="1"/>
          <p:nvPr/>
        </p:nvSpPr>
        <p:spPr>
          <a:xfrm>
            <a:off x="530352" y="1965960"/>
            <a:ext cx="310896" cy="310896"/>
          </a:xfrm>
          <a:prstGeom prst="ellipse">
            <a:avLst/>
          </a:prstGeom>
          <a:solidFill>
            <a:srgbClr val="7B68C8"/>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A3 Nombre etapa"/>
          <p:cNvSpPr txBox="1"/>
          <p:nvPr/>
        </p:nvSpPr>
        <p:spPr>
          <a:xfrm>
            <a:off x="960120" y="1929384"/>
            <a:ext cx="1737360" cy="384048"/>
          </a:xfrm>
          <a:prstGeom prst="rect">
            <a:avLst/>
          </a:prstGeom>
          <a:noFill/>
          <a:ln/>
        </p:spPr>
        <p:txBody>
          <a:bodyPr wrap="square" lIns="0" tIns="0" rIns="0" bIns="0" rtlCol="0" anchor="ctr"/>
          <a:lstStyle/>
          <a:p>
            <a:pPr indent="0" marL="0">
              <a:buNone/>
            </a:pPr>
            <a:r>
              <a:rPr lang="en-US" sz="1400" b="1" dirty="0">
                <a:solidFill>
                  <a:schemeClr val="tx1"/>
                </a:solidFill>
              </a:rPr>
              <a:t>Permeabilidad</a:t>
            </a:r>
            <a:endParaRPr lang="en-US" sz="1400" dirty="0"/>
          </a:p>
        </p:txBody>
      </p:sp>
      <p:sp>
        <p:nvSpPr>
          <p:cNvPr id="15" name="A3 Descripción etapa"/>
          <p:cNvSpPr txBox="1"/>
          <p:nvPr/>
        </p:nvSpPr>
        <p:spPr>
          <a:xfrm>
            <a:off x="2697480" y="1929384"/>
            <a:ext cx="5897880" cy="384048"/>
          </a:xfrm>
          <a:prstGeom prst="rect">
            <a:avLst/>
          </a:prstGeom>
          <a:noFill/>
          <a:ln/>
        </p:spPr>
        <p:txBody>
          <a:bodyPr wrap="square" lIns="0" tIns="0" rIns="0" bIns="0" rtlCol="0" anchor="ctr"/>
          <a:lstStyle/>
          <a:p>
            <a:pPr indent="0" marL="0">
              <a:buNone/>
            </a:pPr>
            <a:r>
              <a:rPr lang="en-US" sz="1400" dirty="0">
                <a:solidFill>
                  <a:schemeClr val="tx1"/>
                </a:solidFill>
              </a:rPr>
              <a:t>Las paredes se abren: sale líquido (hinchazón) y pasan células.</a:t>
            </a:r>
            <a:endParaRPr lang="en-US" sz="1400" dirty="0"/>
          </a:p>
        </p:txBody>
      </p:sp>
      <p:sp>
        <p:nvSpPr>
          <p:cNvPr id="16" name="A4 Fila etapa"/>
          <p:cNvSpPr/>
          <p:nvPr/>
        </p:nvSpPr>
        <p:spPr>
          <a:xfrm>
            <a:off x="457200" y="2368296"/>
            <a:ext cx="8229600" cy="384048"/>
          </a:xfrm>
          <a:prstGeom prst="roundRect">
            <a:avLst>
              <a:gd name="adj" fmla="val 19048"/>
            </a:avLst>
          </a:prstGeom>
          <a:solidFill>
            <a:srgbClr val="D6EEF0"/>
          </a:solidFill>
          <a:ln/>
        </p:spPr>
      </p:sp>
      <p:sp>
        <p:nvSpPr>
          <p:cNvPr id="17" name="A4 Número etapa"/>
          <p:cNvSpPr txBox="1"/>
          <p:nvPr/>
        </p:nvSpPr>
        <p:spPr>
          <a:xfrm>
            <a:off x="530352" y="2404872"/>
            <a:ext cx="310896" cy="310896"/>
          </a:xfrm>
          <a:prstGeom prst="ellipse">
            <a:avLst/>
          </a:prstGeom>
          <a:solidFill>
            <a:srgbClr val="1E8A94"/>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A4 Nombre etapa"/>
          <p:cNvSpPr txBox="1"/>
          <p:nvPr/>
        </p:nvSpPr>
        <p:spPr>
          <a:xfrm>
            <a:off x="960120" y="2368296"/>
            <a:ext cx="1737360" cy="384048"/>
          </a:xfrm>
          <a:prstGeom prst="rect">
            <a:avLst/>
          </a:prstGeom>
          <a:noFill/>
          <a:ln/>
        </p:spPr>
        <p:txBody>
          <a:bodyPr wrap="square" lIns="0" tIns="0" rIns="0" bIns="0" rtlCol="0" anchor="ctr"/>
          <a:lstStyle/>
          <a:p>
            <a:pPr indent="0" marL="0">
              <a:buNone/>
            </a:pPr>
            <a:r>
              <a:rPr lang="en-US" sz="1400" b="1" dirty="0">
                <a:solidFill>
                  <a:schemeClr val="tx1"/>
                </a:solidFill>
              </a:rPr>
              <a:t>Neutrófilos</a:t>
            </a:r>
            <a:endParaRPr lang="en-US" sz="1400" dirty="0"/>
          </a:p>
        </p:txBody>
      </p:sp>
      <p:sp>
        <p:nvSpPr>
          <p:cNvPr id="19" name="A4 Descripción etapa"/>
          <p:cNvSpPr txBox="1"/>
          <p:nvPr/>
        </p:nvSpPr>
        <p:spPr>
          <a:xfrm>
            <a:off x="2697480" y="2368296"/>
            <a:ext cx="5897880" cy="384048"/>
          </a:xfrm>
          <a:prstGeom prst="rect">
            <a:avLst/>
          </a:prstGeom>
          <a:noFill/>
          <a:ln/>
        </p:spPr>
        <p:txBody>
          <a:bodyPr wrap="square" lIns="0" tIns="0" rIns="0" bIns="0" rtlCol="0" anchor="ctr"/>
          <a:lstStyle/>
          <a:p>
            <a:pPr indent="0" marL="0">
              <a:buNone/>
            </a:pPr>
            <a:r>
              <a:rPr lang="en-US" sz="1400" dirty="0">
                <a:solidFill>
                  <a:schemeClr val="tx1"/>
                </a:solidFill>
              </a:rPr>
              <a:t>Siguen el rastro químico y salen del capilar hacia la herida.</a:t>
            </a:r>
            <a:endParaRPr lang="en-US" sz="1400" dirty="0"/>
          </a:p>
        </p:txBody>
      </p:sp>
      <p:sp>
        <p:nvSpPr>
          <p:cNvPr id="20" name="A5 Fila etapa"/>
          <p:cNvSpPr/>
          <p:nvPr/>
        </p:nvSpPr>
        <p:spPr>
          <a:xfrm>
            <a:off x="457200" y="2807208"/>
            <a:ext cx="8229600" cy="384048"/>
          </a:xfrm>
          <a:prstGeom prst="roundRect">
            <a:avLst>
              <a:gd name="adj" fmla="val 19048"/>
            </a:avLst>
          </a:prstGeom>
          <a:solidFill>
            <a:srgbClr val="FFFFFF"/>
          </a:solidFill>
          <a:ln/>
        </p:spPr>
      </p:sp>
      <p:sp>
        <p:nvSpPr>
          <p:cNvPr id="21" name="A5 Número etapa"/>
          <p:cNvSpPr txBox="1"/>
          <p:nvPr/>
        </p:nvSpPr>
        <p:spPr>
          <a:xfrm>
            <a:off x="530352" y="2843784"/>
            <a:ext cx="310896" cy="310896"/>
          </a:xfrm>
          <a:prstGeom prst="ellipse">
            <a:avLst/>
          </a:prstGeom>
          <a:solidFill>
            <a:srgbClr val="1E8A94"/>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A5 Nombre etapa"/>
          <p:cNvSpPr txBox="1"/>
          <p:nvPr/>
        </p:nvSpPr>
        <p:spPr>
          <a:xfrm>
            <a:off x="960120" y="2807208"/>
            <a:ext cx="1737360" cy="384048"/>
          </a:xfrm>
          <a:prstGeom prst="rect">
            <a:avLst/>
          </a:prstGeom>
          <a:noFill/>
          <a:ln/>
        </p:spPr>
        <p:txBody>
          <a:bodyPr wrap="square" lIns="0" tIns="0" rIns="0" bIns="0" rtlCol="0" anchor="ctr"/>
          <a:lstStyle/>
          <a:p>
            <a:pPr indent="0" marL="0">
              <a:buNone/>
            </a:pPr>
            <a:r>
              <a:rPr lang="en-US" sz="1400" b="1" dirty="0">
                <a:solidFill>
                  <a:schemeClr val="tx1"/>
                </a:solidFill>
              </a:rPr>
              <a:t>Fagocitosis</a:t>
            </a:r>
            <a:endParaRPr lang="en-US" sz="1400" dirty="0"/>
          </a:p>
        </p:txBody>
      </p:sp>
      <p:sp>
        <p:nvSpPr>
          <p:cNvPr id="23" name="A5 Descripción etapa"/>
          <p:cNvSpPr txBox="1"/>
          <p:nvPr/>
        </p:nvSpPr>
        <p:spPr>
          <a:xfrm>
            <a:off x="2697480" y="2807208"/>
            <a:ext cx="5897880" cy="384048"/>
          </a:xfrm>
          <a:prstGeom prst="rect">
            <a:avLst/>
          </a:prstGeom>
          <a:noFill/>
          <a:ln/>
        </p:spPr>
        <p:txBody>
          <a:bodyPr wrap="square" lIns="0" tIns="0" rIns="0" bIns="0" rtlCol="0" anchor="ctr"/>
          <a:lstStyle/>
          <a:p>
            <a:pPr indent="0" marL="0">
              <a:buNone/>
            </a:pPr>
            <a:r>
              <a:rPr lang="en-US" sz="1400" dirty="0">
                <a:solidFill>
                  <a:schemeClr val="tx1"/>
                </a:solidFill>
              </a:rPr>
              <a:t>Neutrófilos y macrófagos engullen y destruyen a los microbios.</a:t>
            </a:r>
            <a:endParaRPr lang="en-US" sz="1400" dirty="0"/>
          </a:p>
        </p:txBody>
      </p:sp>
      <p:sp>
        <p:nvSpPr>
          <p:cNvPr id="24" name="A6 Fila etapa"/>
          <p:cNvSpPr/>
          <p:nvPr/>
        </p:nvSpPr>
        <p:spPr>
          <a:xfrm>
            <a:off x="457200" y="3246120"/>
            <a:ext cx="8229600" cy="384048"/>
          </a:xfrm>
          <a:prstGeom prst="roundRect">
            <a:avLst>
              <a:gd name="adj" fmla="val 19048"/>
            </a:avLst>
          </a:prstGeom>
          <a:solidFill>
            <a:srgbClr val="D6EEF0"/>
          </a:solidFill>
          <a:ln/>
        </p:spPr>
      </p:sp>
      <p:sp>
        <p:nvSpPr>
          <p:cNvPr id="25" name="A6 Número etapa"/>
          <p:cNvSpPr txBox="1"/>
          <p:nvPr/>
        </p:nvSpPr>
        <p:spPr>
          <a:xfrm>
            <a:off x="530352" y="3282696"/>
            <a:ext cx="310896" cy="310896"/>
          </a:xfrm>
          <a:prstGeom prst="ellipse">
            <a:avLst/>
          </a:prstGeom>
          <a:solidFill>
            <a:srgbClr val="3E9E78"/>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A6 Nombre etapa"/>
          <p:cNvSpPr txBox="1"/>
          <p:nvPr/>
        </p:nvSpPr>
        <p:spPr>
          <a:xfrm>
            <a:off x="960120" y="3246120"/>
            <a:ext cx="1737360" cy="384048"/>
          </a:xfrm>
          <a:prstGeom prst="rect">
            <a:avLst/>
          </a:prstGeom>
          <a:noFill/>
          <a:ln/>
        </p:spPr>
        <p:txBody>
          <a:bodyPr wrap="square" lIns="0" tIns="0" rIns="0" bIns="0" rtlCol="0" anchor="ctr"/>
          <a:lstStyle/>
          <a:p>
            <a:pPr indent="0" marL="0">
              <a:buNone/>
            </a:pPr>
            <a:r>
              <a:rPr lang="en-US" sz="1400" b="1" dirty="0">
                <a:solidFill>
                  <a:schemeClr val="tx1"/>
                </a:solidFill>
              </a:rPr>
              <a:t>Limpieza</a:t>
            </a:r>
            <a:endParaRPr lang="en-US" sz="1400" dirty="0"/>
          </a:p>
        </p:txBody>
      </p:sp>
      <p:sp>
        <p:nvSpPr>
          <p:cNvPr id="27" name="A6 Descripción etapa"/>
          <p:cNvSpPr txBox="1"/>
          <p:nvPr/>
        </p:nvSpPr>
        <p:spPr>
          <a:xfrm>
            <a:off x="2697480" y="3246120"/>
            <a:ext cx="5897880" cy="384048"/>
          </a:xfrm>
          <a:prstGeom prst="rect">
            <a:avLst/>
          </a:prstGeom>
          <a:noFill/>
          <a:ln/>
        </p:spPr>
        <p:txBody>
          <a:bodyPr wrap="square" lIns="0" tIns="0" rIns="0" bIns="0" rtlCol="0" anchor="ctr"/>
          <a:lstStyle/>
          <a:p>
            <a:pPr indent="0" marL="0">
              <a:buNone/>
            </a:pPr>
            <a:r>
              <a:rPr lang="en-US" sz="1400" dirty="0">
                <a:solidFill>
                  <a:schemeClr val="tx1"/>
                </a:solidFill>
              </a:rPr>
              <a:t>Los macrófagos retiran el pus: células muertas y restos.</a:t>
            </a:r>
            <a:endParaRPr lang="en-US" sz="1400" dirty="0"/>
          </a:p>
        </p:txBody>
      </p:sp>
      <p:sp>
        <p:nvSpPr>
          <p:cNvPr id="28" name="A7 Fila etapa"/>
          <p:cNvSpPr/>
          <p:nvPr/>
        </p:nvSpPr>
        <p:spPr>
          <a:xfrm>
            <a:off x="457200" y="3685032"/>
            <a:ext cx="8229600" cy="384048"/>
          </a:xfrm>
          <a:prstGeom prst="roundRect">
            <a:avLst>
              <a:gd name="adj" fmla="val 19048"/>
            </a:avLst>
          </a:prstGeom>
          <a:solidFill>
            <a:srgbClr val="FFFFFF"/>
          </a:solidFill>
          <a:ln/>
        </p:spPr>
      </p:sp>
      <p:sp>
        <p:nvSpPr>
          <p:cNvPr id="29" name="A7 Número etapa"/>
          <p:cNvSpPr txBox="1"/>
          <p:nvPr/>
        </p:nvSpPr>
        <p:spPr>
          <a:xfrm>
            <a:off x="530352" y="3721608"/>
            <a:ext cx="310896" cy="310896"/>
          </a:xfrm>
          <a:prstGeom prst="ellipse">
            <a:avLst/>
          </a:prstGeom>
          <a:solidFill>
            <a:srgbClr val="3E9E78"/>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0" name="A7 Nombre etapa"/>
          <p:cNvSpPr txBox="1"/>
          <p:nvPr/>
        </p:nvSpPr>
        <p:spPr>
          <a:xfrm>
            <a:off x="960120" y="3685032"/>
            <a:ext cx="1737360" cy="384048"/>
          </a:xfrm>
          <a:prstGeom prst="rect">
            <a:avLst/>
          </a:prstGeom>
          <a:noFill/>
          <a:ln/>
        </p:spPr>
        <p:txBody>
          <a:bodyPr wrap="square" lIns="0" tIns="0" rIns="0" bIns="0" rtlCol="0" anchor="ctr"/>
          <a:lstStyle/>
          <a:p>
            <a:pPr indent="0" marL="0">
              <a:buNone/>
            </a:pPr>
            <a:r>
              <a:rPr lang="en-US" sz="1400" b="1" dirty="0">
                <a:solidFill>
                  <a:schemeClr val="tx1"/>
                </a:solidFill>
              </a:rPr>
              <a:t>Reparación</a:t>
            </a:r>
            <a:endParaRPr lang="en-US" sz="1400" dirty="0"/>
          </a:p>
        </p:txBody>
      </p:sp>
      <p:sp>
        <p:nvSpPr>
          <p:cNvPr id="31" name="A7 Descripción etapa"/>
          <p:cNvSpPr txBox="1"/>
          <p:nvPr/>
        </p:nvSpPr>
        <p:spPr>
          <a:xfrm>
            <a:off x="2697480" y="3685032"/>
            <a:ext cx="5897880" cy="384048"/>
          </a:xfrm>
          <a:prstGeom prst="rect">
            <a:avLst/>
          </a:prstGeom>
          <a:noFill/>
          <a:ln/>
        </p:spPr>
        <p:txBody>
          <a:bodyPr wrap="square" lIns="0" tIns="0" rIns="0" bIns="0" rtlCol="0" anchor="ctr"/>
          <a:lstStyle/>
          <a:p>
            <a:pPr indent="0" marL="0">
              <a:buNone/>
            </a:pPr>
            <a:r>
              <a:rPr lang="en-US" sz="1400" dirty="0">
                <a:solidFill>
                  <a:schemeClr val="tx1"/>
                </a:solidFill>
              </a:rPr>
              <a:t>Sin microbios, las señales se apagan y el tejido se repara.</a:t>
            </a:r>
            <a:endParaRPr lang="en-US" sz="1400" dirty="0"/>
          </a:p>
        </p:txBody>
      </p:sp>
      <p:sp>
        <p:nvSpPr>
          <p:cNvPr id="32" name="Shape 29"/>
          <p:cNvSpPr/>
          <p:nvPr/>
        </p:nvSpPr>
        <p:spPr>
          <a:xfrm>
            <a:off x="457200" y="4261104"/>
            <a:ext cx="182880" cy="182880"/>
          </a:xfrm>
          <a:prstGeom prst="ellipse">
            <a:avLst/>
          </a:prstGeom>
          <a:solidFill>
            <a:srgbClr val="7B68C8"/>
          </a:solidFill>
          <a:ln/>
        </p:spPr>
      </p:sp>
      <p:sp>
        <p:nvSpPr>
          <p:cNvPr id="33" name="Text 30"/>
          <p:cNvSpPr txBox="1"/>
          <p:nvPr/>
        </p:nvSpPr>
        <p:spPr>
          <a:xfrm>
            <a:off x="713232" y="4206240"/>
            <a:ext cx="2194560" cy="292608"/>
          </a:xfrm>
          <a:prstGeom prst="rect">
            <a:avLst/>
          </a:prstGeom>
          <a:noFill/>
          <a:ln/>
        </p:spPr>
        <p:txBody>
          <a:bodyPr wrap="square" lIns="0" tIns="0" rIns="0" bIns="0" rtlCol="0" anchor="ctr"/>
          <a:lstStyle/>
          <a:p>
            <a:pPr indent="0" marL="0">
              <a:buNone/>
            </a:pPr>
            <a:r>
              <a:rPr lang="en-US" sz="1400" dirty="0">
                <a:solidFill>
                  <a:schemeClr val="tx1"/>
                </a:solidFill>
              </a:rPr>
              <a:t>Avisar y abrir camino</a:t>
            </a:r>
            <a:endParaRPr lang="en-US" sz="1400" dirty="0"/>
          </a:p>
        </p:txBody>
      </p:sp>
      <p:sp>
        <p:nvSpPr>
          <p:cNvPr id="34" name="Shape 31"/>
          <p:cNvSpPr/>
          <p:nvPr/>
        </p:nvSpPr>
        <p:spPr>
          <a:xfrm>
            <a:off x="3291840" y="4261104"/>
            <a:ext cx="182880" cy="182880"/>
          </a:xfrm>
          <a:prstGeom prst="ellipse">
            <a:avLst/>
          </a:prstGeom>
          <a:solidFill>
            <a:srgbClr val="1E8A94"/>
          </a:solidFill>
          <a:ln/>
        </p:spPr>
      </p:sp>
      <p:sp>
        <p:nvSpPr>
          <p:cNvPr id="35" name="Text 32"/>
          <p:cNvSpPr txBox="1"/>
          <p:nvPr/>
        </p:nvSpPr>
        <p:spPr>
          <a:xfrm>
            <a:off x="3547872" y="4206240"/>
            <a:ext cx="2194560" cy="292608"/>
          </a:xfrm>
          <a:prstGeom prst="rect">
            <a:avLst/>
          </a:prstGeom>
          <a:noFill/>
          <a:ln/>
        </p:spPr>
        <p:txBody>
          <a:bodyPr wrap="square" lIns="0" tIns="0" rIns="0" bIns="0" rtlCol="0" anchor="ctr"/>
          <a:lstStyle/>
          <a:p>
            <a:pPr indent="0" marL="0">
              <a:buNone/>
            </a:pPr>
            <a:r>
              <a:rPr lang="en-US" sz="1400" dirty="0">
                <a:solidFill>
                  <a:schemeClr val="tx1"/>
                </a:solidFill>
              </a:rPr>
              <a:t>Combatir</a:t>
            </a:r>
            <a:endParaRPr lang="en-US" sz="1400" dirty="0"/>
          </a:p>
        </p:txBody>
      </p:sp>
      <p:sp>
        <p:nvSpPr>
          <p:cNvPr id="36" name="Shape 33"/>
          <p:cNvSpPr/>
          <p:nvPr/>
        </p:nvSpPr>
        <p:spPr>
          <a:xfrm>
            <a:off x="5120640" y="4261104"/>
            <a:ext cx="182880" cy="182880"/>
          </a:xfrm>
          <a:prstGeom prst="ellipse">
            <a:avLst/>
          </a:prstGeom>
          <a:solidFill>
            <a:srgbClr val="3E9E78"/>
          </a:solidFill>
          <a:ln/>
        </p:spPr>
      </p:sp>
      <p:sp>
        <p:nvSpPr>
          <p:cNvPr id="37" name="Text 34"/>
          <p:cNvSpPr txBox="1"/>
          <p:nvPr/>
        </p:nvSpPr>
        <p:spPr>
          <a:xfrm>
            <a:off x="5376672" y="4206240"/>
            <a:ext cx="2194560" cy="292608"/>
          </a:xfrm>
          <a:prstGeom prst="rect">
            <a:avLst/>
          </a:prstGeom>
          <a:noFill/>
          <a:ln/>
        </p:spPr>
        <p:txBody>
          <a:bodyPr wrap="square" lIns="0" tIns="0" rIns="0" bIns="0" rtlCol="0" anchor="ctr"/>
          <a:lstStyle/>
          <a:p>
            <a:pPr indent="0" marL="0">
              <a:buNone/>
            </a:pPr>
            <a:r>
              <a:rPr lang="en-US" sz="1400" dirty="0">
                <a:solidFill>
                  <a:schemeClr val="tx1"/>
                </a:solidFill>
              </a:rPr>
              <a:t>Limpiar y reparar</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childTnLst>
                          </p:cTn>
                        </p:par>
                      </p:childTnLst>
                    </p:cTn>
                  </p:par>
                  <p:par>
                    <p:cTn id="71" fill="hold">
                      <p:stCondLst>
                        <p:cond delay="indefinite"/>
                      </p:stCondLst>
                      <p:childTnLst>
                        <p:par>
                          <p:cTn id="72"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85" fill="hold">
                      <p:stCondLst>
                        <p:cond delay="indefinite"/>
                      </p:stCondLst>
                      <p:childTnLst>
                        <p:par>
                          <p:cTn id="86"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childTnLst>
                          </p:cTn>
                        </p:par>
                      </p:childTnLst>
                    </p:cTn>
                  </p:par>
                  <p:par>
                    <p:cTn id="99" fill="hold">
                      <p:stCondLst>
                        <p:cond delay="indefinite"/>
                      </p:stCondLst>
                      <p:childTnLst>
                        <p:par>
                          <p:cTn id="100"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animBg="1"/>
      <p:bldP spid="10" grpId="0"/>
      <p:bldP spid="11" grpId="0"/>
      <p:bldP spid="12" grpId="0" animBg="1"/>
      <p:bldP spid="13" grpId="0" animBg="1"/>
      <p:bldP spid="14" grpId="0"/>
      <p:bldP spid="15" grpId="0"/>
      <p:bldP spid="16" grpId="0" animBg="1"/>
      <p:bldP spid="17" grpId="0" animBg="1"/>
      <p:bldP spid="18" grpId="0"/>
      <p:bldP spid="19" grpId="0"/>
      <p:bldP spid="20" grpId="0" animBg="1"/>
      <p:bldP spid="21" grpId="0" animBg="1"/>
      <p:bldP spid="22" grpId="0"/>
      <p:bldP spid="23" grpId="0"/>
      <p:bldP spid="24" grpId="0" animBg="1"/>
      <p:bldP spid="25" grpId="0" animBg="1"/>
      <p:bldP spid="26" grpId="0"/>
      <p:bldP spid="27" grpId="0"/>
      <p:bldP spid="28" grpId="0" animBg="1"/>
      <p:bldP spid="29" grpId="0" animBg="1"/>
      <p:bldP spid="30" grpId="0"/>
      <p:bldP spid="31"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Qué pasa dentro del tejido</a:t>
            </a:r>
            <a:endParaRPr lang="en-US" sz="2800" dirty="0"/>
          </a:p>
        </p:txBody>
      </p:sp>
      <p:sp>
        <p:nvSpPr>
          <p:cNvPr id="4" name="Tejido"/>
          <p:cNvSpPr/>
          <p:nvPr/>
        </p:nvSpPr>
        <p:spPr>
          <a:xfrm>
            <a:off x="457200" y="1417320"/>
            <a:ext cx="5212080" cy="2697480"/>
          </a:xfrm>
          <a:prstGeom prst="rect">
            <a:avLst/>
          </a:prstGeom>
          <a:solidFill>
            <a:srgbClr val="F4C7C1"/>
          </a:solidFill>
          <a:ln/>
        </p:spPr>
      </p:sp>
      <p:sp>
        <p:nvSpPr>
          <p:cNvPr id="5" name="Piel izquierda"/>
          <p:cNvSpPr/>
          <p:nvPr/>
        </p:nvSpPr>
        <p:spPr>
          <a:xfrm>
            <a:off x="457200" y="1097280"/>
            <a:ext cx="2011680" cy="320040"/>
          </a:xfrm>
          <a:prstGeom prst="rect">
            <a:avLst/>
          </a:prstGeom>
          <a:solidFill>
            <a:srgbClr val="E3B48E"/>
          </a:solidFill>
          <a:ln/>
        </p:spPr>
      </p:sp>
      <p:sp>
        <p:nvSpPr>
          <p:cNvPr id="6" name="Piel derecha"/>
          <p:cNvSpPr/>
          <p:nvPr/>
        </p:nvSpPr>
        <p:spPr>
          <a:xfrm>
            <a:off x="3474720" y="1097280"/>
            <a:ext cx="2194560" cy="320040"/>
          </a:xfrm>
          <a:prstGeom prst="rect">
            <a:avLst/>
          </a:prstGeom>
          <a:solidFill>
            <a:srgbClr val="E3B48E"/>
          </a:solidFill>
          <a:ln/>
        </p:spPr>
      </p:sp>
      <p:sp>
        <p:nvSpPr>
          <p:cNvPr id="7" name="Herida"/>
          <p:cNvSpPr/>
          <p:nvPr/>
        </p:nvSpPr>
        <p:spPr>
          <a:xfrm>
            <a:off x="2468880" y="1097280"/>
            <a:ext cx="1005840" cy="685800"/>
          </a:xfrm>
          <a:prstGeom prst="rect">
            <a:avLst/>
          </a:prstGeom>
          <a:solidFill>
            <a:srgbClr val="A63A3A"/>
          </a:solidFill>
          <a:ln/>
        </p:spPr>
      </p:sp>
      <p:sp>
        <p:nvSpPr>
          <p:cNvPr id="8" name="Capilar"/>
          <p:cNvSpPr/>
          <p:nvPr/>
        </p:nvSpPr>
        <p:spPr>
          <a:xfrm>
            <a:off x="457200" y="3429000"/>
            <a:ext cx="5212080" cy="548640"/>
          </a:xfrm>
          <a:prstGeom prst="rect">
            <a:avLst/>
          </a:prstGeom>
          <a:solidFill>
            <a:srgbClr val="D2504B"/>
          </a:solidFill>
          <a:ln w="25400">
            <a:solidFill>
              <a:srgbClr val="FFFFFF"/>
            </a:solidFill>
            <a:prstDash val="dash"/>
          </a:ln>
        </p:spPr>
      </p:sp>
      <p:sp>
        <p:nvSpPr>
          <p:cNvPr id="9" name="Shape 6"/>
          <p:cNvSpPr/>
          <p:nvPr/>
        </p:nvSpPr>
        <p:spPr>
          <a:xfrm>
            <a:off x="822960" y="3621024"/>
            <a:ext cx="256032" cy="164592"/>
          </a:xfrm>
          <a:prstGeom prst="ellipse">
            <a:avLst/>
          </a:prstGeom>
          <a:solidFill>
            <a:srgbClr val="8E2B2B"/>
          </a:solidFill>
          <a:ln/>
        </p:spPr>
      </p:sp>
      <p:sp>
        <p:nvSpPr>
          <p:cNvPr id="10" name="Shape 7"/>
          <p:cNvSpPr/>
          <p:nvPr/>
        </p:nvSpPr>
        <p:spPr>
          <a:xfrm>
            <a:off x="1554480" y="3621024"/>
            <a:ext cx="256032" cy="164592"/>
          </a:xfrm>
          <a:prstGeom prst="ellipse">
            <a:avLst/>
          </a:prstGeom>
          <a:solidFill>
            <a:srgbClr val="8E2B2B"/>
          </a:solidFill>
          <a:ln/>
        </p:spPr>
      </p:sp>
      <p:sp>
        <p:nvSpPr>
          <p:cNvPr id="11" name="Shape 8"/>
          <p:cNvSpPr/>
          <p:nvPr/>
        </p:nvSpPr>
        <p:spPr>
          <a:xfrm>
            <a:off x="4480560" y="3621024"/>
            <a:ext cx="256032" cy="164592"/>
          </a:xfrm>
          <a:prstGeom prst="ellipse">
            <a:avLst/>
          </a:prstGeom>
          <a:solidFill>
            <a:srgbClr val="8E2B2B"/>
          </a:solidFill>
          <a:ln/>
        </p:spPr>
      </p:sp>
      <p:sp>
        <p:nvSpPr>
          <p:cNvPr id="12" name="Shape 9"/>
          <p:cNvSpPr/>
          <p:nvPr/>
        </p:nvSpPr>
        <p:spPr>
          <a:xfrm>
            <a:off x="5120640" y="3621024"/>
            <a:ext cx="256032" cy="164592"/>
          </a:xfrm>
          <a:prstGeom prst="ellipse">
            <a:avLst/>
          </a:prstGeom>
          <a:solidFill>
            <a:srgbClr val="8E2B2B"/>
          </a:solidFill>
          <a:ln/>
        </p:spPr>
      </p:sp>
      <p:sp>
        <p:nvSpPr>
          <p:cNvPr id="13" name="Shape 10"/>
          <p:cNvSpPr/>
          <p:nvPr/>
        </p:nvSpPr>
        <p:spPr>
          <a:xfrm>
            <a:off x="2642616" y="1788566"/>
            <a:ext cx="201168" cy="80467"/>
          </a:xfrm>
          <a:prstGeom prst="roundRect">
            <a:avLst>
              <a:gd name="adj" fmla="val 50000"/>
            </a:avLst>
          </a:prstGeom>
          <a:solidFill>
            <a:srgbClr val="3E9E78"/>
          </a:solidFill>
          <a:ln/>
        </p:spPr>
      </p:sp>
      <p:sp>
        <p:nvSpPr>
          <p:cNvPr id="14" name="Shape 11"/>
          <p:cNvSpPr/>
          <p:nvPr/>
        </p:nvSpPr>
        <p:spPr>
          <a:xfrm>
            <a:off x="3008376" y="1605686"/>
            <a:ext cx="201168" cy="80467"/>
          </a:xfrm>
          <a:prstGeom prst="roundRect">
            <a:avLst>
              <a:gd name="adj" fmla="val 50000"/>
            </a:avLst>
          </a:prstGeom>
          <a:solidFill>
            <a:srgbClr val="3E9E78"/>
          </a:solidFill>
          <a:ln/>
        </p:spPr>
      </p:sp>
      <p:sp>
        <p:nvSpPr>
          <p:cNvPr id="15" name="Shape 12"/>
          <p:cNvSpPr/>
          <p:nvPr/>
        </p:nvSpPr>
        <p:spPr>
          <a:xfrm>
            <a:off x="2825496" y="2062886"/>
            <a:ext cx="201168" cy="80467"/>
          </a:xfrm>
          <a:prstGeom prst="roundRect">
            <a:avLst>
              <a:gd name="adj" fmla="val 50000"/>
            </a:avLst>
          </a:prstGeom>
          <a:solidFill>
            <a:srgbClr val="3E9E78"/>
          </a:solidFill>
          <a:ln/>
        </p:spPr>
      </p:sp>
      <p:sp>
        <p:nvSpPr>
          <p:cNvPr id="16" name="Shape 13"/>
          <p:cNvSpPr/>
          <p:nvPr/>
        </p:nvSpPr>
        <p:spPr>
          <a:xfrm>
            <a:off x="3191256" y="1971446"/>
            <a:ext cx="201168" cy="80467"/>
          </a:xfrm>
          <a:prstGeom prst="roundRect">
            <a:avLst>
              <a:gd name="adj" fmla="val 50000"/>
            </a:avLst>
          </a:prstGeom>
          <a:solidFill>
            <a:srgbClr val="3E9E78"/>
          </a:solidFill>
          <a:ln/>
        </p:spPr>
      </p:sp>
      <p:sp>
        <p:nvSpPr>
          <p:cNvPr id="17" name="Shape 14"/>
          <p:cNvSpPr/>
          <p:nvPr/>
        </p:nvSpPr>
        <p:spPr>
          <a:xfrm>
            <a:off x="1335024" y="2020824"/>
            <a:ext cx="438912" cy="438912"/>
          </a:xfrm>
          <a:prstGeom prst="ellipse">
            <a:avLst/>
          </a:prstGeom>
          <a:solidFill>
            <a:srgbClr val="E0A020"/>
          </a:solidFill>
          <a:ln/>
        </p:spPr>
      </p:sp>
      <p:sp>
        <p:nvSpPr>
          <p:cNvPr id="18" name="Shape 15"/>
          <p:cNvSpPr/>
          <p:nvPr/>
        </p:nvSpPr>
        <p:spPr>
          <a:xfrm>
            <a:off x="1664208" y="2009851"/>
            <a:ext cx="197510" cy="197510"/>
          </a:xfrm>
          <a:prstGeom prst="ellipse">
            <a:avLst/>
          </a:prstGeom>
          <a:solidFill>
            <a:srgbClr val="E0A020"/>
          </a:solidFill>
          <a:ln/>
        </p:spPr>
      </p:sp>
      <p:sp>
        <p:nvSpPr>
          <p:cNvPr id="19" name="Shape 16"/>
          <p:cNvSpPr/>
          <p:nvPr/>
        </p:nvSpPr>
        <p:spPr>
          <a:xfrm>
            <a:off x="1455725" y="2174443"/>
            <a:ext cx="153619" cy="153619"/>
          </a:xfrm>
          <a:prstGeom prst="ellipse">
            <a:avLst/>
          </a:prstGeom>
          <a:solidFill>
            <a:srgbClr val="A8700A"/>
          </a:solidFill>
          <a:ln/>
        </p:spPr>
      </p:sp>
      <p:sp>
        <p:nvSpPr>
          <p:cNvPr id="20" name="Shape 17"/>
          <p:cNvSpPr/>
          <p:nvPr/>
        </p:nvSpPr>
        <p:spPr>
          <a:xfrm>
            <a:off x="4261104" y="1929384"/>
            <a:ext cx="438912" cy="438912"/>
          </a:xfrm>
          <a:prstGeom prst="ellipse">
            <a:avLst/>
          </a:prstGeom>
          <a:solidFill>
            <a:srgbClr val="E0A020"/>
          </a:solidFill>
          <a:ln/>
        </p:spPr>
      </p:sp>
      <p:sp>
        <p:nvSpPr>
          <p:cNvPr id="21" name="Shape 18"/>
          <p:cNvSpPr/>
          <p:nvPr/>
        </p:nvSpPr>
        <p:spPr>
          <a:xfrm>
            <a:off x="4590288" y="1918411"/>
            <a:ext cx="197510" cy="197510"/>
          </a:xfrm>
          <a:prstGeom prst="ellipse">
            <a:avLst/>
          </a:prstGeom>
          <a:solidFill>
            <a:srgbClr val="E0A020"/>
          </a:solidFill>
          <a:ln/>
        </p:spPr>
      </p:sp>
      <p:sp>
        <p:nvSpPr>
          <p:cNvPr id="22" name="Shape 19"/>
          <p:cNvSpPr/>
          <p:nvPr/>
        </p:nvSpPr>
        <p:spPr>
          <a:xfrm>
            <a:off x="4381805" y="2083003"/>
            <a:ext cx="153619" cy="153619"/>
          </a:xfrm>
          <a:prstGeom prst="ellipse">
            <a:avLst/>
          </a:prstGeom>
          <a:solidFill>
            <a:srgbClr val="A8700A"/>
          </a:solidFill>
          <a:ln/>
        </p:spPr>
      </p:sp>
      <p:sp>
        <p:nvSpPr>
          <p:cNvPr id="23" name="Shape 20"/>
          <p:cNvSpPr/>
          <p:nvPr/>
        </p:nvSpPr>
        <p:spPr>
          <a:xfrm>
            <a:off x="2441448" y="2350008"/>
            <a:ext cx="237744" cy="237744"/>
          </a:xfrm>
          <a:prstGeom prst="ellipse">
            <a:avLst/>
          </a:prstGeom>
          <a:solidFill>
            <a:srgbClr val="FFFFFF"/>
          </a:solidFill>
          <a:ln w="19050">
            <a:solidFill>
              <a:srgbClr val="7B68C8"/>
            </a:solidFill>
            <a:prstDash val="solid"/>
          </a:ln>
        </p:spPr>
      </p:sp>
      <p:sp>
        <p:nvSpPr>
          <p:cNvPr id="24" name="Shape 21"/>
          <p:cNvSpPr/>
          <p:nvPr/>
        </p:nvSpPr>
        <p:spPr>
          <a:xfrm>
            <a:off x="2474732" y="2454615"/>
            <a:ext cx="52304" cy="52304"/>
          </a:xfrm>
          <a:prstGeom prst="ellipse">
            <a:avLst/>
          </a:prstGeom>
          <a:solidFill>
            <a:srgbClr val="7B68C8"/>
          </a:solidFill>
          <a:ln/>
        </p:spPr>
      </p:sp>
      <p:sp>
        <p:nvSpPr>
          <p:cNvPr id="25" name="Shape 22"/>
          <p:cNvSpPr/>
          <p:nvPr/>
        </p:nvSpPr>
        <p:spPr>
          <a:xfrm>
            <a:off x="2528225" y="2413010"/>
            <a:ext cx="52304" cy="52304"/>
          </a:xfrm>
          <a:prstGeom prst="ellipse">
            <a:avLst/>
          </a:prstGeom>
          <a:solidFill>
            <a:srgbClr val="7B68C8"/>
          </a:solidFill>
          <a:ln/>
        </p:spPr>
      </p:sp>
      <p:sp>
        <p:nvSpPr>
          <p:cNvPr id="26" name="Shape 23"/>
          <p:cNvSpPr/>
          <p:nvPr/>
        </p:nvSpPr>
        <p:spPr>
          <a:xfrm>
            <a:off x="2581717" y="2454615"/>
            <a:ext cx="52304" cy="52304"/>
          </a:xfrm>
          <a:prstGeom prst="ellipse">
            <a:avLst/>
          </a:prstGeom>
          <a:solidFill>
            <a:srgbClr val="7B68C8"/>
          </a:solidFill>
          <a:ln/>
        </p:spPr>
      </p:sp>
      <p:sp>
        <p:nvSpPr>
          <p:cNvPr id="27" name="Shape 24"/>
          <p:cNvSpPr/>
          <p:nvPr/>
        </p:nvSpPr>
        <p:spPr>
          <a:xfrm>
            <a:off x="2898648" y="2532888"/>
            <a:ext cx="237744" cy="237744"/>
          </a:xfrm>
          <a:prstGeom prst="ellipse">
            <a:avLst/>
          </a:prstGeom>
          <a:solidFill>
            <a:srgbClr val="FFFFFF"/>
          </a:solidFill>
          <a:ln w="19050">
            <a:solidFill>
              <a:srgbClr val="7B68C8"/>
            </a:solidFill>
            <a:prstDash val="solid"/>
          </a:ln>
        </p:spPr>
      </p:sp>
      <p:sp>
        <p:nvSpPr>
          <p:cNvPr id="28" name="Shape 25"/>
          <p:cNvSpPr/>
          <p:nvPr/>
        </p:nvSpPr>
        <p:spPr>
          <a:xfrm>
            <a:off x="2931932" y="2637495"/>
            <a:ext cx="52304" cy="52304"/>
          </a:xfrm>
          <a:prstGeom prst="ellipse">
            <a:avLst/>
          </a:prstGeom>
          <a:solidFill>
            <a:srgbClr val="7B68C8"/>
          </a:solidFill>
          <a:ln/>
        </p:spPr>
      </p:sp>
      <p:sp>
        <p:nvSpPr>
          <p:cNvPr id="29" name="Shape 26"/>
          <p:cNvSpPr/>
          <p:nvPr/>
        </p:nvSpPr>
        <p:spPr>
          <a:xfrm>
            <a:off x="2985425" y="2595890"/>
            <a:ext cx="52304" cy="52304"/>
          </a:xfrm>
          <a:prstGeom prst="ellipse">
            <a:avLst/>
          </a:prstGeom>
          <a:solidFill>
            <a:srgbClr val="7B68C8"/>
          </a:solidFill>
          <a:ln/>
        </p:spPr>
      </p:sp>
      <p:sp>
        <p:nvSpPr>
          <p:cNvPr id="30" name="Shape 27"/>
          <p:cNvSpPr/>
          <p:nvPr/>
        </p:nvSpPr>
        <p:spPr>
          <a:xfrm>
            <a:off x="3038917" y="2637495"/>
            <a:ext cx="52304" cy="52304"/>
          </a:xfrm>
          <a:prstGeom prst="ellipse">
            <a:avLst/>
          </a:prstGeom>
          <a:solidFill>
            <a:srgbClr val="7B68C8"/>
          </a:solidFill>
          <a:ln/>
        </p:spPr>
      </p:sp>
      <p:sp>
        <p:nvSpPr>
          <p:cNvPr id="31" name="Shape 28"/>
          <p:cNvSpPr/>
          <p:nvPr/>
        </p:nvSpPr>
        <p:spPr>
          <a:xfrm>
            <a:off x="3355848" y="2258568"/>
            <a:ext cx="237744" cy="237744"/>
          </a:xfrm>
          <a:prstGeom prst="ellipse">
            <a:avLst/>
          </a:prstGeom>
          <a:solidFill>
            <a:srgbClr val="FFFFFF"/>
          </a:solidFill>
          <a:ln w="19050">
            <a:solidFill>
              <a:srgbClr val="7B68C8"/>
            </a:solidFill>
            <a:prstDash val="solid"/>
          </a:ln>
        </p:spPr>
      </p:sp>
      <p:sp>
        <p:nvSpPr>
          <p:cNvPr id="32" name="Shape 29"/>
          <p:cNvSpPr/>
          <p:nvPr/>
        </p:nvSpPr>
        <p:spPr>
          <a:xfrm>
            <a:off x="3389132" y="2363175"/>
            <a:ext cx="52304" cy="52304"/>
          </a:xfrm>
          <a:prstGeom prst="ellipse">
            <a:avLst/>
          </a:prstGeom>
          <a:solidFill>
            <a:srgbClr val="7B68C8"/>
          </a:solidFill>
          <a:ln/>
        </p:spPr>
      </p:sp>
      <p:sp>
        <p:nvSpPr>
          <p:cNvPr id="33" name="Shape 30"/>
          <p:cNvSpPr/>
          <p:nvPr/>
        </p:nvSpPr>
        <p:spPr>
          <a:xfrm>
            <a:off x="3442625" y="2321570"/>
            <a:ext cx="52304" cy="52304"/>
          </a:xfrm>
          <a:prstGeom prst="ellipse">
            <a:avLst/>
          </a:prstGeom>
          <a:solidFill>
            <a:srgbClr val="7B68C8"/>
          </a:solidFill>
          <a:ln/>
        </p:spPr>
      </p:sp>
      <p:sp>
        <p:nvSpPr>
          <p:cNvPr id="34" name="Shape 31"/>
          <p:cNvSpPr/>
          <p:nvPr/>
        </p:nvSpPr>
        <p:spPr>
          <a:xfrm>
            <a:off x="3496117" y="2363175"/>
            <a:ext cx="52304" cy="52304"/>
          </a:xfrm>
          <a:prstGeom prst="ellipse">
            <a:avLst/>
          </a:prstGeom>
          <a:solidFill>
            <a:srgbClr val="7B68C8"/>
          </a:solidFill>
          <a:ln/>
        </p:spPr>
      </p:sp>
      <p:sp>
        <p:nvSpPr>
          <p:cNvPr id="35" name="Shape 32"/>
          <p:cNvSpPr/>
          <p:nvPr/>
        </p:nvSpPr>
        <p:spPr>
          <a:xfrm>
            <a:off x="2532888" y="3172968"/>
            <a:ext cx="237744" cy="237744"/>
          </a:xfrm>
          <a:prstGeom prst="ellipse">
            <a:avLst/>
          </a:prstGeom>
          <a:solidFill>
            <a:srgbClr val="FFFFFF"/>
          </a:solidFill>
          <a:ln w="19050">
            <a:solidFill>
              <a:srgbClr val="7B68C8"/>
            </a:solidFill>
            <a:prstDash val="solid"/>
          </a:ln>
        </p:spPr>
      </p:sp>
      <p:sp>
        <p:nvSpPr>
          <p:cNvPr id="36" name="Shape 33"/>
          <p:cNvSpPr/>
          <p:nvPr/>
        </p:nvSpPr>
        <p:spPr>
          <a:xfrm>
            <a:off x="2566172" y="3277575"/>
            <a:ext cx="52304" cy="52304"/>
          </a:xfrm>
          <a:prstGeom prst="ellipse">
            <a:avLst/>
          </a:prstGeom>
          <a:solidFill>
            <a:srgbClr val="7B68C8"/>
          </a:solidFill>
          <a:ln/>
        </p:spPr>
      </p:sp>
      <p:sp>
        <p:nvSpPr>
          <p:cNvPr id="37" name="Shape 34"/>
          <p:cNvSpPr/>
          <p:nvPr/>
        </p:nvSpPr>
        <p:spPr>
          <a:xfrm>
            <a:off x="2619665" y="3235970"/>
            <a:ext cx="52304" cy="52304"/>
          </a:xfrm>
          <a:prstGeom prst="ellipse">
            <a:avLst/>
          </a:prstGeom>
          <a:solidFill>
            <a:srgbClr val="7B68C8"/>
          </a:solidFill>
          <a:ln/>
        </p:spPr>
      </p:sp>
      <p:sp>
        <p:nvSpPr>
          <p:cNvPr id="38" name="Shape 35"/>
          <p:cNvSpPr/>
          <p:nvPr/>
        </p:nvSpPr>
        <p:spPr>
          <a:xfrm>
            <a:off x="2673157" y="3277575"/>
            <a:ext cx="52304" cy="52304"/>
          </a:xfrm>
          <a:prstGeom prst="ellipse">
            <a:avLst/>
          </a:prstGeom>
          <a:solidFill>
            <a:srgbClr val="7B68C8"/>
          </a:solidFill>
          <a:ln/>
        </p:spPr>
      </p:sp>
      <p:sp>
        <p:nvSpPr>
          <p:cNvPr id="39" name="Shape 36"/>
          <p:cNvSpPr/>
          <p:nvPr/>
        </p:nvSpPr>
        <p:spPr>
          <a:xfrm>
            <a:off x="1892808" y="3584448"/>
            <a:ext cx="237744" cy="237744"/>
          </a:xfrm>
          <a:prstGeom prst="ellipse">
            <a:avLst/>
          </a:prstGeom>
          <a:solidFill>
            <a:srgbClr val="FFFFFF"/>
          </a:solidFill>
          <a:ln w="19050">
            <a:solidFill>
              <a:srgbClr val="7B68C8"/>
            </a:solidFill>
            <a:prstDash val="solid"/>
          </a:ln>
        </p:spPr>
      </p:sp>
      <p:sp>
        <p:nvSpPr>
          <p:cNvPr id="40" name="Shape 37"/>
          <p:cNvSpPr/>
          <p:nvPr/>
        </p:nvSpPr>
        <p:spPr>
          <a:xfrm>
            <a:off x="1926092" y="3689055"/>
            <a:ext cx="52304" cy="52304"/>
          </a:xfrm>
          <a:prstGeom prst="ellipse">
            <a:avLst/>
          </a:prstGeom>
          <a:solidFill>
            <a:srgbClr val="7B68C8"/>
          </a:solidFill>
          <a:ln/>
        </p:spPr>
      </p:sp>
      <p:sp>
        <p:nvSpPr>
          <p:cNvPr id="41" name="Shape 38"/>
          <p:cNvSpPr/>
          <p:nvPr/>
        </p:nvSpPr>
        <p:spPr>
          <a:xfrm>
            <a:off x="1979585" y="3647450"/>
            <a:ext cx="52304" cy="52304"/>
          </a:xfrm>
          <a:prstGeom prst="ellipse">
            <a:avLst/>
          </a:prstGeom>
          <a:solidFill>
            <a:srgbClr val="7B68C8"/>
          </a:solidFill>
          <a:ln/>
        </p:spPr>
      </p:sp>
      <p:sp>
        <p:nvSpPr>
          <p:cNvPr id="42" name="Shape 39"/>
          <p:cNvSpPr/>
          <p:nvPr/>
        </p:nvSpPr>
        <p:spPr>
          <a:xfrm>
            <a:off x="2033077" y="3689055"/>
            <a:ext cx="52304" cy="52304"/>
          </a:xfrm>
          <a:prstGeom prst="ellipse">
            <a:avLst/>
          </a:prstGeom>
          <a:solidFill>
            <a:srgbClr val="7B68C8"/>
          </a:solidFill>
          <a:ln/>
        </p:spPr>
      </p:sp>
      <p:sp>
        <p:nvSpPr>
          <p:cNvPr id="43" name="Shape 40"/>
          <p:cNvSpPr/>
          <p:nvPr/>
        </p:nvSpPr>
        <p:spPr>
          <a:xfrm>
            <a:off x="3447288" y="3584448"/>
            <a:ext cx="237744" cy="237744"/>
          </a:xfrm>
          <a:prstGeom prst="ellipse">
            <a:avLst/>
          </a:prstGeom>
          <a:solidFill>
            <a:srgbClr val="FFFFFF"/>
          </a:solidFill>
          <a:ln w="19050">
            <a:solidFill>
              <a:srgbClr val="7B68C8"/>
            </a:solidFill>
            <a:prstDash val="solid"/>
          </a:ln>
        </p:spPr>
      </p:sp>
      <p:sp>
        <p:nvSpPr>
          <p:cNvPr id="44" name="Shape 41"/>
          <p:cNvSpPr/>
          <p:nvPr/>
        </p:nvSpPr>
        <p:spPr>
          <a:xfrm>
            <a:off x="3480572" y="3689055"/>
            <a:ext cx="52304" cy="52304"/>
          </a:xfrm>
          <a:prstGeom prst="ellipse">
            <a:avLst/>
          </a:prstGeom>
          <a:solidFill>
            <a:srgbClr val="7B68C8"/>
          </a:solidFill>
          <a:ln/>
        </p:spPr>
      </p:sp>
      <p:sp>
        <p:nvSpPr>
          <p:cNvPr id="45" name="Shape 42"/>
          <p:cNvSpPr/>
          <p:nvPr/>
        </p:nvSpPr>
        <p:spPr>
          <a:xfrm>
            <a:off x="3534065" y="3647450"/>
            <a:ext cx="52304" cy="52304"/>
          </a:xfrm>
          <a:prstGeom prst="ellipse">
            <a:avLst/>
          </a:prstGeom>
          <a:solidFill>
            <a:srgbClr val="7B68C8"/>
          </a:solidFill>
          <a:ln/>
        </p:spPr>
      </p:sp>
      <p:sp>
        <p:nvSpPr>
          <p:cNvPr id="46" name="Shape 43"/>
          <p:cNvSpPr/>
          <p:nvPr/>
        </p:nvSpPr>
        <p:spPr>
          <a:xfrm>
            <a:off x="3587557" y="3689055"/>
            <a:ext cx="52304" cy="52304"/>
          </a:xfrm>
          <a:prstGeom prst="ellipse">
            <a:avLst/>
          </a:prstGeom>
          <a:solidFill>
            <a:srgbClr val="7B68C8"/>
          </a:solidFill>
          <a:ln/>
        </p:spPr>
      </p:sp>
      <p:sp>
        <p:nvSpPr>
          <p:cNvPr id="47" name="Shape 44"/>
          <p:cNvSpPr/>
          <p:nvPr/>
        </p:nvSpPr>
        <p:spPr>
          <a:xfrm>
            <a:off x="2286000" y="2103120"/>
            <a:ext cx="64008" cy="64008"/>
          </a:xfrm>
          <a:prstGeom prst="ellipse">
            <a:avLst/>
          </a:prstGeom>
          <a:solidFill>
            <a:srgbClr val="7B68C8"/>
          </a:solidFill>
          <a:ln/>
        </p:spPr>
      </p:sp>
      <p:sp>
        <p:nvSpPr>
          <p:cNvPr id="48" name="Shape 45"/>
          <p:cNvSpPr/>
          <p:nvPr/>
        </p:nvSpPr>
        <p:spPr>
          <a:xfrm>
            <a:off x="3566160" y="2194560"/>
            <a:ext cx="64008" cy="64008"/>
          </a:xfrm>
          <a:prstGeom prst="ellipse">
            <a:avLst/>
          </a:prstGeom>
          <a:solidFill>
            <a:srgbClr val="7B68C8"/>
          </a:solidFill>
          <a:ln/>
        </p:spPr>
      </p:sp>
      <p:sp>
        <p:nvSpPr>
          <p:cNvPr id="49" name="Shape 46"/>
          <p:cNvSpPr/>
          <p:nvPr/>
        </p:nvSpPr>
        <p:spPr>
          <a:xfrm>
            <a:off x="2377440" y="2834640"/>
            <a:ext cx="64008" cy="64008"/>
          </a:xfrm>
          <a:prstGeom prst="ellipse">
            <a:avLst/>
          </a:prstGeom>
          <a:solidFill>
            <a:srgbClr val="7B68C8"/>
          </a:solidFill>
          <a:ln/>
        </p:spPr>
      </p:sp>
      <p:sp>
        <p:nvSpPr>
          <p:cNvPr id="50" name="Shape 47"/>
          <p:cNvSpPr/>
          <p:nvPr/>
        </p:nvSpPr>
        <p:spPr>
          <a:xfrm>
            <a:off x="3383280" y="2926080"/>
            <a:ext cx="64008" cy="64008"/>
          </a:xfrm>
          <a:prstGeom prst="ellipse">
            <a:avLst/>
          </a:prstGeom>
          <a:solidFill>
            <a:srgbClr val="7B68C8"/>
          </a:solidFill>
          <a:ln/>
        </p:spPr>
      </p:sp>
      <p:sp>
        <p:nvSpPr>
          <p:cNvPr id="51" name="Shape 48"/>
          <p:cNvSpPr/>
          <p:nvPr/>
        </p:nvSpPr>
        <p:spPr>
          <a:xfrm>
            <a:off x="2834640" y="3108960"/>
            <a:ext cx="64008" cy="64008"/>
          </a:xfrm>
          <a:prstGeom prst="ellipse">
            <a:avLst/>
          </a:prstGeom>
          <a:solidFill>
            <a:srgbClr val="7B68C8"/>
          </a:solidFill>
          <a:ln/>
        </p:spPr>
      </p:sp>
      <p:sp>
        <p:nvSpPr>
          <p:cNvPr id="52" name="A1 Marca"/>
          <p:cNvSpPr txBox="1"/>
          <p:nvPr/>
        </p:nvSpPr>
        <p:spPr>
          <a:xfrm>
            <a:off x="1143000" y="1920240"/>
            <a:ext cx="292608" cy="292608"/>
          </a:xfrm>
          <a:prstGeom prst="ellipse">
            <a:avLst/>
          </a:prstGeom>
          <a:solidFill>
            <a:srgbClr val="7B68C8"/>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3" name="A2 Marca"/>
          <p:cNvSpPr txBox="1"/>
          <p:nvPr/>
        </p:nvSpPr>
        <p:spPr>
          <a:xfrm>
            <a:off x="914400" y="3017520"/>
            <a:ext cx="292608" cy="292608"/>
          </a:xfrm>
          <a:prstGeom prst="ellipse">
            <a:avLst/>
          </a:prstGeom>
          <a:solidFill>
            <a:srgbClr val="1E8A94"/>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4" name="A3 Marca"/>
          <p:cNvSpPr txBox="1"/>
          <p:nvPr/>
        </p:nvSpPr>
        <p:spPr>
          <a:xfrm>
            <a:off x="2880360" y="3090672"/>
            <a:ext cx="292608" cy="292608"/>
          </a:xfrm>
          <a:prstGeom prst="ellipse">
            <a:avLst/>
          </a:prstGeom>
          <a:solidFill>
            <a:srgbClr val="1E8A94"/>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55" name="A4 Marca"/>
          <p:cNvSpPr txBox="1"/>
          <p:nvPr/>
        </p:nvSpPr>
        <p:spPr>
          <a:xfrm>
            <a:off x="2240280" y="2834640"/>
            <a:ext cx="292608" cy="292608"/>
          </a:xfrm>
          <a:prstGeom prst="ellipse">
            <a:avLst/>
          </a:prstGeom>
          <a:solidFill>
            <a:srgbClr val="1E8A94"/>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56" name="A5 Marca"/>
          <p:cNvSpPr txBox="1"/>
          <p:nvPr/>
        </p:nvSpPr>
        <p:spPr>
          <a:xfrm>
            <a:off x="3886200" y="1783080"/>
            <a:ext cx="292608" cy="292608"/>
          </a:xfrm>
          <a:prstGeom prst="ellipse">
            <a:avLst/>
          </a:prstGeom>
          <a:solidFill>
            <a:srgbClr val="3E9E78"/>
          </a:solid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7" name="Text 54"/>
          <p:cNvSpPr txBox="1"/>
          <p:nvPr/>
        </p:nvSpPr>
        <p:spPr>
          <a:xfrm>
            <a:off x="502920" y="1097280"/>
            <a:ext cx="914400" cy="320040"/>
          </a:xfrm>
          <a:prstGeom prst="rect">
            <a:avLst/>
          </a:prstGeom>
          <a:noFill/>
          <a:ln/>
        </p:spPr>
        <p:txBody>
          <a:bodyPr wrap="square" lIns="0" tIns="0" rIns="0" bIns="0" rtlCol="0" anchor="ctr"/>
          <a:lstStyle/>
          <a:p>
            <a:pPr indent="0" marL="0">
              <a:buNone/>
            </a:pPr>
            <a:r>
              <a:rPr lang="en-US" sz="1000" b="1" dirty="0">
                <a:solidFill>
                  <a:schemeClr val="tx1"/>
                </a:solidFill>
              </a:rPr>
              <a:t>Piel</a:t>
            </a:r>
            <a:endParaRPr lang="en-US" sz="1000" dirty="0"/>
          </a:p>
        </p:txBody>
      </p:sp>
      <p:sp>
        <p:nvSpPr>
          <p:cNvPr id="58" name="Text 55"/>
          <p:cNvSpPr txBox="1"/>
          <p:nvPr/>
        </p:nvSpPr>
        <p:spPr>
          <a:xfrm>
            <a:off x="2514600" y="1097280"/>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Herida</a:t>
            </a:r>
            <a:endParaRPr lang="en-US" sz="1000" dirty="0"/>
          </a:p>
        </p:txBody>
      </p:sp>
      <p:sp>
        <p:nvSpPr>
          <p:cNvPr id="59" name="Text 56"/>
          <p:cNvSpPr txBox="1"/>
          <p:nvPr/>
        </p:nvSpPr>
        <p:spPr>
          <a:xfrm>
            <a:off x="3657600" y="3822192"/>
            <a:ext cx="1737360" cy="228600"/>
          </a:xfrm>
          <a:prstGeom prst="rect">
            <a:avLst/>
          </a:prstGeom>
          <a:noFill/>
          <a:ln/>
        </p:spPr>
        <p:txBody>
          <a:bodyPr wrap="square" lIns="0" tIns="0" rIns="0" bIns="0" rtlCol="0" anchor="ctr"/>
          <a:lstStyle/>
          <a:p>
            <a:pPr algn="r" indent="0" marL="0">
              <a:buNone/>
            </a:pPr>
            <a:r>
              <a:rPr lang="en-US" sz="1000" b="1" dirty="0">
                <a:solidFill>
                  <a:schemeClr val="bg1"/>
                </a:solidFill>
              </a:rPr>
              <a:t>Capilar sanguíneo</a:t>
            </a:r>
            <a:endParaRPr lang="en-US" sz="1000" dirty="0"/>
          </a:p>
        </p:txBody>
      </p:sp>
      <p:sp>
        <p:nvSpPr>
          <p:cNvPr id="60" name="A1 Leyenda"/>
          <p:cNvSpPr/>
          <p:nvPr/>
        </p:nvSpPr>
        <p:spPr>
          <a:xfrm>
            <a:off x="5943600" y="1097280"/>
            <a:ext cx="27432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61" name="A1 Número leyenda"/>
          <p:cNvSpPr txBox="1"/>
          <p:nvPr/>
        </p:nvSpPr>
        <p:spPr>
          <a:xfrm>
            <a:off x="6035040" y="1188720"/>
            <a:ext cx="329184" cy="329184"/>
          </a:xfrm>
          <a:prstGeom prst="ellipse">
            <a:avLst/>
          </a:prstGeom>
          <a:solidFill>
            <a:srgbClr val="7B68C8"/>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2" name="A1 Texto leyenda"/>
          <p:cNvSpPr txBox="1"/>
          <p:nvPr/>
        </p:nvSpPr>
        <p:spPr>
          <a:xfrm>
            <a:off x="6492240" y="1097280"/>
            <a:ext cx="2148840" cy="512064"/>
          </a:xfrm>
          <a:prstGeom prst="rect">
            <a:avLst/>
          </a:prstGeom>
          <a:noFill/>
          <a:ln/>
        </p:spPr>
        <p:txBody>
          <a:bodyPr wrap="square" lIns="0" tIns="0" rIns="0" bIns="0" rtlCol="0" anchor="ctr"/>
          <a:lstStyle/>
          <a:p>
            <a:pPr indent="0" marL="0">
              <a:buNone/>
            </a:pPr>
            <a:r>
              <a:rPr lang="en-US" sz="1400" b="1" dirty="0">
                <a:solidFill>
                  <a:schemeClr val="tx1"/>
                </a:solidFill>
              </a:rPr>
              <a:t>Alarma</a:t>
            </a:r>
            <a:endParaRPr lang="en-US" sz="1400" dirty="0"/>
          </a:p>
          <a:p>
            <a:pPr indent="0" marL="0">
              <a:buNone/>
            </a:pPr>
            <a:r>
              <a:rPr lang="en-US" sz="1400" dirty="0">
                <a:solidFill>
                  <a:srgbClr val="5F7A89"/>
                </a:solidFill>
              </a:rPr>
              <a:t>histamina en el tejido</a:t>
            </a:r>
            <a:endParaRPr lang="en-US" sz="1400" dirty="0"/>
          </a:p>
        </p:txBody>
      </p:sp>
      <p:sp>
        <p:nvSpPr>
          <p:cNvPr id="63" name="A2 Leyenda"/>
          <p:cNvSpPr/>
          <p:nvPr/>
        </p:nvSpPr>
        <p:spPr>
          <a:xfrm>
            <a:off x="5943600" y="1700784"/>
            <a:ext cx="27432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64" name="A2 Número leyenda"/>
          <p:cNvSpPr txBox="1"/>
          <p:nvPr/>
        </p:nvSpPr>
        <p:spPr>
          <a:xfrm>
            <a:off x="6035040" y="1792224"/>
            <a:ext cx="329184" cy="329184"/>
          </a:xfrm>
          <a:prstGeom prst="ellipse">
            <a:avLst/>
          </a:prstGeom>
          <a:solidFill>
            <a:srgbClr val="1E8A94"/>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5" name="A2 Texto leyenda"/>
          <p:cNvSpPr txBox="1"/>
          <p:nvPr/>
        </p:nvSpPr>
        <p:spPr>
          <a:xfrm>
            <a:off x="6492240" y="1700784"/>
            <a:ext cx="2148840" cy="512064"/>
          </a:xfrm>
          <a:prstGeom prst="rect">
            <a:avLst/>
          </a:prstGeom>
          <a:noFill/>
          <a:ln/>
        </p:spPr>
        <p:txBody>
          <a:bodyPr wrap="square" lIns="0" tIns="0" rIns="0" bIns="0" rtlCol="0" anchor="ctr"/>
          <a:lstStyle/>
          <a:p>
            <a:pPr indent="0" marL="0">
              <a:buNone/>
            </a:pPr>
            <a:r>
              <a:rPr lang="en-US" sz="1400" b="1" dirty="0">
                <a:solidFill>
                  <a:schemeClr val="tx1"/>
                </a:solidFill>
              </a:rPr>
              <a:t>Capilar dilatado</a:t>
            </a:r>
            <a:endParaRPr lang="en-US" sz="1400" dirty="0"/>
          </a:p>
          <a:p>
            <a:pPr indent="0" marL="0">
              <a:buNone/>
            </a:pPr>
            <a:r>
              <a:rPr lang="en-US" sz="1400" dirty="0">
                <a:solidFill>
                  <a:srgbClr val="5F7A89"/>
                </a:solidFill>
              </a:rPr>
              <a:t>llega más sangre</a:t>
            </a:r>
            <a:endParaRPr lang="en-US" sz="1400" dirty="0"/>
          </a:p>
        </p:txBody>
      </p:sp>
      <p:sp>
        <p:nvSpPr>
          <p:cNvPr id="66" name="A3 Leyenda"/>
          <p:cNvSpPr/>
          <p:nvPr/>
        </p:nvSpPr>
        <p:spPr>
          <a:xfrm>
            <a:off x="5943600" y="2304288"/>
            <a:ext cx="27432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67" name="A3 Número leyenda"/>
          <p:cNvSpPr txBox="1"/>
          <p:nvPr/>
        </p:nvSpPr>
        <p:spPr>
          <a:xfrm>
            <a:off x="6035040" y="2395728"/>
            <a:ext cx="329184" cy="329184"/>
          </a:xfrm>
          <a:prstGeom prst="ellipse">
            <a:avLst/>
          </a:prstGeom>
          <a:solidFill>
            <a:srgbClr val="1E8A94"/>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68" name="A3 Texto leyenda"/>
          <p:cNvSpPr txBox="1"/>
          <p:nvPr/>
        </p:nvSpPr>
        <p:spPr>
          <a:xfrm>
            <a:off x="6492240" y="2304288"/>
            <a:ext cx="2148840" cy="512064"/>
          </a:xfrm>
          <a:prstGeom prst="rect">
            <a:avLst/>
          </a:prstGeom>
          <a:noFill/>
          <a:ln/>
        </p:spPr>
        <p:txBody>
          <a:bodyPr wrap="square" lIns="0" tIns="0" rIns="0" bIns="0" rtlCol="0" anchor="ctr"/>
          <a:lstStyle/>
          <a:p>
            <a:pPr indent="0" marL="0">
              <a:buNone/>
            </a:pPr>
            <a:r>
              <a:rPr lang="en-US" sz="1400" b="1" dirty="0">
                <a:solidFill>
                  <a:schemeClr val="tx1"/>
                </a:solidFill>
              </a:rPr>
              <a:t>Paredes abiertas</a:t>
            </a:r>
            <a:endParaRPr lang="en-US" sz="1400" dirty="0"/>
          </a:p>
          <a:p>
            <a:pPr indent="0" marL="0">
              <a:buNone/>
            </a:pPr>
            <a:r>
              <a:rPr lang="en-US" sz="1400" dirty="0">
                <a:solidFill>
                  <a:srgbClr val="5F7A89"/>
                </a:solidFill>
              </a:rPr>
              <a:t>sale líquido</a:t>
            </a:r>
            <a:endParaRPr lang="en-US" sz="1400" dirty="0"/>
          </a:p>
        </p:txBody>
      </p:sp>
      <p:sp>
        <p:nvSpPr>
          <p:cNvPr id="69" name="A4 Leyenda"/>
          <p:cNvSpPr/>
          <p:nvPr/>
        </p:nvSpPr>
        <p:spPr>
          <a:xfrm>
            <a:off x="5943600" y="2907792"/>
            <a:ext cx="27432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70" name="A4 Número leyenda"/>
          <p:cNvSpPr txBox="1"/>
          <p:nvPr/>
        </p:nvSpPr>
        <p:spPr>
          <a:xfrm>
            <a:off x="6035040" y="2999232"/>
            <a:ext cx="329184" cy="329184"/>
          </a:xfrm>
          <a:prstGeom prst="ellipse">
            <a:avLst/>
          </a:prstGeom>
          <a:solidFill>
            <a:srgbClr val="1E8A94"/>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1" name="A4 Texto leyenda"/>
          <p:cNvSpPr txBox="1"/>
          <p:nvPr/>
        </p:nvSpPr>
        <p:spPr>
          <a:xfrm>
            <a:off x="6492240" y="2907792"/>
            <a:ext cx="2148840" cy="512064"/>
          </a:xfrm>
          <a:prstGeom prst="rect">
            <a:avLst/>
          </a:prstGeom>
          <a:noFill/>
          <a:ln/>
        </p:spPr>
        <p:txBody>
          <a:bodyPr wrap="square" lIns="0" tIns="0" rIns="0" bIns="0" rtlCol="0" anchor="ctr"/>
          <a:lstStyle/>
          <a:p>
            <a:pPr indent="0" marL="0">
              <a:buNone/>
            </a:pPr>
            <a:r>
              <a:rPr lang="en-US" sz="1400" b="1" dirty="0">
                <a:solidFill>
                  <a:schemeClr val="tx1"/>
                </a:solidFill>
              </a:rPr>
              <a:t>Neutrófilos</a:t>
            </a:r>
            <a:endParaRPr lang="en-US" sz="1400" dirty="0"/>
          </a:p>
          <a:p>
            <a:pPr indent="0" marL="0">
              <a:buNone/>
            </a:pPr>
            <a:r>
              <a:rPr lang="en-US" sz="1400" dirty="0">
                <a:solidFill>
                  <a:srgbClr val="5F7A89"/>
                </a:solidFill>
              </a:rPr>
              <a:t>salen hacia la herida</a:t>
            </a:r>
            <a:endParaRPr lang="en-US" sz="1400" dirty="0"/>
          </a:p>
        </p:txBody>
      </p:sp>
      <p:sp>
        <p:nvSpPr>
          <p:cNvPr id="72" name="A5 Leyenda"/>
          <p:cNvSpPr/>
          <p:nvPr/>
        </p:nvSpPr>
        <p:spPr>
          <a:xfrm>
            <a:off x="5943600" y="3511296"/>
            <a:ext cx="27432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73" name="A5 Número leyenda"/>
          <p:cNvSpPr txBox="1"/>
          <p:nvPr/>
        </p:nvSpPr>
        <p:spPr>
          <a:xfrm>
            <a:off x="6035040" y="3602736"/>
            <a:ext cx="329184" cy="329184"/>
          </a:xfrm>
          <a:prstGeom prst="ellipse">
            <a:avLst/>
          </a:prstGeom>
          <a:solidFill>
            <a:srgbClr val="3E9E78"/>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4" name="A5 Texto leyenda"/>
          <p:cNvSpPr txBox="1"/>
          <p:nvPr/>
        </p:nvSpPr>
        <p:spPr>
          <a:xfrm>
            <a:off x="6492240" y="3511296"/>
            <a:ext cx="2148840" cy="512064"/>
          </a:xfrm>
          <a:prstGeom prst="rect">
            <a:avLst/>
          </a:prstGeom>
          <a:noFill/>
          <a:ln/>
        </p:spPr>
        <p:txBody>
          <a:bodyPr wrap="square" lIns="0" tIns="0" rIns="0" bIns="0" rtlCol="0" anchor="ctr"/>
          <a:lstStyle/>
          <a:p>
            <a:pPr indent="0" marL="0">
              <a:buNone/>
            </a:pPr>
            <a:r>
              <a:rPr lang="en-US" sz="1400" b="1" dirty="0">
                <a:solidFill>
                  <a:schemeClr val="tx1"/>
                </a:solidFill>
              </a:rPr>
              <a:t>Fagocitosis</a:t>
            </a:r>
            <a:endParaRPr lang="en-US" sz="1400" dirty="0"/>
          </a:p>
          <a:p>
            <a:pPr indent="0" marL="0">
              <a:buNone/>
            </a:pPr>
            <a:r>
              <a:rPr lang="en-US" sz="1400" dirty="0">
                <a:solidFill>
                  <a:srgbClr val="5F7A89"/>
                </a:solidFill>
              </a:rPr>
              <a:t>se destruyen los microbios</a:t>
            </a:r>
            <a:endParaRPr lang="en-US" sz="1400" dirty="0"/>
          </a:p>
        </p:txBody>
      </p:sp>
      <p:sp>
        <p:nvSpPr>
          <p:cNvPr id="75" name="Text 72"/>
          <p:cNvSpPr txBox="1"/>
          <p:nvPr/>
        </p:nvSpPr>
        <p:spPr>
          <a:xfrm>
            <a:off x="457200" y="4224528"/>
            <a:ext cx="8229600" cy="457200"/>
          </a:xfrm>
          <a:prstGeom prst="rect">
            <a:avLst/>
          </a:prstGeom>
          <a:noFill/>
          <a:ln/>
        </p:spPr>
        <p:txBody>
          <a:bodyPr wrap="square" lIns="0" tIns="0" rIns="0" bIns="0" rtlCol="0" anchor="ctr"/>
          <a:lstStyle/>
          <a:p>
            <a:pPr indent="0" marL="0">
              <a:buNone/>
            </a:pPr>
            <a:r>
              <a:rPr lang="en-US" sz="1200" dirty="0">
                <a:solidFill>
                  <a:schemeClr val="tx2"/>
                </a:solidFill>
              </a:rPr>
              <a:t>Verde: bacterias · Blanco con núcleo violeta: neutrófilos · Ámbar: macrófagos · Puntos violeta: histamina</a:t>
            </a:r>
            <a:endParaRPr lang="en-US" sz="12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2"/>
                                        </p:tgtEl>
                                        <p:attrNameLst>
                                          <p:attrName>style.visibility</p:attrName>
                                        </p:attrNameLst>
                                      </p:cBhvr>
                                      <p:to>
                                        <p:strVal val="visible"/>
                                      </p:to>
                                    </p:set>
                                    <p:animEffect transition="in" filter="fade">
                                      <p:cBhvr>
                                        <p:cTn id="5" dur="500"/>
                                        <p:tgtEl>
                                          <p:spTgt spid="5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0"/>
                                        </p:tgtEl>
                                        <p:attrNameLst>
                                          <p:attrName>style.visibility</p:attrName>
                                        </p:attrNameLst>
                                      </p:cBhvr>
                                      <p:to>
                                        <p:strVal val="visible"/>
                                      </p:to>
                                    </p:set>
                                    <p:animEffect transition="in" filter="fade">
                                      <p:cBhvr>
                                        <p:cTn id="8" dur="500"/>
                                        <p:tgtEl>
                                          <p:spTgt spid="6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1"/>
                                        </p:tgtEl>
                                        <p:attrNameLst>
                                          <p:attrName>style.visibility</p:attrName>
                                        </p:attrNameLst>
                                      </p:cBhvr>
                                      <p:to>
                                        <p:strVal val="visible"/>
                                      </p:to>
                                    </p:set>
                                    <p:animEffect transition="in" filter="fade">
                                      <p:cBhvr>
                                        <p:cTn id="11" dur="500"/>
                                        <p:tgtEl>
                                          <p:spTgt spid="6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2"/>
                                        </p:tgtEl>
                                        <p:attrNameLst>
                                          <p:attrName>style.visibility</p:attrName>
                                        </p:attrNameLst>
                                      </p:cBhvr>
                                      <p:to>
                                        <p:strVal val="visible"/>
                                      </p:to>
                                    </p:set>
                                    <p:animEffect transition="in" filter="fade">
                                      <p:cBhvr>
                                        <p:cTn id="14" dur="500"/>
                                        <p:tgtEl>
                                          <p:spTgt spid="62"/>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500"/>
                                        <p:tgtEl>
                                          <p:spTgt spid="5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500"/>
                                        <p:tgtEl>
                                          <p:spTgt spid="6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animEffect transition="in" filter="fade">
                                      <p:cBhvr>
                                        <p:cTn id="25" dur="500"/>
                                        <p:tgtEl>
                                          <p:spTgt spid="6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childTnLst>
                                </p:cTn>
                              </p:par>
                            </p:childTnLst>
                          </p:cTn>
                        </p:par>
                      </p:childTnLst>
                    </p:cTn>
                  </p:par>
                  <p:par>
                    <p:cTn id="43" fill="hold">
                      <p:stCondLst>
                        <p:cond delay="indefinite"/>
                      </p:stCondLst>
                      <p:childTnLst>
                        <p:par>
                          <p:cTn id="44"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5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6"/>
                                        </p:tgtEl>
                                        <p:attrNameLst>
                                          <p:attrName>style.visibility</p:attrName>
                                        </p:attrNameLst>
                                      </p:cBhvr>
                                      <p:to>
                                        <p:strVal val="visible"/>
                                      </p:to>
                                    </p:set>
                                    <p:animEffect transition="in" filter="fade">
                                      <p:cBhvr>
                                        <p:cTn id="36" dur="500"/>
                                        <p:tgtEl>
                                          <p:spTgt spid="6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7"/>
                                        </p:tgtEl>
                                        <p:attrNameLst>
                                          <p:attrName>style.visibility</p:attrName>
                                        </p:attrNameLst>
                                      </p:cBhvr>
                                      <p:to>
                                        <p:strVal val="visible"/>
                                      </p:to>
                                    </p:set>
                                    <p:animEffect transition="in" filter="fade">
                                      <p:cBhvr>
                                        <p:cTn id="39" dur="500"/>
                                        <p:tgtEl>
                                          <p:spTgt spid="6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8"/>
                                        </p:tgtEl>
                                        <p:attrNameLst>
                                          <p:attrName>style.visibility</p:attrName>
                                        </p:attrNameLst>
                                      </p:cBhvr>
                                      <p:to>
                                        <p:strVal val="visible"/>
                                      </p:to>
                                    </p:set>
                                    <p:animEffect transition="in" filter="fade">
                                      <p:cBhvr>
                                        <p:cTn id="42" dur="500"/>
                                        <p:tgtEl>
                                          <p:spTgt spid="68"/>
                                        </p:tgtEl>
                                      </p:cBhvr>
                                    </p:animEffect>
                                  </p:childTnLst>
                                </p:cTn>
                              </p:par>
                            </p:childTnLst>
                          </p:cTn>
                        </p:par>
                      </p:childTnLst>
                    </p:cTn>
                  </p:par>
                  <p:par>
                    <p:cTn id="57" fill="hold">
                      <p:stCondLst>
                        <p:cond delay="indefinite"/>
                      </p:stCondLst>
                      <p:childTnLst>
                        <p:par>
                          <p:cTn id="58"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9"/>
                                        </p:tgtEl>
                                        <p:attrNameLst>
                                          <p:attrName>style.visibility</p:attrName>
                                        </p:attrNameLst>
                                      </p:cBhvr>
                                      <p:to>
                                        <p:strVal val="visible"/>
                                      </p:to>
                                    </p:set>
                                    <p:animEffect transition="in" filter="fade">
                                      <p:cBhvr>
                                        <p:cTn id="50" dur="500"/>
                                        <p:tgtEl>
                                          <p:spTgt spid="6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animEffect transition="in" filter="fade">
                                      <p:cBhvr>
                                        <p:cTn id="53" dur="500"/>
                                        <p:tgtEl>
                                          <p:spTgt spid="7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childTnLst>
                                </p:cTn>
                              </p:par>
                            </p:childTnLst>
                          </p:cTn>
                        </p:par>
                      </p:childTnLst>
                    </p:cTn>
                  </p:par>
                  <p:par>
                    <p:cTn id="71" fill="hold">
                      <p:stCondLst>
                        <p:cond delay="indefinite"/>
                      </p:stCondLst>
                      <p:childTnLst>
                        <p:par>
                          <p:cTn id="72"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56"/>
                                        </p:tgtEl>
                                        <p:attrNameLst>
                                          <p:attrName>style.visibility</p:attrName>
                                        </p:attrNameLst>
                                      </p:cBhvr>
                                      <p:to>
                                        <p:strVal val="visible"/>
                                      </p:to>
                                    </p:set>
                                    <p:animEffect transition="in" filter="fade">
                                      <p:cBhvr>
                                        <p:cTn id="61" dur="500"/>
                                        <p:tgtEl>
                                          <p:spTgt spid="5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72"/>
                                        </p:tgtEl>
                                        <p:attrNameLst>
                                          <p:attrName>style.visibility</p:attrName>
                                        </p:attrNameLst>
                                      </p:cBhvr>
                                      <p:to>
                                        <p:strVal val="visible"/>
                                      </p:to>
                                    </p:set>
                                    <p:animEffect transition="in" filter="fade">
                                      <p:cBhvr>
                                        <p:cTn id="64" dur="500"/>
                                        <p:tgtEl>
                                          <p:spTgt spid="7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animEffect transition="in" filter="fade">
                                      <p:cBhvr>
                                        <p:cTn id="67" dur="500"/>
                                        <p:tgtEl>
                                          <p:spTgt spid="7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74"/>
                                        </p:tgtEl>
                                        <p:attrNameLst>
                                          <p:attrName>style.visibility</p:attrName>
                                        </p:attrNameLst>
                                      </p:cBhvr>
                                      <p:to>
                                        <p:strVal val="visible"/>
                                      </p:to>
                                    </p:set>
                                    <p:animEffect transition="in" filter="fade">
                                      <p:cBhvr>
                                        <p:cTn id="70"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60" grpId="0" animBg="1"/>
      <p:bldP spid="61" grpId="0" animBg="1"/>
      <p:bldP spid="62" grpId="0"/>
      <p:bldP spid="53" grpId="0" animBg="1"/>
      <p:bldP spid="63" grpId="0" animBg="1"/>
      <p:bldP spid="64" grpId="0" animBg="1"/>
      <p:bldP spid="65" grpId="0"/>
      <p:bldP spid="54" grpId="0" animBg="1"/>
      <p:bldP spid="66" grpId="0" animBg="1"/>
      <p:bldP spid="67" grpId="0" animBg="1"/>
      <p:bldP spid="68" grpId="0"/>
      <p:bldP spid="55" grpId="0" animBg="1"/>
      <p:bldP spid="69" grpId="0" animBg="1"/>
      <p:bldP spid="70" grpId="0" animBg="1"/>
      <p:bldP spid="71" grpId="0"/>
      <p:bldP spid="56" grpId="0" animBg="1"/>
      <p:bldP spid="72" grpId="0" animBg="1"/>
      <p:bldP spid="73" grpId="0" animBg="1"/>
      <p:bldP spid="74"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Reportaje: dentro de tu rodilla</a:t>
            </a:r>
            <a:endParaRPr lang="en-US" sz="2800" dirty="0"/>
          </a:p>
        </p:txBody>
      </p:sp>
      <p:pic>
        <p:nvPicPr>
          <p:cNvPr id="3" name="Video reportaj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097280"/>
            <a:ext cx="5486400" cy="3086100"/>
          </a:xfrm>
          <a:prstGeom prst="rect">
            <a:avLst/>
          </a:prstGeom>
        </p:spPr>
      </p:pic>
      <p:sp>
        <p:nvSpPr>
          <p:cNvPr id="5" name="Mientras miras"/>
          <p:cNvSpPr/>
          <p:nvPr/>
        </p:nvSpPr>
        <p:spPr>
          <a:xfrm>
            <a:off x="6172200" y="1097280"/>
            <a:ext cx="2514600" cy="3086100"/>
          </a:xfrm>
          <a:prstGeom prst="roundRect">
            <a:avLst>
              <a:gd name="adj" fmla="val 4364"/>
            </a:avLst>
          </a:prstGeom>
          <a:solidFill>
            <a:srgbClr val="FFFFFF"/>
          </a:solidFill>
          <a:ln/>
          <a:effectLst>
            <a:outerShdw sx="100000" sy="100000" kx="0" ky="0" algn="bl" rotWithShape="0" blurRad="76200" dist="25400" dir="5400000">
              <a:srgbClr val="1D3B4F">
                <a:alpha val="12000"/>
              </a:srgbClr>
            </a:outerShdw>
          </a:effectLst>
        </p:spPr>
      </p:sp>
      <p:sp>
        <p:nvSpPr>
          <p:cNvPr id="6" name="Texto mientras miras"/>
          <p:cNvSpPr txBox="1"/>
          <p:nvPr/>
        </p:nvSpPr>
        <p:spPr>
          <a:xfrm>
            <a:off x="6355080" y="1234440"/>
            <a:ext cx="2194560" cy="2103120"/>
          </a:xfrm>
          <a:prstGeom prst="rect">
            <a:avLst/>
          </a:prstGeom>
          <a:noFill/>
          <a:ln/>
        </p:spPr>
        <p:txBody>
          <a:bodyPr wrap="square" lIns="0" tIns="0" rIns="0" bIns="0" rtlCol="0" anchor="t"/>
          <a:lstStyle/>
          <a:p>
            <a:pPr indent="0" marL="0">
              <a:buNone/>
            </a:pPr>
            <a:r>
              <a:rPr lang="en-US" sz="1600" b="1" dirty="0">
                <a:solidFill>
                  <a:schemeClr val="accent1"/>
                </a:solidFill>
              </a:rPr>
              <a:t>Mientras miras</a:t>
            </a:r>
            <a:endParaRPr lang="en-US" sz="1600" dirty="0"/>
          </a:p>
          <a:p>
            <a:pPr marL="342900" indent="-342900">
              <a:spcAft>
                <a:spcPts val="600"/>
              </a:spcAft>
              <a:buSzPct val="100000"/>
              <a:buChar char="•"/>
            </a:pPr>
            <a:r>
              <a:rPr lang="en-US" sz="1400" dirty="0">
                <a:solidFill>
                  <a:schemeClr val="tx1"/>
                </a:solidFill>
              </a:rPr>
              <a:t>Cuenta las 7 etapas</a:t>
            </a:r>
            <a:endParaRPr lang="en-US" sz="1600" dirty="0"/>
          </a:p>
          <a:p>
            <a:pPr marL="342900" indent="-342900">
              <a:spcAft>
                <a:spcPts val="600"/>
              </a:spcAft>
              <a:buSzPct val="100000"/>
              <a:buChar char="•"/>
            </a:pPr>
            <a:r>
              <a:rPr lang="en-US" sz="1400" dirty="0">
                <a:solidFill>
                  <a:schemeClr val="tx1"/>
                </a:solidFill>
              </a:rPr>
              <a:t>¿Qué signo aparece primero?</a:t>
            </a:r>
            <a:endParaRPr lang="en-US" sz="1600" dirty="0"/>
          </a:p>
          <a:p>
            <a:pPr marL="342900" indent="-342900">
              <a:spcAft>
                <a:spcPts val="600"/>
              </a:spcAft>
              <a:buSzPct val="100000"/>
              <a:buChar char="•"/>
            </a:pPr>
            <a:r>
              <a:rPr lang="en-US" sz="1400" dirty="0">
                <a:solidFill>
                  <a:schemeClr val="tx1"/>
                </a:solidFill>
              </a:rPr>
              <a:t>¿Cuándo llegan los neutrófilos?</a:t>
            </a:r>
            <a:endParaRPr lang="en-US" sz="1600" dirty="0"/>
          </a:p>
        </p:txBody>
      </p:sp>
      <p:sp>
        <p:nvSpPr>
          <p:cNvPr id="7" name="Nota video"/>
          <p:cNvSpPr txBox="1"/>
          <p:nvPr/>
        </p:nvSpPr>
        <p:spPr>
          <a:xfrm>
            <a:off x="6355080" y="3337560"/>
            <a:ext cx="2194560" cy="731520"/>
          </a:xfrm>
          <a:prstGeom prst="rect">
            <a:avLst/>
          </a:prstGeom>
          <a:noFill/>
          <a:ln/>
        </p:spPr>
        <p:txBody>
          <a:bodyPr wrap="square" lIns="0" tIns="0" rIns="0" bIns="0" rtlCol="0" anchor="b"/>
          <a:lstStyle/>
          <a:p>
            <a:pPr indent="0" marL="0">
              <a:buNone/>
            </a:pPr>
            <a:r>
              <a:rPr lang="en-US" sz="1200" dirty="0">
                <a:solidFill>
                  <a:schemeClr val="tx2"/>
                </a:solidFill>
              </a:rPr>
              <a:t>Video de 1 min 24 s, sin audio: lee los subtítulos.</a:t>
            </a:r>
            <a:endParaRPr lang="en-US" sz="1200" dirty="0"/>
          </a:p>
        </p:txBody>
      </p:sp>
      <p:sp>
        <p:nvSpPr>
          <p:cNvPr id="8" name="Banner"/>
          <p:cNvSpPr/>
          <p:nvPr/>
        </p:nvSpPr>
        <p:spPr>
          <a:xfrm>
            <a:off x="457200" y="4297680"/>
            <a:ext cx="8229600" cy="502920"/>
          </a:xfrm>
          <a:prstGeom prst="roundRect">
            <a:avLst>
              <a:gd name="adj" fmla="val 18182"/>
            </a:avLst>
          </a:prstGeom>
          <a:solidFill>
            <a:srgbClr val="D6EEF0"/>
          </a:solidFill>
          <a:ln/>
        </p:spPr>
      </p:sp>
      <p:sp>
        <p:nvSpPr>
          <p:cNvPr id="9" name="Texto banner"/>
          <p:cNvSpPr txBox="1"/>
          <p:nvPr/>
        </p:nvSpPr>
        <p:spPr>
          <a:xfrm>
            <a:off x="640080" y="4297680"/>
            <a:ext cx="7863840" cy="502920"/>
          </a:xfrm>
          <a:prstGeom prst="rect">
            <a:avLst/>
          </a:prstGeom>
          <a:noFill/>
          <a:ln/>
        </p:spPr>
        <p:txBody>
          <a:bodyPr wrap="square" lIns="0" tIns="0" rIns="0" bIns="0" rtlCol="0" anchor="ctr"/>
          <a:lstStyle/>
          <a:p>
            <a:pPr indent="0" marL="0">
              <a:buNone/>
            </a:pPr>
            <a:r>
              <a:rPr lang="en-US" sz="1400" b="1" dirty="0">
                <a:solidFill>
                  <a:srgbClr val="1E8A94"/>
                </a:solidFill>
              </a:rPr>
              <a:t>Tip: </a:t>
            </a:r>
            <a:pPr indent="0" marL="0">
              <a:buNone/>
            </a:pPr>
            <a:r>
              <a:rPr lang="en-US" sz="1400" dirty="0">
                <a:solidFill>
                  <a:schemeClr val="tx1"/>
                </a:solidFill>
              </a:rPr>
              <a:t>reprodúcelo completo y luego otra vez, pausando en cada etapa.</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Causa y efecto: el orden importa</a:t>
            </a:r>
            <a:endParaRPr lang="en-US" sz="2800" dirty="0"/>
          </a:p>
        </p:txBody>
      </p:sp>
      <p:graphicFrame>
        <p:nvGraphicFramePr>
          <p:cNvPr id="12" name="Tabla causa efecto"/>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94560"/>
                <a:gridCol w="2834640"/>
                <a:gridCol w="3200400"/>
              </a:tblGrid>
              <a:tr h="365760">
                <a:tc>
                  <a:txBody>
                    <a:bodyPr/>
                    <a:lstStyle/>
                    <a:p>
                      <a:pPr indent="0" marL="0">
                        <a:buNone/>
                      </a:pPr>
                      <a:r>
                        <a:rPr lang="en-US" sz="1400" b="1" dirty="0">
                          <a:solidFill>
                            <a:srgbClr val="FFFFFF"/>
                          </a:solidFill>
                        </a:rPr>
                        <a:t>Etapa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1E8A94"/>
                    </a:solidFill>
                  </a:tcPr>
                </a:tc>
                <a:tc>
                  <a:txBody>
                    <a:bodyPr/>
                    <a:lstStyle/>
                    <a:p>
                      <a:pPr indent="0" marL="0">
                        <a:buNone/>
                      </a:pPr>
                      <a:r>
                        <a:rPr lang="en-US" sz="1400" b="1" dirty="0">
                          <a:solidFill>
                            <a:srgbClr val="FFFFFF"/>
                          </a:solidFill>
                        </a:rPr>
                        <a:t>Necesita antes…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1E8A94"/>
                    </a:solidFill>
                  </a:tcPr>
                </a:tc>
                <a:tc>
                  <a:txBody>
                    <a:bodyPr/>
                    <a:lstStyle/>
                    <a:p>
                      <a:pPr indent="0" marL="0">
                        <a:buNone/>
                      </a:pPr>
                      <a:r>
                        <a:rPr lang="en-US" sz="1400" b="1" dirty="0">
                          <a:solidFill>
                            <a:srgbClr val="FFFFFF"/>
                          </a:solidFill>
                        </a:rPr>
                        <a:t>Si te la saltas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1E8A94"/>
                    </a:solidFill>
                  </a:tcPr>
                </a:tc>
              </a:tr>
              <a:tr h="457200">
                <a:tc>
                  <a:txBody>
                    <a:bodyPr/>
                    <a:lstStyle/>
                    <a:p>
                      <a:pPr indent="0" marL="0">
                        <a:buNone/>
                      </a:pPr>
                      <a:r>
                        <a:rPr lang="en-US" sz="1400" b="1" dirty="0">
                          <a:solidFill>
                            <a:srgbClr val="1D3B4F"/>
                          </a:solidFill>
                        </a:rPr>
                        <a:t>Dilatar capilares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Señal química (alarma)</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Los vasos no reciben ninguna orden</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D3B4F"/>
                          </a:solidFill>
                        </a:rPr>
                        <a:t>Llamar neutrófilos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Paredes del capilar abiertas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Pasan de largo: no pueden salir</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r>
              <a:tr h="457200">
                <a:tc>
                  <a:txBody>
                    <a:bodyPr/>
                    <a:lstStyle/>
                    <a:p>
                      <a:pPr indent="0" marL="0">
                        <a:buNone/>
                      </a:pPr>
                      <a:r>
                        <a:rPr lang="en-US" sz="1400" b="1" dirty="0">
                          <a:solidFill>
                            <a:srgbClr val="1D3B4F"/>
                          </a:solidFill>
                        </a:rPr>
                        <a:t>Fagocitosis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Neutrófilos en el tejido</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Los macrófagos solos no alcanzan</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D3B4F"/>
                          </a:solidFill>
                        </a:rPr>
                        <a:t>Limpiar restos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Restos que limpiar</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c>
                  <a:txBody>
                    <a:bodyPr/>
                    <a:lstStyle/>
                    <a:p>
                      <a:pPr indent="0" marL="0">
                        <a:buNone/>
                      </a:pPr>
                      <a:r>
                        <a:rPr lang="en-US" sz="1400" dirty="0">
                          <a:solidFill>
                            <a:srgbClr val="1D3B4F"/>
                          </a:solidFill>
                        </a:rPr>
                        <a:t>Se limpia después del combate</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D6EEF0"/>
                    </a:solidFill>
                  </a:tcPr>
                </a:tc>
              </a:tr>
              <a:tr h="457200">
                <a:tc>
                  <a:txBody>
                    <a:bodyPr/>
                    <a:lstStyle/>
                    <a:p>
                      <a:pPr indent="0" marL="0">
                        <a:buNone/>
                      </a:pPr>
                      <a:r>
                        <a:rPr lang="en-US" sz="1400" b="1" dirty="0">
                          <a:solidFill>
                            <a:srgbClr val="1D3B4F"/>
                          </a:solidFill>
                        </a:rPr>
                        <a:t>Apagar</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Sin microbios ni restos</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c>
                  <a:txBody>
                    <a:bodyPr/>
                    <a:lstStyle/>
                    <a:p>
                      <a:pPr indent="0" marL="0">
                        <a:buNone/>
                      </a:pPr>
                      <a:r>
                        <a:rPr lang="en-US" sz="1400" dirty="0">
                          <a:solidFill>
                            <a:srgbClr val="1D3B4F"/>
                          </a:solidFill>
                        </a:rPr>
                        <a:t>Los microbios vuelven a multiplicarse</a:t>
                      </a:r>
                      <a:endParaRPr lang="en-US" sz="1400" dirty="0"/>
                    </a:p>
                  </a:txBody>
                  <a:tcPr marL="91440" marR="91440" marT="36576" marB="36576" anchor="ctr">
                    <a:lnL w="9525" cap="flat" cmpd="sng" algn="ctr">
                      <a:solidFill>
                        <a:srgbClr val="C9DDE3"/>
                      </a:solidFill>
                      <a:prstDash val="solid"/>
                      <a:round/>
                      <a:headEnd type="none" w="med" len="med"/>
                      <a:tailEnd type="none" w="med" len="med"/>
                    </a:lnL>
                    <a:lnR w="9525" cap="flat" cmpd="sng" algn="ctr">
                      <a:solidFill>
                        <a:srgbClr val="C9DDE3"/>
                      </a:solidFill>
                      <a:prstDash val="solid"/>
                      <a:round/>
                      <a:headEnd type="none" w="med" len="med"/>
                      <a:tailEnd type="none" w="med" len="med"/>
                    </a:lnR>
                    <a:lnT w="9525" cap="flat" cmpd="sng" algn="ctr">
                      <a:solidFill>
                        <a:srgbClr val="C9DDE3"/>
                      </a:solidFill>
                      <a:prstDash val="solid"/>
                      <a:round/>
                      <a:headEnd type="none" w="med" len="med"/>
                      <a:tailEnd type="none" w="med" len="med"/>
                    </a:lnT>
                    <a:lnB w="9525" cap="flat" cmpd="sng" algn="ctr">
                      <a:solidFill>
                        <a:srgbClr val="C9DDE3"/>
                      </a:solidFill>
                      <a:prstDash val="solid"/>
                      <a:round/>
                      <a:headEnd type="none" w="med" len="med"/>
                      <a:tailEnd type="none" w="med" len="med"/>
                    </a:lnB>
                    <a:solidFill>
                      <a:srgbClr val="FFFFFF"/>
                    </a:solidFill>
                  </a:tcPr>
                </a:tc>
              </a:tr>
            </a:tbl>
          </a:graphicData>
        </a:graphic>
      </p:graphicFrame>
      <p:sp>
        <p:nvSpPr>
          <p:cNvPr id="5" name="Pregunta"/>
          <p:cNvSpPr/>
          <p:nvPr/>
        </p:nvSpPr>
        <p:spPr>
          <a:xfrm>
            <a:off x="457200" y="4023360"/>
            <a:ext cx="8229600" cy="502920"/>
          </a:xfrm>
          <a:prstGeom prst="roundRect">
            <a:avLst>
              <a:gd name="adj" fmla="val 18182"/>
            </a:avLst>
          </a:prstGeom>
          <a:solidFill>
            <a:srgbClr val="FDE4E2"/>
          </a:solidFill>
          <a:ln/>
        </p:spPr>
      </p:sp>
      <p:sp>
        <p:nvSpPr>
          <p:cNvPr id="6" name="Text 2"/>
          <p:cNvSpPr txBox="1"/>
          <p:nvPr/>
        </p:nvSpPr>
        <p:spPr>
          <a:xfrm>
            <a:off x="594360" y="411480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o pregunta"/>
          <p:cNvSpPr txBox="1"/>
          <p:nvPr/>
        </p:nvSpPr>
        <p:spPr>
          <a:xfrm>
            <a:off x="1051560" y="402336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Por eso en el juego una orden sin causa no tiene efecto y gasta energía.</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Lo que ves y lo que ocurre</a:t>
            </a:r>
            <a:endParaRPr lang="en-US" sz="2800" dirty="0"/>
          </a:p>
        </p:txBody>
      </p:sp>
      <p:sp>
        <p:nvSpPr>
          <p:cNvPr id="4" name="Fila Rubor"/>
          <p:cNvSpPr/>
          <p:nvPr/>
        </p:nvSpPr>
        <p:spPr>
          <a:xfrm>
            <a:off x="457200" y="1051560"/>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5" name="Círculo ícono"/>
          <p:cNvSpPr/>
          <p:nvPr/>
        </p:nvSpPr>
        <p:spPr>
          <a:xfrm>
            <a:off x="566928" y="1106424"/>
            <a:ext cx="402336" cy="402336"/>
          </a:xfrm>
          <a:prstGeom prst="ellipse">
            <a:avLst/>
          </a:prstGeom>
          <a:solidFill>
            <a:srgbClr val="D2504B"/>
          </a:solidFill>
          <a:ln/>
        </p:spPr>
      </p:sp>
      <p:pic>
        <p:nvPicPr>
          <p:cNvPr id="6" name="Image 0" descr="FaTint">    </p:cNvPr>
          <p:cNvPicPr>
            <a:picLocks noChangeAspect="1"/>
          </p:cNvPicPr>
          <p:nvPr/>
        </p:nvPicPr>
        <p:blipFill>
          <a:blip r:embed="rId1"/>
          <a:stretch>
            <a:fillRect/>
          </a:stretch>
        </p:blipFill>
        <p:spPr>
          <a:xfrm>
            <a:off x="667512" y="1207008"/>
            <a:ext cx="201168" cy="201168"/>
          </a:xfrm>
          <a:prstGeom prst="rect">
            <a:avLst/>
          </a:prstGeom>
        </p:spPr>
      </p:pic>
      <p:sp>
        <p:nvSpPr>
          <p:cNvPr id="7" name="Text 3"/>
          <p:cNvSpPr txBox="1"/>
          <p:nvPr/>
        </p:nvSpPr>
        <p:spPr>
          <a:xfrm>
            <a:off x="1143000" y="1051560"/>
            <a:ext cx="1554480" cy="512064"/>
          </a:xfrm>
          <a:prstGeom prst="rect">
            <a:avLst/>
          </a:prstGeom>
          <a:noFill/>
          <a:ln/>
        </p:spPr>
        <p:txBody>
          <a:bodyPr wrap="square" lIns="0" tIns="0" rIns="0" bIns="0" rtlCol="0" anchor="ctr"/>
          <a:lstStyle/>
          <a:p>
            <a:pPr indent="0" marL="0">
              <a:buNone/>
            </a:pPr>
            <a:r>
              <a:rPr lang="en-US" sz="1600" b="1" dirty="0">
                <a:solidFill>
                  <a:schemeClr val="tx1"/>
                </a:solidFill>
              </a:rPr>
              <a:t>Rubor</a:t>
            </a:r>
            <a:endParaRPr lang="en-US" sz="1600" dirty="0"/>
          </a:p>
        </p:txBody>
      </p:sp>
      <p:sp>
        <p:nvSpPr>
          <p:cNvPr id="8" name="Text 4"/>
          <p:cNvSpPr txBox="1"/>
          <p:nvPr/>
        </p:nvSpPr>
        <p:spPr>
          <a:xfrm>
            <a:off x="2697480" y="1051560"/>
            <a:ext cx="5897880" cy="512064"/>
          </a:xfrm>
          <a:prstGeom prst="rect">
            <a:avLst/>
          </a:prstGeom>
          <a:noFill/>
          <a:ln/>
        </p:spPr>
        <p:txBody>
          <a:bodyPr wrap="square" lIns="0" tIns="0" rIns="0" bIns="0" rtlCol="0" anchor="ctr"/>
          <a:lstStyle/>
          <a:p>
            <a:pPr indent="0" marL="0">
              <a:buNone/>
            </a:pPr>
            <a:r>
              <a:rPr lang="en-US" sz="1400" dirty="0">
                <a:solidFill>
                  <a:schemeClr val="tx1"/>
                </a:solidFill>
              </a:rPr>
              <a:t>Los capilares se dilatan y llega más sangre a la zona.</a:t>
            </a:r>
            <a:endParaRPr lang="en-US" sz="1400" dirty="0"/>
          </a:p>
        </p:txBody>
      </p:sp>
      <p:sp>
        <p:nvSpPr>
          <p:cNvPr id="9" name="Fila Calor"/>
          <p:cNvSpPr/>
          <p:nvPr/>
        </p:nvSpPr>
        <p:spPr>
          <a:xfrm>
            <a:off x="457200" y="1655064"/>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10" name="Círculo ícono"/>
          <p:cNvSpPr/>
          <p:nvPr/>
        </p:nvSpPr>
        <p:spPr>
          <a:xfrm>
            <a:off x="566928" y="1709928"/>
            <a:ext cx="402336" cy="402336"/>
          </a:xfrm>
          <a:prstGeom prst="ellipse">
            <a:avLst/>
          </a:prstGeom>
          <a:solidFill>
            <a:srgbClr val="E0A020"/>
          </a:solidFill>
          <a:ln/>
        </p:spPr>
      </p:sp>
      <p:pic>
        <p:nvPicPr>
          <p:cNvPr id="11" name="Image 1" descr="FaThermometerHalf">    </p:cNvPr>
          <p:cNvPicPr>
            <a:picLocks noChangeAspect="1"/>
          </p:cNvPicPr>
          <p:nvPr/>
        </p:nvPicPr>
        <p:blipFill>
          <a:blip r:embed="rId2"/>
          <a:stretch>
            <a:fillRect/>
          </a:stretch>
        </p:blipFill>
        <p:spPr>
          <a:xfrm>
            <a:off x="667512" y="1810512"/>
            <a:ext cx="201168" cy="201168"/>
          </a:xfrm>
          <a:prstGeom prst="rect">
            <a:avLst/>
          </a:prstGeom>
        </p:spPr>
      </p:pic>
      <p:sp>
        <p:nvSpPr>
          <p:cNvPr id="12" name="Text 7"/>
          <p:cNvSpPr txBox="1"/>
          <p:nvPr/>
        </p:nvSpPr>
        <p:spPr>
          <a:xfrm>
            <a:off x="1143000" y="1655064"/>
            <a:ext cx="1554480" cy="512064"/>
          </a:xfrm>
          <a:prstGeom prst="rect">
            <a:avLst/>
          </a:prstGeom>
          <a:noFill/>
          <a:ln/>
        </p:spPr>
        <p:txBody>
          <a:bodyPr wrap="square" lIns="0" tIns="0" rIns="0" bIns="0" rtlCol="0" anchor="ctr"/>
          <a:lstStyle/>
          <a:p>
            <a:pPr indent="0" marL="0">
              <a:buNone/>
            </a:pPr>
            <a:r>
              <a:rPr lang="en-US" sz="1600" b="1" dirty="0">
                <a:solidFill>
                  <a:schemeClr val="tx1"/>
                </a:solidFill>
              </a:rPr>
              <a:t>Calor</a:t>
            </a:r>
            <a:endParaRPr lang="en-US" sz="1600" dirty="0"/>
          </a:p>
        </p:txBody>
      </p:sp>
      <p:sp>
        <p:nvSpPr>
          <p:cNvPr id="13" name="Text 8"/>
          <p:cNvSpPr txBox="1"/>
          <p:nvPr/>
        </p:nvSpPr>
        <p:spPr>
          <a:xfrm>
            <a:off x="2697480" y="1655064"/>
            <a:ext cx="5897880" cy="512064"/>
          </a:xfrm>
          <a:prstGeom prst="rect">
            <a:avLst/>
          </a:prstGeom>
          <a:noFill/>
          <a:ln/>
        </p:spPr>
        <p:txBody>
          <a:bodyPr wrap="square" lIns="0" tIns="0" rIns="0" bIns="0" rtlCol="0" anchor="ctr"/>
          <a:lstStyle/>
          <a:p>
            <a:pPr indent="0" marL="0">
              <a:buNone/>
            </a:pPr>
            <a:r>
              <a:rPr lang="en-US" sz="1400" dirty="0">
                <a:solidFill>
                  <a:schemeClr val="tx1"/>
                </a:solidFill>
              </a:rPr>
              <a:t>La sangre extra calienta la zona.</a:t>
            </a:r>
            <a:endParaRPr lang="en-US" sz="1400" dirty="0"/>
          </a:p>
        </p:txBody>
      </p:sp>
      <p:sp>
        <p:nvSpPr>
          <p:cNvPr id="14" name="Fila Hinchazón"/>
          <p:cNvSpPr/>
          <p:nvPr/>
        </p:nvSpPr>
        <p:spPr>
          <a:xfrm>
            <a:off x="457200" y="2258568"/>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15" name="Círculo ícono"/>
          <p:cNvSpPr/>
          <p:nvPr/>
        </p:nvSpPr>
        <p:spPr>
          <a:xfrm>
            <a:off x="566928" y="2313432"/>
            <a:ext cx="402336" cy="402336"/>
          </a:xfrm>
          <a:prstGeom prst="ellipse">
            <a:avLst/>
          </a:prstGeom>
          <a:solidFill>
            <a:srgbClr val="7B68C8"/>
          </a:solidFill>
          <a:ln/>
        </p:spPr>
      </p:sp>
      <p:pic>
        <p:nvPicPr>
          <p:cNvPr id="16" name="Image 2" descr="FaCircle">    </p:cNvPr>
          <p:cNvPicPr>
            <a:picLocks noChangeAspect="1"/>
          </p:cNvPicPr>
          <p:nvPr/>
        </p:nvPicPr>
        <p:blipFill>
          <a:blip r:embed="rId3"/>
          <a:stretch>
            <a:fillRect/>
          </a:stretch>
        </p:blipFill>
        <p:spPr>
          <a:xfrm>
            <a:off x="667512" y="2414016"/>
            <a:ext cx="201168" cy="201168"/>
          </a:xfrm>
          <a:prstGeom prst="rect">
            <a:avLst/>
          </a:prstGeom>
        </p:spPr>
      </p:pic>
      <p:sp>
        <p:nvSpPr>
          <p:cNvPr id="17" name="Text 11"/>
          <p:cNvSpPr txBox="1"/>
          <p:nvPr/>
        </p:nvSpPr>
        <p:spPr>
          <a:xfrm>
            <a:off x="1143000" y="2258568"/>
            <a:ext cx="1554480" cy="512064"/>
          </a:xfrm>
          <a:prstGeom prst="rect">
            <a:avLst/>
          </a:prstGeom>
          <a:noFill/>
          <a:ln/>
        </p:spPr>
        <p:txBody>
          <a:bodyPr wrap="square" lIns="0" tIns="0" rIns="0" bIns="0" rtlCol="0" anchor="ctr"/>
          <a:lstStyle/>
          <a:p>
            <a:pPr indent="0" marL="0">
              <a:buNone/>
            </a:pPr>
            <a:r>
              <a:rPr lang="en-US" sz="1600" b="1" dirty="0">
                <a:solidFill>
                  <a:schemeClr val="tx1"/>
                </a:solidFill>
              </a:rPr>
              <a:t>Hinchazón</a:t>
            </a:r>
            <a:endParaRPr lang="en-US" sz="1600" dirty="0"/>
          </a:p>
        </p:txBody>
      </p:sp>
      <p:sp>
        <p:nvSpPr>
          <p:cNvPr id="18" name="Text 12"/>
          <p:cNvSpPr txBox="1"/>
          <p:nvPr/>
        </p:nvSpPr>
        <p:spPr>
          <a:xfrm>
            <a:off x="2697480" y="2258568"/>
            <a:ext cx="5897880" cy="512064"/>
          </a:xfrm>
          <a:prstGeom prst="rect">
            <a:avLst/>
          </a:prstGeom>
          <a:noFill/>
          <a:ln/>
        </p:spPr>
        <p:txBody>
          <a:bodyPr wrap="square" lIns="0" tIns="0" rIns="0" bIns="0" rtlCol="0" anchor="ctr"/>
          <a:lstStyle/>
          <a:p>
            <a:pPr indent="0" marL="0">
              <a:buNone/>
            </a:pPr>
            <a:r>
              <a:rPr lang="en-US" sz="1400" dirty="0">
                <a:solidFill>
                  <a:schemeClr val="tx1"/>
                </a:solidFill>
              </a:rPr>
              <a:t>Sale líquido de los capilares hacia el tejido.</a:t>
            </a:r>
            <a:endParaRPr lang="en-US" sz="1400" dirty="0"/>
          </a:p>
        </p:txBody>
      </p:sp>
      <p:sp>
        <p:nvSpPr>
          <p:cNvPr id="19" name="Fila Dolor"/>
          <p:cNvSpPr/>
          <p:nvPr/>
        </p:nvSpPr>
        <p:spPr>
          <a:xfrm>
            <a:off x="457200" y="2862072"/>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20" name="Círculo ícono"/>
          <p:cNvSpPr/>
          <p:nvPr/>
        </p:nvSpPr>
        <p:spPr>
          <a:xfrm>
            <a:off x="566928" y="2916936"/>
            <a:ext cx="402336" cy="402336"/>
          </a:xfrm>
          <a:prstGeom prst="ellipse">
            <a:avLst/>
          </a:prstGeom>
          <a:solidFill>
            <a:srgbClr val="1E8A94"/>
          </a:solidFill>
          <a:ln/>
        </p:spPr>
      </p:sp>
      <p:pic>
        <p:nvPicPr>
          <p:cNvPr id="21" name="Image 3" descr="FaBolt">    </p:cNvPr>
          <p:cNvPicPr>
            <a:picLocks noChangeAspect="1"/>
          </p:cNvPicPr>
          <p:nvPr/>
        </p:nvPicPr>
        <p:blipFill>
          <a:blip r:embed="rId4"/>
          <a:stretch>
            <a:fillRect/>
          </a:stretch>
        </p:blipFill>
        <p:spPr>
          <a:xfrm>
            <a:off x="667512" y="3017520"/>
            <a:ext cx="201168" cy="201168"/>
          </a:xfrm>
          <a:prstGeom prst="rect">
            <a:avLst/>
          </a:prstGeom>
        </p:spPr>
      </p:pic>
      <p:sp>
        <p:nvSpPr>
          <p:cNvPr id="22" name="Text 15"/>
          <p:cNvSpPr txBox="1"/>
          <p:nvPr/>
        </p:nvSpPr>
        <p:spPr>
          <a:xfrm>
            <a:off x="1143000" y="2862072"/>
            <a:ext cx="1554480" cy="512064"/>
          </a:xfrm>
          <a:prstGeom prst="rect">
            <a:avLst/>
          </a:prstGeom>
          <a:noFill/>
          <a:ln/>
        </p:spPr>
        <p:txBody>
          <a:bodyPr wrap="square" lIns="0" tIns="0" rIns="0" bIns="0" rtlCol="0" anchor="ctr"/>
          <a:lstStyle/>
          <a:p>
            <a:pPr indent="0" marL="0">
              <a:buNone/>
            </a:pPr>
            <a:r>
              <a:rPr lang="en-US" sz="1600" b="1" dirty="0">
                <a:solidFill>
                  <a:schemeClr val="tx1"/>
                </a:solidFill>
              </a:rPr>
              <a:t>Dolor</a:t>
            </a:r>
            <a:endParaRPr lang="en-US" sz="1600" dirty="0"/>
          </a:p>
        </p:txBody>
      </p:sp>
      <p:sp>
        <p:nvSpPr>
          <p:cNvPr id="23" name="Text 16"/>
          <p:cNvSpPr txBox="1"/>
          <p:nvPr/>
        </p:nvSpPr>
        <p:spPr>
          <a:xfrm>
            <a:off x="2697480" y="2862072"/>
            <a:ext cx="5897880" cy="512064"/>
          </a:xfrm>
          <a:prstGeom prst="rect">
            <a:avLst/>
          </a:prstGeom>
          <a:noFill/>
          <a:ln/>
        </p:spPr>
        <p:txBody>
          <a:bodyPr wrap="square" lIns="0" tIns="0" rIns="0" bIns="0" rtlCol="0" anchor="ctr"/>
          <a:lstStyle/>
          <a:p>
            <a:pPr indent="0" marL="0">
              <a:buNone/>
            </a:pPr>
            <a:r>
              <a:rPr lang="en-US" sz="1400" dirty="0">
                <a:solidFill>
                  <a:schemeClr val="tx1"/>
                </a:solidFill>
              </a:rPr>
              <a:t>Las señales químicas y la presión activan los nervios.</a:t>
            </a:r>
            <a:endParaRPr lang="en-US" sz="1400" dirty="0"/>
          </a:p>
        </p:txBody>
      </p:sp>
      <p:sp>
        <p:nvSpPr>
          <p:cNvPr id="24" name="Fila Fiebre"/>
          <p:cNvSpPr/>
          <p:nvPr/>
        </p:nvSpPr>
        <p:spPr>
          <a:xfrm>
            <a:off x="457200" y="3465576"/>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25" name="Círculo ícono"/>
          <p:cNvSpPr/>
          <p:nvPr/>
        </p:nvSpPr>
        <p:spPr>
          <a:xfrm>
            <a:off x="566928" y="3520440"/>
            <a:ext cx="402336" cy="402336"/>
          </a:xfrm>
          <a:prstGeom prst="ellipse">
            <a:avLst/>
          </a:prstGeom>
          <a:solidFill>
            <a:srgbClr val="3E9E78"/>
          </a:solidFill>
          <a:ln/>
        </p:spPr>
      </p:sp>
      <p:pic>
        <p:nvPicPr>
          <p:cNvPr id="26" name="Image 4" descr="FaHeartbeat">    </p:cNvPr>
          <p:cNvPicPr>
            <a:picLocks noChangeAspect="1"/>
          </p:cNvPicPr>
          <p:nvPr/>
        </p:nvPicPr>
        <p:blipFill>
          <a:blip r:embed="rId5"/>
          <a:stretch>
            <a:fillRect/>
          </a:stretch>
        </p:blipFill>
        <p:spPr>
          <a:xfrm>
            <a:off x="667512" y="3621024"/>
            <a:ext cx="201168" cy="201168"/>
          </a:xfrm>
          <a:prstGeom prst="rect">
            <a:avLst/>
          </a:prstGeom>
        </p:spPr>
      </p:pic>
      <p:sp>
        <p:nvSpPr>
          <p:cNvPr id="27" name="Text 19"/>
          <p:cNvSpPr txBox="1"/>
          <p:nvPr/>
        </p:nvSpPr>
        <p:spPr>
          <a:xfrm>
            <a:off x="1143000" y="3465576"/>
            <a:ext cx="1554480" cy="512064"/>
          </a:xfrm>
          <a:prstGeom prst="rect">
            <a:avLst/>
          </a:prstGeom>
          <a:noFill/>
          <a:ln/>
        </p:spPr>
        <p:txBody>
          <a:bodyPr wrap="square" lIns="0" tIns="0" rIns="0" bIns="0" rtlCol="0" anchor="ctr"/>
          <a:lstStyle/>
          <a:p>
            <a:pPr indent="0" marL="0">
              <a:buNone/>
            </a:pPr>
            <a:r>
              <a:rPr lang="en-US" sz="1600" b="1" dirty="0">
                <a:solidFill>
                  <a:schemeClr val="tx1"/>
                </a:solidFill>
              </a:rPr>
              <a:t>Fiebre</a:t>
            </a:r>
            <a:endParaRPr lang="en-US" sz="1600" dirty="0"/>
          </a:p>
        </p:txBody>
      </p:sp>
      <p:sp>
        <p:nvSpPr>
          <p:cNvPr id="28" name="Text 20"/>
          <p:cNvSpPr txBox="1"/>
          <p:nvPr/>
        </p:nvSpPr>
        <p:spPr>
          <a:xfrm>
            <a:off x="2697480" y="3465576"/>
            <a:ext cx="5897880" cy="512064"/>
          </a:xfrm>
          <a:prstGeom prst="rect">
            <a:avLst/>
          </a:prstGeom>
          <a:noFill/>
          <a:ln/>
        </p:spPr>
        <p:txBody>
          <a:bodyPr wrap="square" lIns="0" tIns="0" rIns="0" bIns="0" rtlCol="0" anchor="ctr"/>
          <a:lstStyle/>
          <a:p>
            <a:pPr indent="0" marL="0">
              <a:buNone/>
            </a:pPr>
            <a:r>
              <a:rPr lang="en-US" sz="1400" dirty="0">
                <a:solidFill>
                  <a:schemeClr val="tx1"/>
                </a:solidFill>
              </a:rPr>
              <a:t>Señales químicas llegan al cerebro y sube la temperatura del cuerpo.</a:t>
            </a:r>
            <a:endParaRPr lang="en-US" sz="1400" dirty="0"/>
          </a:p>
        </p:txBody>
      </p:sp>
      <p:sp>
        <p:nvSpPr>
          <p:cNvPr id="29" name="Pregunta"/>
          <p:cNvSpPr/>
          <p:nvPr/>
        </p:nvSpPr>
        <p:spPr>
          <a:xfrm>
            <a:off x="457200" y="4160520"/>
            <a:ext cx="8229600" cy="502920"/>
          </a:xfrm>
          <a:prstGeom prst="roundRect">
            <a:avLst>
              <a:gd name="adj" fmla="val 18182"/>
            </a:avLst>
          </a:prstGeom>
          <a:solidFill>
            <a:srgbClr val="FDE4E2"/>
          </a:solidFill>
          <a:ln/>
        </p:spPr>
      </p:sp>
      <p:sp>
        <p:nvSpPr>
          <p:cNvPr id="30" name="Text 22"/>
          <p:cNvSpPr txBox="1"/>
          <p:nvPr/>
        </p:nvSpPr>
        <p:spPr>
          <a:xfrm>
            <a:off x="594360" y="425196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1" name="Texto pregunta"/>
          <p:cNvSpPr txBox="1"/>
          <p:nvPr/>
        </p:nvSpPr>
        <p:spPr>
          <a:xfrm>
            <a:off x="1051560" y="416052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¿Qué signo aparece primero en el juego? ¿Por qué ese y no otro?</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El pus no es suciedad: es evidencia del combate</a:t>
            </a:r>
            <a:endParaRPr lang="en-US" sz="2800" dirty="0"/>
          </a:p>
        </p:txBody>
      </p:sp>
      <p:sp>
        <p:nvSpPr>
          <p:cNvPr id="4" name="A1 Ingrediente"/>
          <p:cNvSpPr/>
          <p:nvPr/>
        </p:nvSpPr>
        <p:spPr>
          <a:xfrm>
            <a:off x="457200" y="1143000"/>
            <a:ext cx="2011680" cy="1005840"/>
          </a:xfrm>
          <a:prstGeom prst="roundRect">
            <a:avLst>
              <a:gd name="adj" fmla="val 10909"/>
            </a:avLst>
          </a:prstGeom>
          <a:solidFill>
            <a:srgbClr val="FFFFFF"/>
          </a:solidFill>
          <a:ln/>
          <a:effectLst>
            <a:outerShdw sx="100000" sy="100000" kx="0" ky="0" algn="bl" rotWithShape="0" blurRad="76200" dist="25400" dir="5400000">
              <a:srgbClr val="1D3B4F">
                <a:alpha val="12000"/>
              </a:srgbClr>
            </a:outerShdw>
          </a:effectLst>
        </p:spPr>
      </p:sp>
      <p:sp>
        <p:nvSpPr>
          <p:cNvPr id="5" name="A1 Punto"/>
          <p:cNvSpPr/>
          <p:nvPr/>
        </p:nvSpPr>
        <p:spPr>
          <a:xfrm>
            <a:off x="594360" y="1536192"/>
            <a:ext cx="219456" cy="219456"/>
          </a:xfrm>
          <a:prstGeom prst="ellipse">
            <a:avLst/>
          </a:prstGeom>
          <a:solidFill>
            <a:srgbClr val="D2504B"/>
          </a:solidFill>
          <a:ln/>
        </p:spPr>
      </p:sp>
      <p:sp>
        <p:nvSpPr>
          <p:cNvPr id="6" name="A1 Texto ingrediente"/>
          <p:cNvSpPr txBox="1"/>
          <p:nvPr/>
        </p:nvSpPr>
        <p:spPr>
          <a:xfrm>
            <a:off x="914400" y="1143000"/>
            <a:ext cx="1463040" cy="1005840"/>
          </a:xfrm>
          <a:prstGeom prst="rect">
            <a:avLst/>
          </a:prstGeom>
          <a:noFill/>
          <a:ln/>
        </p:spPr>
        <p:txBody>
          <a:bodyPr wrap="square" lIns="0" tIns="0" rIns="0" bIns="0" rtlCol="0" anchor="ctr"/>
          <a:lstStyle/>
          <a:p>
            <a:pPr indent="0" marL="0">
              <a:buNone/>
            </a:pPr>
            <a:r>
              <a:rPr lang="en-US" sz="1600" b="1" dirty="0">
                <a:solidFill>
                  <a:schemeClr val="tx1"/>
                </a:solidFill>
              </a:rPr>
              <a:t>Líquido</a:t>
            </a:r>
            <a:endParaRPr lang="en-US" sz="1600" dirty="0"/>
          </a:p>
        </p:txBody>
      </p:sp>
      <p:sp>
        <p:nvSpPr>
          <p:cNvPr id="7" name="A2 Signo más"/>
          <p:cNvSpPr txBox="1"/>
          <p:nvPr/>
        </p:nvSpPr>
        <p:spPr>
          <a:xfrm>
            <a:off x="2468880" y="1143000"/>
            <a:ext cx="274320" cy="100584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8" name="A2 Ingrediente"/>
          <p:cNvSpPr/>
          <p:nvPr/>
        </p:nvSpPr>
        <p:spPr>
          <a:xfrm>
            <a:off x="2743200" y="1143000"/>
            <a:ext cx="2011680" cy="1005840"/>
          </a:xfrm>
          <a:prstGeom prst="roundRect">
            <a:avLst>
              <a:gd name="adj" fmla="val 10909"/>
            </a:avLst>
          </a:prstGeom>
          <a:solidFill>
            <a:srgbClr val="FFFFFF"/>
          </a:solidFill>
          <a:ln/>
          <a:effectLst>
            <a:outerShdw sx="100000" sy="100000" kx="0" ky="0" algn="bl" rotWithShape="0" blurRad="76200" dist="25400" dir="5400000">
              <a:srgbClr val="1D3B4F">
                <a:alpha val="12000"/>
              </a:srgbClr>
            </a:outerShdw>
          </a:effectLst>
        </p:spPr>
      </p:sp>
      <p:sp>
        <p:nvSpPr>
          <p:cNvPr id="9" name="A2 Punto"/>
          <p:cNvSpPr/>
          <p:nvPr/>
        </p:nvSpPr>
        <p:spPr>
          <a:xfrm>
            <a:off x="2880360" y="1536192"/>
            <a:ext cx="219456" cy="219456"/>
          </a:xfrm>
          <a:prstGeom prst="ellipse">
            <a:avLst/>
          </a:prstGeom>
          <a:solidFill>
            <a:srgbClr val="7B68C8"/>
          </a:solidFill>
          <a:ln/>
        </p:spPr>
      </p:sp>
      <p:sp>
        <p:nvSpPr>
          <p:cNvPr id="10" name="A2 Texto ingrediente"/>
          <p:cNvSpPr txBox="1"/>
          <p:nvPr/>
        </p:nvSpPr>
        <p:spPr>
          <a:xfrm>
            <a:off x="3200400" y="1143000"/>
            <a:ext cx="1463040" cy="1005840"/>
          </a:xfrm>
          <a:prstGeom prst="rect">
            <a:avLst/>
          </a:prstGeom>
          <a:noFill/>
          <a:ln/>
        </p:spPr>
        <p:txBody>
          <a:bodyPr wrap="square" lIns="0" tIns="0" rIns="0" bIns="0" rtlCol="0" anchor="ctr"/>
          <a:lstStyle/>
          <a:p>
            <a:pPr indent="0" marL="0">
              <a:buNone/>
            </a:pPr>
            <a:r>
              <a:rPr lang="en-US" sz="1600" b="1" dirty="0">
                <a:solidFill>
                  <a:schemeClr val="tx1"/>
                </a:solidFill>
              </a:rPr>
              <a:t>Neutrófilos muertos</a:t>
            </a:r>
            <a:endParaRPr lang="en-US" sz="1600" dirty="0"/>
          </a:p>
        </p:txBody>
      </p:sp>
      <p:sp>
        <p:nvSpPr>
          <p:cNvPr id="11" name="A3 Signo más"/>
          <p:cNvSpPr txBox="1"/>
          <p:nvPr/>
        </p:nvSpPr>
        <p:spPr>
          <a:xfrm>
            <a:off x="4754880" y="1143000"/>
            <a:ext cx="274320" cy="100584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A3 Ingrediente"/>
          <p:cNvSpPr/>
          <p:nvPr/>
        </p:nvSpPr>
        <p:spPr>
          <a:xfrm>
            <a:off x="5029200" y="1143000"/>
            <a:ext cx="2011680" cy="1005840"/>
          </a:xfrm>
          <a:prstGeom prst="roundRect">
            <a:avLst>
              <a:gd name="adj" fmla="val 10909"/>
            </a:avLst>
          </a:prstGeom>
          <a:solidFill>
            <a:srgbClr val="FFFFFF"/>
          </a:solidFill>
          <a:ln/>
          <a:effectLst>
            <a:outerShdw sx="100000" sy="100000" kx="0" ky="0" algn="bl" rotWithShape="0" blurRad="76200" dist="25400" dir="5400000">
              <a:srgbClr val="1D3B4F">
                <a:alpha val="12000"/>
              </a:srgbClr>
            </a:outerShdw>
          </a:effectLst>
        </p:spPr>
      </p:sp>
      <p:sp>
        <p:nvSpPr>
          <p:cNvPr id="13" name="A3 Punto"/>
          <p:cNvSpPr/>
          <p:nvPr/>
        </p:nvSpPr>
        <p:spPr>
          <a:xfrm>
            <a:off x="5166360" y="1536192"/>
            <a:ext cx="219456" cy="219456"/>
          </a:xfrm>
          <a:prstGeom prst="ellipse">
            <a:avLst/>
          </a:prstGeom>
          <a:solidFill>
            <a:srgbClr val="3E9E78"/>
          </a:solidFill>
          <a:ln/>
        </p:spPr>
      </p:sp>
      <p:sp>
        <p:nvSpPr>
          <p:cNvPr id="14" name="A3 Texto ingrediente"/>
          <p:cNvSpPr txBox="1"/>
          <p:nvPr/>
        </p:nvSpPr>
        <p:spPr>
          <a:xfrm>
            <a:off x="5486400" y="1143000"/>
            <a:ext cx="1463040" cy="1005840"/>
          </a:xfrm>
          <a:prstGeom prst="rect">
            <a:avLst/>
          </a:prstGeom>
          <a:noFill/>
          <a:ln/>
        </p:spPr>
        <p:txBody>
          <a:bodyPr wrap="square" lIns="0" tIns="0" rIns="0" bIns="0" rtlCol="0" anchor="ctr"/>
          <a:lstStyle/>
          <a:p>
            <a:pPr indent="0" marL="0">
              <a:buNone/>
            </a:pPr>
            <a:r>
              <a:rPr lang="en-US" sz="1600" b="1" dirty="0">
                <a:solidFill>
                  <a:schemeClr val="tx1"/>
                </a:solidFill>
              </a:rPr>
              <a:t>Microbios destruidos</a:t>
            </a:r>
            <a:endParaRPr lang="en-US" sz="1600" dirty="0"/>
          </a:p>
        </p:txBody>
      </p:sp>
      <p:sp>
        <p:nvSpPr>
          <p:cNvPr id="15" name="A4 Signo igual"/>
          <p:cNvSpPr txBox="1"/>
          <p:nvPr/>
        </p:nvSpPr>
        <p:spPr>
          <a:xfrm>
            <a:off x="7315200" y="1143000"/>
            <a:ext cx="320040" cy="1005840"/>
          </a:xfrm>
          <a:prstGeom prst="rect">
            <a:avLst/>
          </a:prstGeom>
          <a:noFill/>
          <a:ln/>
        </p:spPr>
        <p:txBody>
          <a:bodyPr wrap="square" lIns="0" tIns="0" rIns="0" bIns="0" rtlCol="0" anchor="ctr"/>
          <a:lstStyle/>
          <a:p>
            <a:pPr algn="ctr" indent="0" marL="0">
              <a:buNone/>
            </a:pPr>
            <a:r>
              <a:rPr lang="en-US" sz="2800" b="1" dirty="0">
                <a:solidFill>
                  <a:schemeClr val="accent1"/>
                </a:solidFill>
              </a:rPr>
              <a:t>=</a:t>
            </a:r>
            <a:endParaRPr lang="en-US" sz="2800" dirty="0"/>
          </a:p>
        </p:txBody>
      </p:sp>
      <p:sp>
        <p:nvSpPr>
          <p:cNvPr id="16" name="A4 Pus"/>
          <p:cNvSpPr/>
          <p:nvPr/>
        </p:nvSpPr>
        <p:spPr>
          <a:xfrm>
            <a:off x="7680960" y="1143000"/>
            <a:ext cx="1005840" cy="1005840"/>
          </a:xfrm>
          <a:prstGeom prst="roundRect">
            <a:avLst>
              <a:gd name="adj" fmla="val 9091"/>
            </a:avLst>
          </a:prstGeom>
          <a:solidFill>
            <a:srgbClr val="F3E3A0"/>
          </a:solidFill>
          <a:ln/>
        </p:spPr>
      </p:sp>
      <p:sp>
        <p:nvSpPr>
          <p:cNvPr id="17" name="A4 Texto pus"/>
          <p:cNvSpPr txBox="1"/>
          <p:nvPr/>
        </p:nvSpPr>
        <p:spPr>
          <a:xfrm>
            <a:off x="7680960" y="1143000"/>
            <a:ext cx="1005840" cy="1005840"/>
          </a:xfrm>
          <a:prstGeom prst="rect">
            <a:avLst/>
          </a:prstGeom>
          <a:noFill/>
          <a:ln/>
        </p:spPr>
        <p:txBody>
          <a:bodyPr wrap="square" lIns="0" tIns="0" rIns="0" bIns="0" rtlCol="0" anchor="ctr"/>
          <a:lstStyle/>
          <a:p>
            <a:pPr algn="ctr" indent="0" marL="0">
              <a:buNone/>
            </a:pPr>
            <a:r>
              <a:rPr lang="en-US" sz="1800" b="1" dirty="0">
                <a:solidFill>
                  <a:schemeClr val="tx1"/>
                </a:solidFill>
              </a:rPr>
              <a:t>Pus</a:t>
            </a:r>
            <a:endParaRPr lang="en-US" sz="1800" dirty="0"/>
          </a:p>
        </p:txBody>
      </p:sp>
      <p:sp>
        <p:nvSpPr>
          <p:cNvPr id="18" name="A5 Por qué se forma"/>
          <p:cNvSpPr/>
          <p:nvPr/>
        </p:nvSpPr>
        <p:spPr>
          <a:xfrm>
            <a:off x="457200" y="2377440"/>
            <a:ext cx="4023360" cy="1691640"/>
          </a:xfrm>
          <a:prstGeom prst="roundRect">
            <a:avLst>
              <a:gd name="adj" fmla="val 6486"/>
            </a:avLst>
          </a:prstGeom>
          <a:solidFill>
            <a:srgbClr val="FFFFFF"/>
          </a:solidFill>
          <a:ln/>
          <a:effectLst>
            <a:outerShdw sx="100000" sy="100000" kx="0" ky="0" algn="bl" rotWithShape="0" blurRad="76200" dist="25400" dir="5400000">
              <a:srgbClr val="1D3B4F">
                <a:alpha val="12000"/>
              </a:srgbClr>
            </a:outerShdw>
          </a:effectLst>
        </p:spPr>
      </p:sp>
      <p:sp>
        <p:nvSpPr>
          <p:cNvPr id="19" name="A5 Texto por qué"/>
          <p:cNvSpPr txBox="1"/>
          <p:nvPr/>
        </p:nvSpPr>
        <p:spPr>
          <a:xfrm>
            <a:off x="685800" y="2468880"/>
            <a:ext cx="3611880" cy="150876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Por qué se forma</a:t>
            </a:r>
            <a:endParaRPr lang="en-US" sz="1600" dirty="0"/>
          </a:p>
          <a:p>
            <a:pPr indent="0" marL="0">
              <a:spcAft>
                <a:spcPts val="400"/>
              </a:spcAft>
              <a:buNone/>
            </a:pPr>
            <a:r>
              <a:rPr lang="en-US" sz="1600" dirty="0">
                <a:solidFill>
                  <a:schemeClr val="tx1"/>
                </a:solidFill>
              </a:rPr>
              <a:t>Los neutrófilos viven poco: al combatir mueren y se acumulan junto a los microbios destruidos.</a:t>
            </a:r>
            <a:endParaRPr lang="en-US" sz="1600" dirty="0"/>
          </a:p>
        </p:txBody>
      </p:sp>
      <p:sp>
        <p:nvSpPr>
          <p:cNvPr id="20" name="A6 Quién lo limpia"/>
          <p:cNvSpPr/>
          <p:nvPr/>
        </p:nvSpPr>
        <p:spPr>
          <a:xfrm>
            <a:off x="4663440" y="2377440"/>
            <a:ext cx="4023360" cy="1691640"/>
          </a:xfrm>
          <a:prstGeom prst="roundRect">
            <a:avLst>
              <a:gd name="adj" fmla="val 6486"/>
            </a:avLst>
          </a:prstGeom>
          <a:solidFill>
            <a:srgbClr val="FFFFFF"/>
          </a:solidFill>
          <a:ln/>
          <a:effectLst>
            <a:outerShdw sx="100000" sy="100000" kx="0" ky="0" algn="bl" rotWithShape="0" blurRad="76200" dist="25400" dir="5400000">
              <a:srgbClr val="1D3B4F">
                <a:alpha val="12000"/>
              </a:srgbClr>
            </a:outerShdw>
          </a:effectLst>
        </p:spPr>
      </p:sp>
      <p:sp>
        <p:nvSpPr>
          <p:cNvPr id="21" name="A6 Texto quién"/>
          <p:cNvSpPr txBox="1"/>
          <p:nvPr/>
        </p:nvSpPr>
        <p:spPr>
          <a:xfrm>
            <a:off x="4892040" y="2468880"/>
            <a:ext cx="3611880" cy="150876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Quién lo limpia</a:t>
            </a:r>
            <a:endParaRPr lang="en-US" sz="1600" dirty="0"/>
          </a:p>
          <a:p>
            <a:pPr indent="0" marL="0">
              <a:spcAft>
                <a:spcPts val="400"/>
              </a:spcAft>
              <a:buNone/>
            </a:pPr>
            <a:r>
              <a:rPr lang="en-US" sz="1600" dirty="0">
                <a:solidFill>
                  <a:schemeClr val="tx1"/>
                </a:solidFill>
              </a:rPr>
              <a:t>Los macrófagos retiran el pus y despejan la zona para que el tejido se repare.</a:t>
            </a:r>
            <a:endParaRPr lang="en-US" sz="1600" dirty="0"/>
          </a:p>
        </p:txBody>
      </p:sp>
      <p:sp>
        <p:nvSpPr>
          <p:cNvPr id="22" name="Pregunta"/>
          <p:cNvSpPr/>
          <p:nvPr/>
        </p:nvSpPr>
        <p:spPr>
          <a:xfrm>
            <a:off x="457200" y="4251960"/>
            <a:ext cx="8229600" cy="502920"/>
          </a:xfrm>
          <a:prstGeom prst="roundRect">
            <a:avLst>
              <a:gd name="adj" fmla="val 18182"/>
            </a:avLst>
          </a:prstGeom>
          <a:solidFill>
            <a:srgbClr val="FDE4E2"/>
          </a:solidFill>
          <a:ln/>
        </p:spPr>
      </p:sp>
      <p:sp>
        <p:nvSpPr>
          <p:cNvPr id="23" name="Text 20"/>
          <p:cNvSpPr txBox="1"/>
          <p:nvPr/>
        </p:nvSpPr>
        <p:spPr>
          <a:xfrm>
            <a:off x="594360" y="434340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4" name="Texto pregunta"/>
          <p:cNvSpPr txBox="1"/>
          <p:nvPr/>
        </p:nvSpPr>
        <p:spPr>
          <a:xfrm>
            <a:off x="1051560" y="425196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¿Por qué apretar la herida para sacar el pus es mala idea?</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6" fill="hold">
                      <p:stCondLst>
                        <p:cond delay="indefinite"/>
                      </p:stCondLst>
                      <p:childTnLst>
                        <p:par>
                          <p:cTn id="27"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childTnLst>
                          </p:cTn>
                        </p:par>
                      </p:childTnLst>
                    </p:cTn>
                  </p:par>
                  <p:par>
                    <p:cTn id="51" fill="hold">
                      <p:stCondLst>
                        <p:cond delay="indefinite"/>
                      </p:stCondLst>
                      <p:childTnLst>
                        <p:par>
                          <p:cTn id="52"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childTnLst>
                    </p:cTn>
                  </p:par>
                  <p:par>
                    <p:cTn id="59" fill="hold">
                      <p:stCondLst>
                        <p:cond delay="indefinite"/>
                      </p:stCondLst>
                      <p:childTnLst>
                        <p:par>
                          <p:cTn id="60"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childTnLst>
                    </p:cTn>
                  </p:par>
                  <p:par>
                    <p:cTn id="67" fill="hold">
                      <p:stCondLst>
                        <p:cond delay="indefinite"/>
                      </p:stCondLst>
                      <p:childTnLst>
                        <p:par>
                          <p:cTn id="68"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animBg="1"/>
      <p:bldP spid="10" grpId="0"/>
      <p:bldP spid="11" grpId="0"/>
      <p:bldP spid="12" grpId="0" animBg="1"/>
      <p:bldP spid="13" grpId="0" animBg="1"/>
      <p:bldP spid="14" grpId="0"/>
      <p:bldP spid="15" grpId="0"/>
      <p:bldP spid="16" grpId="0" animBg="1"/>
      <p:bldP spid="17" grpId="0"/>
      <p:bldP spid="18" grpId="0" animBg="1"/>
      <p:bldP spid="19" grpId="0"/>
      <p:bldP spid="20" grpId="0" animBg="1"/>
      <p:bldP spid="21"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Una buena inflamación termina a tiempo</a:t>
            </a:r>
            <a:endParaRPr lang="en-US" sz="2800" dirty="0"/>
          </a:p>
        </p:txBody>
      </p:sp>
      <p:sp>
        <p:nvSpPr>
          <p:cNvPr id="4" name="Tarjeta Muy poca respuesta"/>
          <p:cNvSpPr/>
          <p:nvPr/>
        </p:nvSpPr>
        <p:spPr>
          <a:xfrm>
            <a:off x="457200" y="1143000"/>
            <a:ext cx="2560320" cy="2377440"/>
          </a:xfrm>
          <a:prstGeom prst="roundRect">
            <a:avLst>
              <a:gd name="adj" fmla="val 4615"/>
            </a:avLst>
          </a:prstGeom>
          <a:solidFill>
            <a:srgbClr val="FFFFFF"/>
          </a:solidFill>
          <a:ln/>
          <a:effectLst>
            <a:outerShdw sx="100000" sy="100000" kx="0" ky="0" algn="bl" rotWithShape="0" blurRad="76200" dist="25400" dir="5400000">
              <a:srgbClr val="1D3B4F">
                <a:alpha val="12000"/>
              </a:srgbClr>
            </a:outerShdw>
          </a:effectLst>
        </p:spPr>
      </p:sp>
      <p:sp>
        <p:nvSpPr>
          <p:cNvPr id="5" name="Shape 2"/>
          <p:cNvSpPr/>
          <p:nvPr/>
        </p:nvSpPr>
        <p:spPr>
          <a:xfrm>
            <a:off x="640080" y="1325880"/>
            <a:ext cx="2194560" cy="457200"/>
          </a:xfrm>
          <a:prstGeom prst="roundRect">
            <a:avLst>
              <a:gd name="adj" fmla="val 20000"/>
            </a:avLst>
          </a:prstGeom>
          <a:solidFill>
            <a:srgbClr val="D2504B"/>
          </a:solidFill>
          <a:ln/>
        </p:spPr>
      </p:sp>
      <p:sp>
        <p:nvSpPr>
          <p:cNvPr id="6" name="Text 3"/>
          <p:cNvSpPr txBox="1"/>
          <p:nvPr/>
        </p:nvSpPr>
        <p:spPr>
          <a:xfrm>
            <a:off x="640080" y="1325880"/>
            <a:ext cx="2194560" cy="457200"/>
          </a:xfrm>
          <a:prstGeom prst="rect">
            <a:avLst/>
          </a:prstGeom>
          <a:noFill/>
          <a:ln/>
        </p:spPr>
        <p:txBody>
          <a:bodyPr wrap="square" lIns="0" tIns="0" rIns="0" bIns="0" rtlCol="0" anchor="ctr"/>
          <a:lstStyle/>
          <a:p>
            <a:pPr algn="ctr" indent="0" marL="0">
              <a:buNone/>
            </a:pPr>
            <a:r>
              <a:rPr lang="en-US" sz="1400" b="1" dirty="0">
                <a:solidFill>
                  <a:schemeClr val="bg1"/>
                </a:solidFill>
              </a:rPr>
              <a:t>Muy poca respuesta</a:t>
            </a:r>
            <a:endParaRPr lang="en-US" sz="1400" dirty="0"/>
          </a:p>
        </p:txBody>
      </p:sp>
      <p:sp>
        <p:nvSpPr>
          <p:cNvPr id="7" name="Text 4"/>
          <p:cNvSpPr txBox="1"/>
          <p:nvPr/>
        </p:nvSpPr>
        <p:spPr>
          <a:xfrm>
            <a:off x="685800" y="1965960"/>
            <a:ext cx="2103120" cy="1508760"/>
          </a:xfrm>
          <a:prstGeom prst="rect">
            <a:avLst/>
          </a:prstGeom>
          <a:noFill/>
          <a:ln/>
        </p:spPr>
        <p:txBody>
          <a:bodyPr wrap="square" lIns="0" tIns="0" rIns="0" bIns="0" rtlCol="0" anchor="t"/>
          <a:lstStyle/>
          <a:p>
            <a:pPr indent="0" marL="0">
              <a:buNone/>
            </a:pPr>
            <a:r>
              <a:rPr lang="en-US" sz="1600" dirty="0">
                <a:solidFill>
                  <a:schemeClr val="tx1"/>
                </a:solidFill>
              </a:rPr>
              <a:t>La infección se disemina: los microbios se multiplican más rápido que las defensas.</a:t>
            </a:r>
            <a:endParaRPr lang="en-US" sz="1600" dirty="0"/>
          </a:p>
        </p:txBody>
      </p:sp>
      <p:sp>
        <p:nvSpPr>
          <p:cNvPr id="8" name="Tarjeta Respuesta justa"/>
          <p:cNvSpPr/>
          <p:nvPr/>
        </p:nvSpPr>
        <p:spPr>
          <a:xfrm>
            <a:off x="3291840" y="1143000"/>
            <a:ext cx="2560320" cy="2377440"/>
          </a:xfrm>
          <a:prstGeom prst="roundRect">
            <a:avLst>
              <a:gd name="adj" fmla="val 4615"/>
            </a:avLst>
          </a:prstGeom>
          <a:solidFill>
            <a:srgbClr val="FFFFFF"/>
          </a:solidFill>
          <a:ln/>
          <a:effectLst>
            <a:outerShdw sx="100000" sy="100000" kx="0" ky="0" algn="bl" rotWithShape="0" blurRad="76200" dist="25400" dir="5400000">
              <a:srgbClr val="1D3B4F">
                <a:alpha val="12000"/>
              </a:srgbClr>
            </a:outerShdw>
          </a:effectLst>
        </p:spPr>
      </p:sp>
      <p:sp>
        <p:nvSpPr>
          <p:cNvPr id="9" name="Shape 6"/>
          <p:cNvSpPr/>
          <p:nvPr/>
        </p:nvSpPr>
        <p:spPr>
          <a:xfrm>
            <a:off x="3474720" y="1325880"/>
            <a:ext cx="2194560" cy="457200"/>
          </a:xfrm>
          <a:prstGeom prst="roundRect">
            <a:avLst>
              <a:gd name="adj" fmla="val 20000"/>
            </a:avLst>
          </a:prstGeom>
          <a:solidFill>
            <a:srgbClr val="3E9E78"/>
          </a:solidFill>
          <a:ln/>
        </p:spPr>
      </p:sp>
      <p:sp>
        <p:nvSpPr>
          <p:cNvPr id="10" name="Text 7"/>
          <p:cNvSpPr txBox="1"/>
          <p:nvPr/>
        </p:nvSpPr>
        <p:spPr>
          <a:xfrm>
            <a:off x="3474720" y="1325880"/>
            <a:ext cx="2194560" cy="457200"/>
          </a:xfrm>
          <a:prstGeom prst="rect">
            <a:avLst/>
          </a:prstGeom>
          <a:noFill/>
          <a:ln/>
        </p:spPr>
        <p:txBody>
          <a:bodyPr wrap="square" lIns="0" tIns="0" rIns="0" bIns="0" rtlCol="0" anchor="ctr"/>
          <a:lstStyle/>
          <a:p>
            <a:pPr algn="ctr" indent="0" marL="0">
              <a:buNone/>
            </a:pPr>
            <a:r>
              <a:rPr lang="en-US" sz="1400" b="1" dirty="0">
                <a:solidFill>
                  <a:schemeClr val="bg1"/>
                </a:solidFill>
              </a:rPr>
              <a:t>Respuesta justa</a:t>
            </a:r>
            <a:endParaRPr lang="en-US" sz="1400" dirty="0"/>
          </a:p>
        </p:txBody>
      </p:sp>
      <p:sp>
        <p:nvSpPr>
          <p:cNvPr id="11" name="Text 8"/>
          <p:cNvSpPr txBox="1"/>
          <p:nvPr/>
        </p:nvSpPr>
        <p:spPr>
          <a:xfrm>
            <a:off x="3520440" y="1965960"/>
            <a:ext cx="2103120" cy="1508760"/>
          </a:xfrm>
          <a:prstGeom prst="rect">
            <a:avLst/>
          </a:prstGeom>
          <a:noFill/>
          <a:ln/>
        </p:spPr>
        <p:txBody>
          <a:bodyPr wrap="square" lIns="0" tIns="0" rIns="0" bIns="0" rtlCol="0" anchor="t"/>
          <a:lstStyle/>
          <a:p>
            <a:pPr indent="0" marL="0">
              <a:buNone/>
            </a:pPr>
            <a:r>
              <a:rPr lang="en-US" sz="1600" dirty="0">
                <a:solidFill>
                  <a:schemeClr val="tx1"/>
                </a:solidFill>
              </a:rPr>
              <a:t>Se elimina al microbio, el tejido se repara y la alarma se apaga.</a:t>
            </a:r>
            <a:endParaRPr lang="en-US" sz="1600" dirty="0"/>
          </a:p>
        </p:txBody>
      </p:sp>
      <p:sp>
        <p:nvSpPr>
          <p:cNvPr id="12" name="Tarjeta Demasiada o sin apagar"/>
          <p:cNvSpPr/>
          <p:nvPr/>
        </p:nvSpPr>
        <p:spPr>
          <a:xfrm>
            <a:off x="6126480" y="1143000"/>
            <a:ext cx="2560320" cy="2377440"/>
          </a:xfrm>
          <a:prstGeom prst="roundRect">
            <a:avLst>
              <a:gd name="adj" fmla="val 4615"/>
            </a:avLst>
          </a:prstGeom>
          <a:solidFill>
            <a:srgbClr val="FFFFFF"/>
          </a:solidFill>
          <a:ln/>
          <a:effectLst>
            <a:outerShdw sx="100000" sy="100000" kx="0" ky="0" algn="bl" rotWithShape="0" blurRad="76200" dist="25400" dir="5400000">
              <a:srgbClr val="1D3B4F">
                <a:alpha val="12000"/>
              </a:srgbClr>
            </a:outerShdw>
          </a:effectLst>
        </p:spPr>
      </p:sp>
      <p:sp>
        <p:nvSpPr>
          <p:cNvPr id="13" name="Shape 10"/>
          <p:cNvSpPr/>
          <p:nvPr/>
        </p:nvSpPr>
        <p:spPr>
          <a:xfrm>
            <a:off x="6309360" y="1325880"/>
            <a:ext cx="2194560" cy="457200"/>
          </a:xfrm>
          <a:prstGeom prst="roundRect">
            <a:avLst>
              <a:gd name="adj" fmla="val 20000"/>
            </a:avLst>
          </a:prstGeom>
          <a:solidFill>
            <a:srgbClr val="E0A020"/>
          </a:solidFill>
          <a:ln/>
        </p:spPr>
      </p:sp>
      <p:sp>
        <p:nvSpPr>
          <p:cNvPr id="14" name="Text 11"/>
          <p:cNvSpPr txBox="1"/>
          <p:nvPr/>
        </p:nvSpPr>
        <p:spPr>
          <a:xfrm>
            <a:off x="6309360" y="1325880"/>
            <a:ext cx="2194560" cy="457200"/>
          </a:xfrm>
          <a:prstGeom prst="rect">
            <a:avLst/>
          </a:prstGeom>
          <a:noFill/>
          <a:ln/>
        </p:spPr>
        <p:txBody>
          <a:bodyPr wrap="square" lIns="0" tIns="0" rIns="0" bIns="0" rtlCol="0" anchor="ctr"/>
          <a:lstStyle/>
          <a:p>
            <a:pPr algn="ctr" indent="0" marL="0">
              <a:buNone/>
            </a:pPr>
            <a:r>
              <a:rPr lang="en-US" sz="1400" b="1" dirty="0">
                <a:solidFill>
                  <a:schemeClr val="bg1"/>
                </a:solidFill>
              </a:rPr>
              <a:t>Demasiada o sin apagar</a:t>
            </a:r>
            <a:endParaRPr lang="en-US" sz="1400" dirty="0"/>
          </a:p>
        </p:txBody>
      </p:sp>
      <p:sp>
        <p:nvSpPr>
          <p:cNvPr id="15" name="Text 12"/>
          <p:cNvSpPr txBox="1"/>
          <p:nvPr/>
        </p:nvSpPr>
        <p:spPr>
          <a:xfrm>
            <a:off x="6355080" y="1965960"/>
            <a:ext cx="2103120" cy="1508760"/>
          </a:xfrm>
          <a:prstGeom prst="rect">
            <a:avLst/>
          </a:prstGeom>
          <a:noFill/>
          <a:ln/>
        </p:spPr>
        <p:txBody>
          <a:bodyPr wrap="square" lIns="0" tIns="0" rIns="0" bIns="0" rtlCol="0" anchor="t"/>
          <a:lstStyle/>
          <a:p>
            <a:pPr indent="0" marL="0">
              <a:buNone/>
            </a:pPr>
            <a:r>
              <a:rPr lang="en-US" sz="1600" dirty="0">
                <a:solidFill>
                  <a:schemeClr val="tx1"/>
                </a:solidFill>
              </a:rPr>
              <a:t>Las defensas dañan tejido sano: más dolor e hinchazón, y reparación lenta.</a:t>
            </a:r>
            <a:endParaRPr lang="en-US" sz="1600" dirty="0"/>
          </a:p>
        </p:txBody>
      </p:sp>
      <p:sp>
        <p:nvSpPr>
          <p:cNvPr id="16" name="Banner"/>
          <p:cNvSpPr/>
          <p:nvPr/>
        </p:nvSpPr>
        <p:spPr>
          <a:xfrm>
            <a:off x="457200" y="3749040"/>
            <a:ext cx="8229600" cy="502920"/>
          </a:xfrm>
          <a:prstGeom prst="roundRect">
            <a:avLst>
              <a:gd name="adj" fmla="val 18182"/>
            </a:avLst>
          </a:prstGeom>
          <a:solidFill>
            <a:srgbClr val="D6EEF0"/>
          </a:solidFill>
          <a:ln/>
        </p:spPr>
      </p:sp>
      <p:sp>
        <p:nvSpPr>
          <p:cNvPr id="17" name="Texto banner"/>
          <p:cNvSpPr txBox="1"/>
          <p:nvPr/>
        </p:nvSpPr>
        <p:spPr>
          <a:xfrm>
            <a:off x="640080" y="3749040"/>
            <a:ext cx="7863840" cy="502920"/>
          </a:xfrm>
          <a:prstGeom prst="rect">
            <a:avLst/>
          </a:prstGeom>
          <a:noFill/>
          <a:ln/>
        </p:spPr>
        <p:txBody>
          <a:bodyPr wrap="square" lIns="0" tIns="0" rIns="0" bIns="0" rtlCol="0" anchor="ctr"/>
          <a:lstStyle/>
          <a:p>
            <a:pPr indent="0" marL="0">
              <a:buNone/>
            </a:pPr>
            <a:r>
              <a:rPr lang="en-US" sz="1400" b="1" dirty="0">
                <a:solidFill>
                  <a:srgbClr val="1E8A94"/>
                </a:solidFill>
              </a:rPr>
              <a:t>En el juego: </a:t>
            </a:r>
            <a:pPr indent="0" marL="0">
              <a:buNone/>
            </a:pPr>
            <a:r>
              <a:rPr lang="en-US" sz="1400" dirty="0">
                <a:solidFill>
                  <a:schemeClr val="tx1"/>
                </a:solidFill>
              </a:rPr>
              <a:t>dar la alarma ayuda, pero apagar antes de tiempo o dejarla encendida tiene un costo.</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Cómo ayudar a tu segunda barrera</a:t>
            </a:r>
            <a:endParaRPr lang="en-US" sz="2800" dirty="0"/>
          </a:p>
        </p:txBody>
      </p:sp>
      <p:sp>
        <p:nvSpPr>
          <p:cNvPr id="4" name="Sí"/>
          <p:cNvSpPr/>
          <p:nvPr/>
        </p:nvSpPr>
        <p:spPr>
          <a:xfrm>
            <a:off x="457200" y="1097280"/>
            <a:ext cx="4023360" cy="3017520"/>
          </a:xfrm>
          <a:prstGeom prst="roundRect">
            <a:avLst>
              <a:gd name="adj" fmla="val 3636"/>
            </a:avLst>
          </a:prstGeom>
          <a:solidFill>
            <a:srgbClr val="FFFFFF"/>
          </a:solidFill>
          <a:ln/>
          <a:effectLst>
            <a:outerShdw sx="100000" sy="100000" kx="0" ky="0" algn="bl" rotWithShape="0" blurRad="76200" dist="25400" dir="5400000">
              <a:srgbClr val="1D3B4F">
                <a:alpha val="12000"/>
              </a:srgbClr>
            </a:outerShdw>
          </a:effectLst>
        </p:spPr>
      </p:sp>
      <p:sp>
        <p:nvSpPr>
          <p:cNvPr id="5" name="No"/>
          <p:cNvSpPr/>
          <p:nvPr/>
        </p:nvSpPr>
        <p:spPr>
          <a:xfrm>
            <a:off x="4663440" y="1097280"/>
            <a:ext cx="4023360" cy="3017520"/>
          </a:xfrm>
          <a:prstGeom prst="roundRect">
            <a:avLst>
              <a:gd name="adj" fmla="val 3636"/>
            </a:avLst>
          </a:prstGeom>
          <a:solidFill>
            <a:srgbClr val="FFFFFF"/>
          </a:solidFill>
          <a:ln/>
          <a:effectLst>
            <a:outerShdw sx="100000" sy="100000" kx="0" ky="0" algn="bl" rotWithShape="0" blurRad="76200" dist="25400" dir="5400000">
              <a:srgbClr val="1D3B4F">
                <a:alpha val="12000"/>
              </a:srgbClr>
            </a:outerShdw>
          </a:effectLst>
        </p:spPr>
      </p:sp>
      <p:sp>
        <p:nvSpPr>
          <p:cNvPr id="6" name="Círculo ícono"/>
          <p:cNvSpPr/>
          <p:nvPr/>
        </p:nvSpPr>
        <p:spPr>
          <a:xfrm>
            <a:off x="640080" y="1234440"/>
            <a:ext cx="457200" cy="457200"/>
          </a:xfrm>
          <a:prstGeom prst="ellipse">
            <a:avLst/>
          </a:prstGeom>
          <a:solidFill>
            <a:srgbClr val="3E9E78"/>
          </a:solidFill>
          <a:ln/>
        </p:spPr>
      </p:sp>
      <p:pic>
        <p:nvPicPr>
          <p:cNvPr id="7" name="Image 0" descr="FaCheck">    </p:cNvPr>
          <p:cNvPicPr>
            <a:picLocks noChangeAspect="1"/>
          </p:cNvPicPr>
          <p:nvPr/>
        </p:nvPicPr>
        <p:blipFill>
          <a:blip r:embed="rId1"/>
          <a:stretch>
            <a:fillRect/>
          </a:stretch>
        </p:blipFill>
        <p:spPr>
          <a:xfrm>
            <a:off x="754380" y="1348740"/>
            <a:ext cx="228600" cy="228600"/>
          </a:xfrm>
          <a:prstGeom prst="rect">
            <a:avLst/>
          </a:prstGeom>
        </p:spPr>
      </p:pic>
      <p:sp>
        <p:nvSpPr>
          <p:cNvPr id="8" name="Círculo ícono"/>
          <p:cNvSpPr/>
          <p:nvPr/>
        </p:nvSpPr>
        <p:spPr>
          <a:xfrm>
            <a:off x="4846320" y="1234440"/>
            <a:ext cx="457200" cy="457200"/>
          </a:xfrm>
          <a:prstGeom prst="ellipse">
            <a:avLst/>
          </a:prstGeom>
          <a:solidFill>
            <a:srgbClr val="D2504B"/>
          </a:solidFill>
          <a:ln/>
        </p:spPr>
      </p:sp>
      <p:pic>
        <p:nvPicPr>
          <p:cNvPr id="9" name="Image 1" descr="FaTimes">    </p:cNvPr>
          <p:cNvPicPr>
            <a:picLocks noChangeAspect="1"/>
          </p:cNvPicPr>
          <p:nvPr/>
        </p:nvPicPr>
        <p:blipFill>
          <a:blip r:embed="rId2"/>
          <a:stretch>
            <a:fillRect/>
          </a:stretch>
        </p:blipFill>
        <p:spPr>
          <a:xfrm>
            <a:off x="4960620" y="1348740"/>
            <a:ext cx="228600" cy="228600"/>
          </a:xfrm>
          <a:prstGeom prst="rect">
            <a:avLst/>
          </a:prstGeom>
        </p:spPr>
      </p:pic>
      <p:sp>
        <p:nvSpPr>
          <p:cNvPr id="10" name="Text 5"/>
          <p:cNvSpPr txBox="1"/>
          <p:nvPr/>
        </p:nvSpPr>
        <p:spPr>
          <a:xfrm>
            <a:off x="1234440" y="1234440"/>
            <a:ext cx="3108960"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Sí conviene</a:t>
            </a:r>
            <a:endParaRPr lang="en-US" sz="1800" dirty="0"/>
          </a:p>
        </p:txBody>
      </p:sp>
      <p:sp>
        <p:nvSpPr>
          <p:cNvPr id="11" name="Text 6"/>
          <p:cNvSpPr txBox="1"/>
          <p:nvPr/>
        </p:nvSpPr>
        <p:spPr>
          <a:xfrm>
            <a:off x="5440680" y="1234440"/>
            <a:ext cx="3108960"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conviene</a:t>
            </a:r>
            <a:endParaRPr lang="en-US" sz="1800" dirty="0"/>
          </a:p>
        </p:txBody>
      </p:sp>
      <p:sp>
        <p:nvSpPr>
          <p:cNvPr id="12" name="Text 7"/>
          <p:cNvSpPr txBox="1"/>
          <p:nvPr/>
        </p:nvSpPr>
        <p:spPr>
          <a:xfrm>
            <a:off x="685800" y="1874520"/>
            <a:ext cx="36576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Lavar la herida con agua y jabón</a:t>
            </a:r>
            <a:endParaRPr lang="en-US" sz="1400" dirty="0"/>
          </a:p>
          <a:p>
            <a:pPr marL="342900" indent="-342900">
              <a:spcAft>
                <a:spcPts val="600"/>
              </a:spcAft>
              <a:buSzPct val="100000"/>
              <a:buChar char="•"/>
            </a:pPr>
            <a:r>
              <a:rPr lang="en-US" sz="1400" dirty="0">
                <a:solidFill>
                  <a:schemeClr val="tx1"/>
                </a:solidFill>
              </a:rPr>
              <a:t>Cubrirla con un apósito limpio</a:t>
            </a:r>
            <a:endParaRPr lang="en-US" sz="1400" dirty="0"/>
          </a:p>
          <a:p>
            <a:pPr marL="342900" indent="-342900">
              <a:spcAft>
                <a:spcPts val="600"/>
              </a:spcAft>
              <a:buSzPct val="100000"/>
              <a:buChar char="•"/>
            </a:pPr>
            <a:r>
              <a:rPr lang="en-US" sz="1400" dirty="0">
                <a:solidFill>
                  <a:schemeClr val="tx1"/>
                </a:solidFill>
              </a:rPr>
              <a:t>No sacar la costra</a:t>
            </a:r>
            <a:endParaRPr lang="en-US" sz="1400" dirty="0"/>
          </a:p>
          <a:p>
            <a:pPr marL="342900" indent="-342900">
              <a:spcAft>
                <a:spcPts val="600"/>
              </a:spcAft>
              <a:buSzPct val="100000"/>
              <a:buChar char="•"/>
            </a:pPr>
            <a:r>
              <a:rPr lang="en-US" sz="1400" dirty="0">
                <a:solidFill>
                  <a:schemeClr val="tx1"/>
                </a:solidFill>
              </a:rPr>
              <a:t>Descansar y tomar líquidos</a:t>
            </a:r>
            <a:endParaRPr lang="en-US" sz="1400" dirty="0"/>
          </a:p>
          <a:p>
            <a:pPr marL="342900" indent="-342900">
              <a:spcAft>
                <a:spcPts val="600"/>
              </a:spcAft>
              <a:buSzPct val="100000"/>
              <a:buChar char="•"/>
            </a:pPr>
            <a:r>
              <a:rPr lang="en-US" sz="1400" dirty="0">
                <a:solidFill>
                  <a:schemeClr val="tx1"/>
                </a:solidFill>
              </a:rPr>
              <a:t>Avisar a un adulto si hay más rojez, pus o fiebre</a:t>
            </a:r>
            <a:endParaRPr lang="en-US" sz="1400" dirty="0"/>
          </a:p>
        </p:txBody>
      </p:sp>
      <p:sp>
        <p:nvSpPr>
          <p:cNvPr id="13" name="Text 8"/>
          <p:cNvSpPr txBox="1"/>
          <p:nvPr/>
        </p:nvSpPr>
        <p:spPr>
          <a:xfrm>
            <a:off x="4892040" y="1874520"/>
            <a:ext cx="36576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Echar tierra o pasta de dientes</a:t>
            </a:r>
            <a:endParaRPr lang="en-US" sz="1400" dirty="0"/>
          </a:p>
          <a:p>
            <a:pPr marL="342900" indent="-342900">
              <a:spcAft>
                <a:spcPts val="600"/>
              </a:spcAft>
              <a:buSzPct val="100000"/>
              <a:buChar char="•"/>
            </a:pPr>
            <a:r>
              <a:rPr lang="en-US" sz="1400" dirty="0">
                <a:solidFill>
                  <a:schemeClr val="tx1"/>
                </a:solidFill>
              </a:rPr>
              <a:t>Rascar o apretar la herida</a:t>
            </a:r>
            <a:endParaRPr lang="en-US" sz="1400" dirty="0"/>
          </a:p>
          <a:p>
            <a:pPr marL="342900" indent="-342900">
              <a:spcAft>
                <a:spcPts val="600"/>
              </a:spcAft>
              <a:buSzPct val="100000"/>
              <a:buChar char="•"/>
            </a:pPr>
            <a:r>
              <a:rPr lang="en-US" sz="1400" dirty="0">
                <a:solidFill>
                  <a:schemeClr val="tx1"/>
                </a:solidFill>
              </a:rPr>
              <a:t>Taparla sin lavarla</a:t>
            </a:r>
            <a:endParaRPr lang="en-US" sz="1400" dirty="0"/>
          </a:p>
          <a:p>
            <a:pPr marL="342900" indent="-342900">
              <a:spcAft>
                <a:spcPts val="600"/>
              </a:spcAft>
              <a:buSzPct val="100000"/>
              <a:buChar char="•"/>
            </a:pPr>
            <a:r>
              <a:rPr lang="en-US" sz="1400" dirty="0">
                <a:solidFill>
                  <a:schemeClr val="tx1"/>
                </a:solidFill>
              </a:rPr>
              <a:t>Tomar antibióticos que sobraron</a:t>
            </a:r>
            <a:endParaRPr lang="en-US" sz="1400" dirty="0"/>
          </a:p>
          <a:p>
            <a:pPr marL="342900" indent="-342900">
              <a:spcAft>
                <a:spcPts val="600"/>
              </a:spcAft>
              <a:buSzPct val="100000"/>
              <a:buChar char="•"/>
            </a:pPr>
            <a:r>
              <a:rPr lang="en-US" sz="1400" dirty="0">
                <a:solidFill>
                  <a:schemeClr val="tx1"/>
                </a:solidFill>
              </a:rPr>
              <a:t>Esconder la herida</a:t>
            </a:r>
            <a:endParaRPr lang="en-US" sz="1400" dirty="0"/>
          </a:p>
        </p:txBody>
      </p:sp>
      <p:sp>
        <p:nvSpPr>
          <p:cNvPr id="14" name="Banner"/>
          <p:cNvSpPr/>
          <p:nvPr/>
        </p:nvSpPr>
        <p:spPr>
          <a:xfrm>
            <a:off x="457200" y="4251960"/>
            <a:ext cx="8229600" cy="502920"/>
          </a:xfrm>
          <a:prstGeom prst="roundRect">
            <a:avLst>
              <a:gd name="adj" fmla="val 18182"/>
            </a:avLst>
          </a:prstGeom>
          <a:solidFill>
            <a:srgbClr val="FDE4E2"/>
          </a:solidFill>
          <a:ln/>
        </p:spPr>
      </p:sp>
      <p:sp>
        <p:nvSpPr>
          <p:cNvPr id="15" name="Texto banner"/>
          <p:cNvSpPr txBox="1"/>
          <p:nvPr/>
        </p:nvSpPr>
        <p:spPr>
          <a:xfrm>
            <a:off x="640080" y="4251960"/>
            <a:ext cx="7863840" cy="502920"/>
          </a:xfrm>
          <a:prstGeom prst="rect">
            <a:avLst/>
          </a:prstGeom>
          <a:noFill/>
          <a:ln/>
        </p:spPr>
        <p:txBody>
          <a:bodyPr wrap="square" lIns="0" tIns="0" rIns="0" bIns="0" rtlCol="0" anchor="ctr"/>
          <a:lstStyle/>
          <a:p>
            <a:pPr indent="0" marL="0">
              <a:buNone/>
            </a:pPr>
            <a:r>
              <a:rPr lang="en-US" sz="1400" b="1" dirty="0">
                <a:solidFill>
                  <a:srgbClr val="D2504B"/>
                </a:solidFill>
              </a:rPr>
              <a:t>Ojo: </a:t>
            </a:r>
            <a:pPr indent="0" marL="0">
              <a:buNone/>
            </a:pPr>
            <a:r>
              <a:rPr lang="en-US" sz="1400" dirty="0">
                <a:solidFill>
                  <a:schemeClr val="tx1"/>
                </a:solidFill>
              </a:rPr>
              <a:t>los antibióticos los indica un médico. Si no se necesitan, no sirven.</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Segunda Barrera: tú eres el sistema inmune</a:t>
            </a:r>
            <a:endParaRPr lang="en-US" sz="2800" dirty="0"/>
          </a:p>
        </p:txBody>
      </p:sp>
      <p:sp>
        <p:nvSpPr>
          <p:cNvPr id="4" name="Tarjeta 3 casos"/>
          <p:cNvSpPr/>
          <p:nvPr/>
        </p:nvSpPr>
        <p:spPr>
          <a:xfrm>
            <a:off x="457200" y="1097280"/>
            <a:ext cx="2560320" cy="2971800"/>
          </a:xfrm>
          <a:prstGeom prst="roundRect">
            <a:avLst>
              <a:gd name="adj" fmla="val 4286"/>
            </a:avLst>
          </a:prstGeom>
          <a:solidFill>
            <a:srgbClr val="FFFFFF"/>
          </a:solidFill>
          <a:ln/>
          <a:effectLst>
            <a:outerShdw sx="100000" sy="100000" kx="0" ky="0" algn="bl" rotWithShape="0" blurRad="76200" dist="25400" dir="5400000">
              <a:srgbClr val="1D3B4F">
                <a:alpha val="12000"/>
              </a:srgbClr>
            </a:outerShdw>
          </a:effectLst>
        </p:spPr>
      </p:sp>
      <p:sp>
        <p:nvSpPr>
          <p:cNvPr id="5" name="Círculo ícono"/>
          <p:cNvSpPr/>
          <p:nvPr/>
        </p:nvSpPr>
        <p:spPr>
          <a:xfrm>
            <a:off x="685800" y="1280160"/>
            <a:ext cx="640080" cy="640080"/>
          </a:xfrm>
          <a:prstGeom prst="ellipse">
            <a:avLst/>
          </a:prstGeom>
          <a:solidFill>
            <a:srgbClr val="D2504B"/>
          </a:solidFill>
          <a:ln/>
        </p:spPr>
      </p:sp>
      <p:pic>
        <p:nvPicPr>
          <p:cNvPr id="6" name="Image 0" descr="FaBandAid">    </p:cNvPr>
          <p:cNvPicPr>
            <a:picLocks noChangeAspect="1"/>
          </p:cNvPicPr>
          <p:nvPr/>
        </p:nvPicPr>
        <p:blipFill>
          <a:blip r:embed="rId1"/>
          <a:stretch>
            <a:fillRect/>
          </a:stretch>
        </p:blipFill>
        <p:spPr>
          <a:xfrm>
            <a:off x="845820" y="1440180"/>
            <a:ext cx="320040" cy="320040"/>
          </a:xfrm>
          <a:prstGeom prst="rect">
            <a:avLst/>
          </a:prstGeom>
        </p:spPr>
      </p:pic>
      <p:sp>
        <p:nvSpPr>
          <p:cNvPr id="7" name="Text 3"/>
          <p:cNvSpPr txBox="1"/>
          <p:nvPr/>
        </p:nvSpPr>
        <p:spPr>
          <a:xfrm>
            <a:off x="1463040" y="1280160"/>
            <a:ext cx="146304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3 casos</a:t>
            </a:r>
            <a:endParaRPr lang="en-US" sz="2000" dirty="0"/>
          </a:p>
        </p:txBody>
      </p:sp>
      <p:sp>
        <p:nvSpPr>
          <p:cNvPr id="8" name="Text 4"/>
          <p:cNvSpPr txBox="1"/>
          <p:nvPr/>
        </p:nvSpPr>
        <p:spPr>
          <a:xfrm>
            <a:off x="685800" y="2148840"/>
            <a:ext cx="214884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Raspón en la cancha</a:t>
            </a:r>
            <a:endParaRPr lang="en-US" sz="1400" dirty="0"/>
          </a:p>
          <a:p>
            <a:pPr marL="342900" indent="-342900">
              <a:spcAft>
                <a:spcPts val="600"/>
              </a:spcAft>
              <a:buSzPct val="100000"/>
              <a:buChar char="•"/>
            </a:pPr>
            <a:r>
              <a:rPr lang="en-US" sz="1400" dirty="0">
                <a:solidFill>
                  <a:schemeClr val="tx1"/>
                </a:solidFill>
              </a:rPr>
              <a:t>Astilla en el dedo</a:t>
            </a:r>
            <a:endParaRPr lang="en-US" sz="1400" dirty="0"/>
          </a:p>
          <a:p>
            <a:pPr marL="342900" indent="-342900">
              <a:spcAft>
                <a:spcPts val="600"/>
              </a:spcAft>
              <a:buSzPct val="100000"/>
              <a:buChar char="•"/>
            </a:pPr>
            <a:r>
              <a:rPr lang="en-US" sz="1400" dirty="0">
                <a:solidFill>
                  <a:schemeClr val="tx1"/>
                </a:solidFill>
              </a:rPr>
              <a:t>Herida sin lavar</a:t>
            </a:r>
            <a:endParaRPr lang="en-US" sz="1400" dirty="0"/>
          </a:p>
        </p:txBody>
      </p:sp>
      <p:sp>
        <p:nvSpPr>
          <p:cNvPr id="9" name="Tarjeta 3 niveles"/>
          <p:cNvSpPr/>
          <p:nvPr/>
        </p:nvSpPr>
        <p:spPr>
          <a:xfrm>
            <a:off x="3291840" y="1097280"/>
            <a:ext cx="2560320" cy="2971800"/>
          </a:xfrm>
          <a:prstGeom prst="roundRect">
            <a:avLst>
              <a:gd name="adj" fmla="val 4286"/>
            </a:avLst>
          </a:prstGeom>
          <a:solidFill>
            <a:srgbClr val="FFFFFF"/>
          </a:solidFill>
          <a:ln/>
          <a:effectLst>
            <a:outerShdw sx="100000" sy="100000" kx="0" ky="0" algn="bl" rotWithShape="0" blurRad="76200" dist="25400" dir="5400000">
              <a:srgbClr val="1D3B4F">
                <a:alpha val="12000"/>
              </a:srgbClr>
            </a:outerShdw>
          </a:effectLst>
        </p:spPr>
      </p:sp>
      <p:sp>
        <p:nvSpPr>
          <p:cNvPr id="10" name="Círculo ícono"/>
          <p:cNvSpPr/>
          <p:nvPr/>
        </p:nvSpPr>
        <p:spPr>
          <a:xfrm>
            <a:off x="3520440" y="1280160"/>
            <a:ext cx="640080" cy="640080"/>
          </a:xfrm>
          <a:prstGeom prst="ellipse">
            <a:avLst/>
          </a:prstGeom>
          <a:solidFill>
            <a:srgbClr val="1E8A94"/>
          </a:solidFill>
          <a:ln/>
        </p:spPr>
      </p:sp>
      <p:pic>
        <p:nvPicPr>
          <p:cNvPr id="11" name="Image 1" descr="FaLayerGroup">    </p:cNvPr>
          <p:cNvPicPr>
            <a:picLocks noChangeAspect="1"/>
          </p:cNvPicPr>
          <p:nvPr/>
        </p:nvPicPr>
        <p:blipFill>
          <a:blip r:embed="rId2"/>
          <a:stretch>
            <a:fillRect/>
          </a:stretch>
        </p:blipFill>
        <p:spPr>
          <a:xfrm>
            <a:off x="3680460" y="1440180"/>
            <a:ext cx="320040" cy="320040"/>
          </a:xfrm>
          <a:prstGeom prst="rect">
            <a:avLst/>
          </a:prstGeom>
        </p:spPr>
      </p:pic>
      <p:sp>
        <p:nvSpPr>
          <p:cNvPr id="12" name="Text 7"/>
          <p:cNvSpPr txBox="1"/>
          <p:nvPr/>
        </p:nvSpPr>
        <p:spPr>
          <a:xfrm>
            <a:off x="4297680" y="1280160"/>
            <a:ext cx="146304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3 niveles</a:t>
            </a:r>
            <a:endParaRPr lang="en-US" sz="2000" dirty="0"/>
          </a:p>
        </p:txBody>
      </p:sp>
      <p:sp>
        <p:nvSpPr>
          <p:cNvPr id="13" name="Text 8"/>
          <p:cNvSpPr txBox="1"/>
          <p:nvPr/>
        </p:nvSpPr>
        <p:spPr>
          <a:xfrm>
            <a:off x="3520440" y="2148840"/>
            <a:ext cx="214884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Aprendizaje: con indicaciones</a:t>
            </a:r>
            <a:endParaRPr lang="en-US" sz="1400" dirty="0"/>
          </a:p>
          <a:p>
            <a:pPr marL="342900" indent="-342900">
              <a:spcAft>
                <a:spcPts val="600"/>
              </a:spcAft>
              <a:buSzPct val="100000"/>
              <a:buChar char="•"/>
            </a:pPr>
            <a:r>
              <a:rPr lang="en-US" sz="1400" dirty="0">
                <a:solidFill>
                  <a:schemeClr val="tx1"/>
                </a:solidFill>
              </a:rPr>
              <a:t>Entrenamiento: sin indicaciones</a:t>
            </a:r>
            <a:endParaRPr lang="en-US" sz="1400" dirty="0"/>
          </a:p>
          <a:p>
            <a:pPr marL="342900" indent="-342900">
              <a:spcAft>
                <a:spcPts val="600"/>
              </a:spcAft>
              <a:buSzPct val="100000"/>
              <a:buChar char="•"/>
            </a:pPr>
            <a:r>
              <a:rPr lang="en-US" sz="1400" dirty="0">
                <a:solidFill>
                  <a:schemeClr val="tx1"/>
                </a:solidFill>
              </a:rPr>
              <a:t>Misión: sin descripciones</a:t>
            </a:r>
            <a:endParaRPr lang="en-US" sz="1400" dirty="0"/>
          </a:p>
        </p:txBody>
      </p:sp>
      <p:sp>
        <p:nvSpPr>
          <p:cNvPr id="14" name="Tarjeta Puntaje"/>
          <p:cNvSpPr/>
          <p:nvPr/>
        </p:nvSpPr>
        <p:spPr>
          <a:xfrm>
            <a:off x="6126480" y="1097280"/>
            <a:ext cx="2560320" cy="2971800"/>
          </a:xfrm>
          <a:prstGeom prst="roundRect">
            <a:avLst>
              <a:gd name="adj" fmla="val 4286"/>
            </a:avLst>
          </a:prstGeom>
          <a:solidFill>
            <a:srgbClr val="FFFFFF"/>
          </a:solidFill>
          <a:ln/>
          <a:effectLst>
            <a:outerShdw sx="100000" sy="100000" kx="0" ky="0" algn="bl" rotWithShape="0" blurRad="76200" dist="25400" dir="5400000">
              <a:srgbClr val="1D3B4F">
                <a:alpha val="12000"/>
              </a:srgbClr>
            </a:outerShdw>
          </a:effectLst>
        </p:spPr>
      </p:sp>
      <p:sp>
        <p:nvSpPr>
          <p:cNvPr id="15" name="Círculo ícono"/>
          <p:cNvSpPr/>
          <p:nvPr/>
        </p:nvSpPr>
        <p:spPr>
          <a:xfrm>
            <a:off x="6355080" y="1280160"/>
            <a:ext cx="640080" cy="640080"/>
          </a:xfrm>
          <a:prstGeom prst="ellipse">
            <a:avLst/>
          </a:prstGeom>
          <a:solidFill>
            <a:srgbClr val="E0A020"/>
          </a:solidFill>
          <a:ln/>
        </p:spPr>
      </p:sp>
      <p:pic>
        <p:nvPicPr>
          <p:cNvPr id="16" name="Image 2" descr="FaTrophy">    </p:cNvPr>
          <p:cNvPicPr>
            <a:picLocks noChangeAspect="1"/>
          </p:cNvPicPr>
          <p:nvPr/>
        </p:nvPicPr>
        <p:blipFill>
          <a:blip r:embed="rId3"/>
          <a:stretch>
            <a:fillRect/>
          </a:stretch>
        </p:blipFill>
        <p:spPr>
          <a:xfrm>
            <a:off x="6515100" y="1440180"/>
            <a:ext cx="320040" cy="320040"/>
          </a:xfrm>
          <a:prstGeom prst="rect">
            <a:avLst/>
          </a:prstGeom>
        </p:spPr>
      </p:pic>
      <p:sp>
        <p:nvSpPr>
          <p:cNvPr id="17" name="Text 11"/>
          <p:cNvSpPr txBox="1"/>
          <p:nvPr/>
        </p:nvSpPr>
        <p:spPr>
          <a:xfrm>
            <a:off x="7132320" y="1280160"/>
            <a:ext cx="146304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Puntaje</a:t>
            </a:r>
            <a:endParaRPr lang="en-US" sz="2000" dirty="0"/>
          </a:p>
        </p:txBody>
      </p:sp>
      <p:sp>
        <p:nvSpPr>
          <p:cNvPr id="18" name="Text 12"/>
          <p:cNvSpPr txBox="1"/>
          <p:nvPr/>
        </p:nvSpPr>
        <p:spPr>
          <a:xfrm>
            <a:off x="6355080" y="2148840"/>
            <a:ext cx="214884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Estrellas y rango</a:t>
            </a:r>
            <a:endParaRPr lang="en-US" sz="1400" dirty="0"/>
          </a:p>
          <a:p>
            <a:pPr marL="342900" indent="-342900">
              <a:spcAft>
                <a:spcPts val="600"/>
              </a:spcAft>
              <a:buSzPct val="100000"/>
              <a:buChar char="•"/>
            </a:pPr>
            <a:r>
              <a:rPr lang="en-US" sz="1400" dirty="0">
                <a:solidFill>
                  <a:schemeClr val="tx1"/>
                </a:solidFill>
              </a:rPr>
              <a:t>7 medallas</a:t>
            </a:r>
            <a:endParaRPr lang="en-US" sz="1400" dirty="0"/>
          </a:p>
          <a:p>
            <a:pPr marL="342900" indent="-342900">
              <a:spcAft>
                <a:spcPts val="600"/>
              </a:spcAft>
              <a:buSzPct val="100000"/>
              <a:buChar char="•"/>
            </a:pPr>
            <a:r>
              <a:rPr lang="en-US" sz="1400" dirty="0">
                <a:solidFill>
                  <a:schemeClr val="tx1"/>
                </a:solidFill>
              </a:rPr>
              <a:t>Ranking del colegio</a:t>
            </a:r>
            <a:endParaRPr lang="en-US" sz="1400" dirty="0"/>
          </a:p>
        </p:txBody>
      </p:sp>
      <p:sp>
        <p:nvSpPr>
          <p:cNvPr id="19" name="Banner"/>
          <p:cNvSpPr/>
          <p:nvPr/>
        </p:nvSpPr>
        <p:spPr>
          <a:xfrm>
            <a:off x="457200" y="4251960"/>
            <a:ext cx="8229600" cy="502920"/>
          </a:xfrm>
          <a:prstGeom prst="roundRect">
            <a:avLst>
              <a:gd name="adj" fmla="val 18182"/>
            </a:avLst>
          </a:prstGeom>
          <a:solidFill>
            <a:srgbClr val="D6EEF0"/>
          </a:solidFill>
          <a:ln/>
        </p:spPr>
      </p:sp>
      <p:sp>
        <p:nvSpPr>
          <p:cNvPr id="20" name="Texto banner"/>
          <p:cNvSpPr txBox="1"/>
          <p:nvPr/>
        </p:nvSpPr>
        <p:spPr>
          <a:xfrm>
            <a:off x="640080" y="4251960"/>
            <a:ext cx="7863840" cy="502920"/>
          </a:xfrm>
          <a:prstGeom prst="rect">
            <a:avLst/>
          </a:prstGeom>
          <a:noFill/>
          <a:ln/>
        </p:spPr>
        <p:txBody>
          <a:bodyPr wrap="square" lIns="0" tIns="0" rIns="0" bIns="0" rtlCol="0" anchor="ctr"/>
          <a:lstStyle/>
          <a:p>
            <a:pPr indent="0" marL="0">
              <a:buNone/>
            </a:pPr>
            <a:r>
              <a:rPr lang="en-US" sz="1400" b="1" dirty="0">
                <a:solidFill>
                  <a:srgbClr val="1E8A94"/>
                </a:solidFill>
              </a:rPr>
              <a:t>Dónde está: </a:t>
            </a:r>
            <a:pPr indent="0" marL="0">
              <a:buNone/>
            </a:pPr>
            <a:r>
              <a:rPr lang="en-US" sz="1400" dirty="0">
                <a:solidFill>
                  <a:schemeClr val="tx1"/>
                </a:solidFill>
              </a:rPr>
              <a:t>sitio El Mundo de Felipe, sección 7° Básico · Biología, tarjeta «Segunda Barrera».</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Cómo se juega</a:t>
            </a:r>
            <a:endParaRPr lang="en-US" sz="2800" dirty="0"/>
          </a:p>
        </p:txBody>
      </p:sp>
      <p:sp>
        <p:nvSpPr>
          <p:cNvPr id="4" name="Paso 1"/>
          <p:cNvSpPr/>
          <p:nvPr/>
        </p:nvSpPr>
        <p:spPr>
          <a:xfrm>
            <a:off x="457200" y="1097280"/>
            <a:ext cx="1920240" cy="233172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5" name="Insignia 1"/>
          <p:cNvSpPr txBox="1"/>
          <p:nvPr/>
        </p:nvSpPr>
        <p:spPr>
          <a:xfrm>
            <a:off x="1143000" y="1234440"/>
            <a:ext cx="548640" cy="548640"/>
          </a:xfrm>
          <a:prstGeom prst="ellipse">
            <a:avLst/>
          </a:prstGeom>
          <a:solidFill>
            <a:srgbClr val="1E8A94"/>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548640" y="1920240"/>
            <a:ext cx="1737360" cy="365760"/>
          </a:xfrm>
          <a:prstGeom prst="rect">
            <a:avLst/>
          </a:prstGeom>
          <a:noFill/>
          <a:ln/>
        </p:spPr>
        <p:txBody>
          <a:bodyPr wrap="square" lIns="0" tIns="0" rIns="0" bIns="0" rtlCol="0" anchor="ctr"/>
          <a:lstStyle/>
          <a:p>
            <a:pPr algn="ctr" indent="0" marL="0">
              <a:buNone/>
            </a:pPr>
            <a:r>
              <a:rPr lang="en-US" sz="1600" b="1" dirty="0">
                <a:solidFill>
                  <a:schemeClr val="tx1"/>
                </a:solidFill>
              </a:rPr>
              <a:t>Lee el caso</a:t>
            </a:r>
            <a:endParaRPr lang="en-US" sz="1600" dirty="0"/>
          </a:p>
        </p:txBody>
      </p:sp>
      <p:sp>
        <p:nvSpPr>
          <p:cNvPr id="7" name="Text 4"/>
          <p:cNvSpPr txBox="1"/>
          <p:nvPr/>
        </p:nvSpPr>
        <p:spPr>
          <a:xfrm>
            <a:off x="594360" y="2286000"/>
            <a:ext cx="1645920" cy="1097280"/>
          </a:xfrm>
          <a:prstGeom prst="rect">
            <a:avLst/>
          </a:prstGeom>
          <a:noFill/>
          <a:ln/>
        </p:spPr>
        <p:txBody>
          <a:bodyPr wrap="square" lIns="0" tIns="0" rIns="0" bIns="0" rtlCol="0" anchor="t"/>
          <a:lstStyle/>
          <a:p>
            <a:pPr indent="0" marL="0">
              <a:buNone/>
            </a:pPr>
            <a:r>
              <a:rPr lang="en-US" sz="1400" dirty="0">
                <a:solidFill>
                  <a:schemeClr val="tx1"/>
                </a:solidFill>
              </a:rPr>
              <a:t>Quién se hirió, qué pasó y a qué estar atento.</a:t>
            </a:r>
            <a:endParaRPr lang="en-US" sz="1400" dirty="0"/>
          </a:p>
        </p:txBody>
      </p:sp>
      <p:sp>
        <p:nvSpPr>
          <p:cNvPr id="8" name="Paso 2"/>
          <p:cNvSpPr/>
          <p:nvPr/>
        </p:nvSpPr>
        <p:spPr>
          <a:xfrm>
            <a:off x="2542032" y="1097280"/>
            <a:ext cx="1920240" cy="233172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9" name="Insignia 2"/>
          <p:cNvSpPr txBox="1"/>
          <p:nvPr/>
        </p:nvSpPr>
        <p:spPr>
          <a:xfrm>
            <a:off x="3227832" y="1234440"/>
            <a:ext cx="548640" cy="548640"/>
          </a:xfrm>
          <a:prstGeom prst="ellipse">
            <a:avLst/>
          </a:prstGeom>
          <a:solidFill>
            <a:srgbClr val="1E8A94"/>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2633472" y="1920240"/>
            <a:ext cx="1737360" cy="365760"/>
          </a:xfrm>
          <a:prstGeom prst="rect">
            <a:avLst/>
          </a:prstGeom>
          <a:noFill/>
          <a:ln/>
        </p:spPr>
        <p:txBody>
          <a:bodyPr wrap="square" lIns="0" tIns="0" rIns="0" bIns="0" rtlCol="0" anchor="ctr"/>
          <a:lstStyle/>
          <a:p>
            <a:pPr algn="ctr" indent="0" marL="0">
              <a:buNone/>
            </a:pPr>
            <a:r>
              <a:rPr lang="en-US" sz="1600" b="1" dirty="0">
                <a:solidFill>
                  <a:schemeClr val="tx1"/>
                </a:solidFill>
              </a:rPr>
              <a:t>Observa</a:t>
            </a:r>
            <a:endParaRPr lang="en-US" sz="1600" dirty="0"/>
          </a:p>
        </p:txBody>
      </p:sp>
      <p:sp>
        <p:nvSpPr>
          <p:cNvPr id="11" name="Text 8"/>
          <p:cNvSpPr txBox="1"/>
          <p:nvPr/>
        </p:nvSpPr>
        <p:spPr>
          <a:xfrm>
            <a:off x="2679192" y="2286000"/>
            <a:ext cx="1645920" cy="1097280"/>
          </a:xfrm>
          <a:prstGeom prst="rect">
            <a:avLst/>
          </a:prstGeom>
          <a:noFill/>
          <a:ln/>
        </p:spPr>
        <p:txBody>
          <a:bodyPr wrap="square" lIns="0" tIns="0" rIns="0" bIns="0" rtlCol="0" anchor="t"/>
          <a:lstStyle/>
          <a:p>
            <a:pPr indent="0" marL="0">
              <a:buNone/>
            </a:pPr>
            <a:r>
              <a:rPr lang="en-US" sz="1400" dirty="0">
                <a:solidFill>
                  <a:schemeClr val="tx1"/>
                </a:solidFill>
              </a:rPr>
              <a:t>Mira el tejido, las bacterias y los signos de la persona.</a:t>
            </a:r>
            <a:endParaRPr lang="en-US" sz="1400" dirty="0"/>
          </a:p>
        </p:txBody>
      </p:sp>
      <p:sp>
        <p:nvSpPr>
          <p:cNvPr id="12" name="Paso 3"/>
          <p:cNvSpPr/>
          <p:nvPr/>
        </p:nvSpPr>
        <p:spPr>
          <a:xfrm>
            <a:off x="4626864" y="1097280"/>
            <a:ext cx="1920240" cy="233172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13" name="Insignia 3"/>
          <p:cNvSpPr txBox="1"/>
          <p:nvPr/>
        </p:nvSpPr>
        <p:spPr>
          <a:xfrm>
            <a:off x="5312664" y="1234440"/>
            <a:ext cx="548640" cy="548640"/>
          </a:xfrm>
          <a:prstGeom prst="ellipse">
            <a:avLst/>
          </a:prstGeom>
          <a:solidFill>
            <a:srgbClr val="1E8A94"/>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1"/>
          <p:cNvSpPr txBox="1"/>
          <p:nvPr/>
        </p:nvSpPr>
        <p:spPr>
          <a:xfrm>
            <a:off x="4718304" y="1920240"/>
            <a:ext cx="1737360" cy="365760"/>
          </a:xfrm>
          <a:prstGeom prst="rect">
            <a:avLst/>
          </a:prstGeom>
          <a:noFill/>
          <a:ln/>
        </p:spPr>
        <p:txBody>
          <a:bodyPr wrap="square" lIns="0" tIns="0" rIns="0" bIns="0" rtlCol="0" anchor="ctr"/>
          <a:lstStyle/>
          <a:p>
            <a:pPr algn="ctr" indent="0" marL="0">
              <a:buNone/>
            </a:pPr>
            <a:r>
              <a:rPr lang="en-US" sz="1600" b="1" dirty="0">
                <a:solidFill>
                  <a:schemeClr val="tx1"/>
                </a:solidFill>
              </a:rPr>
              <a:t>Da las órdenes</a:t>
            </a:r>
            <a:endParaRPr lang="en-US" sz="1600" dirty="0"/>
          </a:p>
        </p:txBody>
      </p:sp>
      <p:sp>
        <p:nvSpPr>
          <p:cNvPr id="15" name="Text 12"/>
          <p:cNvSpPr txBox="1"/>
          <p:nvPr/>
        </p:nvSpPr>
        <p:spPr>
          <a:xfrm>
            <a:off x="4764024" y="2286000"/>
            <a:ext cx="1645920" cy="1097280"/>
          </a:xfrm>
          <a:prstGeom prst="rect">
            <a:avLst/>
          </a:prstGeom>
          <a:noFill/>
          <a:ln/>
        </p:spPr>
        <p:txBody>
          <a:bodyPr wrap="square" lIns="0" tIns="0" rIns="0" bIns="0" rtlCol="0" anchor="t"/>
          <a:lstStyle/>
          <a:p>
            <a:pPr indent="0" marL="0">
              <a:buNone/>
            </a:pPr>
            <a:r>
              <a:rPr lang="en-US" sz="1400" dirty="0">
                <a:solidFill>
                  <a:schemeClr val="tx1"/>
                </a:solidFill>
              </a:rPr>
              <a:t>Clic o teclas 1 a 7, en el orden que corresponde.</a:t>
            </a:r>
            <a:endParaRPr lang="en-US" sz="1400" dirty="0"/>
          </a:p>
        </p:txBody>
      </p:sp>
      <p:sp>
        <p:nvSpPr>
          <p:cNvPr id="16" name="Paso 4"/>
          <p:cNvSpPr/>
          <p:nvPr/>
        </p:nvSpPr>
        <p:spPr>
          <a:xfrm>
            <a:off x="6711696" y="1097280"/>
            <a:ext cx="1920240" cy="2331720"/>
          </a:xfrm>
          <a:prstGeom prst="roundRect">
            <a:avLst>
              <a:gd name="adj" fmla="val 5714"/>
            </a:avLst>
          </a:prstGeom>
          <a:solidFill>
            <a:srgbClr val="FFFFFF"/>
          </a:solidFill>
          <a:ln/>
          <a:effectLst>
            <a:outerShdw sx="100000" sy="100000" kx="0" ky="0" algn="bl" rotWithShape="0" blurRad="76200" dist="25400" dir="5400000">
              <a:srgbClr val="1D3B4F">
                <a:alpha val="12000"/>
              </a:srgbClr>
            </a:outerShdw>
          </a:effectLst>
        </p:spPr>
      </p:sp>
      <p:sp>
        <p:nvSpPr>
          <p:cNvPr id="17" name="Insignia 4"/>
          <p:cNvSpPr txBox="1"/>
          <p:nvPr/>
        </p:nvSpPr>
        <p:spPr>
          <a:xfrm>
            <a:off x="7397496" y="1234440"/>
            <a:ext cx="548640" cy="548640"/>
          </a:xfrm>
          <a:prstGeom prst="ellipse">
            <a:avLst/>
          </a:prstGeom>
          <a:solidFill>
            <a:srgbClr val="1E8A94"/>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5"/>
          <p:cNvSpPr txBox="1"/>
          <p:nvPr/>
        </p:nvSpPr>
        <p:spPr>
          <a:xfrm>
            <a:off x="6803136" y="1920240"/>
            <a:ext cx="1737360" cy="365760"/>
          </a:xfrm>
          <a:prstGeom prst="rect">
            <a:avLst/>
          </a:prstGeom>
          <a:noFill/>
          <a:ln/>
        </p:spPr>
        <p:txBody>
          <a:bodyPr wrap="square" lIns="0" tIns="0" rIns="0" bIns="0" rtlCol="0" anchor="ctr"/>
          <a:lstStyle/>
          <a:p>
            <a:pPr algn="ctr" indent="0" marL="0">
              <a:buNone/>
            </a:pPr>
            <a:r>
              <a:rPr lang="en-US" sz="1600" b="1" dirty="0">
                <a:solidFill>
                  <a:schemeClr val="tx1"/>
                </a:solidFill>
              </a:rPr>
              <a:t>Elige los cuidados</a:t>
            </a:r>
            <a:endParaRPr lang="en-US" sz="1600" dirty="0"/>
          </a:p>
        </p:txBody>
      </p:sp>
      <p:sp>
        <p:nvSpPr>
          <p:cNvPr id="19" name="Text 16"/>
          <p:cNvSpPr txBox="1"/>
          <p:nvPr/>
        </p:nvSpPr>
        <p:spPr>
          <a:xfrm>
            <a:off x="6848856" y="2286000"/>
            <a:ext cx="1645920" cy="1097280"/>
          </a:xfrm>
          <a:prstGeom prst="rect">
            <a:avLst/>
          </a:prstGeom>
          <a:noFill/>
          <a:ln/>
        </p:spPr>
        <p:txBody>
          <a:bodyPr wrap="square" lIns="0" tIns="0" rIns="0" bIns="0" rtlCol="0" anchor="t"/>
          <a:lstStyle/>
          <a:p>
            <a:pPr indent="0" marL="0">
              <a:buNone/>
            </a:pPr>
            <a:r>
              <a:rPr lang="en-US" sz="1400" dirty="0">
                <a:solidFill>
                  <a:schemeClr val="tx1"/>
                </a:solidFill>
              </a:rPr>
              <a:t>Al ganar, escoge las 3 mejores acciones y revisa tu informe.</a:t>
            </a:r>
            <a:endParaRPr lang="en-US" sz="1400" dirty="0"/>
          </a:p>
        </p:txBody>
      </p:sp>
      <p:sp>
        <p:nvSpPr>
          <p:cNvPr id="20" name="Energía"/>
          <p:cNvSpPr/>
          <p:nvPr/>
        </p:nvSpPr>
        <p:spPr>
          <a:xfrm>
            <a:off x="457200" y="3611880"/>
            <a:ext cx="4023360" cy="548640"/>
          </a:xfrm>
          <a:prstGeom prst="roundRect">
            <a:avLst>
              <a:gd name="adj" fmla="val 16667"/>
            </a:avLst>
          </a:prstGeom>
          <a:solidFill>
            <a:srgbClr val="D6EEF0"/>
          </a:solidFill>
          <a:ln/>
        </p:spPr>
      </p:sp>
      <p:sp>
        <p:nvSpPr>
          <p:cNvPr id="21" name="Pausa"/>
          <p:cNvSpPr/>
          <p:nvPr/>
        </p:nvSpPr>
        <p:spPr>
          <a:xfrm>
            <a:off x="4663440" y="3611880"/>
            <a:ext cx="4023360" cy="548640"/>
          </a:xfrm>
          <a:prstGeom prst="roundRect">
            <a:avLst>
              <a:gd name="adj" fmla="val 16667"/>
            </a:avLst>
          </a:prstGeom>
          <a:solidFill>
            <a:srgbClr val="D6EEF0"/>
          </a:solidFill>
          <a:ln/>
        </p:spPr>
      </p:sp>
      <p:sp>
        <p:nvSpPr>
          <p:cNvPr id="22" name="Text 19"/>
          <p:cNvSpPr txBox="1"/>
          <p:nvPr/>
        </p:nvSpPr>
        <p:spPr>
          <a:xfrm>
            <a:off x="594360" y="3611880"/>
            <a:ext cx="3749040" cy="548640"/>
          </a:xfrm>
          <a:prstGeom prst="rect">
            <a:avLst/>
          </a:prstGeom>
          <a:noFill/>
          <a:ln/>
        </p:spPr>
        <p:txBody>
          <a:bodyPr wrap="square" lIns="0" tIns="0" rIns="0" bIns="0" rtlCol="0" anchor="ctr"/>
          <a:lstStyle/>
          <a:p>
            <a:pPr indent="0" marL="0">
              <a:buNone/>
            </a:pPr>
            <a:r>
              <a:rPr lang="en-US" sz="1400" b="1" dirty="0">
                <a:solidFill>
                  <a:schemeClr val="accent1"/>
                </a:solidFill>
              </a:rPr>
              <a:t>Energía: </a:t>
            </a:r>
            <a:pPr indent="0" marL="0">
              <a:buNone/>
            </a:pPr>
            <a:r>
              <a:rPr lang="en-US" sz="1400" dirty="0">
                <a:solidFill>
                  <a:schemeClr val="tx1"/>
                </a:solidFill>
              </a:rPr>
              <a:t>cada orden gasta; si falla, pierdes más.</a:t>
            </a:r>
            <a:endParaRPr lang="en-US" sz="1400" dirty="0"/>
          </a:p>
        </p:txBody>
      </p:sp>
      <p:sp>
        <p:nvSpPr>
          <p:cNvPr id="23" name="Text 20"/>
          <p:cNvSpPr txBox="1"/>
          <p:nvPr/>
        </p:nvSpPr>
        <p:spPr>
          <a:xfrm>
            <a:off x="4800600" y="3611880"/>
            <a:ext cx="3749040" cy="548640"/>
          </a:xfrm>
          <a:prstGeom prst="rect">
            <a:avLst/>
          </a:prstGeom>
          <a:noFill/>
          <a:ln/>
        </p:spPr>
        <p:txBody>
          <a:bodyPr wrap="square" lIns="0" tIns="0" rIns="0" bIns="0" rtlCol="0" anchor="ctr"/>
          <a:lstStyle/>
          <a:p>
            <a:pPr indent="0" marL="0">
              <a:buNone/>
            </a:pPr>
            <a:r>
              <a:rPr lang="en-US" sz="1400" b="1" dirty="0">
                <a:solidFill>
                  <a:schemeClr val="accent1"/>
                </a:solidFill>
              </a:rPr>
              <a:t>Tiempo real: </a:t>
            </a:r>
            <a:pPr indent="0" marL="0">
              <a:buNone/>
            </a:pPr>
            <a:r>
              <a:rPr lang="en-US" sz="1400" dirty="0">
                <a:solidFill>
                  <a:schemeClr val="tx1"/>
                </a:solidFill>
              </a:rPr>
              <a:t>las bacterias crecen mientras decides.</a:t>
            </a:r>
            <a:endParaRPr lang="en-US" sz="1400" dirty="0"/>
          </a:p>
        </p:txBody>
      </p:sp>
      <p:sp>
        <p:nvSpPr>
          <p:cNvPr id="24" name="Pregunta"/>
          <p:cNvSpPr/>
          <p:nvPr/>
        </p:nvSpPr>
        <p:spPr>
          <a:xfrm>
            <a:off x="457200" y="4297680"/>
            <a:ext cx="8229600" cy="502920"/>
          </a:xfrm>
          <a:prstGeom prst="roundRect">
            <a:avLst>
              <a:gd name="adj" fmla="val 18182"/>
            </a:avLst>
          </a:prstGeom>
          <a:solidFill>
            <a:srgbClr val="FDE4E2"/>
          </a:solidFill>
          <a:ln/>
        </p:spPr>
      </p:sp>
      <p:sp>
        <p:nvSpPr>
          <p:cNvPr id="25" name="Text 22"/>
          <p:cNvSpPr txBox="1"/>
          <p:nvPr/>
        </p:nvSpPr>
        <p:spPr>
          <a:xfrm>
            <a:off x="594360" y="4389120"/>
            <a:ext cx="320040" cy="320040"/>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6" name="Texto pregunta"/>
          <p:cNvSpPr txBox="1"/>
          <p:nvPr/>
        </p:nvSpPr>
        <p:spPr>
          <a:xfrm>
            <a:off x="1051560" y="4297680"/>
            <a:ext cx="7498080" cy="502920"/>
          </a:xfrm>
          <a:prstGeom prst="rect">
            <a:avLst/>
          </a:prstGeom>
          <a:noFill/>
          <a:ln/>
        </p:spPr>
        <p:txBody>
          <a:bodyPr wrap="square" lIns="0" tIns="0" rIns="0" bIns="0" rtlCol="0" anchor="ctr"/>
          <a:lstStyle/>
          <a:p>
            <a:pPr indent="0" marL="0">
              <a:buNone/>
            </a:pPr>
            <a:r>
              <a:rPr lang="en-US" sz="1400" b="1" dirty="0">
                <a:solidFill>
                  <a:schemeClr val="tx1"/>
                </a:solidFill>
              </a:rPr>
              <a:t>Empieza en Aprendizaje: después, desafíate en Entrenamiento y Misión.</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Para tu bitácora</a:t>
            </a:r>
            <a:endParaRPr lang="en-US" sz="2800" dirty="0"/>
          </a:p>
        </p:txBody>
      </p:sp>
      <p:sp>
        <p:nvSpPr>
          <p:cNvPr id="4" name="A1 Pregunta"/>
          <p:cNvSpPr/>
          <p:nvPr/>
        </p:nvSpPr>
        <p:spPr>
          <a:xfrm>
            <a:off x="457200" y="1051560"/>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5" name="A1 Número pregunta"/>
          <p:cNvSpPr txBox="1"/>
          <p:nvPr/>
        </p:nvSpPr>
        <p:spPr>
          <a:xfrm>
            <a:off x="566928" y="1133856"/>
            <a:ext cx="347472" cy="347472"/>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A1 Texto pregunta"/>
          <p:cNvSpPr txBox="1"/>
          <p:nvPr/>
        </p:nvSpPr>
        <p:spPr>
          <a:xfrm>
            <a:off x="1097280" y="1051560"/>
            <a:ext cx="7406640" cy="512064"/>
          </a:xfrm>
          <a:prstGeom prst="rect">
            <a:avLst/>
          </a:prstGeom>
          <a:noFill/>
          <a:ln/>
        </p:spPr>
        <p:txBody>
          <a:bodyPr wrap="square" lIns="0" tIns="0" rIns="0" bIns="0" rtlCol="0" anchor="ctr"/>
          <a:lstStyle/>
          <a:p>
            <a:pPr indent="0" marL="0">
              <a:buNone/>
            </a:pPr>
            <a:r>
              <a:rPr lang="en-US" sz="1400" b="1" dirty="0">
                <a:solidFill>
                  <a:schemeClr val="tx1"/>
                </a:solidFill>
              </a:rPr>
              <a:t>¿Por qué hay que dar la alarma antes de dilatar los capilares?</a:t>
            </a:r>
            <a:endParaRPr lang="en-US" sz="1400" dirty="0"/>
          </a:p>
        </p:txBody>
      </p:sp>
      <p:sp>
        <p:nvSpPr>
          <p:cNvPr id="7" name="A2 Pregunta"/>
          <p:cNvSpPr/>
          <p:nvPr/>
        </p:nvSpPr>
        <p:spPr>
          <a:xfrm>
            <a:off x="457200" y="1655064"/>
            <a:ext cx="8229600" cy="512064"/>
          </a:xfrm>
          <a:prstGeom prst="roundRect">
            <a:avLst>
              <a:gd name="adj" fmla="val 21429"/>
            </a:avLst>
          </a:prstGeom>
          <a:solidFill>
            <a:srgbClr val="FDE4E2"/>
          </a:solidFill>
          <a:ln/>
          <a:effectLst>
            <a:outerShdw sx="100000" sy="100000" kx="0" ky="0" algn="bl" rotWithShape="0" blurRad="76200" dist="25400" dir="5400000">
              <a:srgbClr val="1D3B4F">
                <a:alpha val="12000"/>
              </a:srgbClr>
            </a:outerShdw>
          </a:effectLst>
        </p:spPr>
      </p:sp>
      <p:sp>
        <p:nvSpPr>
          <p:cNvPr id="8" name="A2 Número pregunta"/>
          <p:cNvSpPr txBox="1"/>
          <p:nvPr/>
        </p:nvSpPr>
        <p:spPr>
          <a:xfrm>
            <a:off x="566928" y="1737360"/>
            <a:ext cx="347472" cy="347472"/>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A2 Texto pregunta"/>
          <p:cNvSpPr txBox="1"/>
          <p:nvPr/>
        </p:nvSpPr>
        <p:spPr>
          <a:xfrm>
            <a:off x="1097280" y="1655064"/>
            <a:ext cx="7406640" cy="512064"/>
          </a:xfrm>
          <a:prstGeom prst="rect">
            <a:avLst/>
          </a:prstGeom>
          <a:noFill/>
          <a:ln/>
        </p:spPr>
        <p:txBody>
          <a:bodyPr wrap="square" lIns="0" tIns="0" rIns="0" bIns="0" rtlCol="0" anchor="ctr"/>
          <a:lstStyle/>
          <a:p>
            <a:pPr indent="0" marL="0">
              <a:buNone/>
            </a:pPr>
            <a:r>
              <a:rPr lang="en-US" sz="1400" b="1" dirty="0">
                <a:solidFill>
                  <a:schemeClr val="tx1"/>
                </a:solidFill>
              </a:rPr>
              <a:t>¿Qué signo viste primero y qué proceso lo causa?</a:t>
            </a:r>
            <a:endParaRPr lang="en-US" sz="1400" dirty="0"/>
          </a:p>
        </p:txBody>
      </p:sp>
      <p:sp>
        <p:nvSpPr>
          <p:cNvPr id="10" name="A3 Pregunta"/>
          <p:cNvSpPr/>
          <p:nvPr/>
        </p:nvSpPr>
        <p:spPr>
          <a:xfrm>
            <a:off x="457200" y="2258568"/>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11" name="A3 Número pregunta"/>
          <p:cNvSpPr txBox="1"/>
          <p:nvPr/>
        </p:nvSpPr>
        <p:spPr>
          <a:xfrm>
            <a:off x="566928" y="2340864"/>
            <a:ext cx="347472" cy="347472"/>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A3 Texto pregunta"/>
          <p:cNvSpPr txBox="1"/>
          <p:nvPr/>
        </p:nvSpPr>
        <p:spPr>
          <a:xfrm>
            <a:off x="1097280" y="2258568"/>
            <a:ext cx="7406640" cy="512064"/>
          </a:xfrm>
          <a:prstGeom prst="rect">
            <a:avLst/>
          </a:prstGeom>
          <a:noFill/>
          <a:ln/>
        </p:spPr>
        <p:txBody>
          <a:bodyPr wrap="square" lIns="0" tIns="0" rIns="0" bIns="0" rtlCol="0" anchor="ctr"/>
          <a:lstStyle/>
          <a:p>
            <a:pPr indent="0" marL="0">
              <a:buNone/>
            </a:pPr>
            <a:r>
              <a:rPr lang="en-US" sz="1400" b="1" dirty="0">
                <a:solidFill>
                  <a:schemeClr val="tx1"/>
                </a:solidFill>
              </a:rPr>
              <a:t>¿Qué pasó cuando apagaste la inflamación antes de tiempo?</a:t>
            </a:r>
            <a:endParaRPr lang="en-US" sz="1400" dirty="0"/>
          </a:p>
        </p:txBody>
      </p:sp>
      <p:sp>
        <p:nvSpPr>
          <p:cNvPr id="13" name="A4 Pregunta"/>
          <p:cNvSpPr/>
          <p:nvPr/>
        </p:nvSpPr>
        <p:spPr>
          <a:xfrm>
            <a:off x="457200" y="2862072"/>
            <a:ext cx="8229600" cy="512064"/>
          </a:xfrm>
          <a:prstGeom prst="roundRect">
            <a:avLst>
              <a:gd name="adj" fmla="val 21429"/>
            </a:avLst>
          </a:prstGeom>
          <a:solidFill>
            <a:srgbClr val="FDE4E2"/>
          </a:solidFill>
          <a:ln/>
          <a:effectLst>
            <a:outerShdw sx="100000" sy="100000" kx="0" ky="0" algn="bl" rotWithShape="0" blurRad="76200" dist="25400" dir="5400000">
              <a:srgbClr val="1D3B4F">
                <a:alpha val="12000"/>
              </a:srgbClr>
            </a:outerShdw>
          </a:effectLst>
        </p:spPr>
      </p:sp>
      <p:sp>
        <p:nvSpPr>
          <p:cNvPr id="14" name="A4 Número pregunta"/>
          <p:cNvSpPr txBox="1"/>
          <p:nvPr/>
        </p:nvSpPr>
        <p:spPr>
          <a:xfrm>
            <a:off x="566928" y="2944368"/>
            <a:ext cx="347472" cy="347472"/>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A4 Texto pregunta"/>
          <p:cNvSpPr txBox="1"/>
          <p:nvPr/>
        </p:nvSpPr>
        <p:spPr>
          <a:xfrm>
            <a:off x="1097280" y="2862072"/>
            <a:ext cx="7406640" cy="512064"/>
          </a:xfrm>
          <a:prstGeom prst="rect">
            <a:avLst/>
          </a:prstGeom>
          <a:noFill/>
          <a:ln/>
        </p:spPr>
        <p:txBody>
          <a:bodyPr wrap="square" lIns="0" tIns="0" rIns="0" bIns="0" rtlCol="0" anchor="ctr"/>
          <a:lstStyle/>
          <a:p>
            <a:pPr indent="0" marL="0">
              <a:buNone/>
            </a:pPr>
            <a:r>
              <a:rPr lang="en-US" sz="1400" b="1" dirty="0">
                <a:solidFill>
                  <a:schemeClr val="tx1"/>
                </a:solidFill>
              </a:rPr>
              <a:t>¿Por qué la astilla hizo más difícil el caso 2?</a:t>
            </a:r>
            <a:endParaRPr lang="en-US" sz="1400" dirty="0"/>
          </a:p>
        </p:txBody>
      </p:sp>
      <p:sp>
        <p:nvSpPr>
          <p:cNvPr id="16" name="A5 Pregunta"/>
          <p:cNvSpPr/>
          <p:nvPr/>
        </p:nvSpPr>
        <p:spPr>
          <a:xfrm>
            <a:off x="457200" y="3465576"/>
            <a:ext cx="8229600" cy="512064"/>
          </a:xfrm>
          <a:prstGeom prst="roundRect">
            <a:avLst>
              <a:gd name="adj" fmla="val 21429"/>
            </a:avLst>
          </a:prstGeom>
          <a:solidFill>
            <a:srgbClr val="FFFFFF"/>
          </a:solidFill>
          <a:ln/>
          <a:effectLst>
            <a:outerShdw sx="100000" sy="100000" kx="0" ky="0" algn="bl" rotWithShape="0" blurRad="76200" dist="25400" dir="5400000">
              <a:srgbClr val="1D3B4F">
                <a:alpha val="12000"/>
              </a:srgbClr>
            </a:outerShdw>
          </a:effectLst>
        </p:spPr>
      </p:sp>
      <p:sp>
        <p:nvSpPr>
          <p:cNvPr id="17" name="A5 Número pregunta"/>
          <p:cNvSpPr txBox="1"/>
          <p:nvPr/>
        </p:nvSpPr>
        <p:spPr>
          <a:xfrm>
            <a:off x="566928" y="3547872"/>
            <a:ext cx="347472" cy="347472"/>
          </a:xfrm>
          <a:prstGeom prst="ellipse">
            <a:avLst/>
          </a:prstGeom>
          <a:solidFill>
            <a:srgbClr val="D2504B"/>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A5 Texto pregunta"/>
          <p:cNvSpPr txBox="1"/>
          <p:nvPr/>
        </p:nvSpPr>
        <p:spPr>
          <a:xfrm>
            <a:off x="1097280" y="3465576"/>
            <a:ext cx="7406640" cy="512064"/>
          </a:xfrm>
          <a:prstGeom prst="rect">
            <a:avLst/>
          </a:prstGeom>
          <a:noFill/>
          <a:ln/>
        </p:spPr>
        <p:txBody>
          <a:bodyPr wrap="square" lIns="0" tIns="0" rIns="0" bIns="0" rtlCol="0" anchor="ctr"/>
          <a:lstStyle/>
          <a:p>
            <a:pPr indent="0" marL="0">
              <a:buNone/>
            </a:pPr>
            <a:r>
              <a:rPr lang="en-US" sz="1400" b="1" dirty="0">
                <a:solidFill>
                  <a:schemeClr val="tx1"/>
                </a:solidFill>
              </a:rPr>
              <a:t>¿Qué cuidados evitan que tu segunda barrera trabaje de más?</a:t>
            </a:r>
            <a:endParaRPr lang="en-US" sz="1400" dirty="0"/>
          </a:p>
        </p:txBody>
      </p:sp>
      <p:sp>
        <p:nvSpPr>
          <p:cNvPr id="19" name="Banner"/>
          <p:cNvSpPr/>
          <p:nvPr/>
        </p:nvSpPr>
        <p:spPr>
          <a:xfrm>
            <a:off x="457200" y="4160520"/>
            <a:ext cx="8229600" cy="502920"/>
          </a:xfrm>
          <a:prstGeom prst="roundRect">
            <a:avLst>
              <a:gd name="adj" fmla="val 18182"/>
            </a:avLst>
          </a:prstGeom>
          <a:solidFill>
            <a:srgbClr val="D6EEF0"/>
          </a:solidFill>
          <a:ln/>
        </p:spPr>
      </p:sp>
      <p:sp>
        <p:nvSpPr>
          <p:cNvPr id="20" name="Texto banner"/>
          <p:cNvSpPr txBox="1"/>
          <p:nvPr/>
        </p:nvSpPr>
        <p:spPr>
          <a:xfrm>
            <a:off x="640080" y="4160520"/>
            <a:ext cx="7863840" cy="502920"/>
          </a:xfrm>
          <a:prstGeom prst="rect">
            <a:avLst/>
          </a:prstGeom>
          <a:noFill/>
          <a:ln/>
        </p:spPr>
        <p:txBody>
          <a:bodyPr wrap="square" lIns="0" tIns="0" rIns="0" bIns="0" rtlCol="0" anchor="ctr"/>
          <a:lstStyle/>
          <a:p>
            <a:pPr indent="0" marL="0">
              <a:buNone/>
            </a:pPr>
            <a:r>
              <a:rPr lang="en-US" sz="1400" b="1" dirty="0">
                <a:solidFill>
                  <a:srgbClr val="1E8A94"/>
                </a:solidFill>
              </a:rPr>
              <a:t>Tip: </a:t>
            </a:r>
            <a:pPr indent="0" marL="0">
              <a:buNone/>
            </a:pPr>
            <a:r>
              <a:rPr lang="en-US" sz="1400" dirty="0">
                <a:solidFill>
                  <a:schemeClr val="tx1"/>
                </a:solidFill>
              </a:rPr>
              <a:t>responde con tus palabras y usa al menos tres términos de la clase.</a:t>
            </a:r>
            <a:endParaRPr lang="en-US" sz="1400" dirty="0"/>
          </a:p>
        </p:txBody>
      </p:sp>
      <p:sp>
        <p:nvSpPr>
          <p:cNvPr id="25" name="Slide Number Placeholder 0"/>
          <p:cNvSpPr>
            <a:spLocks noGrp="1"/>
          </p:cNvSpPr>
          <p:nvPr>
            <p:ph type="sldNum" sz="quarter" idx="4294967295"/>
          </p:nvPr>
        </p:nvSpPr>
        <p:spPr>
          <a:xfrm>
            <a:off x="8138160" y="482803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5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56" fill="hold">
                      <p:stCondLst>
                        <p:cond delay="indefinite"/>
                      </p:stCondLst>
                      <p:childTnLst>
                        <p:par>
                          <p:cTn id="57"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animBg="1"/>
      <p:bldP spid="8" grpId="0" animBg="1"/>
      <p:bldP spid="9" grpId="0"/>
      <p:bldP spid="10" grpId="0" animBg="1"/>
      <p:bldP spid="11" grpId="0" animBg="1"/>
      <p:bldP spid="12" grpId="0"/>
      <p:bldP spid="13" grpId="0" animBg="1"/>
      <p:bldP spid="14" grpId="0" animBg="1"/>
      <p:bldP spid="15" grpId="0"/>
      <p:bldP spid="16" grpId="0" animBg="1"/>
      <p:bldP spid="17" grpId="0" animBg="1"/>
      <p:bldP spid="18"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ph idx="100" type="title" hasCustomPrompt="1"/>
          </p:nvPr>
        </p:nvSpPr>
        <p:spPr>
          <a:xfrm>
            <a:off x="457200" y="411480"/>
            <a:ext cx="8229600" cy="822960"/>
          </a:xfrm>
          <a:prstGeom prst="rect">
            <a:avLst/>
          </a:prstGeom>
          <a:noFill/>
          <a:ln/>
        </p:spPr>
        <p:txBody>
          <a:bodyPr wrap="square" lIns="0" tIns="0" rIns="0" bIns="0" rtlCol="0" anchor="ctr"/>
          <a:lstStyle/>
          <a:p>
            <a:pPr algn="l" indent="0" marL="0">
              <a:buNone/>
            </a:pPr>
            <a:r>
              <a:rPr lang="en-US" sz="3200" b="1" dirty="0">
                <a:solidFill>
                  <a:schemeClr val="bg1"/>
                </a:solidFill>
              </a:rPr>
              <a:t>Pero… ¿y si el microbio sigue ahí?</a:t>
            </a:r>
            <a:endParaRPr lang="en-US" sz="3200" dirty="0"/>
          </a:p>
        </p:txBody>
      </p:sp>
      <p:sp>
        <p:nvSpPr>
          <p:cNvPr id="4" name="Puente hemograma"/>
          <p:cNvSpPr/>
          <p:nvPr/>
        </p:nvSpPr>
        <p:spPr>
          <a:xfrm>
            <a:off x="457200" y="1463040"/>
            <a:ext cx="4023360" cy="2194560"/>
          </a:xfrm>
          <a:prstGeom prst="roundRect">
            <a:avLst>
              <a:gd name="adj" fmla="val 5000"/>
            </a:avLst>
          </a:prstGeom>
          <a:solidFill>
            <a:srgbClr val="FFFFFF"/>
          </a:solidFill>
          <a:ln/>
          <a:effectLst>
            <a:outerShdw sx="100000" sy="100000" kx="0" ky="0" algn="bl" rotWithShape="0" blurRad="76200" dist="25400" dir="5400000">
              <a:srgbClr val="1D3B4F">
                <a:alpha val="12000"/>
              </a:srgbClr>
            </a:outerShdw>
          </a:effectLst>
        </p:spPr>
      </p:sp>
      <p:sp>
        <p:nvSpPr>
          <p:cNvPr id="5" name="Círculo ícono"/>
          <p:cNvSpPr/>
          <p:nvPr/>
        </p:nvSpPr>
        <p:spPr>
          <a:xfrm>
            <a:off x="685800" y="1645920"/>
            <a:ext cx="548640" cy="548640"/>
          </a:xfrm>
          <a:prstGeom prst="ellipse">
            <a:avLst/>
          </a:prstGeom>
          <a:solidFill>
            <a:srgbClr val="D2504B"/>
          </a:solidFill>
          <a:ln/>
        </p:spPr>
      </p:sp>
      <p:pic>
        <p:nvPicPr>
          <p:cNvPr id="6" name="Image 0" descr="FaVial">    </p:cNvPr>
          <p:cNvPicPr>
            <a:picLocks noChangeAspect="1"/>
          </p:cNvPicPr>
          <p:nvPr/>
        </p:nvPicPr>
        <p:blipFill>
          <a:blip r:embed="rId1"/>
          <a:stretch>
            <a:fillRect/>
          </a:stretch>
        </p:blipFill>
        <p:spPr>
          <a:xfrm>
            <a:off x="822960" y="1783080"/>
            <a:ext cx="274320" cy="274320"/>
          </a:xfrm>
          <a:prstGeom prst="rect">
            <a:avLst/>
          </a:prstGeom>
        </p:spPr>
      </p:pic>
      <p:sp>
        <p:nvSpPr>
          <p:cNvPr id="7" name="Text 3"/>
          <p:cNvSpPr txBox="1"/>
          <p:nvPr/>
        </p:nvSpPr>
        <p:spPr>
          <a:xfrm>
            <a:off x="1371600" y="1645920"/>
            <a:ext cx="2926080" cy="548640"/>
          </a:xfrm>
          <a:prstGeom prst="rect">
            <a:avLst/>
          </a:prstGeom>
          <a:noFill/>
          <a:ln/>
        </p:spPr>
        <p:txBody>
          <a:bodyPr wrap="square" lIns="0" tIns="0" rIns="0" bIns="0" rtlCol="0" anchor="ctr"/>
          <a:lstStyle/>
          <a:p>
            <a:pPr indent="0" marL="0">
              <a:buNone/>
            </a:pPr>
            <a:r>
              <a:rPr lang="en-US" sz="1600" b="1" dirty="0">
                <a:solidFill>
                  <a:schemeClr val="tx1"/>
                </a:solidFill>
              </a:rPr>
              <a:t>El hemograma lo cuenta</a:t>
            </a:r>
            <a:endParaRPr lang="en-US" sz="1600" dirty="0"/>
          </a:p>
        </p:txBody>
      </p:sp>
      <p:sp>
        <p:nvSpPr>
          <p:cNvPr id="8" name="Text 4"/>
          <p:cNvSpPr txBox="1"/>
          <p:nvPr/>
        </p:nvSpPr>
        <p:spPr>
          <a:xfrm>
            <a:off x="685800" y="2331720"/>
            <a:ext cx="3566160" cy="1234440"/>
          </a:xfrm>
          <a:prstGeom prst="rect">
            <a:avLst/>
          </a:prstGeom>
          <a:noFill/>
          <a:ln/>
        </p:spPr>
        <p:txBody>
          <a:bodyPr wrap="square" lIns="0" tIns="0" rIns="0" bIns="0" rtlCol="0" anchor="t"/>
          <a:lstStyle/>
          <a:p>
            <a:pPr indent="0" marL="0">
              <a:buNone/>
            </a:pPr>
            <a:r>
              <a:rPr lang="en-US" sz="1400" dirty="0">
                <a:solidFill>
                  <a:schemeClr val="tx1"/>
                </a:solidFill>
              </a:rPr>
              <a:t>En una infección bacteriana suele aumentar el número de leucocitos, sobre todo de neutrófilos.</a:t>
            </a:r>
            <a:endParaRPr lang="en-US" sz="1400" dirty="0"/>
          </a:p>
        </p:txBody>
      </p:sp>
      <p:sp>
        <p:nvSpPr>
          <p:cNvPr id="9" name="Puente tercera línea"/>
          <p:cNvSpPr/>
          <p:nvPr/>
        </p:nvSpPr>
        <p:spPr>
          <a:xfrm>
            <a:off x="4663440" y="1463040"/>
            <a:ext cx="4023360" cy="2194560"/>
          </a:xfrm>
          <a:prstGeom prst="roundRect">
            <a:avLst>
              <a:gd name="adj" fmla="val 5000"/>
            </a:avLst>
          </a:prstGeom>
          <a:solidFill>
            <a:srgbClr val="FFFFFF"/>
          </a:solidFill>
          <a:ln/>
          <a:effectLst>
            <a:outerShdw sx="100000" sy="100000" kx="0" ky="0" algn="bl" rotWithShape="0" blurRad="76200" dist="25400" dir="5400000">
              <a:srgbClr val="1D3B4F">
                <a:alpha val="12000"/>
              </a:srgbClr>
            </a:outerShdw>
          </a:effectLst>
        </p:spPr>
      </p:sp>
      <p:sp>
        <p:nvSpPr>
          <p:cNvPr id="10" name="Círculo ícono"/>
          <p:cNvSpPr/>
          <p:nvPr/>
        </p:nvSpPr>
        <p:spPr>
          <a:xfrm>
            <a:off x="4892040" y="1645920"/>
            <a:ext cx="548640" cy="548640"/>
          </a:xfrm>
          <a:prstGeom prst="ellipse">
            <a:avLst/>
          </a:prstGeom>
          <a:solidFill>
            <a:srgbClr val="7B68C8"/>
          </a:solidFill>
          <a:ln/>
        </p:spPr>
      </p:sp>
      <p:pic>
        <p:nvPicPr>
          <p:cNvPr id="11" name="Image 1" descr="FaShieldAlt">    </p:cNvPr>
          <p:cNvPicPr>
            <a:picLocks noChangeAspect="1"/>
          </p:cNvPicPr>
          <p:nvPr/>
        </p:nvPicPr>
        <p:blipFill>
          <a:blip r:embed="rId2"/>
          <a:stretch>
            <a:fillRect/>
          </a:stretch>
        </p:blipFill>
        <p:spPr>
          <a:xfrm>
            <a:off x="5029200" y="1783080"/>
            <a:ext cx="274320" cy="274320"/>
          </a:xfrm>
          <a:prstGeom prst="rect">
            <a:avLst/>
          </a:prstGeom>
        </p:spPr>
      </p:pic>
      <p:sp>
        <p:nvSpPr>
          <p:cNvPr id="12" name="Text 7"/>
          <p:cNvSpPr txBox="1"/>
          <p:nvPr/>
        </p:nvSpPr>
        <p:spPr>
          <a:xfrm>
            <a:off x="5577840" y="1645920"/>
            <a:ext cx="2926080" cy="548640"/>
          </a:xfrm>
          <a:prstGeom prst="rect">
            <a:avLst/>
          </a:prstGeom>
          <a:noFill/>
          <a:ln/>
        </p:spPr>
        <p:txBody>
          <a:bodyPr wrap="square" lIns="0" tIns="0" rIns="0" bIns="0" rtlCol="0" anchor="ctr"/>
          <a:lstStyle/>
          <a:p>
            <a:pPr indent="0" marL="0">
              <a:buNone/>
            </a:pPr>
            <a:r>
              <a:rPr lang="en-US" sz="1600" b="1" dirty="0">
                <a:solidFill>
                  <a:schemeClr val="tx1"/>
                </a:solidFill>
              </a:rPr>
              <a:t>Entra la tercera línea</a:t>
            </a:r>
            <a:endParaRPr lang="en-US" sz="1600" dirty="0"/>
          </a:p>
        </p:txBody>
      </p:sp>
      <p:sp>
        <p:nvSpPr>
          <p:cNvPr id="13" name="Text 8"/>
          <p:cNvSpPr txBox="1"/>
          <p:nvPr/>
        </p:nvSpPr>
        <p:spPr>
          <a:xfrm>
            <a:off x="4892040" y="2331720"/>
            <a:ext cx="3566160" cy="1234440"/>
          </a:xfrm>
          <a:prstGeom prst="rect">
            <a:avLst/>
          </a:prstGeom>
          <a:noFill/>
          <a:ln/>
        </p:spPr>
        <p:txBody>
          <a:bodyPr wrap="square" lIns="0" tIns="0" rIns="0" bIns="0" rtlCol="0" anchor="t"/>
          <a:lstStyle/>
          <a:p>
            <a:pPr indent="0" marL="0">
              <a:buNone/>
            </a:pPr>
            <a:r>
              <a:rPr lang="en-US" sz="1400" dirty="0">
                <a:solidFill>
                  <a:schemeClr val="tx1"/>
                </a:solidFill>
              </a:rPr>
              <a:t>Linfocitos T y B, anticuerpos y memoria: una respuesta específica contra ese microbio.</a:t>
            </a:r>
            <a:endParaRPr lang="en-US" sz="1400" dirty="0"/>
          </a:p>
        </p:txBody>
      </p:sp>
      <p:sp>
        <p:nvSpPr>
          <p:cNvPr id="14" name="Text 9"/>
          <p:cNvSpPr txBox="1"/>
          <p:nvPr/>
        </p:nvSpPr>
        <p:spPr>
          <a:xfrm>
            <a:off x="457200" y="3977640"/>
            <a:ext cx="8229600" cy="457200"/>
          </a:xfrm>
          <a:prstGeom prst="rect">
            <a:avLst/>
          </a:prstGeom>
          <a:noFill/>
          <a:ln/>
        </p:spPr>
        <p:txBody>
          <a:bodyPr wrap="square" lIns="0" tIns="0" rIns="0" bIns="0" rtlCol="0" anchor="ctr"/>
          <a:lstStyle/>
          <a:p>
            <a:pPr indent="0" marL="0">
              <a:buNone/>
            </a:pPr>
            <a:r>
              <a:rPr lang="en-US" sz="1800" b="1" dirty="0">
                <a:solidFill>
                  <a:schemeClr val="bg1"/>
                </a:solidFill>
              </a:rPr>
              <a:t>Hoy: tu cuerpo tiene una alarma rápida, ordenada y que se apaga sola.</a:t>
            </a:r>
            <a:endParaRPr lang="en-US" sz="1800" dirty="0"/>
          </a:p>
        </p:txBody>
      </p:sp>
    </p:spTree>
  </p:cSld>
  <p:clrMapOvr>
    <a:masterClrMapping/>
  </p:clrMapOvr>
  <p:transition spd="med">
    <p:fade/>
  </p:transition>
</p:sld>
</file>

<file path=ppt/theme/theme1.xml><?xml version="1.0" encoding="utf-8"?>
<a:theme xmlns:a="http://schemas.openxmlformats.org/drawingml/2006/main" name="Segunda Barrera">
  <a:themeElements>
    <a:clrScheme name="Segunda Barrera">
      <a:dk1>
        <a:srgbClr val="1D3B4F"/>
      </a:dk1>
      <a:lt1>
        <a:srgbClr val="FFFFFF"/>
      </a:lt1>
      <a:dk2>
        <a:srgbClr val="5F7A89"/>
      </a:dk2>
      <a:lt2>
        <a:srgbClr val="F3F9FA"/>
      </a:lt2>
      <a:accent1>
        <a:srgbClr val="1E8A94"/>
      </a:accent1>
      <a:accent2>
        <a:srgbClr val="E0A020"/>
      </a:accent2>
      <a:accent3>
        <a:srgbClr val="7B68C8"/>
      </a:accent3>
      <a:accent4>
        <a:srgbClr val="D2504B"/>
      </a:accent4>
      <a:accent5>
        <a:srgbClr val="3E9E78"/>
      </a:accent5>
      <a:accent6>
        <a:srgbClr val="E8736F"/>
      </a:accent6>
      <a:hlink>
        <a:srgbClr val="1E8A94"/>
      </a:hlink>
      <a:folHlink>
        <a:srgbClr val="7B68C8"/>
      </a:folHlink>
    </a:clrScheme>
    <a:fontScheme name="Segunda Barre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segunda barrera: la inflamación</dc:title>
  <dc:subject>PptxGenJS Presentation</dc:subject>
  <dc:creator>Prof. Felipe Jiménez</dc:creator>
  <cp:lastModifiedBy>Prof. Felipe Jiménez</cp:lastModifiedBy>
  <cp:revision>1</cp:revision>
  <dcterms:created xsi:type="dcterms:W3CDTF">2026-10-23T01:41:22Z</dcterms:created>
  <dcterms:modified xsi:type="dcterms:W3CDTF">2026-10-23T01:41:22Z</dcterms:modified>
</cp:coreProperties>
</file>