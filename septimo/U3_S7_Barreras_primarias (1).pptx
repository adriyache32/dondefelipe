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· U3 · Sesión 7 (OA4 · IE 12, 13) · 90 min.
Duración: Inicio 20 min · Desarrollo 55 min · Cierre 15 min.
Tip: no leas el título como anuncio. Pregunta en voz alta: "¿Cuántos se enfermaron el último mes? ¿Y cuántas veces pasaron cerca de alguien enfermo y NO se contagiaron?" Deja que la pregunta del título quede flotando; se responde recién en la diapositiva 6.
Materiales de la sesión: casos impresos (diap. 5), papel kraft, plumones, post-its, bitácora de cada estudiante.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RUTA DE LA CLASE (2 min).
Muestra las tres partes y el objetivo. Aclara que hoy NO hay Kahoot (se reserva para el cierre del bloque, sesión 11) y que el mapa corporal es el producto formativo de la sesión.
ANIMACIONES: casi todas las diapositivas revelan su contenido con un clic (fundido o barrido), para que controles el ritmo. Las preguntas suelen aparecer al final de cada tema, para que primero piensen y después lean.
Distribución sugerida:
INICIO (20 min): hook 5 + hipótesis en bitácora 5 + casos en parejas 10.
DESARROLLO (55 min): tres líneas de defensa 5 + tour de barreras 20 + "¿qué barrera falló?" 5 + mapa corporal 25.
CIERRE (15 min): galería 5 + bitácora 7 + teaser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(5 min). Pantalla en silencio un momento: deja que lean los tres datos.
Datos (órdenes de magnitud, para provocar, no para memorizar):
• Una persona respira más de 10.000 litros de aire al día.
• En estudios con estudiantes se observó que nos tocamos la cara unas 20 veces por hora.
• Se estima que el cuerpo humano tiene aproximadamente tantas bacterias como células propias.
Pregunta fuerte (parte inferior): ¿Por qué NO estás enfermo/a ahora mismo? No la respondas todavía. Pide que 2-3 estudiantes lancen una idea en voz alta, sin corregir. Anota las ideas en la pizarra: se retoman en 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HIPÓTESIS EN LA BITÁCORA (5 min, trabajo individual y silencioso).
Parte emotiva: invita a recordar la última vez que estuvieron enfermos/as. No pidas compartir; es solo para conectar con la experiencia (hay estudiantes con realidades familiares distintas, cuida el tono).
Parte provocadora: escriben una hipótesis ANTES de recibir contenido. Es el mismo principio de la unidad: primero la pregunta, después la explicación.
Escribir en el cuaderno físico/bitácora (no en pantalla). Pasea por la sala y lee 2-3 hipótesis para detectar ideas previas: "porque tomamos vitaminas", "por el frío/calor", "porque somos fuertes", "por las defensas". Esas ideas se retoman en 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CASOS EN PAREJAS (10 min). Entregar impresos si es posible (misma información de la diapositiva).
Objetivo pedagógico: que INFIERAN que existe un sistema de defensa ANTES de que tú lo nombres (IE 12). Prohibido adelantar vocabulario.
Respuestas esperadas (no las des, guía con preguntas):
• Caso 1: la piel (barrera intacta antes de caer). Si se infecta, la barrera se rompió.
• Caso 2: mocos/mucus en la nariz, estornudos, cilios; y, si pasa, otras defensas.
• Caso 3: saliva, ácido del estómago, microbiota.
Plenario (3 min): "¿Qué tienen en común los tres casos?" → hay algo en el cuerpo que impide, destruye o frena a los microbios. Escribe la palabra "defensa" en la pizarra, pero no la desarrolles: es la diapositiva siguiente.
Habilidad de indagación: OA a (observar y describir).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PONLE NOMBRE (5 min). Aquí cierras la pregunta del título: "no nos enfermamos todo el tiempo porque tenemos un sistema de defensa, con tres líneas".
Explica en 1 minuto cada línea y aclara el mapa del bloque:
• 1ª línea (barreras primarias): impiden la ENTRADA. Siempre están activas y no distinguen quién es el invasor (inespecíficas). HOY.
• 2ª línea: actúa cuando el microbio ya entró: células que "se los comen" (macrófagos, neutrófilos), inflamación, fiebre. Sesión 8.
• 3ª línea: respuesta específica y con memoria (linfocitos T y B, anticuerpos). Es la base de las vacunas. Sesiones 8 y 9.
Pregunta final (provocadora): ¿cuál es la más barata y la más importante de cuidar? Deja que opinen 1-2 minutos. Respuesta esperada de fondo: la primera línea, porque cuidarla evita que el resto tenga que trabajar (lavar heridas, no fumar, lavarse las manos).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CLASIFICACIÓN (3 min). Idea central: las barreras primarias se pueden clasificar por CÓMO defienden.
• Físicas: bloquean el paso (piel, mucosas, cilios).
• Químicas: destruyen o debilitan al microbio con sustancias (lágrimas y saliva con lisozima, ácido del estómago, sebo y sudor ligeramente ácidos).
• Biológicas: otros microorganismos "buenos" ocupan el lugar (microbiota).
Esta clasificación es didáctica: en la realidad se combinan (la piel es física y también química).
Pregunta provocadora para cerrar: ¿cuál sería más difícil de "hackear" para un microbio? No hay una sola respuesta: lo valioso es que justifiquen. Una buena discusión: las químicas y biológicas requieren que el microbio "se adapte"; las físicas solo requieren una herida.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PIEL (4 min). Pregunta emotiva y provocadora (parte izquierda). Deja 1 minuto de discusión en parejas antes de responder.
Respuesta: una persona con quemaduras extensas pierde su principal barrera física; su mayor riesgo es la infección, por eso se la cuida en ambientes muy limpios. Trátalo con cuidado: puede haber estudiantes con experiencias cercanas (quemaduras, cirugías).
Contenido clave:
• Epidermis: capa externa formada por células muertas con queratina; es resistente e impermeable.
• Descamación: cada día se pierden muchas células de la superficie, llevándose microbios consigo.
• Sudor y sebo: hacen la superficie ligeramente ácida (pH cercano a 5), lo que dificulta el crecimiento de muchos microbios.
• Si se rompe (herida), la barrera se abre: se limpia, se cubre, y entran en acción las siguientes líneas (sesión 8).
Conexión con el caso 1: la rodilla estaba protegida ANTES de caer.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MUCOSAS Y CILIOS (4 min).
Contenido clave:
• Mucosas: tejidos húmedos que recubren por dentro nariz, boca, tráquea, intestino y vías urinarias.
• Mucus: pegajoso; atrapa polvo y microbios.
• Cilios: "pelitos" microscópicos de las células de la tráquea y las vías respiratorias; baten hacia la garganta y empujan el mucus. Se traga (el ácido del estómago se encarga del resto) o se expulsa con tos y estornudos.
Pregunta provocadora (cuadro derecho): ¿qué le hace el humo del cigarrillo a los cilios?
Respuesta: los daña y los paraliza; el mucus se acumula y no se limpia, por eso aparece la "tos del fumador" y hay más infecciones respiratorias. Hay evidencia de que el vapeo también se asocia a daño de las vías respiratorias; sin dramatizar, es un buen momento para hablar de autocuidado (Actitud F).
Anclaje con el caso 2: los mocos son una trampa, no solo una molestia.
Esquema: el diagrama es un modelo simplificado de un corte del epitelio de la tráquea.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LÁGRIMAS Y SALIVA (4 min). Momento emotivo: pregunta "¿Cuándo fue la última vez que lloraste?" con voz suave; no pidas que cuenten por qué.
Contenido clave:
• Lágrimas: el ojo produce lágrimas todo el día (no solo al llorar). Lavan y arrastran polvo y microbios; parpadear distribuye la lágrima como un limpiaparabrisas.
• Lisozima: enzima presente en lágrimas, saliva y mucus que debilita la pared de muchas bacterias.
• Saliva: además de lisozima, su flujo constante arrastra microbios hacia el estómago. Con la boca seca aumentan caries e infecciones.
Dato curioso (muy bueno para conectar con el Bloque 2 de antibióticos): en 1921 Alexander Fleming, el mismo de la penicilina, descubrió la lisozima al notar que su propio moco nasal destruía bacterias.
Pregunta para responder: ¿qué otras secreciones del cuerpo podrían tener un rol de defensa? (sudor, mucus, cerumen, orina: el flujo "lava" las vías urinarias).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ÁCIDO DEL ESTÓMAGO (4 min). Parte con la pregunta provocadora; deja que apuesten.
Respuesta: el estómago está protegido por una capa de mucus que cubre su pared; el ácido actúa sobre el alimento y los microbios del interior, no sobre la pared. (Si el mucus falla, aparecen las úlceras.)
Contenido clave:
• El jugo gástrico tiene pH entre 1 y 3: muy ácido. Mata o frena a muchos microbios que llegan con la comida, el agua y el mucus que tragamos.
• Escala de pH: 0 muy ácido, 7 neutro, 14 muy básico. La piel (≈5) es ligeramente ácida; el agua pura es 7.
• Ojo, no todos mueren: Helicobacter pylori sobrevive neutralizando el ácido a su alrededor y puede causar gastritis y úlceras. Buen ejemplo de que "las barreras no son perfectas" → puente a la sesión 8.
Conexión con el caso 3 (bebedero).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MICROBIOTA (3 min). Conecta con el Bloque 1: no todos los microorganismos son enemigos (OA5: efectos positivos y negativos).
Metáfora de la micro llena en hora punta: si todos los asientos están ocupados, el pasajero que llega no encuentra dónde sentarse. Así, las bacterias "buenas" ocupan el espacio y consumen el alimento; además, algunas producen sustancias que frenan a otras bacterias.
Pregunta provocadora (cuadro): ¿qué pasaría con tus bacterias "buenas" si tomas antibióticos sin necesidad? Respuesta: los antibióticos no distinguen del todo entre bacterias dañinas y beneficiosas; pueden alterar la microbiota y dejar "asientos libres" (por eso solo se usan con indicación médica). Esto también refuerza que los antibióticos NO sirven contra virus (ya visto en la sesión 3).
Cuida el lenguaje: "bacterias buenas" es una simplificación; la microbiota es un equilibrio.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(2 min). Es la "chuleta" para el mapa corporal: pide que copien las 6 barreras con su tipo en el cuaderno, o proyéctala mientras trabajan.
Código de colores sugerido para el mapa: física = turquesa, química = amarillo, biológica = lila.
Nota didáctica: la piel combina rol físico (barrera) y químico (pH ácido). Para el mapa, clasifícala como física y menciona su acidez como "extra".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¿QUÉ BARRERA ESTÁ DEBILITADA? (5 min). Aplicación de lo aprendido (Nivel Aplicar). Cada pareja decide, levanta la mano o escribe en su pizarra pequeña.
Claves (no mostrar hasta el final):
1) Mateo: la piel (barrera rota). La herida sucia permitió la entrada → inflamación (segunda línea).
2) Fumador: cilios y mucus (el humo daña los cilios; mucus acumulado; más infecciones respiratorias).
3) Medicamentos que reducen la acidez: ácido del estómago (pH menos ácido; se asocia con más riesgo de infecciones intestinales). Aclara: no es motivo para dejar un tratamiento indicado por un médico.
4) Camila: microbiota (tras antibióticos prolongados la microbiota se altera).
Distractor: "lágrimas" no corresponde a ningún caso; pide que expliquen por qué la descartan.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CORPORAL (25 min) · Actividad STEAM y evaluación formativa (habilidad de indagación OA i: crear y ajustar modelos).
Organización: grupos de 4. Un/a estudiante se recuesta sobre papel kraft y el grupo traza la silueta (si prefieren, pueden dibujarla a mano alzada). Entrega plumones de 3 colores (física, química, biológica).
Pasos:
1. Silueta (3 min).
2. Ubicar y rotular las 6 barreras (10 min).
3. Para cada barrera: cómo funciona y qué pasa si falla (8 min).
4. Cómic mini: un microbio intentando entrar por cada barrera (4 min).
Monitoreo: pregunta a cada grupo "¿por qué ubicaron esta barrera aquí?". Errores frecuentes: poner el ácido en la boca (es en el estómago), olvidar la microbiota, confundir mucus con saliva.
Material: papel kraft, plumones, resumen impreso o proyectado (diapositiva 13). Los mapas se cuelgan para la galería.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Y GALERÍA (se proyecta durante el trabajo y al finalizar).
Evaluación FORMATIVA, sin nota: usa la lista como pauta de observación (modelo corporal con etiquetas correctas · habilidad i).
Galería (5 min): cuelgan los mapas; cada estudiante recorre al menos 2 mapas de otros grupos y deja un post-it con una de las tres frases: "Me gustó…", "Me pregunto…", "Podrían mejorar…".
Retroalimentación breve: lee 2-3 post-its en voz alta y destaca un acierto y una corrección frecuente. No uses semáforo ni Kahoot: ambos están reservados para el cierre de unidad / de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EN LA BITÁCORA (7 min, individual). Vuelven al cuaderno.
1) Revisión de la hipótesis: relee la hipótesis del inicio y corrígela. Esto es el "ajuste de modelo" que busca el OA.
2) Pregunta emotiva: una barrera que hoy valoran más que ayer. Permite respuestas personales (algunos escribirán sobre lágrimas, piel, etc.).
3) Compromiso: acción concreta de autocuidado esta semana. Ejemplos: limpiar y cubrir las heridas, lavarse las manos antes de comer, no fumar ni vapear, cuidar la boca (cepillado). Conecta con la Actitud F (autocuidado y salud).
Recoge la bitácora de 3-4 estudiantes distintos cada sesión para dar retroalimentación 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PISTA PARA LA PRÓXIMA CLASE (3 min).
Cierra con suspenso: las barreras primarias no son perfectas. A veces el microbio pasa (una herida, un virus que entra por las mucosas, una bacteria como H. pylori).
Próxima sesión (8): segunda y tercera línea de defensa. Trabajarán con un hemograma real para descubrir qué cambia en la sangre cuando hay una infección.
Pregunta para llevarse: "Cuando tienes una infección, el médico a veces pide un examen de sangre. ¿Qué crees que busca ahí?"
Tarea opcional (sin nota): preguntar en casa si alguien ha tenido un hemograma y qué significó.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68580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685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OA4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no nos enfermamos todo el tiempo?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barreras primarias del cuerpo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 Naturales · 7° Básico · Prof. Felipe Jiménez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822960"/>
            <a:ext cx="3017520" cy="3017520"/>
          </a:xfrm>
          <a:prstGeom prst="ellipse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72200" y="1325880"/>
            <a:ext cx="2011680" cy="2011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ED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1737360"/>
            <a:ext cx="1243584" cy="12435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49240" y="914400"/>
            <a:ext cx="457200" cy="457200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49824" y="1051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14416" y="1051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75320" y="1188720"/>
            <a:ext cx="384048" cy="38404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9811" y="1303934"/>
            <a:ext cx="76810" cy="76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98068" y="1303934"/>
            <a:ext cx="76810" cy="76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40680" y="3017520"/>
            <a:ext cx="347472" cy="347472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517124" y="3121762"/>
            <a:ext cx="69494" cy="694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42214" y="3121762"/>
            <a:ext cx="69494" cy="694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1040" y="3246120"/>
            <a:ext cx="457200" cy="457200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421624" y="338328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86216" y="338328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58000" y="502920"/>
            <a:ext cx="310896" cy="310896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26397" y="596189"/>
            <a:ext cx="62179" cy="621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038320" y="596189"/>
            <a:ext cx="62179" cy="621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223760" y="3840480"/>
            <a:ext cx="365760" cy="365760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04227" y="395020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435901" y="395020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la clase · 90 minutos</a:t>
            </a:r>
            <a:endParaRPr lang="en-US" sz="2800" dirty="0"/>
          </a:p>
        </p:txBody>
      </p:sp>
      <p:sp>
        <p:nvSpPr>
          <p:cNvPr id="4" name="st1f_1"/>
          <p:cNvSpPr/>
          <p:nvPr/>
        </p:nvSpPr>
        <p:spPr>
          <a:xfrm>
            <a:off x="457200" y="1097280"/>
            <a:ext cx="2560320" cy="2971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2"/>
          <p:cNvSpPr/>
          <p:nvPr/>
        </p:nvSpPr>
        <p:spPr>
          <a:xfrm>
            <a:off x="685800" y="1280160"/>
            <a:ext cx="640080" cy="640080"/>
          </a:xfrm>
          <a:prstGeom prst="ellipse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pic>
        <p:nvPicPr>
          <p:cNvPr id="6" name="st1f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440180"/>
            <a:ext cx="320040" cy="320040"/>
          </a:xfrm>
          <a:prstGeom prst="rect">
            <a:avLst/>
          </a:prstGeom>
        </p:spPr>
      </p:pic>
      <p:sp>
        <p:nvSpPr>
          <p:cNvPr id="7" name="st1f_4"/>
          <p:cNvSpPr txBox="1"/>
          <p:nvPr/>
        </p:nvSpPr>
        <p:spPr>
          <a:xfrm>
            <a:off x="1463040" y="1261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</a:t>
            </a:r>
            <a:endParaRPr lang="en-US" sz="2000" dirty="0"/>
          </a:p>
        </p:txBody>
      </p:sp>
      <p:sp>
        <p:nvSpPr>
          <p:cNvPr id="8" name="st1f_5"/>
          <p:cNvSpPr txBox="1"/>
          <p:nvPr/>
        </p:nvSpPr>
        <p:spPr>
          <a:xfrm>
            <a:off x="146304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9" name="st1f_6"/>
          <p:cNvSpPr txBox="1"/>
          <p:nvPr/>
        </p:nvSpPr>
        <p:spPr>
          <a:xfrm>
            <a:off x="685800" y="21488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¿por qué NO estás enfermo/a?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hipótesis en la bitácora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 cotidianos en parejas</a:t>
            </a:r>
            <a:endParaRPr lang="en-US" sz="1400" dirty="0"/>
          </a:p>
        </p:txBody>
      </p:sp>
      <p:sp>
        <p:nvSpPr>
          <p:cNvPr id="10" name="st2f_7"/>
          <p:cNvSpPr/>
          <p:nvPr/>
        </p:nvSpPr>
        <p:spPr>
          <a:xfrm>
            <a:off x="3291840" y="1097280"/>
            <a:ext cx="2560320" cy="2971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t2f_8"/>
          <p:cNvSpPr/>
          <p:nvPr/>
        </p:nvSpPr>
        <p:spPr>
          <a:xfrm>
            <a:off x="3520440" y="1280160"/>
            <a:ext cx="640080" cy="64008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pic>
        <p:nvPicPr>
          <p:cNvPr id="12" name="st2f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440180"/>
            <a:ext cx="320040" cy="320040"/>
          </a:xfrm>
          <a:prstGeom prst="rect">
            <a:avLst/>
          </a:prstGeom>
        </p:spPr>
      </p:pic>
      <p:sp>
        <p:nvSpPr>
          <p:cNvPr id="13" name="st2f_10"/>
          <p:cNvSpPr txBox="1"/>
          <p:nvPr/>
        </p:nvSpPr>
        <p:spPr>
          <a:xfrm>
            <a:off x="4297680" y="1261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2000" dirty="0"/>
          </a:p>
        </p:txBody>
      </p:sp>
      <p:sp>
        <p:nvSpPr>
          <p:cNvPr id="14" name="st2f_11"/>
          <p:cNvSpPr txBox="1"/>
          <p:nvPr/>
        </p:nvSpPr>
        <p:spPr>
          <a:xfrm>
            <a:off x="429768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400" dirty="0"/>
          </a:p>
        </p:txBody>
      </p:sp>
      <p:sp>
        <p:nvSpPr>
          <p:cNvPr id="15" name="st2f_12"/>
          <p:cNvSpPr txBox="1"/>
          <p:nvPr/>
        </p:nvSpPr>
        <p:spPr>
          <a:xfrm>
            <a:off x="3520440" y="21488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líneas de defensa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por las barreras primarias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barrera está fallando?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corporal en papel kraft</a:t>
            </a:r>
            <a:endParaRPr lang="en-US" sz="1400" dirty="0"/>
          </a:p>
        </p:txBody>
      </p:sp>
      <p:sp>
        <p:nvSpPr>
          <p:cNvPr id="16" name="st3f_13"/>
          <p:cNvSpPr/>
          <p:nvPr/>
        </p:nvSpPr>
        <p:spPr>
          <a:xfrm>
            <a:off x="6126480" y="1097280"/>
            <a:ext cx="2560320" cy="2971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t3f_14"/>
          <p:cNvSpPr/>
          <p:nvPr/>
        </p:nvSpPr>
        <p:spPr>
          <a:xfrm>
            <a:off x="6355080" y="1280160"/>
            <a:ext cx="640080" cy="640080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pic>
        <p:nvPicPr>
          <p:cNvPr id="18" name="st3f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440180"/>
            <a:ext cx="320040" cy="320040"/>
          </a:xfrm>
          <a:prstGeom prst="rect">
            <a:avLst/>
          </a:prstGeom>
        </p:spPr>
      </p:pic>
      <p:sp>
        <p:nvSpPr>
          <p:cNvPr id="19" name="st3f_16"/>
          <p:cNvSpPr txBox="1"/>
          <p:nvPr/>
        </p:nvSpPr>
        <p:spPr>
          <a:xfrm>
            <a:off x="7132320" y="1261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2000" dirty="0"/>
          </a:p>
        </p:txBody>
      </p:sp>
      <p:sp>
        <p:nvSpPr>
          <p:cNvPr id="20" name="st3f_17"/>
          <p:cNvSpPr txBox="1"/>
          <p:nvPr/>
        </p:nvSpPr>
        <p:spPr>
          <a:xfrm>
            <a:off x="713232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1" name="st3f_18"/>
          <p:cNvSpPr txBox="1"/>
          <p:nvPr/>
        </p:nvSpPr>
        <p:spPr>
          <a:xfrm>
            <a:off x="6355080" y="21488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de mapas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Bitácora: hipótesis y compromiso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para la próxima clase</a:t>
            </a:r>
            <a:endParaRPr lang="en-US" sz="1400" dirty="0"/>
          </a:p>
        </p:txBody>
      </p:sp>
      <p:sp>
        <p:nvSpPr>
          <p:cNvPr id="22" name="st4f_19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23" name="st4f_20"/>
          <p:cNvSpPr txBox="1"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explicar, con un modelo, cómo las barreras primarias impiden la entrada de microorganismos al cuerpo.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ya estuviste rodeado/a de microbios</a:t>
            </a:r>
            <a:endParaRPr lang="en-US" sz="2800" dirty="0"/>
          </a:p>
        </p:txBody>
      </p:sp>
      <p:sp>
        <p:nvSpPr>
          <p:cNvPr id="4" name="st1f_21"/>
          <p:cNvSpPr/>
          <p:nvPr/>
        </p:nvSpPr>
        <p:spPr>
          <a:xfrm>
            <a:off x="457200" y="109728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22"/>
          <p:cNvSpPr txBox="1"/>
          <p:nvPr/>
        </p:nvSpPr>
        <p:spPr>
          <a:xfrm>
            <a:off x="45720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+10 000</a:t>
            </a:r>
            <a:endParaRPr lang="en-US" sz="4000" dirty="0"/>
          </a:p>
        </p:txBody>
      </p:sp>
      <p:sp>
        <p:nvSpPr>
          <p:cNvPr id="6" name="st1f_23"/>
          <p:cNvSpPr txBox="1"/>
          <p:nvPr/>
        </p:nvSpPr>
        <p:spPr>
          <a:xfrm>
            <a:off x="64008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de aire respiras cada día</a:t>
            </a:r>
            <a:endParaRPr lang="en-US" sz="1400" dirty="0"/>
          </a:p>
        </p:txBody>
      </p:sp>
      <p:sp>
        <p:nvSpPr>
          <p:cNvPr id="7" name="st2f_24"/>
          <p:cNvSpPr/>
          <p:nvPr/>
        </p:nvSpPr>
        <p:spPr>
          <a:xfrm>
            <a:off x="3291840" y="109728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t2f_25"/>
          <p:cNvSpPr txBox="1"/>
          <p:nvPr/>
        </p:nvSpPr>
        <p:spPr>
          <a:xfrm>
            <a:off x="32918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</a:t>
            </a:r>
            <a:endParaRPr lang="en-US" sz="4000" dirty="0"/>
          </a:p>
        </p:txBody>
      </p:sp>
      <p:sp>
        <p:nvSpPr>
          <p:cNvPr id="9" name="st2f_26"/>
          <p:cNvSpPr txBox="1"/>
          <p:nvPr/>
        </p:nvSpPr>
        <p:spPr>
          <a:xfrm>
            <a:off x="347472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veces por hora te tocas la cara (ojos, nariz, boca)</a:t>
            </a:r>
            <a:endParaRPr lang="en-US" sz="1400" dirty="0"/>
          </a:p>
        </p:txBody>
      </p:sp>
      <p:sp>
        <p:nvSpPr>
          <p:cNvPr id="10" name="st3f_27"/>
          <p:cNvSpPr/>
          <p:nvPr/>
        </p:nvSpPr>
        <p:spPr>
          <a:xfrm>
            <a:off x="6126480" y="109728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t3f_28"/>
          <p:cNvSpPr txBox="1"/>
          <p:nvPr/>
        </p:nvSpPr>
        <p:spPr>
          <a:xfrm>
            <a:off x="612648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: 1</a:t>
            </a:r>
            <a:endParaRPr lang="en-US" sz="4000" dirty="0"/>
          </a:p>
        </p:txBody>
      </p:sp>
      <p:sp>
        <p:nvSpPr>
          <p:cNvPr id="12" name="st3f_29"/>
          <p:cNvSpPr txBox="1"/>
          <p:nvPr/>
        </p:nvSpPr>
        <p:spPr>
          <a:xfrm>
            <a:off x="630936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bacterias por cada célula tuya, viviendo en tu cuerpo</a:t>
            </a:r>
            <a:endParaRPr lang="en-US" sz="1400" dirty="0"/>
          </a:p>
        </p:txBody>
      </p:sp>
      <p:sp>
        <p:nvSpPr>
          <p:cNvPr id="13" name="st4f_30"/>
          <p:cNvSpPr/>
          <p:nvPr/>
        </p:nvSpPr>
        <p:spPr>
          <a:xfrm>
            <a:off x="457200" y="3246120"/>
            <a:ext cx="8229600" cy="1417320"/>
          </a:xfrm>
          <a:prstGeom prst="roundRect">
            <a:avLst>
              <a:gd name="adj" fmla="val 9677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14" name="st4f_31"/>
          <p:cNvSpPr/>
          <p:nvPr/>
        </p:nvSpPr>
        <p:spPr>
          <a:xfrm>
            <a:off x="731520" y="3611880"/>
            <a:ext cx="685800" cy="685800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15" name="st4f_32"/>
          <p:cNvSpPr txBox="1"/>
          <p:nvPr/>
        </p:nvSpPr>
        <p:spPr>
          <a:xfrm>
            <a:off x="73152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16" name="st4f_33"/>
          <p:cNvSpPr txBox="1"/>
          <p:nvPr/>
        </p:nvSpPr>
        <p:spPr>
          <a:xfrm>
            <a:off x="1645920" y="329184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Entonces… ¿por qué NO estás enfermo/a ahora mismo?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saber, atrévete a pensar</a:t>
            </a:r>
            <a:endParaRPr lang="en-US" sz="2800" dirty="0"/>
          </a:p>
        </p:txBody>
      </p:sp>
      <p:sp>
        <p:nvSpPr>
          <p:cNvPr id="4" name="st1f_34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35"/>
          <p:cNvSpPr/>
          <p:nvPr/>
        </p:nvSpPr>
        <p:spPr>
          <a:xfrm>
            <a:off x="731520" y="1325880"/>
            <a:ext cx="594360" cy="594360"/>
          </a:xfrm>
          <a:prstGeom prst="ellipse">
            <a:avLst/>
          </a:prstGeom>
          <a:solidFill>
            <a:srgbClr val="E8736F"/>
          </a:solidFill>
          <a:ln w="12700">
            <a:solidFill>
              <a:srgbClr val="E8736F"/>
            </a:solidFill>
            <a:prstDash val="solid"/>
          </a:ln>
        </p:spPr>
      </p:sp>
      <p:pic>
        <p:nvPicPr>
          <p:cNvPr id="6" name="st1f_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474470"/>
            <a:ext cx="297180" cy="297180"/>
          </a:xfrm>
          <a:prstGeom prst="rect">
            <a:avLst/>
          </a:prstGeom>
        </p:spPr>
      </p:pic>
      <p:sp>
        <p:nvSpPr>
          <p:cNvPr id="7" name="st1f_37"/>
          <p:cNvSpPr txBox="1"/>
          <p:nvPr/>
        </p:nvSpPr>
        <p:spPr>
          <a:xfrm>
            <a:off x="146304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5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Recuerda…</a:t>
            </a:r>
            <a:endParaRPr lang="en-US" sz="2400" dirty="0"/>
          </a:p>
        </p:txBody>
      </p:sp>
      <p:sp>
        <p:nvSpPr>
          <p:cNvPr id="8" name="st1f_38"/>
          <p:cNvSpPr txBox="1"/>
          <p:nvPr/>
        </p:nvSpPr>
        <p:spPr>
          <a:xfrm>
            <a:off x="731520" y="21488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vez que estuviste enfermo/a.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te sentiste?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se preocupó por ti?</a:t>
            </a:r>
            <a:endParaRPr lang="en-US" sz="2000" dirty="0"/>
          </a:p>
        </p:txBody>
      </p:sp>
      <p:sp>
        <p:nvSpPr>
          <p:cNvPr id="9" name="st2f_39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10" name="st2f_40"/>
          <p:cNvSpPr/>
          <p:nvPr/>
        </p:nvSpPr>
        <p:spPr>
          <a:xfrm>
            <a:off x="5029200" y="1325880"/>
            <a:ext cx="594360" cy="59436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pic>
        <p:nvPicPr>
          <p:cNvPr id="11" name="st2f_4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0" y="1474470"/>
            <a:ext cx="297180" cy="297180"/>
          </a:xfrm>
          <a:prstGeom prst="rect">
            <a:avLst/>
          </a:prstGeom>
        </p:spPr>
      </p:pic>
      <p:sp>
        <p:nvSpPr>
          <p:cNvPr id="12" name="st2f_42"/>
          <p:cNvSpPr txBox="1"/>
          <p:nvPr/>
        </p:nvSpPr>
        <p:spPr>
          <a:xfrm>
            <a:off x="576072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Ahora, lo difícil</a:t>
            </a:r>
            <a:endParaRPr lang="en-US" sz="2400" dirty="0"/>
          </a:p>
        </p:txBody>
      </p:sp>
      <p:sp>
        <p:nvSpPr>
          <p:cNvPr id="13" name="st2f_43"/>
          <p:cNvSpPr txBox="1"/>
          <p:nvPr/>
        </p:nvSpPr>
        <p:spPr>
          <a:xfrm>
            <a:off x="5029200" y="21031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fuiste en micro o Metro, tocaste pasamanos, abrazaste a alguien, comiste con las manos… y aquí estás, sano/a.</a:t>
            </a:r>
            <a:endParaRPr lang="en-US" sz="1500" dirty="0"/>
          </a:p>
        </p:txBody>
      </p:sp>
      <p:sp>
        <p:nvSpPr>
          <p:cNvPr id="14" name="st3f_44"/>
          <p:cNvSpPr/>
          <p:nvPr/>
        </p:nvSpPr>
        <p:spPr>
          <a:xfrm>
            <a:off x="5029200" y="32461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t3f_45"/>
          <p:cNvSpPr txBox="1"/>
          <p:nvPr/>
        </p:nvSpPr>
        <p:spPr>
          <a:xfrm>
            <a:off x="5166360" y="32918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bitácora (3 min):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 cuerpo no se enferma siempre porque…”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casos para investigar en parejas</a:t>
            </a:r>
            <a:endParaRPr lang="en-US" sz="2800" dirty="0"/>
          </a:p>
        </p:txBody>
      </p:sp>
      <p:sp>
        <p:nvSpPr>
          <p:cNvPr id="4" name="st1f_46"/>
          <p:cNvSpPr/>
          <p:nvPr/>
        </p:nvSpPr>
        <p:spPr>
          <a:xfrm>
            <a:off x="457200" y="109728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47"/>
          <p:cNvSpPr/>
          <p:nvPr/>
        </p:nvSpPr>
        <p:spPr>
          <a:xfrm>
            <a:off x="640080" y="1261872"/>
            <a:ext cx="457200" cy="45720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6" name="st1f_48"/>
          <p:cNvSpPr txBox="1"/>
          <p:nvPr/>
        </p:nvSpPr>
        <p:spPr>
          <a:xfrm>
            <a:off x="6400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t1f_49"/>
          <p:cNvSpPr txBox="1"/>
          <p:nvPr/>
        </p:nvSpPr>
        <p:spPr>
          <a:xfrm>
            <a:off x="1188720" y="12161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rodilla del recreo</a:t>
            </a:r>
            <a:endParaRPr lang="en-US" sz="1400" dirty="0"/>
          </a:p>
        </p:txBody>
      </p:sp>
      <p:sp>
        <p:nvSpPr>
          <p:cNvPr id="8" name="st1f_50"/>
          <p:cNvSpPr txBox="1"/>
          <p:nvPr/>
        </p:nvSpPr>
        <p:spPr>
          <a:xfrm>
            <a:off x="64008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caes jugando a la pelota: tierra, sangre, ¡y nadie te limpió al tiro!</a:t>
            </a:r>
            <a:endParaRPr lang="en-US" sz="1300" dirty="0"/>
          </a:p>
        </p:txBody>
      </p:sp>
      <p:sp>
        <p:nvSpPr>
          <p:cNvPr id="9" name="st1f_51"/>
          <p:cNvSpPr/>
          <p:nvPr/>
        </p:nvSpPr>
        <p:spPr>
          <a:xfrm>
            <a:off x="594360" y="28346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10" name="st1f_52"/>
          <p:cNvSpPr txBox="1"/>
          <p:nvPr/>
        </p:nvSpPr>
        <p:spPr>
          <a:xfrm>
            <a:off x="713232" y="2852928"/>
            <a:ext cx="2057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tenía tu rodilla ANTES de caerte que te protegía?</a:t>
            </a:r>
            <a:endParaRPr lang="en-US" sz="1300" dirty="0"/>
          </a:p>
        </p:txBody>
      </p:sp>
      <p:sp>
        <p:nvSpPr>
          <p:cNvPr id="11" name="st2f_53"/>
          <p:cNvSpPr/>
          <p:nvPr/>
        </p:nvSpPr>
        <p:spPr>
          <a:xfrm>
            <a:off x="3291840" y="109728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t2f_54"/>
          <p:cNvSpPr/>
          <p:nvPr/>
        </p:nvSpPr>
        <p:spPr>
          <a:xfrm>
            <a:off x="3474720" y="1261872"/>
            <a:ext cx="457200" cy="45720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3" name="st2f_55"/>
          <p:cNvSpPr txBox="1"/>
          <p:nvPr/>
        </p:nvSpPr>
        <p:spPr>
          <a:xfrm>
            <a:off x="347472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t2f_56"/>
          <p:cNvSpPr txBox="1"/>
          <p:nvPr/>
        </p:nvSpPr>
        <p:spPr>
          <a:xfrm>
            <a:off x="4023360" y="12161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estornudo del banco de al lado</a:t>
            </a:r>
            <a:endParaRPr lang="en-US" sz="1400" dirty="0"/>
          </a:p>
        </p:txBody>
      </p:sp>
      <p:sp>
        <p:nvSpPr>
          <p:cNvPr id="15" name="st2f_57"/>
          <p:cNvSpPr txBox="1"/>
          <p:nvPr/>
        </p:nvSpPr>
        <p:spPr>
          <a:xfrm>
            <a:off x="347472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invierno. Tu compañero/a estornuda y compartes el mismo aire toda la hora.</a:t>
            </a:r>
            <a:endParaRPr lang="en-US" sz="1300" dirty="0"/>
          </a:p>
        </p:txBody>
      </p:sp>
      <p:sp>
        <p:nvSpPr>
          <p:cNvPr id="16" name="st2f_58"/>
          <p:cNvSpPr/>
          <p:nvPr/>
        </p:nvSpPr>
        <p:spPr>
          <a:xfrm>
            <a:off x="3429000" y="28346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17" name="st2f_59"/>
          <p:cNvSpPr txBox="1"/>
          <p:nvPr/>
        </p:nvSpPr>
        <p:spPr>
          <a:xfrm>
            <a:off x="3547872" y="2852928"/>
            <a:ext cx="2057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tu nariz con todo lo que respiras?</a:t>
            </a:r>
            <a:endParaRPr lang="en-US" sz="1300" dirty="0"/>
          </a:p>
        </p:txBody>
      </p:sp>
      <p:sp>
        <p:nvSpPr>
          <p:cNvPr id="18" name="st3f_60"/>
          <p:cNvSpPr/>
          <p:nvPr/>
        </p:nvSpPr>
        <p:spPr>
          <a:xfrm>
            <a:off x="6126480" y="109728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t3f_61"/>
          <p:cNvSpPr/>
          <p:nvPr/>
        </p:nvSpPr>
        <p:spPr>
          <a:xfrm>
            <a:off x="6309360" y="1261872"/>
            <a:ext cx="457200" cy="457200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sp>
        <p:nvSpPr>
          <p:cNvPr id="20" name="st3f_62"/>
          <p:cNvSpPr txBox="1"/>
          <p:nvPr/>
        </p:nvSpPr>
        <p:spPr>
          <a:xfrm>
            <a:off x="63093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t3f_63"/>
          <p:cNvSpPr txBox="1"/>
          <p:nvPr/>
        </p:nvSpPr>
        <p:spPr>
          <a:xfrm>
            <a:off x="6858000" y="12161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bebedero del patio</a:t>
            </a:r>
            <a:endParaRPr lang="en-US" sz="1400" dirty="0"/>
          </a:p>
        </p:txBody>
      </p:sp>
      <p:sp>
        <p:nvSpPr>
          <p:cNvPr id="22" name="st3f_64"/>
          <p:cNvSpPr txBox="1"/>
          <p:nvPr/>
        </p:nvSpPr>
        <p:spPr>
          <a:xfrm>
            <a:off x="630936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agua del bebedero que usan 500 estudiantes. Bocas de todos, microbios de todos.</a:t>
            </a:r>
            <a:endParaRPr lang="en-US" sz="1300" dirty="0"/>
          </a:p>
        </p:txBody>
      </p:sp>
      <p:sp>
        <p:nvSpPr>
          <p:cNvPr id="23" name="st3f_65"/>
          <p:cNvSpPr/>
          <p:nvPr/>
        </p:nvSpPr>
        <p:spPr>
          <a:xfrm>
            <a:off x="6263640" y="28346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24" name="st3f_66"/>
          <p:cNvSpPr txBox="1"/>
          <p:nvPr/>
        </p:nvSpPr>
        <p:spPr>
          <a:xfrm>
            <a:off x="6382512" y="2852928"/>
            <a:ext cx="2057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enfrentaron esos microbios en tu boca y tu estómago?</a:t>
            </a:r>
            <a:endParaRPr lang="en-US" sz="1300" dirty="0"/>
          </a:p>
        </p:txBody>
      </p:sp>
      <p:sp>
        <p:nvSpPr>
          <p:cNvPr id="25" name="st4f_67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26" name="st4f_68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pareja (8 min): </a:t>
            </a:r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caso, ¿qué microbios intentaron entrar y qué creen que los detuvo? Anoten sus ideas.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Ponle nombre: tu sistema de defensa</a:t>
            </a:r>
            <a:endParaRPr lang="en-US" sz="2800" dirty="0"/>
          </a:p>
        </p:txBody>
      </p:sp>
      <p:sp>
        <p:nvSpPr>
          <p:cNvPr id="4" name="st1f_69"/>
          <p:cNvSpPr/>
          <p:nvPr/>
        </p:nvSpPr>
        <p:spPr>
          <a:xfrm>
            <a:off x="457200" y="1051560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70"/>
          <p:cNvSpPr/>
          <p:nvPr/>
        </p:nvSpPr>
        <p:spPr>
          <a:xfrm>
            <a:off x="640080" y="1234440"/>
            <a:ext cx="530352" cy="530352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6" name="st1f_71"/>
          <p:cNvSpPr txBox="1"/>
          <p:nvPr/>
        </p:nvSpPr>
        <p:spPr>
          <a:xfrm>
            <a:off x="640080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t1f_72"/>
          <p:cNvSpPr txBox="1"/>
          <p:nvPr/>
        </p:nvSpPr>
        <p:spPr>
          <a:xfrm>
            <a:off x="1371600" y="11155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línea · Barreras primarias</a:t>
            </a:r>
            <a:endParaRPr lang="en-US" sz="1700" dirty="0"/>
          </a:p>
        </p:txBody>
      </p:sp>
      <p:sp>
        <p:nvSpPr>
          <p:cNvPr id="8" name="st1f_73"/>
          <p:cNvSpPr txBox="1"/>
          <p:nvPr/>
        </p:nvSpPr>
        <p:spPr>
          <a:xfrm>
            <a:off x="1371600" y="146304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Impiden que el microbio ENTRE. Siempre activas. No distinguen quién es el invasor.</a:t>
            </a:r>
            <a:endParaRPr lang="en-US" sz="1250" dirty="0"/>
          </a:p>
        </p:txBody>
      </p:sp>
      <p:sp>
        <p:nvSpPr>
          <p:cNvPr id="9" name="st1f_74"/>
          <p:cNvSpPr/>
          <p:nvPr/>
        </p:nvSpPr>
        <p:spPr>
          <a:xfrm>
            <a:off x="7269480" y="13258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0" name="st1f_75"/>
          <p:cNvSpPr txBox="1"/>
          <p:nvPr/>
        </p:nvSpPr>
        <p:spPr>
          <a:xfrm>
            <a:off x="7269480" y="1325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11" name="st2f_76"/>
          <p:cNvSpPr/>
          <p:nvPr/>
        </p:nvSpPr>
        <p:spPr>
          <a:xfrm>
            <a:off x="457200" y="2039112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12" name="st2f_77"/>
          <p:cNvSpPr/>
          <p:nvPr/>
        </p:nvSpPr>
        <p:spPr>
          <a:xfrm>
            <a:off x="640080" y="2221992"/>
            <a:ext cx="530352" cy="530352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3" name="st2f_78"/>
          <p:cNvSpPr txBox="1"/>
          <p:nvPr/>
        </p:nvSpPr>
        <p:spPr>
          <a:xfrm>
            <a:off x="640080" y="2221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t2f_79"/>
          <p:cNvSpPr txBox="1"/>
          <p:nvPr/>
        </p:nvSpPr>
        <p:spPr>
          <a:xfrm>
            <a:off x="1371600" y="2103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 línea</a:t>
            </a:r>
            <a:endParaRPr lang="en-US" sz="1700" dirty="0"/>
          </a:p>
        </p:txBody>
      </p:sp>
      <p:sp>
        <p:nvSpPr>
          <p:cNvPr id="15" name="st2f_80"/>
          <p:cNvSpPr txBox="1"/>
          <p:nvPr/>
        </p:nvSpPr>
        <p:spPr>
          <a:xfrm>
            <a:off x="1371600" y="245059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 a los que lograron entrar: células que se los comen (macrófagos, neutrófilos), inflamación y fiebre.</a:t>
            </a:r>
            <a:endParaRPr lang="en-US" sz="1250" dirty="0"/>
          </a:p>
        </p:txBody>
      </p:sp>
      <p:sp>
        <p:nvSpPr>
          <p:cNvPr id="16" name="st2f_81"/>
          <p:cNvSpPr/>
          <p:nvPr/>
        </p:nvSpPr>
        <p:spPr>
          <a:xfrm>
            <a:off x="7269480" y="231343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t2f_82"/>
          <p:cNvSpPr txBox="1"/>
          <p:nvPr/>
        </p:nvSpPr>
        <p:spPr>
          <a:xfrm>
            <a:off x="7269480" y="23134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</a:t>
            </a:r>
            <a:endParaRPr lang="en-US" sz="1200" dirty="0"/>
          </a:p>
        </p:txBody>
      </p:sp>
      <p:sp>
        <p:nvSpPr>
          <p:cNvPr id="18" name="st3f_83"/>
          <p:cNvSpPr/>
          <p:nvPr/>
        </p:nvSpPr>
        <p:spPr>
          <a:xfrm>
            <a:off x="457200" y="3026664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19" name="st3f_84"/>
          <p:cNvSpPr/>
          <p:nvPr/>
        </p:nvSpPr>
        <p:spPr>
          <a:xfrm>
            <a:off x="640080" y="3209544"/>
            <a:ext cx="530352" cy="530352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sp>
        <p:nvSpPr>
          <p:cNvPr id="20" name="st3f_85"/>
          <p:cNvSpPr txBox="1"/>
          <p:nvPr/>
        </p:nvSpPr>
        <p:spPr>
          <a:xfrm>
            <a:off x="64008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t3f_86"/>
          <p:cNvSpPr txBox="1"/>
          <p:nvPr/>
        </p:nvSpPr>
        <p:spPr>
          <a:xfrm>
            <a:off x="1371600" y="30906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Tercera línea</a:t>
            </a:r>
            <a:endParaRPr lang="en-US" sz="1700" dirty="0"/>
          </a:p>
        </p:txBody>
      </p:sp>
      <p:sp>
        <p:nvSpPr>
          <p:cNvPr id="22" name="st3f_87"/>
          <p:cNvSpPr txBox="1"/>
          <p:nvPr/>
        </p:nvSpPr>
        <p:spPr>
          <a:xfrm>
            <a:off x="1371600" y="343814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específica y con memoria: linfocitos T y B, anticuerpos… y vacunas.</a:t>
            </a:r>
            <a:endParaRPr lang="en-US" sz="1250" dirty="0"/>
          </a:p>
        </p:txBody>
      </p:sp>
      <p:sp>
        <p:nvSpPr>
          <p:cNvPr id="23" name="st3f_88"/>
          <p:cNvSpPr/>
          <p:nvPr/>
        </p:nvSpPr>
        <p:spPr>
          <a:xfrm>
            <a:off x="7269480" y="330098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t3f_89"/>
          <p:cNvSpPr txBox="1"/>
          <p:nvPr/>
        </p:nvSpPr>
        <p:spPr>
          <a:xfrm>
            <a:off x="7269480" y="33009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8 y 9</a:t>
            </a:r>
            <a:endParaRPr lang="en-US" sz="1200" dirty="0"/>
          </a:p>
        </p:txBody>
      </p:sp>
      <p:sp>
        <p:nvSpPr>
          <p:cNvPr id="25" name="st4f_90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26" name="st4f_91"/>
          <p:cNvSpPr/>
          <p:nvPr/>
        </p:nvSpPr>
        <p:spPr>
          <a:xfrm>
            <a:off x="594360" y="4197096"/>
            <a:ext cx="384048" cy="384048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7" name="st4f_92"/>
          <p:cNvSpPr txBox="1"/>
          <p:nvPr/>
        </p:nvSpPr>
        <p:spPr>
          <a:xfrm>
            <a:off x="59436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8" name="st4f_93"/>
          <p:cNvSpPr txBox="1"/>
          <p:nvPr/>
        </p:nvSpPr>
        <p:spPr>
          <a:xfrm>
            <a:off x="1097280" y="406908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tres líneas, ¿cuál es la más barata y la más importante de cuidar? ¿Por qué?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tipos de muralla</a:t>
            </a:r>
            <a:endParaRPr lang="en-US" sz="2800" dirty="0"/>
          </a:p>
        </p:txBody>
      </p:sp>
      <p:sp>
        <p:nvSpPr>
          <p:cNvPr id="4" name="st1f_94"/>
          <p:cNvSpPr txBox="1"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primaria: </a:t>
            </a:r>
            <a:pPr indent="0" marL="0">
              <a:buNone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y secreciones que impiden la entrada de microorganismos. Actúan siempre y de la misma forma contra cualquiera.</a:t>
            </a:r>
            <a:endParaRPr lang="en-US" sz="1400" dirty="0"/>
          </a:p>
        </p:txBody>
      </p:sp>
      <p:sp>
        <p:nvSpPr>
          <p:cNvPr id="5" name="st2f_95"/>
          <p:cNvSpPr/>
          <p:nvPr/>
        </p:nvSpPr>
        <p:spPr>
          <a:xfrm>
            <a:off x="457200" y="169164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t2f_96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pic>
        <p:nvPicPr>
          <p:cNvPr id="7" name="st2f_9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88820"/>
            <a:ext cx="320040" cy="320040"/>
          </a:xfrm>
          <a:prstGeom prst="rect">
            <a:avLst/>
          </a:prstGeom>
        </p:spPr>
      </p:pic>
      <p:sp>
        <p:nvSpPr>
          <p:cNvPr id="8" name="st2f_98"/>
          <p:cNvSpPr txBox="1"/>
          <p:nvPr/>
        </p:nvSpPr>
        <p:spPr>
          <a:xfrm>
            <a:off x="141732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Físicas</a:t>
            </a:r>
            <a:endParaRPr lang="en-US" sz="2000" dirty="0"/>
          </a:p>
        </p:txBody>
      </p:sp>
      <p:sp>
        <p:nvSpPr>
          <p:cNvPr id="9" name="st2f_99"/>
          <p:cNvSpPr txBox="1"/>
          <p:nvPr/>
        </p:nvSpPr>
        <p:spPr>
          <a:xfrm>
            <a:off x="1417320" y="2194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Bloquean el paso</a:t>
            </a:r>
            <a:endParaRPr lang="en-US" sz="1150" dirty="0"/>
          </a:p>
        </p:txBody>
      </p:sp>
      <p:sp>
        <p:nvSpPr>
          <p:cNvPr id="10" name="st2f_100"/>
          <p:cNvSpPr txBox="1"/>
          <p:nvPr/>
        </p:nvSpPr>
        <p:spPr>
          <a:xfrm>
            <a:off x="685800" y="27889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Cilios</a:t>
            </a:r>
            <a:endParaRPr lang="en-US" sz="1400" dirty="0"/>
          </a:p>
        </p:txBody>
      </p:sp>
      <p:sp>
        <p:nvSpPr>
          <p:cNvPr id="11" name="st3f_101"/>
          <p:cNvSpPr/>
          <p:nvPr/>
        </p:nvSpPr>
        <p:spPr>
          <a:xfrm>
            <a:off x="3291840" y="169164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t3f_102"/>
          <p:cNvSpPr/>
          <p:nvPr/>
        </p:nvSpPr>
        <p:spPr>
          <a:xfrm>
            <a:off x="3474720" y="1828800"/>
            <a:ext cx="640080" cy="640080"/>
          </a:xfrm>
          <a:prstGeom prst="ellipse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pic>
        <p:nvPicPr>
          <p:cNvPr id="13" name="st3f_10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988820"/>
            <a:ext cx="320040" cy="320040"/>
          </a:xfrm>
          <a:prstGeom prst="rect">
            <a:avLst/>
          </a:prstGeom>
        </p:spPr>
      </p:pic>
      <p:sp>
        <p:nvSpPr>
          <p:cNvPr id="14" name="st3f_104"/>
          <p:cNvSpPr txBox="1"/>
          <p:nvPr/>
        </p:nvSpPr>
        <p:spPr>
          <a:xfrm>
            <a:off x="42519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Químicas</a:t>
            </a:r>
            <a:endParaRPr lang="en-US" sz="2000" dirty="0"/>
          </a:p>
        </p:txBody>
      </p:sp>
      <p:sp>
        <p:nvSpPr>
          <p:cNvPr id="15" name="st3f_105"/>
          <p:cNvSpPr txBox="1"/>
          <p:nvPr/>
        </p:nvSpPr>
        <p:spPr>
          <a:xfrm>
            <a:off x="4251960" y="2194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Destruyen o frenan al microbio</a:t>
            </a:r>
            <a:endParaRPr lang="en-US" sz="1150" dirty="0"/>
          </a:p>
        </p:txBody>
      </p:sp>
      <p:sp>
        <p:nvSpPr>
          <p:cNvPr id="16" name="st3f_106"/>
          <p:cNvSpPr txBox="1"/>
          <p:nvPr/>
        </p:nvSpPr>
        <p:spPr>
          <a:xfrm>
            <a:off x="3520440" y="27889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Lágrimas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del estómago</a:t>
            </a:r>
            <a:endParaRPr lang="en-US" sz="1400" dirty="0"/>
          </a:p>
        </p:txBody>
      </p:sp>
      <p:sp>
        <p:nvSpPr>
          <p:cNvPr id="17" name="st4f_107"/>
          <p:cNvSpPr/>
          <p:nvPr/>
        </p:nvSpPr>
        <p:spPr>
          <a:xfrm>
            <a:off x="6126480" y="169164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t4f_108"/>
          <p:cNvSpPr/>
          <p:nvPr/>
        </p:nvSpPr>
        <p:spPr>
          <a:xfrm>
            <a:off x="6309360" y="1828800"/>
            <a:ext cx="640080" cy="640080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pic>
        <p:nvPicPr>
          <p:cNvPr id="19" name="st4f_10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988820"/>
            <a:ext cx="320040" cy="320040"/>
          </a:xfrm>
          <a:prstGeom prst="rect">
            <a:avLst/>
          </a:prstGeom>
        </p:spPr>
      </p:pic>
      <p:sp>
        <p:nvSpPr>
          <p:cNvPr id="20" name="st4f_110"/>
          <p:cNvSpPr txBox="1"/>
          <p:nvPr/>
        </p:nvSpPr>
        <p:spPr>
          <a:xfrm>
            <a:off x="70866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Biológicas</a:t>
            </a:r>
            <a:endParaRPr lang="en-US" sz="2000" dirty="0"/>
          </a:p>
        </p:txBody>
      </p:sp>
      <p:sp>
        <p:nvSpPr>
          <p:cNvPr id="21" name="st4f_111"/>
          <p:cNvSpPr txBox="1"/>
          <p:nvPr/>
        </p:nvSpPr>
        <p:spPr>
          <a:xfrm>
            <a:off x="7086600" y="2194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Ocupan el lugar</a:t>
            </a:r>
            <a:endParaRPr lang="en-US" sz="1150" dirty="0"/>
          </a:p>
        </p:txBody>
      </p:sp>
      <p:sp>
        <p:nvSpPr>
          <p:cNvPr id="22" name="st4f_112"/>
          <p:cNvSpPr txBox="1"/>
          <p:nvPr/>
        </p:nvSpPr>
        <p:spPr>
          <a:xfrm>
            <a:off x="6355080" y="27889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Microbiota (bacterias “buenas”)</a:t>
            </a:r>
            <a:endParaRPr lang="en-US" sz="1400" dirty="0"/>
          </a:p>
        </p:txBody>
      </p:sp>
      <p:sp>
        <p:nvSpPr>
          <p:cNvPr id="23" name="st5f_113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24" name="st5f_114"/>
          <p:cNvSpPr/>
          <p:nvPr/>
        </p:nvSpPr>
        <p:spPr>
          <a:xfrm>
            <a:off x="594360" y="4174236"/>
            <a:ext cx="384048" cy="384048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5" name="st5f_115"/>
          <p:cNvSpPr txBox="1"/>
          <p:nvPr/>
        </p:nvSpPr>
        <p:spPr>
          <a:xfrm>
            <a:off x="594360" y="4174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6" name="st5f_116"/>
          <p:cNvSpPr txBox="1"/>
          <p:nvPr/>
        </p:nvSpPr>
        <p:spPr>
          <a:xfrm>
            <a:off x="1097280" y="406908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fueras un microbio, ¿cuál de las tres sería la más difícil de “hackear”?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piel: una muralla de unos 2 m²</a:t>
            </a:r>
            <a:endParaRPr lang="en-US" sz="2800" dirty="0"/>
          </a:p>
        </p:txBody>
      </p:sp>
      <p:sp>
        <p:nvSpPr>
          <p:cNvPr id="4" name="st1f_117"/>
          <p:cNvSpPr/>
          <p:nvPr/>
        </p:nvSpPr>
        <p:spPr>
          <a:xfrm>
            <a:off x="457200" y="1051560"/>
            <a:ext cx="4389120" cy="1234440"/>
          </a:xfrm>
          <a:prstGeom prst="roundRect">
            <a:avLst>
              <a:gd name="adj" fmla="val 8889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5" name="st1f_118"/>
          <p:cNvSpPr/>
          <p:nvPr/>
        </p:nvSpPr>
        <p:spPr>
          <a:xfrm>
            <a:off x="594360" y="1476756"/>
            <a:ext cx="384048" cy="384048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6" name="st1f_119"/>
          <p:cNvSpPr txBox="1"/>
          <p:nvPr/>
        </p:nvSpPr>
        <p:spPr>
          <a:xfrm>
            <a:off x="594360" y="1476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st1f_120"/>
          <p:cNvSpPr txBox="1"/>
          <p:nvPr/>
        </p:nvSpPr>
        <p:spPr>
          <a:xfrm>
            <a:off x="1097280" y="10972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crees que le pasa a una persona que pierde gran parte de su piel, por ejemplo en una quemadura grave?</a:t>
            </a:r>
            <a:endParaRPr lang="en-US" sz="1500" dirty="0"/>
          </a:p>
        </p:txBody>
      </p:sp>
      <p:sp>
        <p:nvSpPr>
          <p:cNvPr id="8" name="st2f_121"/>
          <p:cNvSpPr/>
          <p:nvPr/>
        </p:nvSpPr>
        <p:spPr>
          <a:xfrm>
            <a:off x="457200" y="2542032"/>
            <a:ext cx="365760" cy="36576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9" name="st2f_122"/>
          <p:cNvSpPr txBox="1"/>
          <p:nvPr/>
        </p:nvSpPr>
        <p:spPr>
          <a:xfrm>
            <a:off x="45720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t2f_123"/>
          <p:cNvSpPr txBox="1"/>
          <p:nvPr/>
        </p:nvSpPr>
        <p:spPr>
          <a:xfrm>
            <a:off x="960120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Epidermis: </a:t>
            </a:r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externa de células muertas con queratina. Resistente e impermeable.</a:t>
            </a:r>
            <a:endParaRPr lang="en-US" sz="1350" dirty="0"/>
          </a:p>
        </p:txBody>
      </p:sp>
      <p:sp>
        <p:nvSpPr>
          <p:cNvPr id="11" name="st3f_124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2" name="st3f_125"/>
          <p:cNvSpPr txBox="1"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t3f_126"/>
          <p:cNvSpPr txBox="1"/>
          <p:nvPr/>
        </p:nvSpPr>
        <p:spPr>
          <a:xfrm>
            <a:off x="960120" y="321868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Descamación: </a:t>
            </a:r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diario se desprenden células… y los microbios que llevaban encima.</a:t>
            </a:r>
            <a:endParaRPr lang="en-US" sz="1350" dirty="0"/>
          </a:p>
        </p:txBody>
      </p:sp>
      <p:sp>
        <p:nvSpPr>
          <p:cNvPr id="14" name="st4f_127"/>
          <p:cNvSpPr/>
          <p:nvPr/>
        </p:nvSpPr>
        <p:spPr>
          <a:xfrm>
            <a:off x="457200" y="4041648"/>
            <a:ext cx="365760" cy="36576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5" name="st4f_128"/>
          <p:cNvSpPr txBox="1"/>
          <p:nvPr/>
        </p:nvSpPr>
        <p:spPr>
          <a:xfrm>
            <a:off x="45720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t4f_129"/>
          <p:cNvSpPr txBox="1"/>
          <p:nvPr/>
        </p:nvSpPr>
        <p:spPr>
          <a:xfrm>
            <a:off x="960120" y="396849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Sudor y sebo: </a:t>
            </a:r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dejan la superficie ligeramente ácida (pH ≈ 5): a muchos microbios no les gusta.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120640" y="10515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21208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 intacta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herida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40680" y="1645920"/>
            <a:ext cx="292608" cy="29260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05054" y="1733702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10393" y="1733702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89320" y="1645920"/>
            <a:ext cx="292608" cy="29260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53694" y="1733702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59033" y="1733702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645920"/>
            <a:ext cx="292608" cy="29260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71014" y="1733702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76353" y="1733702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92440" y="1645920"/>
            <a:ext cx="292608" cy="29260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56814" y="1733702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62153" y="1733702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257800" y="2011680"/>
            <a:ext cx="1600200" cy="640080"/>
          </a:xfrm>
          <a:prstGeom prst="rect">
            <a:avLst/>
          </a:prstGeom>
          <a:solidFill>
            <a:srgbClr val="FBE3A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269480" y="2011680"/>
            <a:ext cx="1280160" cy="640080"/>
          </a:xfrm>
          <a:prstGeom prst="rect">
            <a:avLst/>
          </a:prstGeom>
          <a:solidFill>
            <a:srgbClr val="FBE3A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25780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Epidermis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257800" y="2651760"/>
            <a:ext cx="3291840" cy="1005840"/>
          </a:xfrm>
          <a:prstGeom prst="rect">
            <a:avLst/>
          </a:prstGeom>
          <a:solidFill>
            <a:srgbClr val="F9D5CF"/>
          </a:solidFill>
          <a:ln w="12700">
            <a:solidFill>
              <a:srgbClr val="E0A9A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25780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Dermis (por dentro del cuerpo)</a:t>
            </a:r>
            <a:endParaRPr lang="en-US" sz="1100" dirty="0"/>
          </a:p>
        </p:txBody>
      </p:sp>
      <p:sp>
        <p:nvSpPr>
          <p:cNvPr id="37" name="st5f_130"/>
          <p:cNvSpPr/>
          <p:nvPr/>
        </p:nvSpPr>
        <p:spPr>
          <a:xfrm>
            <a:off x="6903720" y="2103120"/>
            <a:ext cx="310896" cy="310896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38" name="st5f_131"/>
          <p:cNvSpPr/>
          <p:nvPr/>
        </p:nvSpPr>
        <p:spPr>
          <a:xfrm>
            <a:off x="6972117" y="2196389"/>
            <a:ext cx="62179" cy="621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t5f_132"/>
          <p:cNvSpPr/>
          <p:nvPr/>
        </p:nvSpPr>
        <p:spPr>
          <a:xfrm>
            <a:off x="7084040" y="2196389"/>
            <a:ext cx="62179" cy="621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t5f_133"/>
          <p:cNvSpPr/>
          <p:nvPr/>
        </p:nvSpPr>
        <p:spPr>
          <a:xfrm>
            <a:off x="6949440" y="2788920"/>
            <a:ext cx="274320" cy="274320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41" name="st5f_134"/>
          <p:cNvSpPr/>
          <p:nvPr/>
        </p:nvSpPr>
        <p:spPr>
          <a:xfrm>
            <a:off x="7009790" y="287121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t5f_135"/>
          <p:cNvSpPr/>
          <p:nvPr/>
        </p:nvSpPr>
        <p:spPr>
          <a:xfrm>
            <a:off x="7108546" y="287121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t5f_136"/>
          <p:cNvSpPr txBox="1"/>
          <p:nvPr/>
        </p:nvSpPr>
        <p:spPr>
          <a:xfrm>
            <a:off x="6583680" y="1627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¡Pasa!</a:t>
            </a:r>
            <a:endParaRPr lang="en-US" sz="1100" dirty="0"/>
          </a:p>
        </p:txBody>
      </p:sp>
      <p:sp>
        <p:nvSpPr>
          <p:cNvPr id="44" name="st5f_137"/>
          <p:cNvSpPr txBox="1"/>
          <p:nvPr/>
        </p:nvSpPr>
        <p:spPr>
          <a:xfrm>
            <a:off x="5349240" y="3840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muralla se rompe, entran los microbios y se activa la segunda línea de defensa (sesión 8).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mocos no son asquerosos: son una trampa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60120"/>
            <a:ext cx="8229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138"/>
          <p:cNvSpPr txBox="1"/>
          <p:nvPr/>
        </p:nvSpPr>
        <p:spPr>
          <a:xfrm>
            <a:off x="731520" y="1033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con microbios y polvo</a:t>
            </a:r>
            <a:endParaRPr lang="en-US" sz="1200" dirty="0"/>
          </a:p>
        </p:txBody>
      </p:sp>
      <p:sp>
        <p:nvSpPr>
          <p:cNvPr id="6" name="st3f_139"/>
          <p:cNvSpPr txBox="1"/>
          <p:nvPr/>
        </p:nvSpPr>
        <p:spPr>
          <a:xfrm>
            <a:off x="4206240" y="1033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cilios barren el mucus hacia la garganta  →</a:t>
            </a:r>
            <a:endParaRPr lang="en-US" sz="1200" dirty="0"/>
          </a:p>
        </p:txBody>
      </p:sp>
      <p:sp>
        <p:nvSpPr>
          <p:cNvPr id="7" name="st1f_140"/>
          <p:cNvSpPr/>
          <p:nvPr/>
        </p:nvSpPr>
        <p:spPr>
          <a:xfrm>
            <a:off x="1097280" y="1371600"/>
            <a:ext cx="219456" cy="219456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8" name="st1f_141"/>
          <p:cNvSpPr/>
          <p:nvPr/>
        </p:nvSpPr>
        <p:spPr>
          <a:xfrm>
            <a:off x="1145560" y="1437437"/>
            <a:ext cx="43891" cy="438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t1f_142"/>
          <p:cNvSpPr/>
          <p:nvPr/>
        </p:nvSpPr>
        <p:spPr>
          <a:xfrm>
            <a:off x="1224564" y="1437437"/>
            <a:ext cx="43891" cy="438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t1f_143"/>
          <p:cNvSpPr/>
          <p:nvPr/>
        </p:nvSpPr>
        <p:spPr>
          <a:xfrm>
            <a:off x="2194560" y="1371600"/>
            <a:ext cx="219456" cy="219456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11" name="st1f_144"/>
          <p:cNvSpPr/>
          <p:nvPr/>
        </p:nvSpPr>
        <p:spPr>
          <a:xfrm>
            <a:off x="2242840" y="1437437"/>
            <a:ext cx="43891" cy="438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t1f_145"/>
          <p:cNvSpPr/>
          <p:nvPr/>
        </p:nvSpPr>
        <p:spPr>
          <a:xfrm>
            <a:off x="2321844" y="1437437"/>
            <a:ext cx="43891" cy="438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t1f_146"/>
          <p:cNvSpPr/>
          <p:nvPr/>
        </p:nvSpPr>
        <p:spPr>
          <a:xfrm>
            <a:off x="3291840" y="1371600"/>
            <a:ext cx="219456" cy="219456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14" name="st1f_147"/>
          <p:cNvSpPr/>
          <p:nvPr/>
        </p:nvSpPr>
        <p:spPr>
          <a:xfrm>
            <a:off x="3340120" y="1437437"/>
            <a:ext cx="43891" cy="438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t1f_148"/>
          <p:cNvSpPr/>
          <p:nvPr/>
        </p:nvSpPr>
        <p:spPr>
          <a:xfrm>
            <a:off x="3419124" y="1437437"/>
            <a:ext cx="43891" cy="438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t1f_149"/>
          <p:cNvSpPr/>
          <p:nvPr/>
        </p:nvSpPr>
        <p:spPr>
          <a:xfrm>
            <a:off x="4572000" y="1371600"/>
            <a:ext cx="219456" cy="219456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17" name="st1f_150"/>
          <p:cNvSpPr/>
          <p:nvPr/>
        </p:nvSpPr>
        <p:spPr>
          <a:xfrm>
            <a:off x="4620280" y="1437437"/>
            <a:ext cx="43891" cy="438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t1f_151"/>
          <p:cNvSpPr/>
          <p:nvPr/>
        </p:nvSpPr>
        <p:spPr>
          <a:xfrm>
            <a:off x="4699284" y="1437437"/>
            <a:ext cx="43891" cy="438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2f_152"/>
          <p:cNvSpPr/>
          <p:nvPr/>
        </p:nvSpPr>
        <p:spPr>
          <a:xfrm>
            <a:off x="731520" y="1783080"/>
            <a:ext cx="7223760" cy="548640"/>
          </a:xfrm>
          <a:prstGeom prst="roundRect">
            <a:avLst>
              <a:gd name="adj" fmla="val 25000"/>
            </a:avLst>
          </a:prstGeom>
          <a:solidFill>
            <a:srgbClr val="FBE3A0"/>
          </a:solidFill>
          <a:ln w="12700">
            <a:solidFill>
              <a:srgbClr val="FBE3A0"/>
            </a:solidFill>
            <a:prstDash val="solid"/>
          </a:ln>
        </p:spPr>
      </p:sp>
      <p:sp>
        <p:nvSpPr>
          <p:cNvPr id="20" name="st2f_153"/>
          <p:cNvSpPr/>
          <p:nvPr/>
        </p:nvSpPr>
        <p:spPr>
          <a:xfrm>
            <a:off x="1280160" y="1847088"/>
            <a:ext cx="201168" cy="20116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1" name="st2f_154"/>
          <p:cNvSpPr/>
          <p:nvPr/>
        </p:nvSpPr>
        <p:spPr>
          <a:xfrm>
            <a:off x="132441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t2f_155"/>
          <p:cNvSpPr/>
          <p:nvPr/>
        </p:nvSpPr>
        <p:spPr>
          <a:xfrm>
            <a:off x="139683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t2f_156"/>
          <p:cNvSpPr/>
          <p:nvPr/>
        </p:nvSpPr>
        <p:spPr>
          <a:xfrm>
            <a:off x="2377440" y="1847088"/>
            <a:ext cx="201168" cy="20116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4" name="st2f_157"/>
          <p:cNvSpPr/>
          <p:nvPr/>
        </p:nvSpPr>
        <p:spPr>
          <a:xfrm>
            <a:off x="242169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t2f_158"/>
          <p:cNvSpPr/>
          <p:nvPr/>
        </p:nvSpPr>
        <p:spPr>
          <a:xfrm>
            <a:off x="249411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t2f_159"/>
          <p:cNvSpPr/>
          <p:nvPr/>
        </p:nvSpPr>
        <p:spPr>
          <a:xfrm>
            <a:off x="3566160" y="1847088"/>
            <a:ext cx="201168" cy="20116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7" name="st2f_160"/>
          <p:cNvSpPr/>
          <p:nvPr/>
        </p:nvSpPr>
        <p:spPr>
          <a:xfrm>
            <a:off x="361041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t2f_161"/>
          <p:cNvSpPr/>
          <p:nvPr/>
        </p:nvSpPr>
        <p:spPr>
          <a:xfrm>
            <a:off x="368283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t2f_162"/>
          <p:cNvSpPr/>
          <p:nvPr/>
        </p:nvSpPr>
        <p:spPr>
          <a:xfrm>
            <a:off x="5120640" y="1847088"/>
            <a:ext cx="201168" cy="20116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30" name="st2f_163"/>
          <p:cNvSpPr/>
          <p:nvPr/>
        </p:nvSpPr>
        <p:spPr>
          <a:xfrm>
            <a:off x="516489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t2f_164"/>
          <p:cNvSpPr/>
          <p:nvPr/>
        </p:nvSpPr>
        <p:spPr>
          <a:xfrm>
            <a:off x="523731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t2f_165"/>
          <p:cNvSpPr/>
          <p:nvPr/>
        </p:nvSpPr>
        <p:spPr>
          <a:xfrm>
            <a:off x="6400800" y="1847088"/>
            <a:ext cx="201168" cy="201168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33" name="st2f_166"/>
          <p:cNvSpPr/>
          <p:nvPr/>
        </p:nvSpPr>
        <p:spPr>
          <a:xfrm>
            <a:off x="644505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t2f_167"/>
          <p:cNvSpPr/>
          <p:nvPr/>
        </p:nvSpPr>
        <p:spPr>
          <a:xfrm>
            <a:off x="6517477" y="1907438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t2f_168"/>
          <p:cNvSpPr txBox="1"/>
          <p:nvPr/>
        </p:nvSpPr>
        <p:spPr>
          <a:xfrm>
            <a:off x="6949440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mucus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2960" y="2514600"/>
            <a:ext cx="713232" cy="320040"/>
          </a:xfrm>
          <a:prstGeom prst="roundRect">
            <a:avLst>
              <a:gd name="adj" fmla="val 17143"/>
            </a:avLst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960120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1161288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1362456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609344" y="2514600"/>
            <a:ext cx="713232" cy="320040"/>
          </a:xfrm>
          <a:prstGeom prst="roundRect">
            <a:avLst>
              <a:gd name="adj" fmla="val 17143"/>
            </a:avLst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1746504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1947672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2148840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95728" y="2514600"/>
            <a:ext cx="713232" cy="320040"/>
          </a:xfrm>
          <a:prstGeom prst="roundRect">
            <a:avLst>
              <a:gd name="adj" fmla="val 17143"/>
            </a:avLst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2532888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2734056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2935224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182112" y="2514600"/>
            <a:ext cx="713232" cy="320040"/>
          </a:xfrm>
          <a:prstGeom prst="roundRect">
            <a:avLst>
              <a:gd name="adj" fmla="val 17143"/>
            </a:avLst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3319272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3520440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3721608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968496" y="2514600"/>
            <a:ext cx="713232" cy="320040"/>
          </a:xfrm>
          <a:prstGeom prst="roundRect">
            <a:avLst>
              <a:gd name="adj" fmla="val 17143"/>
            </a:avLst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V="1">
            <a:off x="4105656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4306824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4507992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754880" y="2514600"/>
            <a:ext cx="713232" cy="320040"/>
          </a:xfrm>
          <a:prstGeom prst="roundRect">
            <a:avLst>
              <a:gd name="adj" fmla="val 17143"/>
            </a:avLst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4892040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V="1">
            <a:off x="5093208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5294376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541264" y="2514600"/>
            <a:ext cx="713232" cy="320040"/>
          </a:xfrm>
          <a:prstGeom prst="roundRect">
            <a:avLst>
              <a:gd name="adj" fmla="val 17143"/>
            </a:avLst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5678424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V="1">
            <a:off x="5879592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6080760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327648" y="2514600"/>
            <a:ext cx="713232" cy="320040"/>
          </a:xfrm>
          <a:prstGeom prst="roundRect">
            <a:avLst>
              <a:gd name="adj" fmla="val 17143"/>
            </a:avLst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V="1">
            <a:off x="6464808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 flipV="1">
            <a:off x="6665976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 flipV="1">
            <a:off x="6867144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114032" y="2514600"/>
            <a:ext cx="713232" cy="320040"/>
          </a:xfrm>
          <a:prstGeom prst="roundRect">
            <a:avLst>
              <a:gd name="adj" fmla="val 17143"/>
            </a:avLst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 flipV="1">
            <a:off x="7251192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 flipV="1">
            <a:off x="7452360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 flipV="1">
            <a:off x="7653528" y="2212848"/>
            <a:ext cx="91440" cy="301752"/>
          </a:xfrm>
          <a:prstGeom prst="line">
            <a:avLst/>
          </a:prstGeom>
          <a:noFill/>
          <a:ln w="22225">
            <a:solidFill>
              <a:srgbClr val="1E8A94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31520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Epitelio de la tráquea (esquema)</a:t>
            </a:r>
            <a:endParaRPr lang="en-US" sz="1000" dirty="0"/>
          </a:p>
        </p:txBody>
      </p:sp>
      <p:sp>
        <p:nvSpPr>
          <p:cNvPr id="73" name="st3f_169"/>
          <p:cNvSpPr txBox="1"/>
          <p:nvPr/>
        </p:nvSpPr>
        <p:spPr>
          <a:xfrm>
            <a:off x="457200" y="324612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Mucosas: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húmedo que recubre nariz, boca, tráquea e intestino.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Mucus: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pegajoso, atrapa polvo y microbios.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Cilios: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empujan el mucus: se traga (¡al ácido del estómago!) o se expulsa con tos y estornudos.</a:t>
            </a:r>
            <a:endParaRPr lang="en-US" sz="1350" dirty="0"/>
          </a:p>
        </p:txBody>
      </p:sp>
      <p:sp>
        <p:nvSpPr>
          <p:cNvPr id="74" name="st4f_170"/>
          <p:cNvSpPr/>
          <p:nvPr/>
        </p:nvSpPr>
        <p:spPr>
          <a:xfrm>
            <a:off x="5440680" y="3246120"/>
            <a:ext cx="3246120" cy="1463040"/>
          </a:xfrm>
          <a:prstGeom prst="roundRect">
            <a:avLst>
              <a:gd name="adj" fmla="val 7500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75" name="st4f_171"/>
          <p:cNvSpPr/>
          <p:nvPr/>
        </p:nvSpPr>
        <p:spPr>
          <a:xfrm>
            <a:off x="5577840" y="3785616"/>
            <a:ext cx="384048" cy="384048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76" name="st4f_172"/>
          <p:cNvSpPr txBox="1"/>
          <p:nvPr/>
        </p:nvSpPr>
        <p:spPr>
          <a:xfrm>
            <a:off x="55778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77" name="st4f_173"/>
          <p:cNvSpPr txBox="1"/>
          <p:nvPr/>
        </p:nvSpPr>
        <p:spPr>
          <a:xfrm>
            <a:off x="6080760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crees que le hace el humo del cigarrillo a los cilios? ¿Y qué le pasa entonces a quien fuma?</a:t>
            </a:r>
            <a:endParaRPr lang="en-US" sz="1400" dirty="0"/>
          </a:p>
        </p:txBody>
      </p:sp>
      <p:sp>
        <p:nvSpPr>
          <p:cNvPr id="78" name="Text 7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79" name="Text 7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6" grpId="0" animBg="1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llorar también te protegiera?</a:t>
            </a:r>
            <a:endParaRPr lang="en-US" sz="2800" dirty="0"/>
          </a:p>
        </p:txBody>
      </p:sp>
      <p:sp>
        <p:nvSpPr>
          <p:cNvPr id="4" name="st1f_174"/>
          <p:cNvSpPr/>
          <p:nvPr/>
        </p:nvSpPr>
        <p:spPr>
          <a:xfrm>
            <a:off x="457200" y="1051560"/>
            <a:ext cx="40233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175"/>
          <p:cNvSpPr/>
          <p:nvPr/>
        </p:nvSpPr>
        <p:spPr>
          <a:xfrm>
            <a:off x="685800" y="1188720"/>
            <a:ext cx="594360" cy="59436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pic>
        <p:nvPicPr>
          <p:cNvPr id="6" name="st1f_17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337310"/>
            <a:ext cx="297180" cy="297180"/>
          </a:xfrm>
          <a:prstGeom prst="rect">
            <a:avLst/>
          </a:prstGeom>
        </p:spPr>
      </p:pic>
      <p:sp>
        <p:nvSpPr>
          <p:cNvPr id="7" name="st1f_177"/>
          <p:cNvSpPr txBox="1"/>
          <p:nvPr/>
        </p:nvSpPr>
        <p:spPr>
          <a:xfrm>
            <a:off x="146304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Lágrimas</a:t>
            </a:r>
            <a:endParaRPr lang="en-US" sz="2200" dirty="0"/>
          </a:p>
        </p:txBody>
      </p:sp>
      <p:sp>
        <p:nvSpPr>
          <p:cNvPr id="8" name="st1f_178"/>
          <p:cNvSpPr txBox="1"/>
          <p:nvPr/>
        </p:nvSpPr>
        <p:spPr>
          <a:xfrm>
            <a:off x="731520" y="192024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 y arrastran polvo y microbios del ojo.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Contienen lisozima: una enzima que rompe la pared de muchas bacterias.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Parpadear las reparte como limpiaparabrisas.</a:t>
            </a:r>
            <a:endParaRPr lang="en-US" sz="1350" dirty="0"/>
          </a:p>
        </p:txBody>
      </p:sp>
      <p:sp>
        <p:nvSpPr>
          <p:cNvPr id="9" name="st2f_179"/>
          <p:cNvSpPr/>
          <p:nvPr/>
        </p:nvSpPr>
        <p:spPr>
          <a:xfrm>
            <a:off x="4663440" y="1051560"/>
            <a:ext cx="40233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t2f_180"/>
          <p:cNvSpPr/>
          <p:nvPr/>
        </p:nvSpPr>
        <p:spPr>
          <a:xfrm>
            <a:off x="4892040" y="1188720"/>
            <a:ext cx="594360" cy="594360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pic>
        <p:nvPicPr>
          <p:cNvPr id="11" name="st2f_18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1337310"/>
            <a:ext cx="297180" cy="297180"/>
          </a:xfrm>
          <a:prstGeom prst="rect">
            <a:avLst/>
          </a:prstGeom>
        </p:spPr>
      </p:pic>
      <p:sp>
        <p:nvSpPr>
          <p:cNvPr id="12" name="st2f_182"/>
          <p:cNvSpPr txBox="1"/>
          <p:nvPr/>
        </p:nvSpPr>
        <p:spPr>
          <a:xfrm>
            <a:off x="566928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Saliva</a:t>
            </a:r>
            <a:endParaRPr lang="en-US" sz="2200" dirty="0"/>
          </a:p>
        </p:txBody>
      </p:sp>
      <p:sp>
        <p:nvSpPr>
          <p:cNvPr id="13" name="st2f_183"/>
          <p:cNvSpPr txBox="1"/>
          <p:nvPr/>
        </p:nvSpPr>
        <p:spPr>
          <a:xfrm>
            <a:off x="4937760" y="192024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contiene lisozima.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flujo constante arrastra microbios hacia el estómago.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boca seca aumentan las caries y las infecciones.</a:t>
            </a:r>
            <a:endParaRPr lang="en-US" sz="1350" dirty="0"/>
          </a:p>
        </p:txBody>
      </p:sp>
      <p:sp>
        <p:nvSpPr>
          <p:cNvPr id="14" name="st3f_184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0C7"/>
          </a:solidFill>
          <a:ln w="12700">
            <a:solidFill>
              <a:srgbClr val="FFF0C7"/>
            </a:solidFill>
            <a:prstDash val="solid"/>
          </a:ln>
        </p:spPr>
      </p:sp>
      <p:sp>
        <p:nvSpPr>
          <p:cNvPr id="15" name="st3f_185"/>
          <p:cNvSpPr txBox="1"/>
          <p:nvPr/>
        </p:nvSpPr>
        <p:spPr>
          <a:xfrm>
            <a:off x="640080" y="365760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curioso: </a:t>
            </a:r>
            <a:pPr indent="0" marL="0">
              <a:buNone/>
            </a:pPr>
            <a:r>
              <a:rPr lang="en-US" sz="12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1921, Alexander Fleming (el de la penicilina) notó que su propio moco nasal destruía bacterias. Había descubierto la lisozima.</a:t>
            </a:r>
            <a:endParaRPr lang="en-US" sz="1250" dirty="0"/>
          </a:p>
        </p:txBody>
      </p:sp>
      <p:sp>
        <p:nvSpPr>
          <p:cNvPr id="16" name="st4f_186"/>
          <p:cNvSpPr/>
          <p:nvPr/>
        </p:nvSpPr>
        <p:spPr>
          <a:xfrm>
            <a:off x="4663440" y="365760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17" name="st4f_187"/>
          <p:cNvSpPr/>
          <p:nvPr/>
        </p:nvSpPr>
        <p:spPr>
          <a:xfrm>
            <a:off x="4800600" y="3991356"/>
            <a:ext cx="384048" cy="384048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18" name="st4f_188"/>
          <p:cNvSpPr txBox="1"/>
          <p:nvPr/>
        </p:nvSpPr>
        <p:spPr>
          <a:xfrm>
            <a:off x="4800600" y="39913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st4f_189"/>
          <p:cNvSpPr txBox="1"/>
          <p:nvPr/>
        </p:nvSpPr>
        <p:spPr>
          <a:xfrm>
            <a:off x="5303520" y="37033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fue la última vez que lloraste? Aunque no llores, tus ojos fabrican lágrimas todo el día… para cuidarte.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lago de ácido en tu estómago</a:t>
            </a:r>
            <a:endParaRPr lang="en-US" sz="2800" dirty="0"/>
          </a:p>
        </p:txBody>
      </p:sp>
      <p:sp>
        <p:nvSpPr>
          <p:cNvPr id="4" name="st1f_190"/>
          <p:cNvSpPr/>
          <p:nvPr/>
        </p:nvSpPr>
        <p:spPr>
          <a:xfrm>
            <a:off x="457200" y="100584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5" name="st1f_191"/>
          <p:cNvSpPr/>
          <p:nvPr/>
        </p:nvSpPr>
        <p:spPr>
          <a:xfrm>
            <a:off x="594360" y="1179576"/>
            <a:ext cx="384048" cy="384048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6" name="st1f_192"/>
          <p:cNvSpPr txBox="1"/>
          <p:nvPr/>
        </p:nvSpPr>
        <p:spPr>
          <a:xfrm>
            <a:off x="594360" y="1179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st1f_193"/>
          <p:cNvSpPr txBox="1"/>
          <p:nvPr/>
        </p:nvSpPr>
        <p:spPr>
          <a:xfrm>
            <a:off x="1097280" y="10515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jugo gástrico es tan ácido… ¿por qué tu estómago no se disuelve a sí mismo?</a:t>
            </a:r>
            <a:endParaRPr lang="en-US" sz="1700" dirty="0"/>
          </a:p>
        </p:txBody>
      </p:sp>
      <p:sp>
        <p:nvSpPr>
          <p:cNvPr id="8" name="st2w_194"/>
          <p:cNvSpPr/>
          <p:nvPr/>
        </p:nvSpPr>
        <p:spPr>
          <a:xfrm>
            <a:off x="457200" y="2377440"/>
            <a:ext cx="512064" cy="457200"/>
          </a:xfrm>
          <a:prstGeom prst="rect">
            <a:avLst/>
          </a:prstGeom>
          <a:solidFill>
            <a:srgbClr val="F28B82"/>
          </a:solidFill>
          <a:ln w="12700">
            <a:solidFill>
              <a:srgbClr val="F28B82"/>
            </a:solidFill>
            <a:prstDash val="solid"/>
          </a:ln>
        </p:spPr>
      </p:sp>
      <p:sp>
        <p:nvSpPr>
          <p:cNvPr id="9" name="st2w_195"/>
          <p:cNvSpPr txBox="1"/>
          <p:nvPr/>
        </p:nvSpPr>
        <p:spPr>
          <a:xfrm>
            <a:off x="45720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st2w_196"/>
          <p:cNvSpPr/>
          <p:nvPr/>
        </p:nvSpPr>
        <p:spPr>
          <a:xfrm>
            <a:off x="1005840" y="2377440"/>
            <a:ext cx="512064" cy="457200"/>
          </a:xfrm>
          <a:prstGeom prst="rect">
            <a:avLst/>
          </a:prstGeom>
          <a:solidFill>
            <a:srgbClr val="F3958A"/>
          </a:solidFill>
          <a:ln w="12700">
            <a:solidFill>
              <a:srgbClr val="F3958A"/>
            </a:solidFill>
            <a:prstDash val="solid"/>
          </a:ln>
        </p:spPr>
      </p:sp>
      <p:sp>
        <p:nvSpPr>
          <p:cNvPr id="11" name="st2w_197"/>
          <p:cNvSpPr txBox="1"/>
          <p:nvPr/>
        </p:nvSpPr>
        <p:spPr>
          <a:xfrm>
            <a:off x="100584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t2w_198"/>
          <p:cNvSpPr/>
          <p:nvPr/>
        </p:nvSpPr>
        <p:spPr>
          <a:xfrm>
            <a:off x="1554480" y="2377440"/>
            <a:ext cx="512064" cy="457200"/>
          </a:xfrm>
          <a:prstGeom prst="rect">
            <a:avLst/>
          </a:prstGeom>
          <a:solidFill>
            <a:srgbClr val="F59F92"/>
          </a:solidFill>
          <a:ln w="12700">
            <a:solidFill>
              <a:srgbClr val="F59F92"/>
            </a:solidFill>
            <a:prstDash val="solid"/>
          </a:ln>
        </p:spPr>
      </p:sp>
      <p:sp>
        <p:nvSpPr>
          <p:cNvPr id="13" name="st2w_199"/>
          <p:cNvSpPr txBox="1"/>
          <p:nvPr/>
        </p:nvSpPr>
        <p:spPr>
          <a:xfrm>
            <a:off x="155448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t2w_200"/>
          <p:cNvSpPr/>
          <p:nvPr/>
        </p:nvSpPr>
        <p:spPr>
          <a:xfrm>
            <a:off x="2103120" y="2377440"/>
            <a:ext cx="512064" cy="457200"/>
          </a:xfrm>
          <a:prstGeom prst="rect">
            <a:avLst/>
          </a:prstGeom>
          <a:solidFill>
            <a:srgbClr val="F6AA9A"/>
          </a:solidFill>
          <a:ln w="12700">
            <a:solidFill>
              <a:srgbClr val="F6AA9A"/>
            </a:solidFill>
            <a:prstDash val="solid"/>
          </a:ln>
        </p:spPr>
      </p:sp>
      <p:sp>
        <p:nvSpPr>
          <p:cNvPr id="15" name="st2w_201"/>
          <p:cNvSpPr txBox="1"/>
          <p:nvPr/>
        </p:nvSpPr>
        <p:spPr>
          <a:xfrm>
            <a:off x="210312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t2w_202"/>
          <p:cNvSpPr/>
          <p:nvPr/>
        </p:nvSpPr>
        <p:spPr>
          <a:xfrm>
            <a:off x="2651760" y="2377440"/>
            <a:ext cx="512064" cy="457200"/>
          </a:xfrm>
          <a:prstGeom prst="rect">
            <a:avLst/>
          </a:prstGeom>
          <a:solidFill>
            <a:srgbClr val="F8B9A0"/>
          </a:solidFill>
          <a:ln w="12700">
            <a:solidFill>
              <a:srgbClr val="F8B9A0"/>
            </a:solidFill>
            <a:prstDash val="solid"/>
          </a:ln>
        </p:spPr>
      </p:sp>
      <p:sp>
        <p:nvSpPr>
          <p:cNvPr id="17" name="st2w_203"/>
          <p:cNvSpPr txBox="1"/>
          <p:nvPr/>
        </p:nvSpPr>
        <p:spPr>
          <a:xfrm>
            <a:off x="265176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t2w_204"/>
          <p:cNvSpPr/>
          <p:nvPr/>
        </p:nvSpPr>
        <p:spPr>
          <a:xfrm>
            <a:off x="3200400" y="2377440"/>
            <a:ext cx="512064" cy="457200"/>
          </a:xfrm>
          <a:prstGeom prst="rect">
            <a:avLst/>
          </a:prstGeom>
          <a:solidFill>
            <a:srgbClr val="F9C8A4"/>
          </a:solidFill>
          <a:ln w="12700">
            <a:solidFill>
              <a:srgbClr val="F9C8A4"/>
            </a:solidFill>
            <a:prstDash val="solid"/>
          </a:ln>
        </p:spPr>
      </p:sp>
      <p:sp>
        <p:nvSpPr>
          <p:cNvPr id="19" name="st2w_205"/>
          <p:cNvSpPr txBox="1"/>
          <p:nvPr/>
        </p:nvSpPr>
        <p:spPr>
          <a:xfrm>
            <a:off x="320040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t2w_206"/>
          <p:cNvSpPr/>
          <p:nvPr/>
        </p:nvSpPr>
        <p:spPr>
          <a:xfrm>
            <a:off x="3749040" y="2377440"/>
            <a:ext cx="512064" cy="457200"/>
          </a:xfrm>
          <a:prstGeom prst="rect">
            <a:avLst/>
          </a:prstGeom>
          <a:solidFill>
            <a:srgbClr val="FBDBAE"/>
          </a:solidFill>
          <a:ln w="12700">
            <a:solidFill>
              <a:srgbClr val="FBDBAE"/>
            </a:solidFill>
            <a:prstDash val="solid"/>
          </a:ln>
        </p:spPr>
      </p:sp>
      <p:sp>
        <p:nvSpPr>
          <p:cNvPr id="21" name="st2w_207"/>
          <p:cNvSpPr txBox="1"/>
          <p:nvPr/>
        </p:nvSpPr>
        <p:spPr>
          <a:xfrm>
            <a:off x="374904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st2w_208"/>
          <p:cNvSpPr/>
          <p:nvPr/>
        </p:nvSpPr>
        <p:spPr>
          <a:xfrm>
            <a:off x="4297680" y="2377440"/>
            <a:ext cx="512064" cy="457200"/>
          </a:xfrm>
          <a:prstGeom prst="rect">
            <a:avLst/>
          </a:prstGeom>
          <a:solidFill>
            <a:srgbClr val="CFE8C6"/>
          </a:solidFill>
          <a:ln w="12700">
            <a:solidFill>
              <a:srgbClr val="CFE8C6"/>
            </a:solidFill>
            <a:prstDash val="solid"/>
          </a:ln>
        </p:spPr>
      </p:sp>
      <p:sp>
        <p:nvSpPr>
          <p:cNvPr id="23" name="st2w_209"/>
          <p:cNvSpPr txBox="1"/>
          <p:nvPr/>
        </p:nvSpPr>
        <p:spPr>
          <a:xfrm>
            <a:off x="429768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st2w_210"/>
          <p:cNvSpPr/>
          <p:nvPr/>
        </p:nvSpPr>
        <p:spPr>
          <a:xfrm>
            <a:off x="4846320" y="2377440"/>
            <a:ext cx="512064" cy="457200"/>
          </a:xfrm>
          <a:prstGeom prst="rect">
            <a:avLst/>
          </a:prstGeom>
          <a:solidFill>
            <a:srgbClr val="BFE3D4"/>
          </a:solidFill>
          <a:ln w="12700">
            <a:solidFill>
              <a:srgbClr val="BFE3D4"/>
            </a:solidFill>
            <a:prstDash val="solid"/>
          </a:ln>
        </p:spPr>
      </p:sp>
      <p:sp>
        <p:nvSpPr>
          <p:cNvPr id="25" name="st2w_211"/>
          <p:cNvSpPr txBox="1"/>
          <p:nvPr/>
        </p:nvSpPr>
        <p:spPr>
          <a:xfrm>
            <a:off x="484632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6" name="st2w_212"/>
          <p:cNvSpPr/>
          <p:nvPr/>
        </p:nvSpPr>
        <p:spPr>
          <a:xfrm>
            <a:off x="5394960" y="2377440"/>
            <a:ext cx="512064" cy="457200"/>
          </a:xfrm>
          <a:prstGeom prst="rect">
            <a:avLst/>
          </a:prstGeom>
          <a:solidFill>
            <a:srgbClr val="B2DDE0"/>
          </a:solidFill>
          <a:ln w="12700">
            <a:solidFill>
              <a:srgbClr val="B2DDE0"/>
            </a:solidFill>
            <a:prstDash val="solid"/>
          </a:ln>
        </p:spPr>
      </p:sp>
      <p:sp>
        <p:nvSpPr>
          <p:cNvPr id="27" name="st2w_213"/>
          <p:cNvSpPr txBox="1"/>
          <p:nvPr/>
        </p:nvSpPr>
        <p:spPr>
          <a:xfrm>
            <a:off x="539496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8" name="st2w_214"/>
          <p:cNvSpPr/>
          <p:nvPr/>
        </p:nvSpPr>
        <p:spPr>
          <a:xfrm>
            <a:off x="5943600" y="2377440"/>
            <a:ext cx="512064" cy="457200"/>
          </a:xfrm>
          <a:prstGeom prst="rect">
            <a:avLst/>
          </a:prstGeom>
          <a:solidFill>
            <a:srgbClr val="A6D3EA"/>
          </a:solidFill>
          <a:ln w="12700">
            <a:solidFill>
              <a:srgbClr val="A6D3EA"/>
            </a:solidFill>
            <a:prstDash val="solid"/>
          </a:ln>
        </p:spPr>
      </p:sp>
      <p:sp>
        <p:nvSpPr>
          <p:cNvPr id="29" name="st2w_215"/>
          <p:cNvSpPr txBox="1"/>
          <p:nvPr/>
        </p:nvSpPr>
        <p:spPr>
          <a:xfrm>
            <a:off x="594360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0" name="st2w_216"/>
          <p:cNvSpPr/>
          <p:nvPr/>
        </p:nvSpPr>
        <p:spPr>
          <a:xfrm>
            <a:off x="6492240" y="2377440"/>
            <a:ext cx="512064" cy="457200"/>
          </a:xfrm>
          <a:prstGeom prst="rect">
            <a:avLst/>
          </a:prstGeom>
          <a:solidFill>
            <a:srgbClr val="A0C6EE"/>
          </a:solidFill>
          <a:ln w="12700">
            <a:solidFill>
              <a:srgbClr val="A0C6EE"/>
            </a:solidFill>
            <a:prstDash val="solid"/>
          </a:ln>
        </p:spPr>
      </p:sp>
      <p:sp>
        <p:nvSpPr>
          <p:cNvPr id="31" name="st2w_217"/>
          <p:cNvSpPr txBox="1"/>
          <p:nvPr/>
        </p:nvSpPr>
        <p:spPr>
          <a:xfrm>
            <a:off x="649224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2" name="st2w_218"/>
          <p:cNvSpPr/>
          <p:nvPr/>
        </p:nvSpPr>
        <p:spPr>
          <a:xfrm>
            <a:off x="7040880" y="2377440"/>
            <a:ext cx="512064" cy="457200"/>
          </a:xfrm>
          <a:prstGeom prst="rect">
            <a:avLst/>
          </a:prstGeom>
          <a:solidFill>
            <a:srgbClr val="9FB8EF"/>
          </a:solidFill>
          <a:ln w="12700">
            <a:solidFill>
              <a:srgbClr val="9FB8EF"/>
            </a:solidFill>
            <a:prstDash val="solid"/>
          </a:ln>
        </p:spPr>
      </p:sp>
      <p:sp>
        <p:nvSpPr>
          <p:cNvPr id="33" name="st2w_219"/>
          <p:cNvSpPr txBox="1"/>
          <p:nvPr/>
        </p:nvSpPr>
        <p:spPr>
          <a:xfrm>
            <a:off x="704088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4" name="st2w_220"/>
          <p:cNvSpPr/>
          <p:nvPr/>
        </p:nvSpPr>
        <p:spPr>
          <a:xfrm>
            <a:off x="7589520" y="2377440"/>
            <a:ext cx="512064" cy="457200"/>
          </a:xfrm>
          <a:prstGeom prst="rect">
            <a:avLst/>
          </a:prstGeom>
          <a:solidFill>
            <a:srgbClr val="A5AEEE"/>
          </a:solidFill>
          <a:ln w="12700">
            <a:solidFill>
              <a:srgbClr val="A5AEEE"/>
            </a:solidFill>
            <a:prstDash val="solid"/>
          </a:ln>
        </p:spPr>
      </p:sp>
      <p:sp>
        <p:nvSpPr>
          <p:cNvPr id="35" name="st2w_221"/>
          <p:cNvSpPr txBox="1"/>
          <p:nvPr/>
        </p:nvSpPr>
        <p:spPr>
          <a:xfrm>
            <a:off x="758952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36" name="st2w_222"/>
          <p:cNvSpPr/>
          <p:nvPr/>
        </p:nvSpPr>
        <p:spPr>
          <a:xfrm>
            <a:off x="8138160" y="2377440"/>
            <a:ext cx="512064" cy="457200"/>
          </a:xfrm>
          <a:prstGeom prst="rect">
            <a:avLst/>
          </a:prstGeom>
          <a:solidFill>
            <a:srgbClr val="B0A6EC"/>
          </a:solidFill>
          <a:ln w="12700">
            <a:solidFill>
              <a:srgbClr val="B0A6EC"/>
            </a:solidFill>
            <a:prstDash val="solid"/>
          </a:ln>
        </p:spPr>
      </p:sp>
      <p:sp>
        <p:nvSpPr>
          <p:cNvPr id="37" name="st2w_223"/>
          <p:cNvSpPr txBox="1"/>
          <p:nvPr/>
        </p:nvSpPr>
        <p:spPr>
          <a:xfrm>
            <a:off x="8138160" y="23774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8" name="st3f_224"/>
          <p:cNvSpPr txBox="1"/>
          <p:nvPr/>
        </p:nvSpPr>
        <p:spPr>
          <a:xfrm>
            <a:off x="822960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Jugo gástrico: pH 1–3</a:t>
            </a:r>
            <a:endParaRPr lang="en-US" sz="1200" dirty="0"/>
          </a:p>
        </p:txBody>
      </p:sp>
      <p:sp>
        <p:nvSpPr>
          <p:cNvPr id="39" name="st3f_225"/>
          <p:cNvSpPr/>
          <p:nvPr/>
        </p:nvSpPr>
        <p:spPr>
          <a:xfrm>
            <a:off x="978408" y="2304288"/>
            <a:ext cx="1664208" cy="603504"/>
          </a:xfrm>
          <a:prstGeom prst="rect">
            <a:avLst/>
          </a:prstGeom>
          <a:ln w="28575">
            <a:solidFill>
              <a:srgbClr val="D2504B"/>
            </a:solidFill>
            <a:prstDash val="solid"/>
          </a:ln>
        </p:spPr>
      </p:sp>
      <p:sp>
        <p:nvSpPr>
          <p:cNvPr id="40" name="st4f_226"/>
          <p:cNvSpPr/>
          <p:nvPr/>
        </p:nvSpPr>
        <p:spPr>
          <a:xfrm>
            <a:off x="2660904" y="2304288"/>
            <a:ext cx="1645920" cy="603504"/>
          </a:xfrm>
          <a:prstGeom prst="rect">
            <a:avLst/>
          </a:prstGeom>
          <a:ln w="28575">
            <a:solidFill>
              <a:srgbClr val="1E8A94"/>
            </a:solidFill>
            <a:prstDash val="solid"/>
          </a:ln>
        </p:spPr>
      </p:sp>
      <p:sp>
        <p:nvSpPr>
          <p:cNvPr id="41" name="st4f_227"/>
          <p:cNvSpPr txBox="1"/>
          <p:nvPr/>
        </p:nvSpPr>
        <p:spPr>
          <a:xfrm>
            <a:off x="265176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Piel: pH ≈ 5</a:t>
            </a:r>
            <a:endParaRPr lang="en-US" sz="1200" dirty="0"/>
          </a:p>
        </p:txBody>
      </p:sp>
      <p:sp>
        <p:nvSpPr>
          <p:cNvPr id="42" name="st4f_228"/>
          <p:cNvSpPr txBox="1"/>
          <p:nvPr/>
        </p:nvSpPr>
        <p:spPr>
          <a:xfrm>
            <a:off x="4370832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pura: 7</a:t>
            </a:r>
            <a:endParaRPr lang="en-US" sz="1200" dirty="0"/>
          </a:p>
        </p:txBody>
      </p:sp>
      <p:sp>
        <p:nvSpPr>
          <p:cNvPr id="43" name="st2f_229"/>
          <p:cNvSpPr txBox="1"/>
          <p:nvPr/>
        </p:nvSpPr>
        <p:spPr>
          <a:xfrm>
            <a:off x="45720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más ácido</a:t>
            </a:r>
            <a:endParaRPr lang="en-US" sz="1100" dirty="0"/>
          </a:p>
        </p:txBody>
      </p:sp>
      <p:sp>
        <p:nvSpPr>
          <p:cNvPr id="44" name="st2f_230"/>
          <p:cNvSpPr txBox="1"/>
          <p:nvPr/>
        </p:nvSpPr>
        <p:spPr>
          <a:xfrm>
            <a:off x="685800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básico →</a:t>
            </a:r>
            <a:endParaRPr lang="en-US" sz="1100" dirty="0"/>
          </a:p>
        </p:txBody>
      </p:sp>
      <p:sp>
        <p:nvSpPr>
          <p:cNvPr id="45" name="st5f_231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st5f_232"/>
          <p:cNvSpPr txBox="1"/>
          <p:nvPr/>
        </p:nvSpPr>
        <p:spPr>
          <a:xfrm>
            <a:off x="640080" y="36576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hace: </a:t>
            </a:r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o frena a muchos de los microbios que llegan con la comida, el agua y el mucus que tragamos.</a:t>
            </a:r>
            <a:endParaRPr lang="en-US" sz="1300" dirty="0"/>
          </a:p>
        </p:txBody>
      </p:sp>
      <p:sp>
        <p:nvSpPr>
          <p:cNvPr id="47" name="st6f_233"/>
          <p:cNvSpPr/>
          <p:nvPr/>
        </p:nvSpPr>
        <p:spPr>
          <a:xfrm>
            <a:off x="4663440" y="365760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0C7"/>
          </a:solidFill>
          <a:ln w="12700">
            <a:solidFill>
              <a:srgbClr val="FFF0C7"/>
            </a:solidFill>
            <a:prstDash val="solid"/>
          </a:ln>
        </p:spPr>
      </p:sp>
      <p:sp>
        <p:nvSpPr>
          <p:cNvPr id="48" name="st6f_234"/>
          <p:cNvSpPr txBox="1"/>
          <p:nvPr/>
        </p:nvSpPr>
        <p:spPr>
          <a:xfrm>
            <a:off x="4846320" y="36576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mueren. La bacteria Helicobacter pylori ha “aprendido” a sobrevivir ahí.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1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3" grpId="0" animBg="1"/>
      <p:bldP spid="44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aliados invisibles</a:t>
            </a:r>
            <a:endParaRPr lang="en-US" sz="2800" dirty="0"/>
          </a:p>
        </p:txBody>
      </p:sp>
      <p:sp>
        <p:nvSpPr>
          <p:cNvPr id="4" name="st1f_235"/>
          <p:cNvSpPr txBox="1"/>
          <p:nvPr/>
        </p:nvSpPr>
        <p:spPr>
          <a:xfrm>
            <a:off x="457200" y="105156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bacterias viven en tu piel, tu boca y tu intestino sin enfermarte.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Ocupan el espacio y consumen el alimento: el patógeno no encuentra dónde instalarse.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producen sustancias que frenan a otras bacterias.</a:t>
            </a:r>
            <a:endParaRPr lang="en-US" sz="1400" dirty="0"/>
          </a:p>
        </p:txBody>
      </p:sp>
      <p:sp>
        <p:nvSpPr>
          <p:cNvPr id="5" name="st4f_236"/>
          <p:cNvSpPr/>
          <p:nvPr/>
        </p:nvSpPr>
        <p:spPr>
          <a:xfrm>
            <a:off x="457200" y="3337560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6" name="st4f_237"/>
          <p:cNvSpPr/>
          <p:nvPr/>
        </p:nvSpPr>
        <p:spPr>
          <a:xfrm>
            <a:off x="594360" y="3831336"/>
            <a:ext cx="384048" cy="384048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7" name="st4f_238"/>
          <p:cNvSpPr txBox="1"/>
          <p:nvPr/>
        </p:nvSpPr>
        <p:spPr>
          <a:xfrm>
            <a:off x="59436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st4f_239"/>
          <p:cNvSpPr txBox="1"/>
          <p:nvPr/>
        </p:nvSpPr>
        <p:spPr>
          <a:xfrm>
            <a:off x="1097280" y="33832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la micro llena no cabe nadie más… ¿qué pasaría con tus bacterias “buenas” si tomas antibióticos sin necesidad?</a:t>
            </a:r>
            <a:endParaRPr lang="en-US" sz="1400" dirty="0"/>
          </a:p>
        </p:txBody>
      </p:sp>
      <p:sp>
        <p:nvSpPr>
          <p:cNvPr id="9" name="st2f_240"/>
          <p:cNvSpPr/>
          <p:nvPr/>
        </p:nvSpPr>
        <p:spPr>
          <a:xfrm>
            <a:off x="5029200" y="105156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t2f_241"/>
          <p:cNvSpPr/>
          <p:nvPr/>
        </p:nvSpPr>
        <p:spPr>
          <a:xfrm>
            <a:off x="5257800" y="1325880"/>
            <a:ext cx="2743200" cy="2011680"/>
          </a:xfrm>
          <a:prstGeom prst="roundRect">
            <a:avLst>
              <a:gd name="adj" fmla="val 9091"/>
            </a:avLst>
          </a:prstGeom>
          <a:solidFill>
            <a:srgbClr val="D6EEF0"/>
          </a:solidFill>
          <a:ln w="25400">
            <a:solidFill>
              <a:srgbClr val="1E8A94"/>
            </a:solidFill>
            <a:prstDash val="solid"/>
          </a:ln>
        </p:spPr>
      </p:sp>
      <p:sp>
        <p:nvSpPr>
          <p:cNvPr id="11" name="st2f_242"/>
          <p:cNvSpPr/>
          <p:nvPr/>
        </p:nvSpPr>
        <p:spPr>
          <a:xfrm>
            <a:off x="5440680" y="1481328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t2f_243"/>
          <p:cNvSpPr/>
          <p:nvPr/>
        </p:nvSpPr>
        <p:spPr>
          <a:xfrm>
            <a:off x="5577840" y="162763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t2f_244"/>
          <p:cNvSpPr/>
          <p:nvPr/>
        </p:nvSpPr>
        <p:spPr>
          <a:xfrm>
            <a:off x="5733288" y="162763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t2f_245"/>
          <p:cNvSpPr/>
          <p:nvPr/>
        </p:nvSpPr>
        <p:spPr>
          <a:xfrm>
            <a:off x="6062472" y="1481328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t2f_246"/>
          <p:cNvSpPr/>
          <p:nvPr/>
        </p:nvSpPr>
        <p:spPr>
          <a:xfrm>
            <a:off x="6199632" y="162763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t2f_247"/>
          <p:cNvSpPr/>
          <p:nvPr/>
        </p:nvSpPr>
        <p:spPr>
          <a:xfrm>
            <a:off x="6355080" y="162763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t2f_248"/>
          <p:cNvSpPr/>
          <p:nvPr/>
        </p:nvSpPr>
        <p:spPr>
          <a:xfrm>
            <a:off x="6684264" y="1481328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t2f_249"/>
          <p:cNvSpPr/>
          <p:nvPr/>
        </p:nvSpPr>
        <p:spPr>
          <a:xfrm>
            <a:off x="6821424" y="162763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2f_250"/>
          <p:cNvSpPr/>
          <p:nvPr/>
        </p:nvSpPr>
        <p:spPr>
          <a:xfrm>
            <a:off x="6976872" y="162763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t2f_251"/>
          <p:cNvSpPr/>
          <p:nvPr/>
        </p:nvSpPr>
        <p:spPr>
          <a:xfrm>
            <a:off x="7306056" y="1481328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t2f_252"/>
          <p:cNvSpPr/>
          <p:nvPr/>
        </p:nvSpPr>
        <p:spPr>
          <a:xfrm>
            <a:off x="7443216" y="162763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t2f_253"/>
          <p:cNvSpPr/>
          <p:nvPr/>
        </p:nvSpPr>
        <p:spPr>
          <a:xfrm>
            <a:off x="7598664" y="162763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t2f_254"/>
          <p:cNvSpPr/>
          <p:nvPr/>
        </p:nvSpPr>
        <p:spPr>
          <a:xfrm>
            <a:off x="5440680" y="2084832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t2f_255"/>
          <p:cNvSpPr/>
          <p:nvPr/>
        </p:nvSpPr>
        <p:spPr>
          <a:xfrm>
            <a:off x="5577840" y="22311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t2f_256"/>
          <p:cNvSpPr/>
          <p:nvPr/>
        </p:nvSpPr>
        <p:spPr>
          <a:xfrm>
            <a:off x="5733288" y="22311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t2f_257"/>
          <p:cNvSpPr/>
          <p:nvPr/>
        </p:nvSpPr>
        <p:spPr>
          <a:xfrm>
            <a:off x="6062472" y="2084832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t2f_258"/>
          <p:cNvSpPr/>
          <p:nvPr/>
        </p:nvSpPr>
        <p:spPr>
          <a:xfrm>
            <a:off x="6199632" y="22311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t2f_259"/>
          <p:cNvSpPr/>
          <p:nvPr/>
        </p:nvSpPr>
        <p:spPr>
          <a:xfrm>
            <a:off x="6355080" y="22311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t2f_260"/>
          <p:cNvSpPr/>
          <p:nvPr/>
        </p:nvSpPr>
        <p:spPr>
          <a:xfrm>
            <a:off x="6684264" y="2084832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t2f_261"/>
          <p:cNvSpPr/>
          <p:nvPr/>
        </p:nvSpPr>
        <p:spPr>
          <a:xfrm>
            <a:off x="6821424" y="22311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t2f_262"/>
          <p:cNvSpPr/>
          <p:nvPr/>
        </p:nvSpPr>
        <p:spPr>
          <a:xfrm>
            <a:off x="6976872" y="22311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t2f_263"/>
          <p:cNvSpPr/>
          <p:nvPr/>
        </p:nvSpPr>
        <p:spPr>
          <a:xfrm>
            <a:off x="7306056" y="2084832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t2f_264"/>
          <p:cNvSpPr/>
          <p:nvPr/>
        </p:nvSpPr>
        <p:spPr>
          <a:xfrm>
            <a:off x="7443216" y="22311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t2f_265"/>
          <p:cNvSpPr/>
          <p:nvPr/>
        </p:nvSpPr>
        <p:spPr>
          <a:xfrm>
            <a:off x="7598664" y="22311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t2f_266"/>
          <p:cNvSpPr/>
          <p:nvPr/>
        </p:nvSpPr>
        <p:spPr>
          <a:xfrm>
            <a:off x="5440680" y="2688336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t2f_267"/>
          <p:cNvSpPr/>
          <p:nvPr/>
        </p:nvSpPr>
        <p:spPr>
          <a:xfrm>
            <a:off x="5577840" y="28346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t2f_268"/>
          <p:cNvSpPr/>
          <p:nvPr/>
        </p:nvSpPr>
        <p:spPr>
          <a:xfrm>
            <a:off x="5733288" y="28346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t2f_269"/>
          <p:cNvSpPr/>
          <p:nvPr/>
        </p:nvSpPr>
        <p:spPr>
          <a:xfrm>
            <a:off x="6062472" y="2688336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t2f_270"/>
          <p:cNvSpPr/>
          <p:nvPr/>
        </p:nvSpPr>
        <p:spPr>
          <a:xfrm>
            <a:off x="6199632" y="28346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t2f_271"/>
          <p:cNvSpPr/>
          <p:nvPr/>
        </p:nvSpPr>
        <p:spPr>
          <a:xfrm>
            <a:off x="6355080" y="28346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t2f_272"/>
          <p:cNvSpPr/>
          <p:nvPr/>
        </p:nvSpPr>
        <p:spPr>
          <a:xfrm>
            <a:off x="6684264" y="2688336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t2f_273"/>
          <p:cNvSpPr/>
          <p:nvPr/>
        </p:nvSpPr>
        <p:spPr>
          <a:xfrm>
            <a:off x="6821424" y="28346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t2f_274"/>
          <p:cNvSpPr/>
          <p:nvPr/>
        </p:nvSpPr>
        <p:spPr>
          <a:xfrm>
            <a:off x="6976872" y="28346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t2f_275"/>
          <p:cNvSpPr/>
          <p:nvPr/>
        </p:nvSpPr>
        <p:spPr>
          <a:xfrm>
            <a:off x="7306056" y="2688336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t2f_276"/>
          <p:cNvSpPr/>
          <p:nvPr/>
        </p:nvSpPr>
        <p:spPr>
          <a:xfrm>
            <a:off x="7443216" y="28346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t2f_277"/>
          <p:cNvSpPr/>
          <p:nvPr/>
        </p:nvSpPr>
        <p:spPr>
          <a:xfrm>
            <a:off x="7598664" y="28346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t2f_278"/>
          <p:cNvSpPr/>
          <p:nvPr/>
        </p:nvSpPr>
        <p:spPr>
          <a:xfrm>
            <a:off x="5577840" y="3200400"/>
            <a:ext cx="457200" cy="457200"/>
          </a:xfrm>
          <a:prstGeom prst="ellipse">
            <a:avLst/>
          </a:prstGeom>
          <a:solidFill>
            <a:srgbClr val="1D3B4F"/>
          </a:solidFill>
          <a:ln w="12700">
            <a:solidFill>
              <a:srgbClr val="1D3B4F"/>
            </a:solidFill>
            <a:prstDash val="solid"/>
          </a:ln>
        </p:spPr>
      </p:sp>
      <p:sp>
        <p:nvSpPr>
          <p:cNvPr id="48" name="st2f_279"/>
          <p:cNvSpPr/>
          <p:nvPr/>
        </p:nvSpPr>
        <p:spPr>
          <a:xfrm>
            <a:off x="7223760" y="3200400"/>
            <a:ext cx="457200" cy="457200"/>
          </a:xfrm>
          <a:prstGeom prst="ellipse">
            <a:avLst/>
          </a:prstGeom>
          <a:solidFill>
            <a:srgbClr val="1D3B4F"/>
          </a:solidFill>
          <a:ln w="12700">
            <a:solidFill>
              <a:srgbClr val="1D3B4F"/>
            </a:solidFill>
            <a:prstDash val="solid"/>
          </a:ln>
        </p:spPr>
      </p:sp>
      <p:sp>
        <p:nvSpPr>
          <p:cNvPr id="49" name="st3f_280"/>
          <p:cNvSpPr/>
          <p:nvPr/>
        </p:nvSpPr>
        <p:spPr>
          <a:xfrm>
            <a:off x="8183880" y="2103120"/>
            <a:ext cx="365760" cy="365760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50" name="st3f_281"/>
          <p:cNvSpPr/>
          <p:nvPr/>
        </p:nvSpPr>
        <p:spPr>
          <a:xfrm>
            <a:off x="8264347" y="221284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t3f_282"/>
          <p:cNvSpPr/>
          <p:nvPr/>
        </p:nvSpPr>
        <p:spPr>
          <a:xfrm>
            <a:off x="8396021" y="221284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t3f_283"/>
          <p:cNvSpPr txBox="1"/>
          <p:nvPr/>
        </p:nvSpPr>
        <p:spPr>
          <a:xfrm>
            <a:off x="5212080" y="3840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llena: no queda asiento para el patógeno.</a:t>
            </a:r>
            <a:endParaRPr lang="en-US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seis barreras, tres tipos</a:t>
            </a:r>
            <a:endParaRPr lang="en-US" sz="2800" dirty="0"/>
          </a:p>
        </p:txBody>
      </p:sp>
      <p:sp>
        <p:nvSpPr>
          <p:cNvPr id="4" name="st1f_284"/>
          <p:cNvSpPr/>
          <p:nvPr/>
        </p:nvSpPr>
        <p:spPr>
          <a:xfrm>
            <a:off x="457200" y="105156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285"/>
          <p:cNvSpPr/>
          <p:nvPr/>
        </p:nvSpPr>
        <p:spPr>
          <a:xfrm>
            <a:off x="621792" y="1216152"/>
            <a:ext cx="502920" cy="50292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pic>
        <p:nvPicPr>
          <p:cNvPr id="6" name="st1f_28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22" y="1341882"/>
            <a:ext cx="251460" cy="251460"/>
          </a:xfrm>
          <a:prstGeom prst="rect">
            <a:avLst/>
          </a:prstGeom>
        </p:spPr>
      </p:pic>
      <p:sp>
        <p:nvSpPr>
          <p:cNvPr id="7" name="st1f_287"/>
          <p:cNvSpPr txBox="1"/>
          <p:nvPr/>
        </p:nvSpPr>
        <p:spPr>
          <a:xfrm>
            <a:off x="1234440" y="1161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Piel</a:t>
            </a:r>
            <a:endParaRPr lang="en-US" sz="1450" dirty="0"/>
          </a:p>
        </p:txBody>
      </p:sp>
      <p:sp>
        <p:nvSpPr>
          <p:cNvPr id="8" name="st1f_288"/>
          <p:cNvSpPr/>
          <p:nvPr/>
        </p:nvSpPr>
        <p:spPr>
          <a:xfrm>
            <a:off x="1234440" y="15544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9" name="st1f_289"/>
          <p:cNvSpPr txBox="1"/>
          <p:nvPr/>
        </p:nvSpPr>
        <p:spPr>
          <a:xfrm>
            <a:off x="1234440" y="15544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000" dirty="0"/>
          </a:p>
        </p:txBody>
      </p:sp>
      <p:sp>
        <p:nvSpPr>
          <p:cNvPr id="10" name="st1f_290"/>
          <p:cNvSpPr txBox="1"/>
          <p:nvPr/>
        </p:nvSpPr>
        <p:spPr>
          <a:xfrm>
            <a:off x="64008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impermeable de células muertas con queratina.</a:t>
            </a:r>
            <a:endParaRPr lang="en-US" sz="1200" dirty="0"/>
          </a:p>
        </p:txBody>
      </p:sp>
      <p:sp>
        <p:nvSpPr>
          <p:cNvPr id="11" name="st1f_291"/>
          <p:cNvSpPr/>
          <p:nvPr/>
        </p:nvSpPr>
        <p:spPr>
          <a:xfrm>
            <a:off x="3291840" y="105156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t1f_292"/>
          <p:cNvSpPr/>
          <p:nvPr/>
        </p:nvSpPr>
        <p:spPr>
          <a:xfrm>
            <a:off x="3456432" y="1216152"/>
            <a:ext cx="502920" cy="50292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pic>
        <p:nvPicPr>
          <p:cNvPr id="13" name="st1f_29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62" y="1341882"/>
            <a:ext cx="251460" cy="251460"/>
          </a:xfrm>
          <a:prstGeom prst="rect">
            <a:avLst/>
          </a:prstGeom>
        </p:spPr>
      </p:pic>
      <p:sp>
        <p:nvSpPr>
          <p:cNvPr id="14" name="st1f_294"/>
          <p:cNvSpPr txBox="1"/>
          <p:nvPr/>
        </p:nvSpPr>
        <p:spPr>
          <a:xfrm>
            <a:off x="4069080" y="1161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Mucosas y cilios</a:t>
            </a:r>
            <a:endParaRPr lang="en-US" sz="1450" dirty="0"/>
          </a:p>
        </p:txBody>
      </p:sp>
      <p:sp>
        <p:nvSpPr>
          <p:cNvPr id="15" name="st1f_295"/>
          <p:cNvSpPr/>
          <p:nvPr/>
        </p:nvSpPr>
        <p:spPr>
          <a:xfrm>
            <a:off x="4069080" y="15544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6" name="st1f_296"/>
          <p:cNvSpPr txBox="1"/>
          <p:nvPr/>
        </p:nvSpPr>
        <p:spPr>
          <a:xfrm>
            <a:off x="4069080" y="15544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000" dirty="0"/>
          </a:p>
        </p:txBody>
      </p:sp>
      <p:sp>
        <p:nvSpPr>
          <p:cNvPr id="17" name="st1f_297"/>
          <p:cNvSpPr txBox="1"/>
          <p:nvPr/>
        </p:nvSpPr>
        <p:spPr>
          <a:xfrm>
            <a:off x="347472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Atrapan microbios en el mucus y lo barren hacia la garganta.</a:t>
            </a:r>
            <a:endParaRPr lang="en-US" sz="1200" dirty="0"/>
          </a:p>
        </p:txBody>
      </p:sp>
      <p:sp>
        <p:nvSpPr>
          <p:cNvPr id="18" name="st2f_298"/>
          <p:cNvSpPr/>
          <p:nvPr/>
        </p:nvSpPr>
        <p:spPr>
          <a:xfrm>
            <a:off x="6126480" y="105156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t2f_299"/>
          <p:cNvSpPr/>
          <p:nvPr/>
        </p:nvSpPr>
        <p:spPr>
          <a:xfrm>
            <a:off x="6291072" y="1216152"/>
            <a:ext cx="502920" cy="502920"/>
          </a:xfrm>
          <a:prstGeom prst="ellipse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pic>
        <p:nvPicPr>
          <p:cNvPr id="20" name="st2f_30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02" y="1341882"/>
            <a:ext cx="251460" cy="251460"/>
          </a:xfrm>
          <a:prstGeom prst="rect">
            <a:avLst/>
          </a:prstGeom>
        </p:spPr>
      </p:pic>
      <p:sp>
        <p:nvSpPr>
          <p:cNvPr id="21" name="st2f_301"/>
          <p:cNvSpPr txBox="1"/>
          <p:nvPr/>
        </p:nvSpPr>
        <p:spPr>
          <a:xfrm>
            <a:off x="6903720" y="1161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Lágrimas</a:t>
            </a:r>
            <a:endParaRPr lang="en-US" sz="1450" dirty="0"/>
          </a:p>
        </p:txBody>
      </p:sp>
      <p:sp>
        <p:nvSpPr>
          <p:cNvPr id="22" name="st2f_302"/>
          <p:cNvSpPr/>
          <p:nvPr/>
        </p:nvSpPr>
        <p:spPr>
          <a:xfrm>
            <a:off x="6903720" y="15544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23" name="st2f_303"/>
          <p:cNvSpPr txBox="1"/>
          <p:nvPr/>
        </p:nvSpPr>
        <p:spPr>
          <a:xfrm>
            <a:off x="6903720" y="15544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endParaRPr lang="en-US" sz="1000" dirty="0"/>
          </a:p>
        </p:txBody>
      </p:sp>
      <p:sp>
        <p:nvSpPr>
          <p:cNvPr id="24" name="st2f_304"/>
          <p:cNvSpPr txBox="1"/>
          <p:nvPr/>
        </p:nvSpPr>
        <p:spPr>
          <a:xfrm>
            <a:off x="630936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Arrastran microbios y rompen bacterias con lisozima.</a:t>
            </a:r>
            <a:endParaRPr lang="en-US" sz="1200" dirty="0"/>
          </a:p>
        </p:txBody>
      </p:sp>
      <p:sp>
        <p:nvSpPr>
          <p:cNvPr id="25" name="st2f_305"/>
          <p:cNvSpPr/>
          <p:nvPr/>
        </p:nvSpPr>
        <p:spPr>
          <a:xfrm>
            <a:off x="457200" y="28346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t2f_306"/>
          <p:cNvSpPr/>
          <p:nvPr/>
        </p:nvSpPr>
        <p:spPr>
          <a:xfrm>
            <a:off x="621792" y="2999232"/>
            <a:ext cx="502920" cy="502920"/>
          </a:xfrm>
          <a:prstGeom prst="ellipse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pic>
        <p:nvPicPr>
          <p:cNvPr id="27" name="st2f_30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" y="3124962"/>
            <a:ext cx="251460" cy="251460"/>
          </a:xfrm>
          <a:prstGeom prst="rect">
            <a:avLst/>
          </a:prstGeom>
        </p:spPr>
      </p:pic>
      <p:sp>
        <p:nvSpPr>
          <p:cNvPr id="28" name="st2f_308"/>
          <p:cNvSpPr txBox="1"/>
          <p:nvPr/>
        </p:nvSpPr>
        <p:spPr>
          <a:xfrm>
            <a:off x="1234440" y="29443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Saliva</a:t>
            </a:r>
            <a:endParaRPr lang="en-US" sz="1450" dirty="0"/>
          </a:p>
        </p:txBody>
      </p:sp>
      <p:sp>
        <p:nvSpPr>
          <p:cNvPr id="29" name="st2f_309"/>
          <p:cNvSpPr/>
          <p:nvPr/>
        </p:nvSpPr>
        <p:spPr>
          <a:xfrm>
            <a:off x="1234440" y="333756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30" name="st2f_310"/>
          <p:cNvSpPr txBox="1"/>
          <p:nvPr/>
        </p:nvSpPr>
        <p:spPr>
          <a:xfrm>
            <a:off x="1234440" y="333756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endParaRPr lang="en-US" sz="1000" dirty="0"/>
          </a:p>
        </p:txBody>
      </p:sp>
      <p:sp>
        <p:nvSpPr>
          <p:cNvPr id="31" name="st2f_311"/>
          <p:cNvSpPr txBox="1"/>
          <p:nvPr/>
        </p:nvSpPr>
        <p:spPr>
          <a:xfrm>
            <a:off x="64008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Lisozima y un flujo constante que arrastra microbios.</a:t>
            </a:r>
            <a:endParaRPr lang="en-US" sz="1200" dirty="0"/>
          </a:p>
        </p:txBody>
      </p:sp>
      <p:sp>
        <p:nvSpPr>
          <p:cNvPr id="32" name="st2f_312"/>
          <p:cNvSpPr/>
          <p:nvPr/>
        </p:nvSpPr>
        <p:spPr>
          <a:xfrm>
            <a:off x="3291840" y="28346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t2f_313"/>
          <p:cNvSpPr/>
          <p:nvPr/>
        </p:nvSpPr>
        <p:spPr>
          <a:xfrm>
            <a:off x="3456432" y="2999232"/>
            <a:ext cx="502920" cy="502920"/>
          </a:xfrm>
          <a:prstGeom prst="ellipse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pic>
        <p:nvPicPr>
          <p:cNvPr id="34" name="st2f_3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2162" y="3124962"/>
            <a:ext cx="251460" cy="251460"/>
          </a:xfrm>
          <a:prstGeom prst="rect">
            <a:avLst/>
          </a:prstGeom>
        </p:spPr>
      </p:pic>
      <p:sp>
        <p:nvSpPr>
          <p:cNvPr id="35" name="st2f_315"/>
          <p:cNvSpPr txBox="1"/>
          <p:nvPr/>
        </p:nvSpPr>
        <p:spPr>
          <a:xfrm>
            <a:off x="4069080" y="29443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Ácido del estómago</a:t>
            </a:r>
            <a:endParaRPr lang="en-US" sz="1450" dirty="0"/>
          </a:p>
        </p:txBody>
      </p:sp>
      <p:sp>
        <p:nvSpPr>
          <p:cNvPr id="36" name="st2f_316"/>
          <p:cNvSpPr/>
          <p:nvPr/>
        </p:nvSpPr>
        <p:spPr>
          <a:xfrm>
            <a:off x="4069080" y="333756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37" name="st2f_317"/>
          <p:cNvSpPr txBox="1"/>
          <p:nvPr/>
        </p:nvSpPr>
        <p:spPr>
          <a:xfrm>
            <a:off x="4069080" y="333756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endParaRPr lang="en-US" sz="1000" dirty="0"/>
          </a:p>
        </p:txBody>
      </p:sp>
      <p:sp>
        <p:nvSpPr>
          <p:cNvPr id="38" name="st2f_318"/>
          <p:cNvSpPr txBox="1"/>
          <p:nvPr/>
        </p:nvSpPr>
        <p:spPr>
          <a:xfrm>
            <a:off x="347472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1–3: destruye muchos microbios que tragamos.</a:t>
            </a:r>
            <a:endParaRPr lang="en-US" sz="1200" dirty="0"/>
          </a:p>
        </p:txBody>
      </p:sp>
      <p:sp>
        <p:nvSpPr>
          <p:cNvPr id="39" name="st3f_319"/>
          <p:cNvSpPr/>
          <p:nvPr/>
        </p:nvSpPr>
        <p:spPr>
          <a:xfrm>
            <a:off x="6126480" y="28346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t3f_320"/>
          <p:cNvSpPr/>
          <p:nvPr/>
        </p:nvSpPr>
        <p:spPr>
          <a:xfrm>
            <a:off x="6291072" y="2999232"/>
            <a:ext cx="502920" cy="502920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pic>
        <p:nvPicPr>
          <p:cNvPr id="41" name="st3f_32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802" y="3124962"/>
            <a:ext cx="251460" cy="251460"/>
          </a:xfrm>
          <a:prstGeom prst="rect">
            <a:avLst/>
          </a:prstGeom>
        </p:spPr>
      </p:pic>
      <p:sp>
        <p:nvSpPr>
          <p:cNvPr id="42" name="st3f_322"/>
          <p:cNvSpPr txBox="1"/>
          <p:nvPr/>
        </p:nvSpPr>
        <p:spPr>
          <a:xfrm>
            <a:off x="6903720" y="29443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Microbiota</a:t>
            </a:r>
            <a:endParaRPr lang="en-US" sz="1450" dirty="0"/>
          </a:p>
        </p:txBody>
      </p:sp>
      <p:sp>
        <p:nvSpPr>
          <p:cNvPr id="43" name="st3f_323"/>
          <p:cNvSpPr/>
          <p:nvPr/>
        </p:nvSpPr>
        <p:spPr>
          <a:xfrm>
            <a:off x="6903720" y="333756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sp>
        <p:nvSpPr>
          <p:cNvPr id="44" name="st3f_324"/>
          <p:cNvSpPr txBox="1"/>
          <p:nvPr/>
        </p:nvSpPr>
        <p:spPr>
          <a:xfrm>
            <a:off x="6903720" y="333756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Biológica</a:t>
            </a:r>
            <a:endParaRPr lang="en-US" sz="1000" dirty="0"/>
          </a:p>
        </p:txBody>
      </p:sp>
      <p:sp>
        <p:nvSpPr>
          <p:cNvPr id="45" name="st3f_325"/>
          <p:cNvSpPr txBox="1"/>
          <p:nvPr/>
        </p:nvSpPr>
        <p:spPr>
          <a:xfrm>
            <a:off x="630936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Bacterias “buenas” ocupan el espacio y el alimento.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barrera está debilitada?</a:t>
            </a:r>
            <a:endParaRPr lang="en-US" sz="2800" dirty="0"/>
          </a:p>
        </p:txBody>
      </p:sp>
      <p:sp>
        <p:nvSpPr>
          <p:cNvPr id="4" name="st1f_326"/>
          <p:cNvSpPr/>
          <p:nvPr/>
        </p:nvSpPr>
        <p:spPr>
          <a:xfrm>
            <a:off x="457200" y="10058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327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6" name="st1f_328"/>
          <p:cNvSpPr txBox="1"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t1f_329"/>
          <p:cNvSpPr txBox="1"/>
          <p:nvPr/>
        </p:nvSpPr>
        <p:spPr>
          <a:xfrm>
            <a:off x="1280160" y="1097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se raspó la rodilla en el recreo y no se la limpió. A los dos días está roja, caliente e hinchada.</a:t>
            </a:r>
            <a:endParaRPr lang="en-US" sz="1350" dirty="0"/>
          </a:p>
        </p:txBody>
      </p:sp>
      <p:sp>
        <p:nvSpPr>
          <p:cNvPr id="8" name="st2f_330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t2f_331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rgbClr val="E8736F"/>
          </a:solidFill>
          <a:ln w="12700">
            <a:solidFill>
              <a:srgbClr val="E8736F"/>
            </a:solidFill>
            <a:prstDash val="solid"/>
          </a:ln>
        </p:spPr>
      </p:sp>
      <p:sp>
        <p:nvSpPr>
          <p:cNvPr id="10" name="st2f_332"/>
          <p:cNvSpPr txBox="1"/>
          <p:nvPr/>
        </p:nvSpPr>
        <p:spPr>
          <a:xfrm>
            <a:off x="4846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t2f_333"/>
          <p:cNvSpPr txBox="1"/>
          <p:nvPr/>
        </p:nvSpPr>
        <p:spPr>
          <a:xfrm>
            <a:off x="5486400" y="1097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adulto que fuma hace 20 años tiene tos constante y se resfría mucho más que los demás.</a:t>
            </a:r>
            <a:endParaRPr lang="en-US" sz="1350" dirty="0"/>
          </a:p>
        </p:txBody>
      </p:sp>
      <p:sp>
        <p:nvSpPr>
          <p:cNvPr id="12" name="st3f_334"/>
          <p:cNvSpPr/>
          <p:nvPr/>
        </p:nvSpPr>
        <p:spPr>
          <a:xfrm>
            <a:off x="457200" y="26974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t3f_33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sp>
        <p:nvSpPr>
          <p:cNvPr id="14" name="st3f_336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t3f_337"/>
          <p:cNvSpPr txBox="1"/>
          <p:nvPr/>
        </p:nvSpPr>
        <p:spPr>
          <a:xfrm>
            <a:off x="1280160" y="27889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toma por meses un medicamento que reduce la acidez del estómago y tiene más infecciones intestinales.</a:t>
            </a:r>
            <a:endParaRPr lang="en-US" sz="1350" dirty="0"/>
          </a:p>
        </p:txBody>
      </p:sp>
      <p:sp>
        <p:nvSpPr>
          <p:cNvPr id="16" name="st4f_338"/>
          <p:cNvSpPr/>
          <p:nvPr/>
        </p:nvSpPr>
        <p:spPr>
          <a:xfrm>
            <a:off x="4663440" y="26974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t4f_339"/>
          <p:cNvSpPr/>
          <p:nvPr/>
        </p:nvSpPr>
        <p:spPr>
          <a:xfrm>
            <a:off x="4846320" y="2880360"/>
            <a:ext cx="457200" cy="457200"/>
          </a:xfrm>
          <a:prstGeom prst="ellipse">
            <a:avLst/>
          </a:prstGeom>
          <a:solidFill>
            <a:srgbClr val="3E9E78"/>
          </a:solidFill>
          <a:ln w="12700">
            <a:solidFill>
              <a:srgbClr val="3E9E78"/>
            </a:solidFill>
            <a:prstDash val="solid"/>
          </a:ln>
        </p:spPr>
      </p:sp>
      <p:sp>
        <p:nvSpPr>
          <p:cNvPr id="18" name="st4f_340"/>
          <p:cNvSpPr txBox="1"/>
          <p:nvPr/>
        </p:nvSpPr>
        <p:spPr>
          <a:xfrm>
            <a:off x="48463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t4f_341"/>
          <p:cNvSpPr txBox="1"/>
          <p:nvPr/>
        </p:nvSpPr>
        <p:spPr>
          <a:xfrm>
            <a:off x="5486400" y="27889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un tratamiento largo con antibióticos, Camila se defiende peor de las infecciones intestinales.</a:t>
            </a:r>
            <a:endParaRPr lang="en-US" sz="1350" dirty="0"/>
          </a:p>
        </p:txBody>
      </p:sp>
      <p:sp>
        <p:nvSpPr>
          <p:cNvPr id="20" name="st5f_34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21" name="st5f_343"/>
          <p:cNvSpPr txBox="1"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Opciones: </a:t>
            </a:r>
            <a:pPr algn="ctr"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 · Cilios y mucus · Lágrimas · Ácido del estómago · Microbiota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Construye tu mapa corporal · 25 min</a:t>
            </a:r>
            <a:endParaRPr lang="en-US" sz="2800" dirty="0"/>
          </a:p>
        </p:txBody>
      </p:sp>
      <p:sp>
        <p:nvSpPr>
          <p:cNvPr id="4" name="st1w_344"/>
          <p:cNvSpPr/>
          <p:nvPr/>
        </p:nvSpPr>
        <p:spPr>
          <a:xfrm>
            <a:off x="457200" y="1161288"/>
            <a:ext cx="457200" cy="45720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5" name="st1w_345"/>
          <p:cNvSpPr txBox="1"/>
          <p:nvPr/>
        </p:nvSpPr>
        <p:spPr>
          <a:xfrm>
            <a:off x="45720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t1w_346"/>
          <p:cNvSpPr txBox="1"/>
          <p:nvPr/>
        </p:nvSpPr>
        <p:spPr>
          <a:xfrm>
            <a:off x="1097280" y="10515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grupos de 4, tracen la silueta de un compañero/a en papel kraft.</a:t>
            </a:r>
            <a:endParaRPr lang="en-US" sz="1500" dirty="0"/>
          </a:p>
        </p:txBody>
      </p:sp>
      <p:sp>
        <p:nvSpPr>
          <p:cNvPr id="7" name="st2w_347"/>
          <p:cNvSpPr/>
          <p:nvPr/>
        </p:nvSpPr>
        <p:spPr>
          <a:xfrm>
            <a:off x="457200" y="1947672"/>
            <a:ext cx="457200" cy="45720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8" name="st2w_348"/>
          <p:cNvSpPr txBox="1"/>
          <p:nvPr/>
        </p:nvSpPr>
        <p:spPr>
          <a:xfrm>
            <a:off x="4572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t2w_349"/>
          <p:cNvSpPr txBox="1"/>
          <p:nvPr/>
        </p:nvSpPr>
        <p:spPr>
          <a:xfrm>
            <a:off x="1097280" y="18379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y rotula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Pongan las 6 barreras donde corresponde. Un color por tipo: física, química o biológica.</a:t>
            </a:r>
            <a:endParaRPr lang="en-US" sz="1500" dirty="0"/>
          </a:p>
        </p:txBody>
      </p:sp>
      <p:sp>
        <p:nvSpPr>
          <p:cNvPr id="10" name="st3w_350"/>
          <p:cNvSpPr/>
          <p:nvPr/>
        </p:nvSpPr>
        <p:spPr>
          <a:xfrm>
            <a:off x="457200" y="2734056"/>
            <a:ext cx="457200" cy="45720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1" name="st3w_351"/>
          <p:cNvSpPr txBox="1"/>
          <p:nvPr/>
        </p:nvSpPr>
        <p:spPr>
          <a:xfrm>
            <a:off x="45720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st3w_352"/>
          <p:cNvSpPr txBox="1"/>
          <p:nvPr/>
        </p:nvSpPr>
        <p:spPr>
          <a:xfrm>
            <a:off x="1097280" y="262432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a cada una: ¿cómo funciona? y ¿qué pasa si falla?</a:t>
            </a:r>
            <a:endParaRPr lang="en-US" sz="1500" dirty="0"/>
          </a:p>
        </p:txBody>
      </p:sp>
      <p:sp>
        <p:nvSpPr>
          <p:cNvPr id="13" name="st4w_353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4" name="st4w_354"/>
          <p:cNvSpPr txBox="1"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st4w_355"/>
          <p:cNvSpPr txBox="1"/>
          <p:nvPr/>
        </p:nvSpPr>
        <p:spPr>
          <a:xfrm>
            <a:off x="1097280" y="341071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cómic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Dibujen un microbio intentando entrar por cada barrera… ¿qué le pasa?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425196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FF0C7"/>
          </a:solidFill>
          <a:ln w="12700">
            <a:solidFill>
              <a:srgbClr val="FFF0C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Materiales: </a:t>
            </a:r>
            <a:pPr indent="0" marL="0">
              <a:buNone/>
            </a:pPr>
            <a:r>
              <a:rPr lang="en-US" sz="12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kraft · plumones · resumen de la diap. 13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577840" y="1005840"/>
            <a:ext cx="3108960" cy="37033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669280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va cada barrera?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720840" y="1417320"/>
            <a:ext cx="822960" cy="822960"/>
          </a:xfrm>
          <a:prstGeom prst="ellipse">
            <a:avLst/>
          </a:prstGeom>
          <a:solidFill>
            <a:srgbClr val="D6EEF0"/>
          </a:solidFill>
          <a:ln w="19050">
            <a:solidFill>
              <a:srgbClr val="1E8A9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75120" y="2286000"/>
            <a:ext cx="914400" cy="1325880"/>
          </a:xfrm>
          <a:prstGeom prst="roundRect">
            <a:avLst>
              <a:gd name="adj" fmla="val 20000"/>
            </a:avLst>
          </a:prstGeom>
          <a:solidFill>
            <a:srgbClr val="D6EEF0"/>
          </a:solidFill>
          <a:ln w="19050">
            <a:solidFill>
              <a:srgbClr val="1E8A9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9360" y="2331720"/>
            <a:ext cx="320040" cy="1234440"/>
          </a:xfrm>
          <a:prstGeom prst="roundRect">
            <a:avLst>
              <a:gd name="adj" fmla="val 42857"/>
            </a:avLst>
          </a:prstGeom>
          <a:solidFill>
            <a:srgbClr val="D6EEF0"/>
          </a:solidFill>
          <a:ln w="19050">
            <a:solidFill>
              <a:srgbClr val="1E8A9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35240" y="2331720"/>
            <a:ext cx="320040" cy="1234440"/>
          </a:xfrm>
          <a:prstGeom prst="roundRect">
            <a:avLst>
              <a:gd name="adj" fmla="val 42857"/>
            </a:avLst>
          </a:prstGeom>
          <a:solidFill>
            <a:srgbClr val="D6EEF0"/>
          </a:solidFill>
          <a:ln w="19050">
            <a:solidFill>
              <a:srgbClr val="1E8A9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75120" y="3657600"/>
            <a:ext cx="411480" cy="914400"/>
          </a:xfrm>
          <a:prstGeom prst="roundRect">
            <a:avLst>
              <a:gd name="adj" fmla="val 33333"/>
            </a:avLst>
          </a:prstGeom>
          <a:solidFill>
            <a:srgbClr val="D6EEF0"/>
          </a:solidFill>
          <a:ln w="19050">
            <a:solidFill>
              <a:srgbClr val="1E8A9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78040" y="3657600"/>
            <a:ext cx="411480" cy="914400"/>
          </a:xfrm>
          <a:prstGeom prst="roundRect">
            <a:avLst>
              <a:gd name="adj" fmla="val 33333"/>
            </a:avLst>
          </a:prstGeom>
          <a:solidFill>
            <a:srgbClr val="D6EEF0"/>
          </a:solidFill>
          <a:ln w="19050">
            <a:solidFill>
              <a:srgbClr val="1E8A94"/>
            </a:solidFill>
            <a:prstDash val="solid"/>
          </a:ln>
        </p:spPr>
      </p:sp>
      <p:sp>
        <p:nvSpPr>
          <p:cNvPr id="26" name="st5f_356"/>
          <p:cNvSpPr/>
          <p:nvPr/>
        </p:nvSpPr>
        <p:spPr>
          <a:xfrm>
            <a:off x="7013448" y="1554480"/>
            <a:ext cx="237744" cy="237744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7" name="st5f_357"/>
          <p:cNvSpPr txBox="1"/>
          <p:nvPr/>
        </p:nvSpPr>
        <p:spPr>
          <a:xfrm>
            <a:off x="7013448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" dirty="0"/>
          </a:p>
        </p:txBody>
      </p:sp>
      <p:sp>
        <p:nvSpPr>
          <p:cNvPr id="28" name="st5f_358"/>
          <p:cNvSpPr/>
          <p:nvPr/>
        </p:nvSpPr>
        <p:spPr>
          <a:xfrm>
            <a:off x="7013448" y="1874520"/>
            <a:ext cx="237744" cy="237744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9" name="st5f_359"/>
          <p:cNvSpPr txBox="1"/>
          <p:nvPr/>
        </p:nvSpPr>
        <p:spPr>
          <a:xfrm>
            <a:off x="7013448" y="1874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" dirty="0"/>
          </a:p>
        </p:txBody>
      </p:sp>
      <p:sp>
        <p:nvSpPr>
          <p:cNvPr id="30" name="st5f_360"/>
          <p:cNvSpPr/>
          <p:nvPr/>
        </p:nvSpPr>
        <p:spPr>
          <a:xfrm>
            <a:off x="7013448" y="2423160"/>
            <a:ext cx="237744" cy="237744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31" name="st5f_361"/>
          <p:cNvSpPr txBox="1"/>
          <p:nvPr/>
        </p:nvSpPr>
        <p:spPr>
          <a:xfrm>
            <a:off x="7013448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" dirty="0"/>
          </a:p>
        </p:txBody>
      </p:sp>
      <p:sp>
        <p:nvSpPr>
          <p:cNvPr id="32" name="st5f_362"/>
          <p:cNvSpPr/>
          <p:nvPr/>
        </p:nvSpPr>
        <p:spPr>
          <a:xfrm>
            <a:off x="7013448" y="2788920"/>
            <a:ext cx="237744" cy="237744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33" name="st5f_363"/>
          <p:cNvSpPr txBox="1"/>
          <p:nvPr/>
        </p:nvSpPr>
        <p:spPr>
          <a:xfrm>
            <a:off x="7013448" y="2788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" dirty="0"/>
          </a:p>
        </p:txBody>
      </p:sp>
      <p:sp>
        <p:nvSpPr>
          <p:cNvPr id="34" name="st5f_364"/>
          <p:cNvSpPr/>
          <p:nvPr/>
        </p:nvSpPr>
        <p:spPr>
          <a:xfrm>
            <a:off x="7013448" y="3154680"/>
            <a:ext cx="237744" cy="237744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35" name="st5f_365"/>
          <p:cNvSpPr txBox="1"/>
          <p:nvPr/>
        </p:nvSpPr>
        <p:spPr>
          <a:xfrm>
            <a:off x="7013448" y="3154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" dirty="0"/>
          </a:p>
        </p:txBody>
      </p:sp>
      <p:sp>
        <p:nvSpPr>
          <p:cNvPr id="36" name="st5f_366"/>
          <p:cNvSpPr/>
          <p:nvPr/>
        </p:nvSpPr>
        <p:spPr>
          <a:xfrm>
            <a:off x="6373368" y="2697480"/>
            <a:ext cx="237744" cy="237744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37" name="st5f_367"/>
          <p:cNvSpPr txBox="1"/>
          <p:nvPr/>
        </p:nvSpPr>
        <p:spPr>
          <a:xfrm>
            <a:off x="6373368" y="2697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está listo tu mapa?</a:t>
            </a:r>
            <a:endParaRPr lang="en-US" sz="2800" dirty="0"/>
          </a:p>
        </p:txBody>
      </p:sp>
      <p:sp>
        <p:nvSpPr>
          <p:cNvPr id="4" name="st1f_368"/>
          <p:cNvSpPr/>
          <p:nvPr/>
        </p:nvSpPr>
        <p:spPr>
          <a:xfrm>
            <a:off x="457200" y="1051560"/>
            <a:ext cx="46634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369"/>
          <p:cNvSpPr/>
          <p:nvPr/>
        </p:nvSpPr>
        <p:spPr>
          <a:xfrm>
            <a:off x="594360" y="1143000"/>
            <a:ext cx="438912" cy="438912"/>
          </a:xfrm>
          <a:prstGeom prst="ellipse">
            <a:avLst/>
          </a:prstGeom>
          <a:solidFill>
            <a:srgbClr val="3E9E78"/>
          </a:solidFill>
          <a:ln w="12700">
            <a:solidFill>
              <a:srgbClr val="3E9E78"/>
            </a:solidFill>
            <a:prstDash val="solid"/>
          </a:ln>
        </p:spPr>
      </p:sp>
      <p:pic>
        <p:nvPicPr>
          <p:cNvPr id="6" name="st1f_37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252728"/>
            <a:ext cx="219456" cy="219456"/>
          </a:xfrm>
          <a:prstGeom prst="rect">
            <a:avLst/>
          </a:prstGeom>
        </p:spPr>
      </p:pic>
      <p:sp>
        <p:nvSpPr>
          <p:cNvPr id="7" name="st1f_371"/>
          <p:cNvSpPr txBox="1"/>
          <p:nvPr/>
        </p:nvSpPr>
        <p:spPr>
          <a:xfrm>
            <a:off x="1188720" y="1051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correctamente las 6 barreras.</a:t>
            </a:r>
            <a:endParaRPr lang="en-US" sz="1350" dirty="0"/>
          </a:p>
        </p:txBody>
      </p:sp>
      <p:sp>
        <p:nvSpPr>
          <p:cNvPr id="8" name="st2f_372"/>
          <p:cNvSpPr/>
          <p:nvPr/>
        </p:nvSpPr>
        <p:spPr>
          <a:xfrm>
            <a:off x="457200" y="1783080"/>
            <a:ext cx="46634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t2f_373"/>
          <p:cNvSpPr/>
          <p:nvPr/>
        </p:nvSpPr>
        <p:spPr>
          <a:xfrm>
            <a:off x="594360" y="1874520"/>
            <a:ext cx="438912" cy="438912"/>
          </a:xfrm>
          <a:prstGeom prst="ellipse">
            <a:avLst/>
          </a:prstGeom>
          <a:solidFill>
            <a:srgbClr val="3E9E78"/>
          </a:solidFill>
          <a:ln w="12700">
            <a:solidFill>
              <a:srgbClr val="3E9E78"/>
            </a:solidFill>
            <a:prstDash val="solid"/>
          </a:ln>
        </p:spPr>
      </p:sp>
      <p:pic>
        <p:nvPicPr>
          <p:cNvPr id="10" name="st2f_37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84248"/>
            <a:ext cx="219456" cy="219456"/>
          </a:xfrm>
          <a:prstGeom prst="rect">
            <a:avLst/>
          </a:prstGeom>
        </p:spPr>
      </p:pic>
      <p:sp>
        <p:nvSpPr>
          <p:cNvPr id="11" name="st2f_375"/>
          <p:cNvSpPr txBox="1"/>
          <p:nvPr/>
        </p:nvSpPr>
        <p:spPr>
          <a:xfrm>
            <a:off x="1188720" y="17830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cada una: física, química o biológica.</a:t>
            </a:r>
            <a:endParaRPr lang="en-US" sz="1350" dirty="0"/>
          </a:p>
        </p:txBody>
      </p:sp>
      <p:sp>
        <p:nvSpPr>
          <p:cNvPr id="12" name="st3f_376"/>
          <p:cNvSpPr/>
          <p:nvPr/>
        </p:nvSpPr>
        <p:spPr>
          <a:xfrm>
            <a:off x="457200" y="2514600"/>
            <a:ext cx="46634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t3f_377"/>
          <p:cNvSpPr/>
          <p:nvPr/>
        </p:nvSpPr>
        <p:spPr>
          <a:xfrm>
            <a:off x="594360" y="2606040"/>
            <a:ext cx="438912" cy="438912"/>
          </a:xfrm>
          <a:prstGeom prst="ellipse">
            <a:avLst/>
          </a:prstGeom>
          <a:solidFill>
            <a:srgbClr val="3E9E78"/>
          </a:solidFill>
          <a:ln w="12700">
            <a:solidFill>
              <a:srgbClr val="3E9E78"/>
            </a:solidFill>
            <a:prstDash val="solid"/>
          </a:ln>
        </p:spPr>
      </p:sp>
      <p:pic>
        <p:nvPicPr>
          <p:cNvPr id="14" name="st3f_37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715768"/>
            <a:ext cx="219456" cy="219456"/>
          </a:xfrm>
          <a:prstGeom prst="rect">
            <a:avLst/>
          </a:prstGeom>
        </p:spPr>
      </p:pic>
      <p:sp>
        <p:nvSpPr>
          <p:cNvPr id="15" name="st3f_379"/>
          <p:cNvSpPr txBox="1"/>
          <p:nvPr/>
        </p:nvSpPr>
        <p:spPr>
          <a:xfrm>
            <a:off x="1188720" y="25146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en una frase cómo funciona cada una.</a:t>
            </a:r>
            <a:endParaRPr lang="en-US" sz="1350" dirty="0"/>
          </a:p>
        </p:txBody>
      </p:sp>
      <p:sp>
        <p:nvSpPr>
          <p:cNvPr id="16" name="st4f_380"/>
          <p:cNvSpPr/>
          <p:nvPr/>
        </p:nvSpPr>
        <p:spPr>
          <a:xfrm>
            <a:off x="457200" y="3246120"/>
            <a:ext cx="46634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t4f_381"/>
          <p:cNvSpPr/>
          <p:nvPr/>
        </p:nvSpPr>
        <p:spPr>
          <a:xfrm>
            <a:off x="594360" y="3337560"/>
            <a:ext cx="438912" cy="438912"/>
          </a:xfrm>
          <a:prstGeom prst="ellipse">
            <a:avLst/>
          </a:prstGeom>
          <a:solidFill>
            <a:srgbClr val="3E9E78"/>
          </a:solidFill>
          <a:ln w="12700">
            <a:solidFill>
              <a:srgbClr val="3E9E78"/>
            </a:solidFill>
            <a:prstDash val="solid"/>
          </a:ln>
        </p:spPr>
      </p:sp>
      <p:pic>
        <p:nvPicPr>
          <p:cNvPr id="18" name="st4f_38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447288"/>
            <a:ext cx="219456" cy="219456"/>
          </a:xfrm>
          <a:prstGeom prst="rect">
            <a:avLst/>
          </a:prstGeom>
        </p:spPr>
      </p:pic>
      <p:sp>
        <p:nvSpPr>
          <p:cNvPr id="19" name="st4f_383"/>
          <p:cNvSpPr txBox="1"/>
          <p:nvPr/>
        </p:nvSpPr>
        <p:spPr>
          <a:xfrm>
            <a:off x="1188720" y="32461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qué pasa si esa barrera falla.</a:t>
            </a:r>
            <a:endParaRPr lang="en-US" sz="1350" dirty="0"/>
          </a:p>
        </p:txBody>
      </p:sp>
      <p:sp>
        <p:nvSpPr>
          <p:cNvPr id="20" name="st5f_384"/>
          <p:cNvSpPr/>
          <p:nvPr/>
        </p:nvSpPr>
        <p:spPr>
          <a:xfrm>
            <a:off x="457200" y="3977640"/>
            <a:ext cx="46634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t5f_385"/>
          <p:cNvSpPr/>
          <p:nvPr/>
        </p:nvSpPr>
        <p:spPr>
          <a:xfrm>
            <a:off x="594360" y="4069080"/>
            <a:ext cx="438912" cy="438912"/>
          </a:xfrm>
          <a:prstGeom prst="ellipse">
            <a:avLst/>
          </a:prstGeom>
          <a:solidFill>
            <a:srgbClr val="3E9E78"/>
          </a:solidFill>
          <a:ln w="12700">
            <a:solidFill>
              <a:srgbClr val="3E9E78"/>
            </a:solidFill>
            <a:prstDash val="solid"/>
          </a:ln>
        </p:spPr>
      </p:sp>
      <p:pic>
        <p:nvPicPr>
          <p:cNvPr id="22" name="st5f_38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178808"/>
            <a:ext cx="219456" cy="219456"/>
          </a:xfrm>
          <a:prstGeom prst="rect">
            <a:avLst/>
          </a:prstGeom>
        </p:spPr>
      </p:pic>
      <p:sp>
        <p:nvSpPr>
          <p:cNvPr id="23" name="st5f_387"/>
          <p:cNvSpPr txBox="1"/>
          <p:nvPr/>
        </p:nvSpPr>
        <p:spPr>
          <a:xfrm>
            <a:off x="1188720" y="39776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entiende desde 2 metros: letra grande y colores claros.</a:t>
            </a:r>
            <a:endParaRPr lang="en-US" sz="1350" dirty="0"/>
          </a:p>
        </p:txBody>
      </p:sp>
      <p:sp>
        <p:nvSpPr>
          <p:cNvPr id="24" name="st6f_388"/>
          <p:cNvSpPr/>
          <p:nvPr/>
        </p:nvSpPr>
        <p:spPr>
          <a:xfrm>
            <a:off x="5394960" y="1051560"/>
            <a:ext cx="3291840" cy="3611880"/>
          </a:xfrm>
          <a:prstGeom prst="roundRect">
            <a:avLst>
              <a:gd name="adj" fmla="val 3333"/>
            </a:avLst>
          </a:prstGeom>
          <a:solidFill>
            <a:srgbClr val="E8E4F8"/>
          </a:solidFill>
          <a:ln w="12700">
            <a:solidFill>
              <a:srgbClr val="E8E4F8"/>
            </a:solidFill>
            <a:prstDash val="solid"/>
          </a:ln>
        </p:spPr>
      </p:sp>
      <p:sp>
        <p:nvSpPr>
          <p:cNvPr id="25" name="st6f_389"/>
          <p:cNvSpPr/>
          <p:nvPr/>
        </p:nvSpPr>
        <p:spPr>
          <a:xfrm>
            <a:off x="5623560" y="1234440"/>
            <a:ext cx="594360" cy="594360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pic>
        <p:nvPicPr>
          <p:cNvPr id="26" name="st6f_39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150" y="1383030"/>
            <a:ext cx="297180" cy="297180"/>
          </a:xfrm>
          <a:prstGeom prst="rect">
            <a:avLst/>
          </a:prstGeom>
        </p:spPr>
      </p:pic>
      <p:sp>
        <p:nvSpPr>
          <p:cNvPr id="27" name="st6f_391"/>
          <p:cNvSpPr txBox="1"/>
          <p:nvPr/>
        </p:nvSpPr>
        <p:spPr>
          <a:xfrm>
            <a:off x="6355080" y="1234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Galería · 5 min</a:t>
            </a:r>
            <a:endParaRPr lang="en-US" sz="1900" dirty="0"/>
          </a:p>
        </p:txBody>
      </p:sp>
      <p:sp>
        <p:nvSpPr>
          <p:cNvPr id="28" name="st6f_392"/>
          <p:cNvSpPr txBox="1"/>
          <p:nvPr/>
        </p:nvSpPr>
        <p:spPr>
          <a:xfrm>
            <a:off x="5623560" y="2011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al menos 2 mapas de otros grupos y deja un post-it con una frase:</a:t>
            </a:r>
            <a:endParaRPr lang="en-US" sz="1300" dirty="0"/>
          </a:p>
        </p:txBody>
      </p:sp>
      <p:sp>
        <p:nvSpPr>
          <p:cNvPr id="29" name="st6f_393"/>
          <p:cNvSpPr/>
          <p:nvPr/>
        </p:nvSpPr>
        <p:spPr>
          <a:xfrm>
            <a:off x="5623560" y="283464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t6f_394"/>
          <p:cNvSpPr txBox="1"/>
          <p:nvPr/>
        </p:nvSpPr>
        <p:spPr>
          <a:xfrm>
            <a:off x="562356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B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 gustó…”</a:t>
            </a:r>
            <a:endParaRPr lang="en-US" sz="1400" dirty="0"/>
          </a:p>
        </p:txBody>
      </p:sp>
      <p:sp>
        <p:nvSpPr>
          <p:cNvPr id="31" name="st6f_395"/>
          <p:cNvSpPr/>
          <p:nvPr/>
        </p:nvSpPr>
        <p:spPr>
          <a:xfrm>
            <a:off x="5623560" y="3401568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t6f_396"/>
          <p:cNvSpPr txBox="1"/>
          <p:nvPr/>
        </p:nvSpPr>
        <p:spPr>
          <a:xfrm>
            <a:off x="5623560" y="3401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B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 pregunto…”</a:t>
            </a:r>
            <a:endParaRPr lang="en-US" sz="1400" dirty="0"/>
          </a:p>
        </p:txBody>
      </p:sp>
      <p:sp>
        <p:nvSpPr>
          <p:cNvPr id="33" name="st6f_397"/>
          <p:cNvSpPr/>
          <p:nvPr/>
        </p:nvSpPr>
        <p:spPr>
          <a:xfrm>
            <a:off x="5623560" y="3968496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t6f_398"/>
          <p:cNvSpPr txBox="1"/>
          <p:nvPr/>
        </p:nvSpPr>
        <p:spPr>
          <a:xfrm>
            <a:off x="5623560" y="39684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B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“Podrían mejorar…”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Cierre: vuelve a tu bitácora · 7 min</a:t>
            </a:r>
            <a:endParaRPr lang="en-US" sz="2800" dirty="0"/>
          </a:p>
        </p:txBody>
      </p:sp>
      <p:sp>
        <p:nvSpPr>
          <p:cNvPr id="4" name="st1f_399"/>
          <p:cNvSpPr/>
          <p:nvPr/>
        </p:nvSpPr>
        <p:spPr>
          <a:xfrm>
            <a:off x="457200" y="105156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1f_400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1E8A94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6" name="st1f_401"/>
          <p:cNvSpPr txBox="1"/>
          <p:nvPr/>
        </p:nvSpPr>
        <p:spPr>
          <a:xfrm>
            <a:off x="6858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t1f_402"/>
          <p:cNvSpPr txBox="1"/>
          <p:nvPr/>
        </p:nvSpPr>
        <p:spPr>
          <a:xfrm>
            <a:off x="1463040" y="105156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Relee tu hipótesis de hoy: “Mi cuerpo no se enferma siempre porque…”. Corrígela con lo que aprendiste.</a:t>
            </a:r>
            <a:endParaRPr lang="en-US" sz="1600" dirty="0"/>
          </a:p>
        </p:txBody>
      </p:sp>
      <p:sp>
        <p:nvSpPr>
          <p:cNvPr id="8" name="st2f_403"/>
          <p:cNvSpPr/>
          <p:nvPr/>
        </p:nvSpPr>
        <p:spPr>
          <a:xfrm>
            <a:off x="457200" y="224028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t2f_404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E8736F"/>
          </a:solidFill>
          <a:ln w="12700">
            <a:solidFill>
              <a:srgbClr val="E8736F"/>
            </a:solidFill>
            <a:prstDash val="solid"/>
          </a:ln>
        </p:spPr>
      </p:sp>
      <p:sp>
        <p:nvSpPr>
          <p:cNvPr id="10" name="st2f_405"/>
          <p:cNvSpPr txBox="1"/>
          <p:nvPr/>
        </p:nvSpPr>
        <p:spPr>
          <a:xfrm>
            <a:off x="6858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t2f_406"/>
          <p:cNvSpPr txBox="1"/>
          <p:nvPr/>
        </p:nvSpPr>
        <p:spPr>
          <a:xfrm>
            <a:off x="1463040" y="224028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una barrera de tu cuerpo que hoy valoras más que ayer. ¿Por qué?</a:t>
            </a:r>
            <a:endParaRPr lang="en-US" sz="1600" dirty="0"/>
          </a:p>
        </p:txBody>
      </p:sp>
      <p:sp>
        <p:nvSpPr>
          <p:cNvPr id="12" name="st3f_407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t3f_408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</p:sp>
      <p:sp>
        <p:nvSpPr>
          <p:cNvPr id="14" name="st3f_409"/>
          <p:cNvSpPr txBox="1"/>
          <p:nvPr/>
        </p:nvSpPr>
        <p:spPr>
          <a:xfrm>
            <a:off x="6858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t3f_410"/>
          <p:cNvSpPr txBox="1"/>
          <p:nvPr/>
        </p:nvSpPr>
        <p:spPr>
          <a:xfrm>
            <a:off x="1463040" y="342900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harás esta semana para cuidar tus barreras? (por ejemplo: limpiar y cubrir heridas, lavarte las manos, no fumar ni vapear)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Pero… ¿y si el microbio logra pasar?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2344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17320" y="12344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48840" y="12344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80360" y="12344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1880" y="12344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16916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83080" y="16916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14600" y="16916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6916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21488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17320" y="21488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51560" y="26060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14600" y="26060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46120" y="26060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30632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17320" y="30632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48840" y="30632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80360" y="30632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11880" y="3063240"/>
            <a:ext cx="685800" cy="411480"/>
          </a:xfrm>
          <a:prstGeom prst="rect">
            <a:avLst/>
          </a:prstGeom>
          <a:solidFill>
            <a:srgbClr val="D6EEF0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51560" y="35204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783080" y="35204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514600" y="35204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46120" y="3520440"/>
            <a:ext cx="685800" cy="411480"/>
          </a:xfrm>
          <a:prstGeom prst="rect">
            <a:avLst/>
          </a:prstGeom>
          <a:solidFill>
            <a:srgbClr val="9ED8DB"/>
          </a:solidFill>
          <a:ln w="12700">
            <a:solidFill>
              <a:srgbClr val="1E8A94"/>
            </a:solidFill>
            <a:prstDash val="solid"/>
          </a:ln>
        </p:spPr>
      </p:sp>
      <p:sp>
        <p:nvSpPr>
          <p:cNvPr id="28" name="st1f_411"/>
          <p:cNvSpPr/>
          <p:nvPr/>
        </p:nvSpPr>
        <p:spPr>
          <a:xfrm>
            <a:off x="2286000" y="2157984"/>
            <a:ext cx="393192" cy="393192"/>
          </a:xfrm>
          <a:prstGeom prst="ellipse">
            <a:avLst/>
          </a:prstGeom>
          <a:solidFill>
            <a:srgbClr val="E8736F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29" name="st1f_412"/>
          <p:cNvSpPr/>
          <p:nvPr/>
        </p:nvSpPr>
        <p:spPr>
          <a:xfrm>
            <a:off x="2372502" y="2275942"/>
            <a:ext cx="78638" cy="786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t1f_413"/>
          <p:cNvSpPr/>
          <p:nvPr/>
        </p:nvSpPr>
        <p:spPr>
          <a:xfrm>
            <a:off x="2514051" y="2275942"/>
            <a:ext cx="78638" cy="786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t1f_414"/>
          <p:cNvSpPr txBox="1"/>
          <p:nvPr/>
        </p:nvSpPr>
        <p:spPr>
          <a:xfrm>
            <a:off x="283464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¡Entró!</a:t>
            </a:r>
            <a:endParaRPr lang="en-US" sz="1400" dirty="0"/>
          </a:p>
        </p:txBody>
      </p:sp>
      <p:sp>
        <p:nvSpPr>
          <p:cNvPr id="32" name="st2f_415"/>
          <p:cNvSpPr txBox="1"/>
          <p:nvPr/>
        </p:nvSpPr>
        <p:spPr>
          <a:xfrm>
            <a:off x="4983480" y="10972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barreras primarias son la primera línea… y no son perfectas.</a:t>
            </a:r>
            <a:endParaRPr lang="en-US" sz="2000" dirty="0"/>
          </a:p>
        </p:txBody>
      </p:sp>
      <p:sp>
        <p:nvSpPr>
          <p:cNvPr id="33" name="st3f_416"/>
          <p:cNvSpPr txBox="1"/>
          <p:nvPr/>
        </p:nvSpPr>
        <p:spPr>
          <a:xfrm>
            <a:off x="4983480" y="22860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</a:t>
            </a:r>
            <a:pPr indent="0" marL="0">
              <a:buNone/>
            </a:pPr>
            <a:r>
              <a:rPr lang="en-US" sz="1400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segunda y la tercera línea de defensa, y un hemograma real para descubrir qué pasa DENTRO del cuerpo.</a:t>
            </a:r>
            <a:endParaRPr lang="en-US" sz="1400" dirty="0"/>
          </a:p>
        </p:txBody>
      </p:sp>
      <p:sp>
        <p:nvSpPr>
          <p:cNvPr id="34" name="st4f_417"/>
          <p:cNvSpPr/>
          <p:nvPr/>
        </p:nvSpPr>
        <p:spPr>
          <a:xfrm>
            <a:off x="4983480" y="3474720"/>
            <a:ext cx="3703320" cy="1143000"/>
          </a:xfrm>
          <a:prstGeom prst="roundRect">
            <a:avLst>
              <a:gd name="adj" fmla="val 9600"/>
            </a:avLst>
          </a:prstGeom>
          <a:solidFill>
            <a:srgbClr val="FDE4E2"/>
          </a:solidFill>
          <a:ln w="12700">
            <a:solidFill>
              <a:srgbClr val="FDE4E2"/>
            </a:solidFill>
            <a:prstDash val="solid"/>
          </a:ln>
        </p:spPr>
      </p:sp>
      <p:sp>
        <p:nvSpPr>
          <p:cNvPr id="35" name="st4f_418"/>
          <p:cNvSpPr/>
          <p:nvPr/>
        </p:nvSpPr>
        <p:spPr>
          <a:xfrm>
            <a:off x="5120640" y="3854196"/>
            <a:ext cx="384048" cy="384048"/>
          </a:xfrm>
          <a:prstGeom prst="ellipse">
            <a:avLst/>
          </a:prstGeom>
          <a:solidFill>
            <a:srgbClr val="D2504B"/>
          </a:solidFill>
          <a:ln w="12700">
            <a:solidFill>
              <a:srgbClr val="D2504B"/>
            </a:solidFill>
            <a:prstDash val="solid"/>
          </a:ln>
        </p:spPr>
      </p:sp>
      <p:sp>
        <p:nvSpPr>
          <p:cNvPr id="36" name="st4f_419"/>
          <p:cNvSpPr txBox="1"/>
          <p:nvPr/>
        </p:nvSpPr>
        <p:spPr>
          <a:xfrm>
            <a:off x="5120640" y="3854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st4f_420"/>
          <p:cNvSpPr txBox="1"/>
          <p:nvPr/>
        </p:nvSpPr>
        <p:spPr>
          <a:xfrm>
            <a:off x="5623560" y="35204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tienes una infección, el médico puede pedirte un examen de sangre. ¿Qué crees que busca ahí?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7 · Barreras primarias del cuerpo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U3 · Sesión 7 · Barreras primarias</dc:title>
  <dc:subject>PptxGenJS Presentation</dc:subject>
  <dc:creator>Felipe Jiménez</dc:creator>
  <cp:lastModifiedBy>Felipe Jiménez</cp:lastModifiedBy>
  <cp:revision>1</cp:revision>
  <dcterms:created xsi:type="dcterms:W3CDTF">2026-10-01T23:59:43Z</dcterms:created>
  <dcterms:modified xsi:type="dcterms:W3CDTF">2026-10-01T23:59:43Z</dcterms:modified>
</cp:coreProperties>
</file>