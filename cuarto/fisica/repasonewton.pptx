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(m/s²)</c:v>
                </c:pt>
              </c:strCache>
            </c:strRef>
          </c:tx>
          <c:spPr>
            <a:solidFill>
              <a:srgbClr val="1A8F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kg</c:v>
                  </c:pt>
                  <c:pt idx="1">
                    <c:v>2 kg</c:v>
                  </c:pt>
                  <c:pt idx="2">
                    <c:v>5 kg</c:v>
                  </c:pt>
                  <c:pt idx="3">
                    <c:v>10 kg</c:v>
                  </c:pt>
                  <c:pt idx="4">
                    <c:v>20 kg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50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5"/>
                    </a:solidFill>
                    <a:latin typeface="Arial"/>
                  </a:rPr>
                  <a:t>masa del cuerpo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· FÍSICA 4° MEDIO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Leyes de Newton: volvamos a lo esencial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Inercia, ΣF = m·a, acción y reacción, peso y normal, y cómo resolver con un buen DCL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· 4° Medio · Prof. Felipe Jiménez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35040" y="1188720"/>
            <a:ext cx="2651760" cy="2651760"/>
          </a:xfrm>
          <a:prstGeom prst="ellipse">
            <a:avLst/>
          </a:prstGeom>
          <a:solidFill>
            <a:srgbClr val="13294F"/>
          </a:solidFill>
          <a:ln w="25400">
            <a:solidFill>
              <a:srgbClr val="F2A93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83080"/>
            <a:ext cx="1371600" cy="1463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LEYES DE NEWTON · REPASO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repasar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502920" cy="50292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Fuerza y fuerza neta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y cómo se suma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536192"/>
            <a:ext cx="502920" cy="50292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 ley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inercia y equilibrio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536192"/>
            <a:ext cx="502920" cy="50292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Segunda ley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ΣF = m·a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136392"/>
            <a:ext cx="502920" cy="50292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Tercera ley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y reacción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29718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3136392"/>
            <a:ext cx="502920" cy="50292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 y ejemplos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peso, normal, roce y planos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136392"/>
            <a:ext cx="502920" cy="50292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y argumentación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 problemas y AER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PARTIR · MITO O CIENCIA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¿Mito o ciencia?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un cuerpo se mueva con velocidad constante se necesita una fuerza neta.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444752"/>
            <a:ext cx="1234440" cy="768096"/>
          </a:xfrm>
          <a:prstGeom prst="roundRect">
            <a:avLst>
              <a:gd name="adj" fmla="val 11905"/>
            </a:avLst>
          </a:prstGeom>
          <a:solidFill>
            <a:srgbClr val="FBE4E4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 constante, ΣF = 0.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71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cuerpo en reposo no tiene fuerzas actuando sobre él.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1444752"/>
            <a:ext cx="1234440" cy="768096"/>
          </a:xfrm>
          <a:prstGeom prst="roundRect">
            <a:avLst>
              <a:gd name="adj" fmla="val 11905"/>
            </a:avLst>
          </a:prstGeom>
          <a:solidFill>
            <a:srgbClr val="FBE4E4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Actúan fuerzas que se equilibran.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423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y reacción se anulan porque son iguales y opuestas.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2496312"/>
            <a:ext cx="1234440" cy="768096"/>
          </a:xfrm>
          <a:prstGeom prst="roundRect">
            <a:avLst>
              <a:gd name="adj" fmla="val 11905"/>
            </a:avLst>
          </a:prstGeom>
          <a:solidFill>
            <a:srgbClr val="FBE4E4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Actúan sobre cuerpos distintos.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24231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423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masa y el peso son lo mismo.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2496312"/>
            <a:ext cx="1234440" cy="768096"/>
          </a:xfrm>
          <a:prstGeom prst="roundRect">
            <a:avLst>
              <a:gd name="adj" fmla="val 11905"/>
            </a:avLst>
          </a:prstGeom>
          <a:solidFill>
            <a:srgbClr val="FBE4E4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en kg; peso en 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474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normal siempre vale lo mismo que el peso.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3547872"/>
            <a:ext cx="1234440" cy="768096"/>
          </a:xfrm>
          <a:prstGeom prst="roundRect">
            <a:avLst>
              <a:gd name="adj" fmla="val 11905"/>
            </a:avLst>
          </a:prstGeom>
          <a:solidFill>
            <a:srgbClr val="FBE4E4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la situación.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34747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3474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fuerza neta y la aceleración apuntan en el mismo sentido.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3547872"/>
            <a:ext cx="1234440" cy="768096"/>
          </a:xfrm>
          <a:prstGeom prst="roundRect">
            <a:avLst>
              <a:gd name="adj" fmla="val 11905"/>
            </a:avLst>
          </a:prstGeom>
          <a:solidFill>
            <a:srgbClr val="DFF3E7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2ª ley en forma vectorial.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M (mito) o C (ciencia) para cada frase y compara con tu compañero.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· FUERZA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Fuerza y fuerza neta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fuerza es la interacción entre dos cuerpos.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vector: tiene magnitud, dirección y sentido.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Unidad: newton. 1 N = 1 kg·m/s².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neta: suma vectorial de todas las fuerzas sobre un cuerpo (ΣF).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493776"/>
          </a:xfrm>
          <a:prstGeom prst="roundRect">
            <a:avLst>
              <a:gd name="adj" fmla="val 2222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25880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(P)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el centro de la Tierra: P = m·g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92808"/>
            <a:ext cx="4023360" cy="493776"/>
          </a:xfrm>
          <a:prstGeom prst="roundRect">
            <a:avLst>
              <a:gd name="adj" fmla="val 2222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892808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(N)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a la superficie de contacto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459736"/>
            <a:ext cx="4023360" cy="493776"/>
          </a:xfrm>
          <a:prstGeom prst="roundRect">
            <a:avLst>
              <a:gd name="adj" fmla="val 2222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459736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Tensión (T)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 largo de la cuerda, tirando del cuerpo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026664"/>
            <a:ext cx="4023360" cy="493776"/>
          </a:xfrm>
          <a:prstGeom prst="roundRect">
            <a:avLst>
              <a:gd name="adj" fmla="val 2222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3026664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(f)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opone al movimiento o a la tendencia a moverse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593592"/>
            <a:ext cx="4023360" cy="493776"/>
          </a:xfrm>
          <a:prstGeom prst="roundRect">
            <a:avLst>
              <a:gd name="adj" fmla="val 2222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3593592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aplicada (F)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empuje o tirón de algo externo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importa para el movimiento es la fuerza neta, no cada fuerza por separado.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· PRIMERA LEY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 ley: inercia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572000" cy="2743200"/>
          </a:xfrm>
          <a:prstGeom prst="roundRect">
            <a:avLst>
              <a:gd name="adj" fmla="val 4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de una caja con velocidad constante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4206240" cy="0"/>
          </a:xfrm>
          <a:prstGeom prst="line">
            <a:avLst/>
          </a:prstGeom>
          <a:noFill/>
          <a:ln w="38100">
            <a:solidFill>
              <a:srgbClr val="0B1D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2606040"/>
            <a:ext cx="1005840" cy="640080"/>
          </a:xfrm>
          <a:prstGeom prst="rect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468880" y="1920240"/>
            <a:ext cx="0" cy="1005840"/>
          </a:xfrm>
          <a:prstGeom prst="line">
            <a:avLst/>
          </a:prstGeom>
          <a:noFill/>
          <a:ln w="38100">
            <a:solidFill>
              <a:srgbClr val="1A8F84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542032" y="1828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2926080"/>
            <a:ext cx="0" cy="1005840"/>
          </a:xfrm>
          <a:prstGeom prst="line">
            <a:avLst/>
          </a:prstGeom>
          <a:noFill/>
          <a:ln w="38100">
            <a:solidFill>
              <a:srgbClr val="0B1D3A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542032" y="37673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71800" y="2926080"/>
            <a:ext cx="1097280" cy="0"/>
          </a:xfrm>
          <a:prstGeom prst="line">
            <a:avLst/>
          </a:prstGeom>
          <a:noFill/>
          <a:ln w="38100">
            <a:solidFill>
              <a:srgbClr val="A8741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657600" y="2633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flipH="1">
            <a:off x="868680" y="2926080"/>
            <a:ext cx="109728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14400" y="2633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constante 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132588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4960" y="1325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ΣF = 0, el cuerpo sigue en reposo o con velocidad constante (MRU).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212080" y="278892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0" y="28346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Reposo y MRU son equilibrio: ΣF = 0 y a = 0.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Inercia: tendencia a mantener el estado de movimiento; a mayor masa, mayor inercia.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bus frena en la Cuesta Lo Prado, tu cuerpo sigue hacia adelante: es inercia, no una fuerza que te empuja.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· SEGUNDA LEY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Segunda ley: ΣF = m·a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ΣF = m · a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apunta en el mismo sentido que ΣF.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igual masa, más fuerza neta produce más aceleración.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igual fuerza neta, más masa produce menos aceleración.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ΣF = 0, entonces a = 0 (primera ley).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4114800" cy="2743200"/>
          </a:xfrm>
          <a:prstGeom prst="roundRect">
            <a:avLst>
              <a:gd name="adj" fmla="val 4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fuerza neta (100 N), distinta masa</a:t>
            </a:r>
            <a:endParaRPr lang="en-US" sz="11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663440" y="1645920"/>
          <a:ext cx="39319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Unidades: [F] = N, [m] = kg, [a] = m/s². El gráfico muestra la aceleración a en m/s².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· TERCERA LEY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Tercera ley: acción y reacción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572000" cy="2743200"/>
          </a:xfrm>
          <a:prstGeom prst="roundRect">
            <a:avLst>
              <a:gd name="adj" fmla="val 4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1554480" cy="914400"/>
          </a:xfrm>
          <a:prstGeom prst="rect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860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377440" y="2286000"/>
            <a:ext cx="155448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22860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14600" y="2743200"/>
            <a:ext cx="1828800" cy="0"/>
          </a:xfrm>
          <a:prstGeom prst="line">
            <a:avLst/>
          </a:prstGeom>
          <a:noFill/>
          <a:ln w="50800">
            <a:solidFill>
              <a:srgbClr val="A8741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743200" y="3310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de A sobre 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flipH="1">
            <a:off x="411480" y="2651760"/>
            <a:ext cx="1828800" cy="0"/>
          </a:xfrm>
          <a:prstGeom prst="line">
            <a:avLst/>
          </a:prstGeom>
          <a:noFill/>
          <a:ln w="508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de B sobre 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57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flecha se dibuja sobre un cuerpo distinto.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12080" y="132588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4960" y="1417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2400" b="1" baseline="-400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−F</a:t>
            </a:r>
            <a:pPr algn="ctr" indent="0" marL="0">
              <a:buNone/>
            </a:pPr>
            <a:r>
              <a:rPr lang="en-US" sz="2400" b="1" baseline="-400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1031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magnitud y sentidos opuestos.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Actúan sobre cuerpos distintos: por eso no se anulan.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del mismo tipo (ambas gravitacionales, ambas de contacto…).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caminar empujas el suelo hacia atrás; el suelo te empuja hacia adelante y eso te hace avanzar.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· ERRORES FRECUENTES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confusiones típicas de la tercera ley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108960" cy="274320"/>
          </a:xfrm>
          <a:prstGeom prst="roundRect">
            <a:avLst>
              <a:gd name="adj" fmla="val 26667"/>
            </a:avLst>
          </a:prstGeom>
          <a:solidFill>
            <a:srgbClr val="1A8F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¿Por qué se mueve la carreta?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caballo tira de la carreta y la carreta tira del caballo con la misma fuerza. Pero esas dos fuerzas están en cuerpos distintos.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saber si la carreta acelera, solo miras las fuerzas sobre la carreta: el tirón del caballo contra el roce.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44752"/>
            <a:ext cx="3108960" cy="274320"/>
          </a:xfrm>
          <a:prstGeom prst="roundRect">
            <a:avLst>
              <a:gd name="adj" fmla="val 26667"/>
            </a:avLst>
          </a:prstGeom>
          <a:solidFill>
            <a:srgbClr val="A874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Peso y normal no son un par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y normal actúan sobre el mismo cuerpo y son de distinto tipo, así que no son acción y reacción.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743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reacción del peso de un libro es la atracción del libro sobre la Tierra.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 acción–reacción nunca aparece completo en el mismo DCL.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· MASA, PESO Y NORMAL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Masa, peso y normal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 (m)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· escalar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inercia del cuerpo. No cambia con el lugar.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 (P)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vector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2402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m·g. Depende de g: ≈ 10 m/s² en la Tierra y ≈ 1,6 m/s² en la Luna.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(N)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vector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402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a la superficie. Se ajusta a la situación; no es siempre igual al peso.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P solo si la superficie es horizontal y no hay otras fuerzas verticales ni aceleración vertical.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· DCL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DCL: cinco pasos antes de calcular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572768" cy="2286000"/>
          </a:xfrm>
          <a:prstGeom prst="roundRect">
            <a:avLst>
              <a:gd name="adj" fmla="val 6977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44752"/>
            <a:ext cx="457200" cy="45720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Aísla el cuerpo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Dibújalo como una caja o un punto.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39696" y="1325880"/>
            <a:ext cx="1572768" cy="2286000"/>
          </a:xfrm>
          <a:prstGeom prst="roundRect">
            <a:avLst>
              <a:gd name="adj" fmla="val 6977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76856" y="1444752"/>
            <a:ext cx="457200" cy="45720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76856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49424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Dibuja las fuerzas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249424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las que actúan sobre él: P, N, T, f, F…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22192" y="1325880"/>
            <a:ext cx="1572768" cy="2286000"/>
          </a:xfrm>
          <a:prstGeom prst="roundRect">
            <a:avLst>
              <a:gd name="adj" fmla="val 6977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59352" y="1444752"/>
            <a:ext cx="457200" cy="45720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59352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Elige ejes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en la dirección del movimiento.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04688" y="1325880"/>
            <a:ext cx="1572768" cy="2286000"/>
          </a:xfrm>
          <a:prstGeom prst="roundRect">
            <a:avLst>
              <a:gd name="adj" fmla="val 6977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41848" y="1444752"/>
            <a:ext cx="457200" cy="45720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41848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614416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Descompón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14416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fuerzas inclinadas, en cada eje.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87184" y="1325880"/>
            <a:ext cx="1572768" cy="2286000"/>
          </a:xfrm>
          <a:prstGeom prst="roundRect">
            <a:avLst>
              <a:gd name="adj" fmla="val 6977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24344" y="1444752"/>
            <a:ext cx="457200" cy="45720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24344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296912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 ΣF = m·a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296912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ecuación por eje, con signos.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estos errores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dibujes la velocidad como si fuera una fuerza, ni una “fuerza del movimiento”. No incluyas las fuerzas que el cuerpo ejerce sobre otros.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· CAJA CON ROCE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1: caja empujada con roce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337560"/>
          </a:xfrm>
          <a:prstGeom prst="roundRect">
            <a:avLst>
              <a:gd name="adj" fmla="val 3288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1A8F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caja de 10 kg se empuja con una fuerza horizontal de 50 N. El roce vale 20 N. ¿Cuál es su aceleración?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3749040" cy="0"/>
          </a:xfrm>
          <a:prstGeom prst="line">
            <a:avLst/>
          </a:prstGeom>
          <a:noFill/>
          <a:ln w="38100">
            <a:solidFill>
              <a:srgbClr val="0B1D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3108960"/>
            <a:ext cx="914400" cy="594360"/>
          </a:xfrm>
          <a:prstGeom prst="rect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3401568"/>
            <a:ext cx="1280160" cy="0"/>
          </a:xfrm>
          <a:prstGeom prst="line">
            <a:avLst/>
          </a:prstGeom>
          <a:noFill/>
          <a:ln w="38100">
            <a:solidFill>
              <a:srgbClr val="A8741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246120" y="3108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50 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H="1">
            <a:off x="1417320" y="3401568"/>
            <a:ext cx="54864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7724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20 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2423160" y="2743200"/>
            <a:ext cx="0" cy="658368"/>
          </a:xfrm>
          <a:prstGeom prst="line">
            <a:avLst/>
          </a:prstGeom>
          <a:noFill/>
          <a:ln w="38100">
            <a:solidFill>
              <a:srgbClr val="1A8F84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487168" y="26974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3160" y="3401568"/>
            <a:ext cx="0" cy="713232"/>
          </a:xfrm>
          <a:prstGeom prst="line">
            <a:avLst/>
          </a:prstGeom>
          <a:noFill/>
          <a:ln w="38100">
            <a:solidFill>
              <a:srgbClr val="0B1D3A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487168" y="4160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13258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x: ΣF = F − f = 50 N − 20 N = 30 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42316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24231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y: no hay aceleración vertical, así que N = P.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52044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0" y="352044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ΣF / m = 30 N / 10 kg = 3 m/s² hacia la derecha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· ASCENSOR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2: la báscula en el ascensor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337560"/>
          </a:xfrm>
          <a:prstGeom prst="roundRect">
            <a:avLst>
              <a:gd name="adj" fmla="val 3288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1A8F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de 60 kg está en un ascensor que sube acelerando a 2 m/s². ¿Qué marca una báscula bajo sus pies? (g = 10 m/s²)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5544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D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3337560"/>
            <a:ext cx="548640" cy="685800"/>
          </a:xfrm>
          <a:prstGeom prst="rect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691640" y="2834640"/>
            <a:ext cx="0" cy="841248"/>
          </a:xfrm>
          <a:prstGeom prst="line">
            <a:avLst/>
          </a:prstGeom>
          <a:noFill/>
          <a:ln w="38100">
            <a:solidFill>
              <a:srgbClr val="1A8F84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1764792" y="2788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91640" y="3675888"/>
            <a:ext cx="0" cy="786384"/>
          </a:xfrm>
          <a:prstGeom prst="line">
            <a:avLst/>
          </a:prstGeom>
          <a:noFill/>
          <a:ln w="38100">
            <a:solidFill>
              <a:srgbClr val="0B1D3A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764792" y="4224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3108960" y="3200400"/>
            <a:ext cx="0" cy="914400"/>
          </a:xfrm>
          <a:prstGeom prst="line">
            <a:avLst/>
          </a:prstGeom>
          <a:noFill/>
          <a:ln w="38100">
            <a:solidFill>
              <a:srgbClr val="A8741A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743200" y="2907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 m/s²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32588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13258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P = m·g = 60 kg × 10 m/s² = 600 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42316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24231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vertical (+ hacia arriba): N − P = m·a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52044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352044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m·(g + a) = 60 × 12 = 720 N. La báscula marca 720 N, más que el peso.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 · PLANO INCLINADO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3: plano inclinado sin roce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337560"/>
          </a:xfrm>
          <a:prstGeom prst="roundRect">
            <a:avLst>
              <a:gd name="adj" fmla="val 3288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1A8F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bloque de 4 kg baja por un plano inclinado de 30° sin roce. ¿Cuál es su aceleración? (g = 10 m/s²)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852928"/>
            <a:ext cx="2743200" cy="1581912"/>
          </a:xfrm>
          <a:prstGeom prst="rtTriangle">
            <a:avLst/>
          </a:prstGeom>
          <a:solidFill>
            <a:srgbClr val="EAF0F8"/>
          </a:solidFill>
          <a:ln w="31750">
            <a:solidFill>
              <a:srgbClr val="0B1D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800000">
            <a:off x="1906524" y="3274718"/>
            <a:ext cx="457200" cy="310896"/>
          </a:xfrm>
          <a:prstGeom prst="rect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5124" y="3430166"/>
            <a:ext cx="0" cy="822960"/>
          </a:xfrm>
          <a:prstGeom prst="line">
            <a:avLst/>
          </a:prstGeom>
          <a:noFill/>
          <a:ln w="38100">
            <a:solidFill>
              <a:srgbClr val="0B1D3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208276" y="393308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V="1">
            <a:off x="2135124" y="2796652"/>
            <a:ext cx="365760" cy="633515"/>
          </a:xfrm>
          <a:prstGeom prst="line">
            <a:avLst/>
          </a:prstGeom>
          <a:noFill/>
          <a:ln w="38100">
            <a:solidFill>
              <a:srgbClr val="1A8F84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592324" y="256148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35124" y="3430166"/>
            <a:ext cx="554326" cy="320040"/>
          </a:xfrm>
          <a:prstGeom prst="line">
            <a:avLst/>
          </a:prstGeom>
          <a:noFill/>
          <a:ln w="38100">
            <a:solidFill>
              <a:srgbClr val="A8741A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793492" y="352160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4160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32588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13258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P = m·g = 4 × 10 = 40 N. Eje x paralelo al plano, eje y perpendicular.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42316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24231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y: N = P·cos 30° ≈ 34,6 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352044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352044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x: P·sen 30° = m·a, luego a = g·sen 30° = 5 m/s². La masa se cancela.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PREGUNTA 1 DE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caja se desliza con velocidad constante sobre una superficie horizontal con roce. ¿Cuál afirmación es correcta?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377440"/>
            <a:ext cx="502920" cy="50292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una fuerza neta en la dirección del movimiento.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2377440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fuerza neta sobre la caja es cero.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103120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1E844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383280"/>
            <a:ext cx="502920" cy="5029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empuje es mayor que el roce.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3383280"/>
            <a:ext cx="502920" cy="502920"/>
          </a:xfrm>
          <a:prstGeom prst="ellipse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7316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actúa ninguna fuerza sobre la caja.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530352"/>
          </a:xfrm>
          <a:prstGeom prst="roundRect">
            <a:avLst>
              <a:gd name="adj" fmla="val 2069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16052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velocidad constante, a = 0 y por lo tanto ΣF = 0: el empuje equilibra al roce (primera ley).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PREGUNTA 2 DE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camión choca de frente con un auto. Durante el choque, la fuerza del camión sobre el auto es…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377440"/>
            <a:ext cx="502920" cy="50292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que la del auto sobre el camión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2377440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menor, porque el auto es más liviano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383280"/>
            <a:ext cx="502920" cy="5029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en magnitud y de sentido opuesto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108960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1E844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3383280"/>
            <a:ext cx="502920" cy="502920"/>
          </a:xfrm>
          <a:prstGeom prst="ellipse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7316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cero, porque el auto se detiene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530352"/>
          </a:xfrm>
          <a:prstGeom prst="roundRect">
            <a:avLst>
              <a:gd name="adj" fmla="val 2069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16052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Tercera ley: las dos fuerzas son iguales y opuestas. El auto acelera más porque tiene menos masa (a = F/m).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PREGUNTA 3 DE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duplica la fuerza neta sobre un cuerpo y su masa no cambia, la aceleración…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377440"/>
            <a:ext cx="502920" cy="50292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mantiene igual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2377440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reduce a la mitad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383280"/>
            <a:ext cx="502920" cy="5029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cuadruplica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3383280"/>
            <a:ext cx="502920" cy="502920"/>
          </a:xfrm>
          <a:prstGeom prst="ellipse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7316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duplica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3108960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1E844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530352"/>
          </a:xfrm>
          <a:prstGeom prst="roundRect">
            <a:avLst>
              <a:gd name="adj" fmla="val 2069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16052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ley: a = ΣF / m. La aceleración es directamente proporcional a la fuerza neta.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PREGUNTA 4 DE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astronauta de 70 kg viaja a la Luna, donde g ≈ 1,6 m/s². Allí su masa y su peso son…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377440"/>
            <a:ext cx="502920" cy="50292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kg de masa y un peso menor que en la Tierra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103120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1E844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3168" y="2377440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masa y menor peso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383280"/>
            <a:ext cx="502920" cy="5029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masa y el mismo peso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3383280"/>
            <a:ext cx="502920" cy="502920"/>
          </a:xfrm>
          <a:prstGeom prst="ellipse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7316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masa y el mismo peso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530352"/>
          </a:xfrm>
          <a:prstGeom prst="roundRect">
            <a:avLst>
              <a:gd name="adj" fmla="val 2069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16052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masa no cambia (70 kg). El peso P = m·g baja a unos 112 N, frente a unos 700 N en la Tierra.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PREGUNTA 5 DE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está de pie sobre una báscula en un ascensor que arranca hacia arriba (acelera hacia arriba). La báscula marca…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377440"/>
            <a:ext cx="502920" cy="50292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2377440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que su peso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383280"/>
            <a:ext cx="502920" cy="5029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mismo que su peso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3383280"/>
            <a:ext cx="502920" cy="502920"/>
          </a:xfrm>
          <a:prstGeom prst="ellipse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7316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que su peso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3108960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1E844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530352"/>
          </a:xfrm>
          <a:prstGeom prst="roundRect">
            <a:avLst>
              <a:gd name="adj" fmla="val 2069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16052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acelerar hacia arriba la normal debe superar al peso: N − P = m·a, con a &gt; 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PREGUNTA 6 DE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DCL de un auto que avanza con rapidez constante por la Ruta 5 Sur, ¿qué NO debe aparecer?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377440"/>
            <a:ext cx="502920" cy="50292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2377440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383280"/>
            <a:ext cx="502920" cy="5029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“fuerza del movimiento” hacia adelante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108960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1E844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3383280"/>
            <a:ext cx="502920" cy="502920"/>
          </a:xfrm>
          <a:prstGeom prst="ellipse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7316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roce con el aire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530352"/>
          </a:xfrm>
          <a:prstGeom prst="roundRect">
            <a:avLst>
              <a:gd name="adj" fmla="val 2069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16052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velocidad no es una fuerza. Con rapidez constante ΣF = 0: el empuje de las ruedas equilibra el roce del aire.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PROBLEMAS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 tú: cuatro problemas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99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Aplicar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45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caja de 5 kg recibe una fuerza neta de 20 N. ¿Cuánto vale su aceleración?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13432"/>
            <a:ext cx="3749040" cy="420624"/>
          </a:xfrm>
          <a:prstGeom prst="roundRect">
            <a:avLst>
              <a:gd name="adj" fmla="val 17391"/>
            </a:avLst>
          </a:prstGeom>
          <a:solidFill>
            <a:srgbClr val="0B1D3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20 N / 5 kg = 4 m/s²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399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Aplicar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645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caja de 8 kg se empuja con 60 N y el roce es de 12 N. ¿Cuál es su aceleración?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313432"/>
            <a:ext cx="3749040" cy="420624"/>
          </a:xfrm>
          <a:prstGeom prst="roundRect">
            <a:avLst>
              <a:gd name="adj" fmla="val 17391"/>
            </a:avLst>
          </a:prstGeom>
          <a:solidFill>
            <a:srgbClr val="0B1D3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ΣF = 48 N, luego a = 48 / 8 = 6 m/s²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044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Aplicar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291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auto de 1 200 kg que viaja por la Ruta 68 frena con una desaceleración de 5 m/s². ¿Cuál es la fuerza neta?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959352"/>
            <a:ext cx="3749040" cy="420624"/>
          </a:xfrm>
          <a:prstGeom prst="roundRect">
            <a:avLst>
              <a:gd name="adj" fmla="val 17391"/>
            </a:avLst>
          </a:prstGeom>
          <a:solidFill>
            <a:srgbClr val="0B1D3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ΣF = 1 200 × 5 = 6 000 N, opuesta al movimiento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3044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Analizar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291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de 50 kg está en un ascensor que baja acelerando a 2 m/s². ¿Qué marca la báscula? (g = 10 m/s²)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959352"/>
            <a:ext cx="3749040" cy="420624"/>
          </a:xfrm>
          <a:prstGeom prst="roundRect">
            <a:avLst>
              <a:gd name="adj" fmla="val 17391"/>
            </a:avLst>
          </a:prstGeom>
          <a:solidFill>
            <a:srgbClr val="0B1D3A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50 × (10 − 2) = 400 N, menos que su peso (500 N)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 · AER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Argumenta: ¿cómo avanza un cohete en el vacío?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1A8F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 · Evaluar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920240"/>
            <a:ext cx="502920" cy="5029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Afirmación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cohete avanza porque…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880360"/>
            <a:ext cx="502920" cy="5029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vacío no hay aire, y aun así…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840480"/>
            <a:ext cx="502920" cy="5029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 tercera ley y la segunda ley…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32588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RESPUESTA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17373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Afirmación: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cohete avanza porque expulsa gases hacia atrás.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vacío no hay aire donde apoyarse y aun así el cohete acelera.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 tercera ley, el cohete empuja los gases hacia atrás y los gases empujan al cohete hacia adelante. Por la segunda ley, esa fuerza neta produce su aceleración.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tres leyes en una página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Villa Alemana · Unidad Técnico Pedagógica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ley · inercia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ΣF = 0  ⇒  a = 0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Reposo o velocidad constante (MRU).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ley · dinámica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ΣF = m·a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697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tiene el mismo sentido que ΣF. 1 N = 1 kg·m/s².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A8741A"/>
          </a:solidFill>
          <a:ln w="12700">
            <a:solidFill>
              <a:srgbClr val="A874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ley · interacción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indent="0" marL="0">
              <a:buNone/>
            </a:pPr>
            <a:r>
              <a:rPr lang="en-US" sz="21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−F</a:t>
            </a:r>
            <a:pPr indent="0" marL="0">
              <a:buNone/>
            </a:pPr>
            <a:r>
              <a:rPr lang="en-US" sz="21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697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Iguales y opuestas, sobre cuerpos distintos.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calcular: </a:t>
            </a:r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DCL del cuerpo.  2) Ejes y signos.  3) ΣF = m·a en cada eje.  4) Peso P = m·g; la normal se calcula según la situación.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Repaso: leyes de Newton</dc:title>
  <dc:subject>PptxGenJS Presentation</dc:subject>
  <dc:creator>Felipe Jiménez</dc:creator>
  <cp:lastModifiedBy>Felipe Jiménez</cp:lastModifiedBy>
  <cp:revision>1</cp:revision>
  <dcterms:created xsi:type="dcterms:W3CDTF">2026-10-06T09:48:41Z</dcterms:created>
  <dcterms:modified xsi:type="dcterms:W3CDTF">2026-10-06T09:48:41Z</dcterms:modified>
</cp:coreProperties>
</file>