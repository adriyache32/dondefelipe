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76"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0" d="100"/>
          <a:sy n="70" d="100"/>
        </p:scale>
        <p:origin x="71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title>
      <c:tx>
        <c:rich>
          <a:bodyPr/>
          <a:lstStyle/>
          <a:p>
            <a:pPr>
              <a:defRPr sz="1400" b="0" i="0" u="none" strike="noStrike">
                <a:solidFill>
                  <a:srgbClr val="22261F"/>
                </a:solidFill>
                <a:latin typeface="Calibri"/>
              </a:defRPr>
            </a:pPr>
            <a:r>
              <a:rPr lang="es-CL" sz="1400" b="0" i="0" u="none" strike="noStrike">
                <a:solidFill>
                  <a:srgbClr val="22261F"/>
                </a:solidFill>
                <a:latin typeface="Calibri"/>
              </a:rPr>
              <a:t>Riesgo acumulado de cáncer (%)</a:t>
            </a:r>
          </a:p>
        </c:rich>
      </c:tx>
      <c:overlay val="0"/>
    </c:title>
    <c:autoTitleDeleted val="0"/>
    <c:plotArea>
      <c:layout/>
      <c:barChart>
        <c:barDir val="col"/>
        <c:grouping val="clustered"/>
        <c:varyColors val="0"/>
        <c:ser>
          <c:idx val="0"/>
          <c:order val="0"/>
          <c:tx>
            <c:strRef>
              <c:f>Sheet1!$B$1</c:f>
              <c:strCache>
                <c:ptCount val="1"/>
                <c:pt idx="0">
                  <c:v>Población general</c:v>
                </c:pt>
              </c:strCache>
            </c:strRef>
          </c:tx>
          <c:spPr>
            <a:solidFill>
              <a:srgbClr val="9AA8B5"/>
            </a:solidFill>
            <a:effectLst/>
          </c:spPr>
          <c:invertIfNegative val="0"/>
          <c:dLbls>
            <c:numFmt formatCode="0.#&quot;%&quot;" sourceLinked="0"/>
            <c:spPr>
              <a:noFill/>
              <a:ln>
                <a:noFill/>
              </a:ln>
              <a:effectLst/>
            </c:spPr>
            <c:txPr>
              <a:bodyPr/>
              <a:lstStyle/>
              <a:p>
                <a:pPr>
                  <a:defRPr sz="1300" b="0" i="0" u="none" strike="noStrike">
                    <a:solidFill>
                      <a:srgbClr val="22261F"/>
                    </a:solidFill>
                    <a:latin typeface="Calibri"/>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Cáncer de mama</c:v>
                </c:pt>
                <c:pt idx="1">
                  <c:v>Cáncer de ovario</c:v>
                </c:pt>
              </c:strCache>
            </c:strRef>
          </c:cat>
          <c:val>
            <c:numRef>
              <c:f>Sheet1!$B$2:$B$3</c:f>
              <c:numCache>
                <c:formatCode>General</c:formatCode>
                <c:ptCount val="2"/>
                <c:pt idx="0">
                  <c:v>13</c:v>
                </c:pt>
                <c:pt idx="1">
                  <c:v>1.1000000000000001</c:v>
                </c:pt>
              </c:numCache>
            </c:numRef>
          </c:val>
          <c:extLst>
            <c:ext xmlns:c16="http://schemas.microsoft.com/office/drawing/2014/chart" uri="{C3380CC4-5D6E-409C-BE32-E72D297353CC}">
              <c16:uniqueId val="{00000000-308B-4259-BB68-6ADE24721A3F}"/>
            </c:ext>
          </c:extLst>
        </c:ser>
        <c:ser>
          <c:idx val="1"/>
          <c:order val="1"/>
          <c:tx>
            <c:strRef>
              <c:f>Sheet1!$C$1</c:f>
              <c:strCache>
                <c:ptCount val="1"/>
                <c:pt idx="0">
                  <c:v>Portadoras BRCA2</c:v>
                </c:pt>
              </c:strCache>
            </c:strRef>
          </c:tx>
          <c:spPr>
            <a:solidFill>
              <a:srgbClr val="2E6968"/>
            </a:solidFill>
            <a:effectLst/>
          </c:spPr>
          <c:invertIfNegative val="0"/>
          <c:dLbls>
            <c:numFmt formatCode="0.#&quot;%&quot;" sourceLinked="0"/>
            <c:spPr>
              <a:noFill/>
              <a:ln>
                <a:noFill/>
              </a:ln>
              <a:effectLst/>
            </c:spPr>
            <c:txPr>
              <a:bodyPr/>
              <a:lstStyle/>
              <a:p>
                <a:pPr>
                  <a:defRPr sz="1300" b="0" i="0" u="none" strike="noStrike">
                    <a:solidFill>
                      <a:srgbClr val="22261F"/>
                    </a:solidFill>
                    <a:latin typeface="Calibri"/>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Cáncer de mama</c:v>
                </c:pt>
                <c:pt idx="1">
                  <c:v>Cáncer de ovario</c:v>
                </c:pt>
              </c:strCache>
            </c:strRef>
          </c:cat>
          <c:val>
            <c:numRef>
              <c:f>Sheet1!$C$2:$C$3</c:f>
              <c:numCache>
                <c:formatCode>General</c:formatCode>
                <c:ptCount val="2"/>
                <c:pt idx="0">
                  <c:v>69</c:v>
                </c:pt>
                <c:pt idx="1">
                  <c:v>17</c:v>
                </c:pt>
              </c:numCache>
            </c:numRef>
          </c:val>
          <c:extLst>
            <c:ext xmlns:c16="http://schemas.microsoft.com/office/drawing/2014/chart" uri="{C3380CC4-5D6E-409C-BE32-E72D297353CC}">
              <c16:uniqueId val="{00000001-308B-4259-BB68-6ADE24721A3F}"/>
            </c:ext>
          </c:extLst>
        </c:ser>
        <c:ser>
          <c:idx val="2"/>
          <c:order val="2"/>
          <c:tx>
            <c:strRef>
              <c:f>Sheet1!$D$1</c:f>
              <c:strCache>
                <c:ptCount val="1"/>
                <c:pt idx="0">
                  <c:v>Portadoras BRCA1</c:v>
                </c:pt>
              </c:strCache>
            </c:strRef>
          </c:tx>
          <c:spPr>
            <a:solidFill>
              <a:srgbClr val="1F3A56"/>
            </a:solidFill>
            <a:effectLst/>
          </c:spPr>
          <c:invertIfNegative val="0"/>
          <c:dLbls>
            <c:numFmt formatCode="0.#&quot;%&quot;" sourceLinked="0"/>
            <c:spPr>
              <a:noFill/>
              <a:ln>
                <a:noFill/>
              </a:ln>
              <a:effectLst/>
            </c:spPr>
            <c:txPr>
              <a:bodyPr/>
              <a:lstStyle/>
              <a:p>
                <a:pPr>
                  <a:defRPr sz="1300" b="0" i="0" u="none" strike="noStrike">
                    <a:solidFill>
                      <a:srgbClr val="22261F"/>
                    </a:solidFill>
                    <a:latin typeface="Calibri"/>
                  </a:defRPr>
                </a:pPr>
                <a:endParaRPr lang="es-CL"/>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Cáncer de mama</c:v>
                </c:pt>
                <c:pt idx="1">
                  <c:v>Cáncer de ovario</c:v>
                </c:pt>
              </c:strCache>
            </c:strRef>
          </c:cat>
          <c:val>
            <c:numRef>
              <c:f>Sheet1!$D$2:$D$3</c:f>
              <c:numCache>
                <c:formatCode>General</c:formatCode>
                <c:ptCount val="2"/>
                <c:pt idx="0">
                  <c:v>72</c:v>
                </c:pt>
                <c:pt idx="1">
                  <c:v>44</c:v>
                </c:pt>
              </c:numCache>
            </c:numRef>
          </c:val>
          <c:extLst>
            <c:ext xmlns:c16="http://schemas.microsoft.com/office/drawing/2014/chart" uri="{C3380CC4-5D6E-409C-BE32-E72D297353CC}">
              <c16:uniqueId val="{00000002-308B-4259-BB68-6ADE24721A3F}"/>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22261F"/>
                </a:solidFill>
                <a:latin typeface="Calibri"/>
              </a:defRPr>
            </a:pPr>
            <a:endParaRPr lang="es-CL"/>
          </a:p>
        </c:txPr>
        <c:crossAx val="2094734552"/>
        <c:crosses val="autoZero"/>
        <c:auto val="1"/>
        <c:lblAlgn val="ctr"/>
        <c:lblOffset val="100"/>
        <c:noMultiLvlLbl val="1"/>
      </c:catAx>
      <c:valAx>
        <c:axId val="2094734552"/>
        <c:scaling>
          <c:orientation val="minMax"/>
          <c:max val="100"/>
          <c:min val="0"/>
        </c:scaling>
        <c:delete val="0"/>
        <c:axPos val="l"/>
        <c:majorGridlines>
          <c:spPr>
            <a:ln w="9525" cap="flat">
              <a:solidFill>
                <a:srgbClr val="E6EB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7A"/>
                </a:solidFill>
                <a:latin typeface="Arial"/>
              </a:defRPr>
            </a:pPr>
            <a:endParaRPr lang="es-CL"/>
          </a:p>
        </c:txPr>
        <c:crossAx val="2094734554"/>
        <c:crosses val="autoZero"/>
        <c:crossBetween val="between"/>
        <c:majorUnit val="20"/>
      </c:valAx>
      <c:spPr>
        <a:noFill/>
        <a:ln>
          <a:noFill/>
        </a:ln>
        <a:effectLst/>
      </c:spPr>
    </c:plotArea>
    <c:legend>
      <c:legendPos val="b"/>
      <c:overlay val="0"/>
      <c:txPr>
        <a:bodyPr/>
        <a:lstStyle/>
        <a:p>
          <a:pPr>
            <a:defRPr sz="1300">
              <a:solidFill>
                <a:srgbClr val="22261F"/>
              </a:solidFill>
              <a:latin typeface="Calibri"/>
              <a:cs typeface="Calibri"/>
            </a:defRPr>
          </a:pPr>
          <a:endParaRPr lang="es-CL"/>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6648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16 (Semana 6, primera de tres). Duración: 2 horas pedagógicas (90 min): Inicio 15 · Desarrollo 55 · Cierre 20.
Nota sobre los casos: en la planificación original aparecía Carlos como caso recurrente. Para mantener el criterio de casos reales (como en la sesión 14), esta sesión usa un caso público documentado (A. Jolie, 2013) y árboles ilustrativos.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2123691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16 (Semana 6, primera de tres). Duración: 2 horas pedagógicas (90 min): Inicio 15 · Desarrollo 55 · Cierre 20.
Nota sobre los casos: en la planificación original aparecía Carlos como caso recurrente. Para mantener el criterio de casos reales (como en la sesión 14), esta sesión usa un caso público documentado (A. Jolie, 2013) y árboles ilustrativos.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Habilidades tomadas del Temario PAES de Ciencias (Admisión 2027): observar y plantear preguntas, planificar y conducir una investigación, procesar y analizar la evidencia, evaluar, comunicar. Son transversales y se evalúan en todas las áreas temáticas.
Contenido PAES relacionado (área Herencia y evolución): ciclo celular, puntos de control y cáncer; meiosis y variabilidad genética; manipulación genética. Ojo: el temario 2027 no lista explícitamente árboles genealógicos ni BRCA. Los usamos como contexto para entrenar las habilidades (interpretar datos, evaluar evidencia) y el contenido de ciclo celular/cáncer.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de escritura silenciosa, 4 min de puesta en común voluntaria, 3 min para conectar. Ninguna respuesta es incorrecta: la idea es que aparezcan valores y dudas que retomaremos al cierre.
Datos verificados: Jolie, «My Medical Choice», NYT, 14/05/2013: madre fallecida a los 56 por cáncer de ovario; estimación médica de 87% (mama) y 50% (ovario); esos números son para ella y se ajustan por caso.
Bienestar: si un estudiante comparte una historia familiar, agradecer sin exigir detalles y ofrecer conversar después. Evitar presentar el cáncer como sentencia.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Conexión con sesiones anteriores: replicación y reparación del ADN, puntos de control y cáncer (ciclo celular).
Respuesta esperada: la portadora tiene una copia sana en cada célula; el cáncer requiere que en una célula falle también la otra copia (segundo golpe, por mutación, pérdida del cromosoma o silenciamiento). Ese segundo golpe es un evento raro, por eso el riesgo es alto pero no 100%.
Dato para el docente: en las portadoras el primer golpe está en todas las células (línea germinal); el segundo es somático.
Cuestionamiento posible: ¿por qué una sola copia sana basta para funcionar? (dosis génica suficiente para la reparación).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Verificar que todos copien la simbología: sin ella no pueden leer los árboles. El gris para «sin datos» es una convención simplificada de esta clase (no es estándar).
Si hay tiempo, pregunta rápida: ¿qué significa un círculo con un punto al centro? (portadora sin enfermedad).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(5 individual, 4 en parejas, 3 puesta en común).
Datos: madre fallecida por cáncer de ovario a los 56 (2007); tía materna con cáncer de mama (dx. 2004), fallecida a los 61 (2013) y portadora de la misma variante BRCA1; abuela materna fallecida de cáncer a los 45 (según reportes). Jolie: portadora BRCA1, sin cáncer cuando lo informó.
Respuestas esperadas: (1) 3 generaciones; 4 mujeres con cáncer en línea materna... en el árbol: abuela, tía, madre afectadas; edades 45, ~52-61, 56. (2) Varias mujeres afectadas en generaciones sucesivas, a edades tempranas/relativamente jóvenes y en cánceres de mama y ovario, conectadas por vía materna. (3) Ejemplos: ¿cuántas mujeres de la familia tienen la variante? ¿comparten ambiente? ¿qué pasa con los varones?
Cuidado: un árbol da pistas, no pruebas; la confirmación es un test genético.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Objetivo: romper el mito «solo por la madre» y trabajar penetrancia incompleta y humildad al inferir.
Respuestas esperadas: (1) Es compatible/probable: su madre (I-1) estuvo afectada y su hija también; II-1 sería portador sin enfermedad. No es seguro: la variante también podría venir de la pareja (sin datos) o el cáncer de III-1 ser esporádico. (2) Falso: BRCA1/2 se heredan de madre o de padre (50% por hijo/a). (3) Penetrancia incompleta (el riesgo &lt;100%), edad (aún no desarrollan), sexo (menor riesgo en varones), factores ambientales/azar del segundo golpe, medidas preventivas. (4) Ambiente compartido, azar, otras variantes, factores hormonales/estilo de vida.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Habilidades PAES: procesar y analizar la evidencia (relaciones entre variables con operaciones matemáticas) y comunicar (elegir un recurso adecuado).
Cálculos: mama 72/13 ≈ 5,5 veces; ovario 44/1,1 ≈ 40 veces. El aumento relativo es mucho mayor en ovario aunque el valor absoluto sea menor que en mama (punto típico de error).
Datos: Kuchenbaecker 2017 (JAMA 317:2402): riesgo acumulado a los 80 años, mama 72% (BRCA1) y 69% (BRCA2); ovario 44% y 17%. NCI: ~13% de las mujeres desarrollará cáncer de mama y ~1,1% cáncer de ovario en la vida. Ojo: los denominadores no son idénticos (a los 80 años vs. toda la vida); eso es parte del cuestionamiento.
Idea para discutir: el riesgo también varía con la historia familiar y con la ubicación de la variante en el gen (mismo estudio), y las estimaciones previas variaban entre 40–87% para BRCA1. Un porcentaje es un promedio poblacional, no un pronóstico individual.</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min. Puente con las sesiones 13–14 (epigenética): el mismo gen puede fallar por herencia (mutación) o por silenciamiento epigenético en tumores esporádicos.
Fuentes: 5–10% hereditarios (ACS, NCI); ~0,2–0,3% de la población porta BRCA1/2; 50% de transmisión (NCI). Modificables: en la literatura, la fracción atribuible individual va de 2 a 13% y con estilo de vida saludable global se estima que 25–30% o más podría evitarse (Arthur et al., Women's Health Initiative). Las estimaciones varían según población y método: mencionarlo como parte del cuestionamiento.
Metilación del promotor de BRCA1: ~13% de tumores mamarios esporádicos y proporción similar en ovario (Esteller et al., JNCI 2000; revisiones posteriores ~10–15%).
Pregunta abierta esperable: «heredado vs. ambiente» es una simplificación; hay interacción gen–ambiente y una zona gris epigenética. Para portadoras, las opciones de reducir riesgo son vigilancia y cirugía preventiva (ver dilemas).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 Fuente: Hall JM et al., Science 250:1684 (1990); JCI 2014 (Lasker); entrevista PLOS Genetics a M.-C. King (17 años hasta localizar BRCA1 por ligamiento). Clonación de BRCA1: Miki et al., Science 1994; BRCA2 localizado en 13q12-13 (Wooster et al., 1994).
Idea central: la heterogeneidad. Los datos mostraron que no todas las familias con cáncer de mama comparten la misma causa; el análisis por edad de diagnóstico fue clave.
Respuestas esperadas: (1) El cáncer de mama familiar puede tener varias causas; separar los grupos permitió ver el patrón. (2) Comparar familias con y sin el marcador/variante; estudiar gemelos o adoptados; seguir a muchas familias en el tiempo; ajustar por estilo de vida; tests genéticos directos.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min. Habilidad PAES: evaluar (validez, confiabilidad, alcances y limitaciones de una investigación). Prepara el ítem 3 de práctica.
Sesgo de selección (ascertainment): las familias que llegan a un estudio suelen tener muchos casos; eso puede sobrestimar el riesgo.
Se espera que el estudiante reconozca que la conclusión «viene de la variante» pasa de estar respaldada a ser solo una hipótesis razonable.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min de escritura + 2–3 min de puesta en común si alcanza. Objetivo: razonar con evidencia y valores, y considerar la objeción del otro (steel-manning). No hay respuesta correcta.
Dato para el debate (C): la mastectomía bilateral preventiva reduce el riesgo de cáncer de mama en más de 90% en portadoras (Fred Hutch); Jolie estimó pasar de 87% a menos de 5% y enfatizó que su decisión era personal. Es una cirugía irreversible.
Dilema D: dejamos abierta la pregunta sobre qué cubre el sistema chileno para la sesión 17 (no afirmar cobertura sin verificar).
Aviso útil: ninguna decisión médica se toma con una diapositiva; existe la asesoría genética profesional.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Clave: B. II-2 es heterocigota (afectada, herencia autosómica dominante, pareja sin variante): cada hijo/a hereda la variante con probabilidad 1/2. Estar sana hoy no descarta ser portadora (penetrancia incompleta, edad de aparición). Distractores: A confunde portadora con afectada; C confunde riesgo con certeza; D aplica lógica recesiva (1/4).</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Clave: C. Razones respecto de la población general (BRCA1): mama 72/13 ≈ 5,5 veces; ovario 44/1,1 ≈ 40 veces. Error frecuente: comparar valores absolutos (72 &gt; 44) en vez del aumento relativo. A confunde riesgo con certeza; B es falsa (44 vs 17); D contradice los datos (69 vs 13).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Clave: A. Frecuencias: 34% (grupo A) vs 9% (grupo B): hay asociación. Pero las familias comparten genes y ambiente; el diseño no permite atribuir la causa a los genes. Es un caso de incoherencia entre evidencia y conclusión. B es falsa (hay grupo de comparación); C es falsa (20 años es un seguimiento largo); D es irrelevante (igual tamaño es adecuado).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Clave: D. BRCA1 participa en reparar roturas de doble hebra (recombinación homóloga). Con ambas copias inactivas (dos golpes) la reparación falla, se acumulan mutaciones y aumenta la probabilidad de proliferación descontrolada (contenido PAES: ciclo celular, puntos de control y cáncer). B invierte la función del gen; A y C atribuyen efectos a otras células.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ítems siguen el formato PAES de Ciencias: selección múltiple de respuesta única con 4 opciones, con un estímulo (dato, árbol o texto). Revisa cada distractor con el curso: qué error de razonamiento representa.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Recoge ideas para la sesión 17 (las preguntas del punto 3 pueden alimentar la investigación guiada). No usamos el semáforo de metacognición porque está reservado para el cierre de la unidad.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Conecta con la guía de investigación de la sesión 17: separar factores genéticos y ambientales, y evaluar la calidad de las fuentes (OA 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 momento para enseñar OA h: ¿cuál de estas fuentes es primaria, cuál es de divulgación institucional y cuál es prensa? ¿Qué confianza le damos a cada una?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F3A56"/>
        </a:solidFill>
        <a:effectLst/>
      </p:bgPr>
    </p:bg>
    <p:spTree>
      <p:nvGrpSpPr>
        <p:cNvPr id="1" name=""/>
        <p:cNvGrpSpPr/>
        <p:nvPr/>
      </p:nvGrpSpPr>
      <p:grpSpPr>
        <a:xfrm>
          <a:off x="0" y="0"/>
          <a:ext cx="0" cy="0"/>
          <a:chOff x="0" y="0"/>
          <a:chExt cx="0" cy="0"/>
        </a:xfrm>
      </p:grpSpPr>
      <p:pic>
        <p:nvPicPr>
          <p:cNvPr id="16" name="Imagen 15">
            <a:extLst>
              <a:ext uri="{FF2B5EF4-FFF2-40B4-BE49-F238E27FC236}">
                <a16:creationId xmlns:a16="http://schemas.microsoft.com/office/drawing/2014/main" id="{5030FE90-BE92-478C-B1F5-A8FEA3FCF63E}"/>
              </a:ext>
            </a:extLst>
          </p:cNvPr>
          <p:cNvPicPr>
            <a:picLocks noChangeAspect="1"/>
          </p:cNvPicPr>
          <p:nvPr/>
        </p:nvPicPr>
        <p:blipFill>
          <a:blip r:embed="rId3"/>
          <a:stretch>
            <a:fillRect/>
          </a:stretch>
        </p:blipFill>
        <p:spPr>
          <a:xfrm>
            <a:off x="3239" y="0"/>
            <a:ext cx="12185522" cy="6858000"/>
          </a:xfrm>
          <a:prstGeom prst="rect">
            <a:avLst/>
          </a:prstGeom>
        </p:spPr>
      </p:pic>
      <p:sp>
        <p:nvSpPr>
          <p:cNvPr id="2" name="Shape 0"/>
          <p:cNvSpPr/>
          <p:nvPr/>
        </p:nvSpPr>
        <p:spPr>
          <a:xfrm>
            <a:off x="9692640" y="-2011680"/>
            <a:ext cx="5486400" cy="5486400"/>
          </a:xfrm>
          <a:prstGeom prst="ellipse">
            <a:avLst/>
          </a:prstGeom>
          <a:solidFill>
            <a:srgbClr val="2C4C6B"/>
          </a:solidFill>
          <a:ln/>
        </p:spPr>
      </p:sp>
      <p:sp>
        <p:nvSpPr>
          <p:cNvPr id="3" name="Shape 1"/>
          <p:cNvSpPr/>
          <p:nvPr/>
        </p:nvSpPr>
        <p:spPr>
          <a:xfrm>
            <a:off x="-2286000" y="4389120"/>
            <a:ext cx="4572000" cy="4572000"/>
          </a:xfrm>
          <a:prstGeom prst="ellipse">
            <a:avLst/>
          </a:prstGeom>
          <a:solidFill>
            <a:srgbClr val="2C4C6B"/>
          </a:solidFill>
          <a:ln/>
        </p:spPr>
      </p:sp>
      <p:sp>
        <p:nvSpPr>
          <p:cNvPr id="4" name="Text 2"/>
          <p:cNvSpPr txBox="1"/>
          <p:nvPr/>
        </p:nvSpPr>
        <p:spPr>
          <a:xfrm>
            <a:off x="640080" y="1188720"/>
            <a:ext cx="9144000" cy="384048"/>
          </a:xfrm>
          <a:prstGeom prst="rect">
            <a:avLst/>
          </a:prstGeom>
          <a:noFill/>
          <a:ln/>
        </p:spPr>
        <p:txBody>
          <a:bodyPr wrap="square" lIns="0" tIns="0" rIns="0" bIns="0" rtlCol="0" anchor="ctr"/>
          <a:lstStyle/>
          <a:p>
            <a:pPr marL="0" indent="0">
              <a:buNone/>
            </a:pPr>
            <a:r>
              <a:rPr lang="en-US" sz="1500" b="1" kern="0" spc="200" dirty="0">
                <a:solidFill>
                  <a:srgbClr val="9FB6CC"/>
                </a:solidFill>
                <a:latin typeface="Calibri" pitchFamily="34" charset="0"/>
                <a:ea typeface="Calibri" pitchFamily="34" charset="-122"/>
                <a:cs typeface="Calibri" pitchFamily="34" charset="-120"/>
              </a:rPr>
              <a:t>UNIDAD 3  ·  SEMANA 6  ·  SESIÓN 16</a:t>
            </a:r>
            <a:endParaRPr lang="en-US" sz="1500" dirty="0"/>
          </a:p>
        </p:txBody>
      </p:sp>
      <p:sp>
        <p:nvSpPr>
          <p:cNvPr id="5" name="Text 3"/>
          <p:cNvSpPr txBox="1"/>
          <p:nvPr/>
        </p:nvSpPr>
        <p:spPr>
          <a:xfrm>
            <a:off x="5740931" y="1380744"/>
            <a:ext cx="5597629" cy="2103120"/>
          </a:xfrm>
          <a:prstGeom prst="rect">
            <a:avLst/>
          </a:prstGeom>
          <a:noFill/>
          <a:ln/>
        </p:spPr>
        <p:txBody>
          <a:bodyPr wrap="square" lIns="0" tIns="0" rIns="0" bIns="0" rtlCol="0" anchor="ctr"/>
          <a:lstStyle/>
          <a:p>
            <a:pPr marL="0" indent="0">
              <a:lnSpc>
                <a:spcPts val="5200"/>
              </a:lnSpc>
              <a:buNone/>
            </a:pPr>
            <a:r>
              <a:rPr lang="en-US" sz="4400" b="1" dirty="0">
                <a:latin typeface="Cambria" pitchFamily="34" charset="0"/>
                <a:ea typeface="Cambria" pitchFamily="34" charset="-122"/>
                <a:cs typeface="Cambria" pitchFamily="34" charset="-120"/>
              </a:rPr>
              <a:t>Cáncer hereditario de mama y ovario:</a:t>
            </a:r>
            <a:endParaRPr lang="en-US" sz="4400" dirty="0"/>
          </a:p>
          <a:p>
            <a:pPr marL="0" indent="0">
              <a:lnSpc>
                <a:spcPts val="5200"/>
              </a:lnSpc>
              <a:buNone/>
            </a:pPr>
            <a:r>
              <a:rPr lang="en-US" sz="4400" b="1" dirty="0">
                <a:latin typeface="Cambria" pitchFamily="34" charset="0"/>
                <a:ea typeface="Cambria" pitchFamily="34" charset="-122"/>
                <a:cs typeface="Cambria" pitchFamily="34" charset="-120"/>
              </a:rPr>
              <a:t>genes, familia y ambiente</a:t>
            </a:r>
            <a:endParaRPr lang="en-US" sz="4400" dirty="0"/>
          </a:p>
        </p:txBody>
      </p:sp>
      <p:sp>
        <p:nvSpPr>
          <p:cNvPr id="8" name="Shape 6"/>
          <p:cNvSpPr/>
          <p:nvPr/>
        </p:nvSpPr>
        <p:spPr>
          <a:xfrm>
            <a:off x="640080" y="5257800"/>
            <a:ext cx="3154680" cy="420624"/>
          </a:xfrm>
          <a:prstGeom prst="roundRect">
            <a:avLst>
              <a:gd name="adj" fmla="val 50000"/>
            </a:avLst>
          </a:prstGeom>
          <a:solidFill>
            <a:srgbClr val="2C4C6B"/>
          </a:solidFill>
          <a:ln w="12700">
            <a:solidFill>
              <a:srgbClr val="3D5878"/>
            </a:solidFill>
            <a:prstDash val="solid"/>
          </a:ln>
        </p:spPr>
      </p:sp>
      <p:sp>
        <p:nvSpPr>
          <p:cNvPr id="9" name="Text 7"/>
          <p:cNvSpPr txBox="1"/>
          <p:nvPr/>
        </p:nvSpPr>
        <p:spPr>
          <a:xfrm>
            <a:off x="640080" y="5257800"/>
            <a:ext cx="3154680" cy="420624"/>
          </a:xfrm>
          <a:prstGeom prst="rect">
            <a:avLst/>
          </a:prstGeom>
          <a:noFill/>
          <a:ln/>
        </p:spPr>
        <p:txBody>
          <a:bodyPr wrap="square" lIns="0" tIns="0" rIns="0" bIns="0" rtlCol="0" anchor="ctr"/>
          <a:lstStyle/>
          <a:p>
            <a:pPr marL="0" indent="0" algn="ctr">
              <a:buNone/>
            </a:pPr>
            <a:r>
              <a:rPr lang="en-US" sz="1250" dirty="0">
                <a:solidFill>
                  <a:srgbClr val="DCE7F0"/>
                </a:solidFill>
                <a:latin typeface="Calibri" pitchFamily="34" charset="0"/>
                <a:ea typeface="Calibri" pitchFamily="34" charset="-122"/>
                <a:cs typeface="Calibri" pitchFamily="34" charset="-120"/>
              </a:rPr>
              <a:t>Ciencias de la Salud</a:t>
            </a:r>
            <a:endParaRPr lang="en-US" sz="1250" dirty="0"/>
          </a:p>
        </p:txBody>
      </p:sp>
      <p:sp>
        <p:nvSpPr>
          <p:cNvPr id="10" name="Shape 8"/>
          <p:cNvSpPr/>
          <p:nvPr/>
        </p:nvSpPr>
        <p:spPr>
          <a:xfrm>
            <a:off x="3959352" y="5257800"/>
            <a:ext cx="1563624" cy="420624"/>
          </a:xfrm>
          <a:prstGeom prst="roundRect">
            <a:avLst>
              <a:gd name="adj" fmla="val 50000"/>
            </a:avLst>
          </a:prstGeom>
          <a:solidFill>
            <a:srgbClr val="2C4C6B"/>
          </a:solidFill>
          <a:ln w="12700">
            <a:solidFill>
              <a:srgbClr val="3D5878"/>
            </a:solidFill>
            <a:prstDash val="solid"/>
          </a:ln>
        </p:spPr>
      </p:sp>
      <p:sp>
        <p:nvSpPr>
          <p:cNvPr id="11" name="Text 9"/>
          <p:cNvSpPr txBox="1"/>
          <p:nvPr/>
        </p:nvSpPr>
        <p:spPr>
          <a:xfrm>
            <a:off x="3959352" y="5257800"/>
            <a:ext cx="1563624" cy="420624"/>
          </a:xfrm>
          <a:prstGeom prst="rect">
            <a:avLst/>
          </a:prstGeom>
          <a:noFill/>
          <a:ln/>
        </p:spPr>
        <p:txBody>
          <a:bodyPr wrap="square" lIns="0" tIns="0" rIns="0" bIns="0" rtlCol="0" anchor="ctr"/>
          <a:lstStyle/>
          <a:p>
            <a:pPr marL="0" indent="0" algn="ctr">
              <a:buNone/>
            </a:pPr>
            <a:r>
              <a:rPr lang="en-US" sz="1250" dirty="0">
                <a:solidFill>
                  <a:srgbClr val="DCE7F0"/>
                </a:solidFill>
                <a:latin typeface="Calibri" pitchFamily="34" charset="0"/>
                <a:ea typeface="Calibri" pitchFamily="34" charset="-122"/>
                <a:cs typeface="Calibri" pitchFamily="34" charset="-120"/>
              </a:rPr>
              <a:t>4° Medio</a:t>
            </a:r>
            <a:endParaRPr lang="en-US" sz="1250" dirty="0"/>
          </a:p>
        </p:txBody>
      </p:sp>
      <p:sp>
        <p:nvSpPr>
          <p:cNvPr id="12" name="Shape 10"/>
          <p:cNvSpPr/>
          <p:nvPr/>
        </p:nvSpPr>
        <p:spPr>
          <a:xfrm>
            <a:off x="5687568" y="5257800"/>
            <a:ext cx="3154680" cy="420624"/>
          </a:xfrm>
          <a:prstGeom prst="roundRect">
            <a:avLst>
              <a:gd name="adj" fmla="val 50000"/>
            </a:avLst>
          </a:prstGeom>
          <a:solidFill>
            <a:srgbClr val="2C4C6B"/>
          </a:solidFill>
          <a:ln w="12700">
            <a:solidFill>
              <a:srgbClr val="3D5878"/>
            </a:solidFill>
            <a:prstDash val="solid"/>
          </a:ln>
        </p:spPr>
      </p:sp>
      <p:sp>
        <p:nvSpPr>
          <p:cNvPr id="13" name="Text 11"/>
          <p:cNvSpPr txBox="1"/>
          <p:nvPr/>
        </p:nvSpPr>
        <p:spPr>
          <a:xfrm>
            <a:off x="5687568" y="5257800"/>
            <a:ext cx="3154680" cy="420624"/>
          </a:xfrm>
          <a:prstGeom prst="rect">
            <a:avLst/>
          </a:prstGeom>
          <a:noFill/>
          <a:ln/>
        </p:spPr>
        <p:txBody>
          <a:bodyPr wrap="square" lIns="0" tIns="0" rIns="0" bIns="0" rtlCol="0" anchor="ctr"/>
          <a:lstStyle/>
          <a:p>
            <a:pPr marL="0" indent="0" algn="ctr">
              <a:buNone/>
            </a:pPr>
            <a:r>
              <a:rPr lang="en-US" sz="1250" dirty="0">
                <a:solidFill>
                  <a:srgbClr val="DCE7F0"/>
                </a:solidFill>
                <a:latin typeface="Calibri" pitchFamily="34" charset="0"/>
                <a:ea typeface="Calibri" pitchFamily="34" charset="-122"/>
                <a:cs typeface="Calibri" pitchFamily="34" charset="-120"/>
              </a:rPr>
              <a:t>Prof. Felipe Jiménez</a:t>
            </a:r>
            <a:endParaRPr lang="en-US" sz="1250" dirty="0"/>
          </a:p>
        </p:txBody>
      </p:sp>
      <p:sp>
        <p:nvSpPr>
          <p:cNvPr id="14" name="Text 12"/>
          <p:cNvSpPr txBox="1"/>
          <p:nvPr/>
        </p:nvSpPr>
        <p:spPr>
          <a:xfrm>
            <a:off x="10881360" y="6446520"/>
            <a:ext cx="914400" cy="274320"/>
          </a:xfrm>
          <a:prstGeom prst="rect">
            <a:avLst/>
          </a:prstGeom>
          <a:noFill/>
          <a:ln/>
        </p:spPr>
        <p:txBody>
          <a:bodyPr wrap="square" lIns="0" tIns="0" rIns="0" bIns="0" rtlCol="0" anchor="ctr"/>
          <a:lstStyle/>
          <a:p>
            <a:pPr marL="0" indent="0" algn="r">
              <a:buNone/>
            </a:pPr>
            <a:r>
              <a:rPr lang="en-US" sz="1100" dirty="0">
                <a:solidFill>
                  <a:srgbClr val="7891A8"/>
                </a:solidFill>
                <a:latin typeface="Calibri" pitchFamily="34" charset="0"/>
                <a:ea typeface="Calibri" pitchFamily="34" charset="-122"/>
                <a:cs typeface="Calibri" pitchFamily="34" charset="-120"/>
              </a:rPr>
              <a:t>01 / 20</a:t>
            </a:r>
            <a:endParaRPr lang="en-US" sz="1100" dirty="0"/>
          </a:p>
        </p:txBody>
      </p:sp>
    </p:spTree>
    <p:extLst>
      <p:ext uri="{BB962C8B-B14F-4D97-AF65-F5344CB8AC3E}">
        <p14:creationId xmlns:p14="http://schemas.microsoft.com/office/powerpoint/2010/main" val="20034534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F3A56"/>
        </a:solidFill>
        <a:effectLst/>
      </p:bgPr>
    </p:bg>
    <p:spTree>
      <p:nvGrpSpPr>
        <p:cNvPr id="1" name=""/>
        <p:cNvGrpSpPr/>
        <p:nvPr/>
      </p:nvGrpSpPr>
      <p:grpSpPr>
        <a:xfrm>
          <a:off x="0" y="0"/>
          <a:ext cx="0" cy="0"/>
          <a:chOff x="0" y="0"/>
          <a:chExt cx="0" cy="0"/>
        </a:xfrm>
      </p:grpSpPr>
      <p:sp>
        <p:nvSpPr>
          <p:cNvPr id="2" name="Shape 0"/>
          <p:cNvSpPr/>
          <p:nvPr/>
        </p:nvSpPr>
        <p:spPr>
          <a:xfrm>
            <a:off x="9692640" y="-2011680"/>
            <a:ext cx="5486400" cy="5486400"/>
          </a:xfrm>
          <a:prstGeom prst="ellipse">
            <a:avLst/>
          </a:prstGeom>
          <a:solidFill>
            <a:srgbClr val="2C4C6B"/>
          </a:solidFill>
          <a:ln/>
        </p:spPr>
      </p:sp>
      <p:sp>
        <p:nvSpPr>
          <p:cNvPr id="3" name="Shape 1"/>
          <p:cNvSpPr/>
          <p:nvPr/>
        </p:nvSpPr>
        <p:spPr>
          <a:xfrm>
            <a:off x="-2286000" y="4389120"/>
            <a:ext cx="4572000" cy="4572000"/>
          </a:xfrm>
          <a:prstGeom prst="ellipse">
            <a:avLst/>
          </a:prstGeom>
          <a:solidFill>
            <a:srgbClr val="2C4C6B"/>
          </a:solidFill>
          <a:ln/>
        </p:spPr>
      </p:sp>
      <p:sp>
        <p:nvSpPr>
          <p:cNvPr id="4" name="Text 2"/>
          <p:cNvSpPr txBox="1"/>
          <p:nvPr/>
        </p:nvSpPr>
        <p:spPr>
          <a:xfrm>
            <a:off x="640080" y="1188720"/>
            <a:ext cx="9144000" cy="384048"/>
          </a:xfrm>
          <a:prstGeom prst="rect">
            <a:avLst/>
          </a:prstGeom>
          <a:noFill/>
          <a:ln/>
        </p:spPr>
        <p:txBody>
          <a:bodyPr wrap="square" lIns="0" tIns="0" rIns="0" bIns="0" rtlCol="0" anchor="ctr"/>
          <a:lstStyle/>
          <a:p>
            <a:pPr marL="0" indent="0">
              <a:buNone/>
            </a:pPr>
            <a:r>
              <a:rPr lang="en-US" sz="1500" b="1" kern="0" spc="200" dirty="0">
                <a:solidFill>
                  <a:srgbClr val="9FB6CC"/>
                </a:solidFill>
                <a:latin typeface="Calibri" pitchFamily="34" charset="0"/>
                <a:ea typeface="Calibri" pitchFamily="34" charset="-122"/>
                <a:cs typeface="Calibri" pitchFamily="34" charset="-120"/>
              </a:rPr>
              <a:t>UNIDAD 3  ·  SEMANA 6  ·  SESIÓN 16</a:t>
            </a:r>
            <a:endParaRPr lang="en-US" sz="1500" dirty="0"/>
          </a:p>
        </p:txBody>
      </p:sp>
      <p:sp>
        <p:nvSpPr>
          <p:cNvPr id="5" name="Text 3"/>
          <p:cNvSpPr txBox="1"/>
          <p:nvPr/>
        </p:nvSpPr>
        <p:spPr>
          <a:xfrm>
            <a:off x="594360" y="1691640"/>
            <a:ext cx="10789920" cy="2103120"/>
          </a:xfrm>
          <a:prstGeom prst="rect">
            <a:avLst/>
          </a:prstGeom>
          <a:noFill/>
          <a:ln/>
        </p:spPr>
        <p:txBody>
          <a:bodyPr wrap="square" lIns="0" tIns="0" rIns="0" bIns="0" rtlCol="0" anchor="ctr"/>
          <a:lstStyle/>
          <a:p>
            <a:pPr marL="0" indent="0">
              <a:lnSpc>
                <a:spcPts val="5200"/>
              </a:lnSpc>
              <a:buNone/>
            </a:pPr>
            <a:r>
              <a:rPr lang="en-US" sz="4400" b="1" dirty="0">
                <a:solidFill>
                  <a:srgbClr val="FFFFFF"/>
                </a:solidFill>
                <a:latin typeface="Cambria" pitchFamily="34" charset="0"/>
                <a:ea typeface="Cambria" pitchFamily="34" charset="-122"/>
                <a:cs typeface="Cambria" pitchFamily="34" charset="-120"/>
              </a:rPr>
              <a:t>Cáncer hereditario de mama y ovario:</a:t>
            </a:r>
            <a:endParaRPr lang="en-US" sz="4400" dirty="0"/>
          </a:p>
          <a:p>
            <a:pPr marL="0" indent="0">
              <a:lnSpc>
                <a:spcPts val="5200"/>
              </a:lnSpc>
              <a:buNone/>
            </a:pPr>
            <a:r>
              <a:rPr lang="en-US" sz="4400" b="1" dirty="0">
                <a:solidFill>
                  <a:srgbClr val="FFFFFF"/>
                </a:solidFill>
                <a:latin typeface="Cambria" pitchFamily="34" charset="0"/>
                <a:ea typeface="Cambria" pitchFamily="34" charset="-122"/>
                <a:cs typeface="Cambria" pitchFamily="34" charset="-120"/>
              </a:rPr>
              <a:t>genes, familia y ambiente</a:t>
            </a:r>
            <a:endParaRPr lang="en-US" sz="4400" dirty="0"/>
          </a:p>
        </p:txBody>
      </p:sp>
      <p:sp>
        <p:nvSpPr>
          <p:cNvPr id="6" name="Text 4"/>
          <p:cNvSpPr txBox="1"/>
          <p:nvPr/>
        </p:nvSpPr>
        <p:spPr>
          <a:xfrm>
            <a:off x="640080" y="3840480"/>
            <a:ext cx="9144000" cy="457200"/>
          </a:xfrm>
          <a:prstGeom prst="rect">
            <a:avLst/>
          </a:prstGeom>
          <a:noFill/>
          <a:ln/>
        </p:spPr>
        <p:txBody>
          <a:bodyPr wrap="square" lIns="0" tIns="0" rIns="0" bIns="0" rtlCol="0" anchor="ctr"/>
          <a:lstStyle/>
          <a:p>
            <a:pPr marL="0" indent="0">
              <a:buNone/>
            </a:pPr>
            <a:r>
              <a:rPr lang="en-US" sz="1900" dirty="0">
                <a:solidFill>
                  <a:srgbClr val="C7D3DE"/>
                </a:solidFill>
                <a:latin typeface="Calibri" pitchFamily="34" charset="0"/>
                <a:ea typeface="Calibri" pitchFamily="34" charset="-122"/>
                <a:cs typeface="Calibri" pitchFamily="34" charset="-120"/>
              </a:rPr>
              <a:t>Un árbol genealógico, una decisión difícil y muchas preguntas.</a:t>
            </a:r>
            <a:endParaRPr lang="en-US" sz="1900" dirty="0"/>
          </a:p>
        </p:txBody>
      </p:sp>
      <p:sp>
        <p:nvSpPr>
          <p:cNvPr id="7" name="Text 5"/>
          <p:cNvSpPr txBox="1"/>
          <p:nvPr/>
        </p:nvSpPr>
        <p:spPr>
          <a:xfrm>
            <a:off x="640080" y="4434840"/>
            <a:ext cx="10058400" cy="365760"/>
          </a:xfrm>
          <a:prstGeom prst="rect">
            <a:avLst/>
          </a:prstGeom>
          <a:noFill/>
          <a:ln/>
        </p:spPr>
        <p:txBody>
          <a:bodyPr wrap="square" lIns="0" tIns="0" rIns="0" bIns="0" rtlCol="0" anchor="ctr"/>
          <a:lstStyle/>
          <a:p>
            <a:pPr marL="0" indent="0">
              <a:buNone/>
            </a:pPr>
            <a:r>
              <a:rPr lang="en-US" sz="1400" dirty="0">
                <a:solidFill>
                  <a:srgbClr val="9FB6CC"/>
                </a:solidFill>
                <a:latin typeface="Calibri" pitchFamily="34" charset="0"/>
                <a:ea typeface="Calibri" pitchFamily="34" charset="-122"/>
                <a:cs typeface="Calibri" pitchFamily="34" charset="-120"/>
              </a:rPr>
              <a:t>OA2 · OA c · OA h · OA i     |     Nivel Bloom: Analizar / Evaluar     |     Enfoque PAES</a:t>
            </a:r>
            <a:endParaRPr lang="en-US" sz="1400" dirty="0"/>
          </a:p>
        </p:txBody>
      </p:sp>
      <p:sp>
        <p:nvSpPr>
          <p:cNvPr id="8" name="Shape 6"/>
          <p:cNvSpPr/>
          <p:nvPr/>
        </p:nvSpPr>
        <p:spPr>
          <a:xfrm>
            <a:off x="640080" y="5257800"/>
            <a:ext cx="3154680" cy="420624"/>
          </a:xfrm>
          <a:prstGeom prst="roundRect">
            <a:avLst>
              <a:gd name="adj" fmla="val 50000"/>
            </a:avLst>
          </a:prstGeom>
          <a:solidFill>
            <a:srgbClr val="2C4C6B"/>
          </a:solidFill>
          <a:ln w="12700">
            <a:solidFill>
              <a:srgbClr val="3D5878"/>
            </a:solidFill>
            <a:prstDash val="solid"/>
          </a:ln>
        </p:spPr>
      </p:sp>
      <p:sp>
        <p:nvSpPr>
          <p:cNvPr id="9" name="Text 7"/>
          <p:cNvSpPr txBox="1"/>
          <p:nvPr/>
        </p:nvSpPr>
        <p:spPr>
          <a:xfrm>
            <a:off x="640080" y="5257800"/>
            <a:ext cx="3154680" cy="420624"/>
          </a:xfrm>
          <a:prstGeom prst="rect">
            <a:avLst/>
          </a:prstGeom>
          <a:noFill/>
          <a:ln/>
        </p:spPr>
        <p:txBody>
          <a:bodyPr wrap="square" lIns="0" tIns="0" rIns="0" bIns="0" rtlCol="0" anchor="ctr"/>
          <a:lstStyle/>
          <a:p>
            <a:pPr marL="0" indent="0" algn="ctr">
              <a:buNone/>
            </a:pPr>
            <a:r>
              <a:rPr lang="en-US" sz="1250" dirty="0">
                <a:solidFill>
                  <a:srgbClr val="DCE7F0"/>
                </a:solidFill>
                <a:latin typeface="Calibri" pitchFamily="34" charset="0"/>
                <a:ea typeface="Calibri" pitchFamily="34" charset="-122"/>
                <a:cs typeface="Calibri" pitchFamily="34" charset="-120"/>
              </a:rPr>
              <a:t>Ciencias de la Salud</a:t>
            </a:r>
            <a:endParaRPr lang="en-US" sz="1250" dirty="0"/>
          </a:p>
        </p:txBody>
      </p:sp>
      <p:sp>
        <p:nvSpPr>
          <p:cNvPr id="10" name="Shape 8"/>
          <p:cNvSpPr/>
          <p:nvPr/>
        </p:nvSpPr>
        <p:spPr>
          <a:xfrm>
            <a:off x="3959352" y="5257800"/>
            <a:ext cx="1563624" cy="420624"/>
          </a:xfrm>
          <a:prstGeom prst="roundRect">
            <a:avLst>
              <a:gd name="adj" fmla="val 50000"/>
            </a:avLst>
          </a:prstGeom>
          <a:solidFill>
            <a:srgbClr val="2C4C6B"/>
          </a:solidFill>
          <a:ln w="12700">
            <a:solidFill>
              <a:srgbClr val="3D5878"/>
            </a:solidFill>
            <a:prstDash val="solid"/>
          </a:ln>
        </p:spPr>
      </p:sp>
      <p:sp>
        <p:nvSpPr>
          <p:cNvPr id="11" name="Text 9"/>
          <p:cNvSpPr txBox="1"/>
          <p:nvPr/>
        </p:nvSpPr>
        <p:spPr>
          <a:xfrm>
            <a:off x="3959352" y="5257800"/>
            <a:ext cx="1563624" cy="420624"/>
          </a:xfrm>
          <a:prstGeom prst="rect">
            <a:avLst/>
          </a:prstGeom>
          <a:noFill/>
          <a:ln/>
        </p:spPr>
        <p:txBody>
          <a:bodyPr wrap="square" lIns="0" tIns="0" rIns="0" bIns="0" rtlCol="0" anchor="ctr"/>
          <a:lstStyle/>
          <a:p>
            <a:pPr marL="0" indent="0" algn="ctr">
              <a:buNone/>
            </a:pPr>
            <a:r>
              <a:rPr lang="en-US" sz="1250" dirty="0">
                <a:solidFill>
                  <a:srgbClr val="DCE7F0"/>
                </a:solidFill>
                <a:latin typeface="Calibri" pitchFamily="34" charset="0"/>
                <a:ea typeface="Calibri" pitchFamily="34" charset="-122"/>
                <a:cs typeface="Calibri" pitchFamily="34" charset="-120"/>
              </a:rPr>
              <a:t>4° Medio</a:t>
            </a:r>
            <a:endParaRPr lang="en-US" sz="1250" dirty="0"/>
          </a:p>
        </p:txBody>
      </p:sp>
      <p:sp>
        <p:nvSpPr>
          <p:cNvPr id="12" name="Shape 10"/>
          <p:cNvSpPr/>
          <p:nvPr/>
        </p:nvSpPr>
        <p:spPr>
          <a:xfrm>
            <a:off x="5687568" y="5257800"/>
            <a:ext cx="3154680" cy="420624"/>
          </a:xfrm>
          <a:prstGeom prst="roundRect">
            <a:avLst>
              <a:gd name="adj" fmla="val 50000"/>
            </a:avLst>
          </a:prstGeom>
          <a:solidFill>
            <a:srgbClr val="2C4C6B"/>
          </a:solidFill>
          <a:ln w="12700">
            <a:solidFill>
              <a:srgbClr val="3D5878"/>
            </a:solidFill>
            <a:prstDash val="solid"/>
          </a:ln>
        </p:spPr>
      </p:sp>
      <p:sp>
        <p:nvSpPr>
          <p:cNvPr id="13" name="Text 11"/>
          <p:cNvSpPr txBox="1"/>
          <p:nvPr/>
        </p:nvSpPr>
        <p:spPr>
          <a:xfrm>
            <a:off x="5687568" y="5257800"/>
            <a:ext cx="3154680" cy="420624"/>
          </a:xfrm>
          <a:prstGeom prst="rect">
            <a:avLst/>
          </a:prstGeom>
          <a:noFill/>
          <a:ln/>
        </p:spPr>
        <p:txBody>
          <a:bodyPr wrap="square" lIns="0" tIns="0" rIns="0" bIns="0" rtlCol="0" anchor="ctr"/>
          <a:lstStyle/>
          <a:p>
            <a:pPr marL="0" indent="0" algn="ctr">
              <a:buNone/>
            </a:pPr>
            <a:r>
              <a:rPr lang="en-US" sz="1250" dirty="0">
                <a:solidFill>
                  <a:srgbClr val="DCE7F0"/>
                </a:solidFill>
                <a:latin typeface="Calibri" pitchFamily="34" charset="0"/>
                <a:ea typeface="Calibri" pitchFamily="34" charset="-122"/>
                <a:cs typeface="Calibri" pitchFamily="34" charset="-120"/>
              </a:rPr>
              <a:t>Prof. Felipe Jiménez</a:t>
            </a:r>
            <a:endParaRPr lang="en-US" sz="1250" dirty="0"/>
          </a:p>
        </p:txBody>
      </p:sp>
      <p:sp>
        <p:nvSpPr>
          <p:cNvPr id="14" name="Text 12"/>
          <p:cNvSpPr txBox="1"/>
          <p:nvPr/>
        </p:nvSpPr>
        <p:spPr>
          <a:xfrm>
            <a:off x="10881360" y="6446520"/>
            <a:ext cx="914400" cy="274320"/>
          </a:xfrm>
          <a:prstGeom prst="rect">
            <a:avLst/>
          </a:prstGeom>
          <a:noFill/>
          <a:ln/>
        </p:spPr>
        <p:txBody>
          <a:bodyPr wrap="square" lIns="0" tIns="0" rIns="0" bIns="0" rtlCol="0" anchor="ctr"/>
          <a:lstStyle/>
          <a:p>
            <a:pPr marL="0" indent="0" algn="r">
              <a:buNone/>
            </a:pPr>
            <a:r>
              <a:rPr lang="en-US" sz="1100" dirty="0">
                <a:solidFill>
                  <a:srgbClr val="7891A8"/>
                </a:solidFill>
                <a:latin typeface="Calibri" pitchFamily="34" charset="0"/>
                <a:ea typeface="Calibri" pitchFamily="34" charset="-122"/>
                <a:cs typeface="Calibri" pitchFamily="34" charset="-120"/>
              </a:rPr>
              <a:t>01 / 20</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4E6B4E"/>
                </a:solidFill>
                <a:latin typeface="Calibri" pitchFamily="34" charset="0"/>
                <a:ea typeface="Calibri" pitchFamily="34" charset="-122"/>
                <a:cs typeface="Calibri" pitchFamily="34" charset="-120"/>
              </a:rPr>
              <a:t>RUTA DE LA SESIÓN</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Analizar un árbol y cuestionar qué puede probar</a:t>
            </a:r>
            <a:endParaRPr lang="en-US" sz="3200" dirty="0"/>
          </a:p>
        </p:txBody>
      </p:sp>
      <p:sp>
        <p:nvSpPr>
          <p:cNvPr id="4" name="Shape 2"/>
          <p:cNvSpPr/>
          <p:nvPr/>
        </p:nvSpPr>
        <p:spPr>
          <a:xfrm>
            <a:off x="548640" y="1600200"/>
            <a:ext cx="3566160" cy="1417320"/>
          </a:xfrm>
          <a:prstGeom prst="roundRect">
            <a:avLst>
              <a:gd name="adj" fmla="val 5806"/>
            </a:avLst>
          </a:prstGeom>
          <a:solidFill>
            <a:srgbClr val="E7EDE7"/>
          </a:solidFill>
          <a:ln/>
        </p:spPr>
      </p:sp>
      <p:sp>
        <p:nvSpPr>
          <p:cNvPr id="5" name="Text 3"/>
          <p:cNvSpPr txBox="1"/>
          <p:nvPr/>
        </p:nvSpPr>
        <p:spPr>
          <a:xfrm>
            <a:off x="822960" y="1755648"/>
            <a:ext cx="3017520" cy="329184"/>
          </a:xfrm>
          <a:prstGeom prst="rect">
            <a:avLst/>
          </a:prstGeom>
          <a:noFill/>
          <a:ln/>
        </p:spPr>
        <p:txBody>
          <a:bodyPr wrap="square" lIns="0" tIns="0" rIns="0" bIns="0" rtlCol="0" anchor="ctr"/>
          <a:lstStyle/>
          <a:p>
            <a:pPr marL="0" indent="0">
              <a:buNone/>
            </a:pPr>
            <a:r>
              <a:rPr lang="en-US" sz="1350" b="1" kern="0" spc="100" dirty="0">
                <a:solidFill>
                  <a:srgbClr val="4E6B4E"/>
                </a:solidFill>
                <a:latin typeface="Calibri" pitchFamily="34" charset="0"/>
                <a:ea typeface="Calibri" pitchFamily="34" charset="-122"/>
                <a:cs typeface="Calibri" pitchFamily="34" charset="-120"/>
              </a:rPr>
              <a:t>INICIO · 15 min</a:t>
            </a:r>
            <a:endParaRPr lang="en-US" sz="1350" dirty="0"/>
          </a:p>
        </p:txBody>
      </p:sp>
      <p:sp>
        <p:nvSpPr>
          <p:cNvPr id="6" name="Text 4"/>
          <p:cNvSpPr txBox="1"/>
          <p:nvPr/>
        </p:nvSpPr>
        <p:spPr>
          <a:xfrm>
            <a:off x="822960" y="2103120"/>
            <a:ext cx="30175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Una decisión real. Reflexión escrita individual.</a:t>
            </a:r>
            <a:endParaRPr lang="en-US" sz="1450" dirty="0"/>
          </a:p>
        </p:txBody>
      </p:sp>
      <p:sp>
        <p:nvSpPr>
          <p:cNvPr id="7" name="Shape 5"/>
          <p:cNvSpPr/>
          <p:nvPr/>
        </p:nvSpPr>
        <p:spPr>
          <a:xfrm>
            <a:off x="4297680" y="1600200"/>
            <a:ext cx="3566160" cy="1417320"/>
          </a:xfrm>
          <a:prstGeom prst="roundRect">
            <a:avLst>
              <a:gd name="adj" fmla="val 5806"/>
            </a:avLst>
          </a:prstGeom>
          <a:solidFill>
            <a:srgbClr val="DFEEED"/>
          </a:solidFill>
          <a:ln/>
        </p:spPr>
      </p:sp>
      <p:sp>
        <p:nvSpPr>
          <p:cNvPr id="8" name="Text 6"/>
          <p:cNvSpPr txBox="1"/>
          <p:nvPr/>
        </p:nvSpPr>
        <p:spPr>
          <a:xfrm>
            <a:off x="4572000" y="1755648"/>
            <a:ext cx="3017520" cy="329184"/>
          </a:xfrm>
          <a:prstGeom prst="rect">
            <a:avLst/>
          </a:prstGeom>
          <a:noFill/>
          <a:ln/>
        </p:spPr>
        <p:txBody>
          <a:bodyPr wrap="square" lIns="0" tIns="0" rIns="0" bIns="0" rtlCol="0" anchor="ctr"/>
          <a:lstStyle/>
          <a:p>
            <a:pPr marL="0" indent="0">
              <a:buNone/>
            </a:pPr>
            <a:r>
              <a:rPr lang="en-US" sz="1350" b="1" kern="0" spc="100" dirty="0">
                <a:solidFill>
                  <a:srgbClr val="2E6968"/>
                </a:solidFill>
                <a:latin typeface="Calibri" pitchFamily="34" charset="0"/>
                <a:ea typeface="Calibri" pitchFamily="34" charset="-122"/>
                <a:cs typeface="Calibri" pitchFamily="34" charset="-120"/>
              </a:rPr>
              <a:t>DESARROLLO · 55 min</a:t>
            </a:r>
            <a:endParaRPr lang="en-US" sz="1350" dirty="0"/>
          </a:p>
        </p:txBody>
      </p:sp>
      <p:sp>
        <p:nvSpPr>
          <p:cNvPr id="9" name="Text 7"/>
          <p:cNvSpPr txBox="1"/>
          <p:nvPr/>
        </p:nvSpPr>
        <p:spPr>
          <a:xfrm>
            <a:off x="4572000" y="2103120"/>
            <a:ext cx="30175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Genes BRCA, dos árboles, riesgo en números, heredado vs. modificable, límites de la evidencia.</a:t>
            </a:r>
            <a:endParaRPr lang="en-US" sz="1450" dirty="0"/>
          </a:p>
        </p:txBody>
      </p:sp>
      <p:sp>
        <p:nvSpPr>
          <p:cNvPr id="10" name="Shape 8"/>
          <p:cNvSpPr/>
          <p:nvPr/>
        </p:nvSpPr>
        <p:spPr>
          <a:xfrm>
            <a:off x="8046720" y="1600200"/>
            <a:ext cx="3566160" cy="1417320"/>
          </a:xfrm>
          <a:prstGeom prst="roundRect">
            <a:avLst>
              <a:gd name="adj" fmla="val 5806"/>
            </a:avLst>
          </a:prstGeom>
          <a:solidFill>
            <a:srgbClr val="EAE3F0"/>
          </a:solidFill>
          <a:ln/>
        </p:spPr>
      </p:sp>
      <p:sp>
        <p:nvSpPr>
          <p:cNvPr id="11" name="Text 9"/>
          <p:cNvSpPr txBox="1"/>
          <p:nvPr/>
        </p:nvSpPr>
        <p:spPr>
          <a:xfrm>
            <a:off x="8321040" y="1755648"/>
            <a:ext cx="3017520" cy="329184"/>
          </a:xfrm>
          <a:prstGeom prst="rect">
            <a:avLst/>
          </a:prstGeom>
          <a:noFill/>
          <a:ln/>
        </p:spPr>
        <p:txBody>
          <a:bodyPr wrap="square" lIns="0" tIns="0" rIns="0" bIns="0" rtlCol="0" anchor="ctr"/>
          <a:lstStyle/>
          <a:p>
            <a:pPr marL="0" indent="0">
              <a:buNone/>
            </a:pPr>
            <a:r>
              <a:rPr lang="en-US" sz="1350" b="1" kern="0" spc="100" dirty="0">
                <a:solidFill>
                  <a:srgbClr val="5F4780"/>
                </a:solidFill>
                <a:latin typeface="Calibri" pitchFamily="34" charset="0"/>
                <a:ea typeface="Calibri" pitchFamily="34" charset="-122"/>
                <a:cs typeface="Calibri" pitchFamily="34" charset="-120"/>
              </a:rPr>
              <a:t>CIERRE · 20 min</a:t>
            </a:r>
            <a:endParaRPr lang="en-US" sz="1350" dirty="0"/>
          </a:p>
        </p:txBody>
      </p:sp>
      <p:sp>
        <p:nvSpPr>
          <p:cNvPr id="12" name="Text 10"/>
          <p:cNvSpPr txBox="1"/>
          <p:nvPr/>
        </p:nvSpPr>
        <p:spPr>
          <a:xfrm>
            <a:off x="8321040" y="2103120"/>
            <a:ext cx="30175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Dilemas éticos, práctica PAES y ticket de salida.</a:t>
            </a:r>
            <a:endParaRPr lang="en-US" sz="14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3291840"/>
          <a:ext cx="11064240" cy="2743200"/>
        </p:xfrm>
        <a:graphic>
          <a:graphicData uri="http://schemas.openxmlformats.org/drawingml/2006/table">
            <a:tbl>
              <a:tblPr/>
              <a:tblGrid>
                <a:gridCol w="3840480">
                  <a:extLst>
                    <a:ext uri="{9D8B030D-6E8A-4147-A177-3AD203B41FA5}">
                      <a16:colId xmlns:a16="http://schemas.microsoft.com/office/drawing/2014/main" val="20000"/>
                    </a:ext>
                  </a:extLst>
                </a:gridCol>
                <a:gridCol w="7223760">
                  <a:extLst>
                    <a:ext uri="{9D8B030D-6E8A-4147-A177-3AD203B41FA5}">
                      <a16:colId xmlns:a16="http://schemas.microsoft.com/office/drawing/2014/main" val="20001"/>
                    </a:ext>
                  </a:extLst>
                </a:gridCol>
              </a:tblGrid>
              <a:tr h="457200">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Habilidad científica (PAES)</a:t>
                      </a:r>
                      <a:endParaRPr lang="en-US" sz="135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F3A56"/>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Dónde la practicas hoy</a:t>
                      </a:r>
                      <a:endParaRPr lang="en-US" sz="135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F3A56"/>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22261F"/>
                          </a:solidFill>
                          <a:latin typeface="Calibri" pitchFamily="34" charset="0"/>
                          <a:ea typeface="Calibri" pitchFamily="34" charset="-122"/>
                          <a:cs typeface="Calibri" pitchFamily="34" charset="-120"/>
                        </a:rPr>
                        <a:t>Observar y plantear preguntas</a:t>
                      </a:r>
                      <a:endParaRPr lang="en-US" sz="140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400" dirty="0">
                          <a:solidFill>
                            <a:srgbClr val="22261F"/>
                          </a:solidFill>
                          <a:latin typeface="Calibri" pitchFamily="34" charset="0"/>
                          <a:ea typeface="Calibri" pitchFamily="34" charset="-122"/>
                          <a:cs typeface="Calibri" pitchFamily="34" charset="-120"/>
                        </a:rPr>
                        <a:t>Árbol 1: formulas una pregunta que el árbol no puede responder</a:t>
                      </a:r>
                      <a:endParaRPr lang="en-US" sz="140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rgbClr val="22261F"/>
                          </a:solidFill>
                          <a:latin typeface="Calibri" pitchFamily="34" charset="0"/>
                          <a:ea typeface="Calibri" pitchFamily="34" charset="-122"/>
                          <a:cs typeface="Calibri" pitchFamily="34" charset="-120"/>
                        </a:rPr>
                        <a:t>Planificar y conducir una investigación</a:t>
                      </a:r>
                      <a:endParaRPr lang="en-US" sz="140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400" dirty="0">
                          <a:solidFill>
                            <a:srgbClr val="22261F"/>
                          </a:solidFill>
                          <a:latin typeface="Calibri" pitchFamily="34" charset="0"/>
                          <a:ea typeface="Calibri" pitchFamily="34" charset="-122"/>
                          <a:cs typeface="Calibri" pitchFamily="34" charset="-120"/>
                        </a:rPr>
                        <a:t>Cómo se encontró BRCA1: ¿qué datos necesitarías para separar genes de ambiente?</a:t>
                      </a:r>
                      <a:endParaRPr lang="en-US" sz="140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rgbClr val="22261F"/>
                          </a:solidFill>
                          <a:latin typeface="Calibri" pitchFamily="34" charset="0"/>
                          <a:ea typeface="Calibri" pitchFamily="34" charset="-122"/>
                          <a:cs typeface="Calibri" pitchFamily="34" charset="-120"/>
                        </a:rPr>
                        <a:t>Procesar y analizar la evidencia</a:t>
                      </a:r>
                      <a:endParaRPr lang="en-US" sz="140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400" dirty="0">
                          <a:solidFill>
                            <a:srgbClr val="22261F"/>
                          </a:solidFill>
                          <a:latin typeface="Calibri" pitchFamily="34" charset="0"/>
                          <a:ea typeface="Calibri" pitchFamily="34" charset="-122"/>
                          <a:cs typeface="Calibri" pitchFamily="34" charset="-120"/>
                        </a:rPr>
                        <a:t>Árboles 1 y 2, gráfico de riesgo, ítems 1 y 2</a:t>
                      </a:r>
                      <a:endParaRPr lang="en-US" sz="140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rgbClr val="22261F"/>
                          </a:solidFill>
                          <a:latin typeface="Calibri" pitchFamily="34" charset="0"/>
                          <a:ea typeface="Calibri" pitchFamily="34" charset="-122"/>
                          <a:cs typeface="Calibri" pitchFamily="34" charset="-120"/>
                        </a:rPr>
                        <a:t>Evaluar</a:t>
                      </a:r>
                      <a:endParaRPr lang="en-US" sz="140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400" dirty="0">
                          <a:solidFill>
                            <a:srgbClr val="22261F"/>
                          </a:solidFill>
                          <a:latin typeface="Calibri" pitchFamily="34" charset="0"/>
                          <a:ea typeface="Calibri" pitchFamily="34" charset="-122"/>
                          <a:cs typeface="Calibri" pitchFamily="34" charset="-120"/>
                        </a:rPr>
                        <a:t>«Cuestiona el árbol» e ítem 3: ¿la conclusión sale de la evidencia?</a:t>
                      </a:r>
                      <a:endParaRPr lang="en-US" sz="140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dirty="0">
                          <a:solidFill>
                            <a:srgbClr val="22261F"/>
                          </a:solidFill>
                          <a:latin typeface="Calibri" pitchFamily="34" charset="0"/>
                          <a:ea typeface="Calibri" pitchFamily="34" charset="-122"/>
                          <a:cs typeface="Calibri" pitchFamily="34" charset="-120"/>
                        </a:rPr>
                        <a:t>Comunicar</a:t>
                      </a:r>
                      <a:endParaRPr lang="en-US" sz="140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400" dirty="0">
                          <a:solidFill>
                            <a:srgbClr val="22261F"/>
                          </a:solidFill>
                          <a:latin typeface="Calibri" pitchFamily="34" charset="0"/>
                          <a:ea typeface="Calibri" pitchFamily="34" charset="-122"/>
                          <a:cs typeface="Calibri" pitchFamily="34" charset="-120"/>
                        </a:rPr>
                        <a:t>Pictograma: ¿qué recurso comunica mejor un riesgo?</a:t>
                      </a:r>
                      <a:endParaRPr lang="en-US" sz="1400" dirty="0">
                        <a:latin typeface="Calibri" charset="0"/>
                        <a:ea typeface="Calibri" charset="0"/>
                        <a:cs typeface="Calibri" charset="0"/>
                      </a:endParaRPr>
                    </a:p>
                  </a:txBody>
                  <a:tcPr marL="109728" marR="109728" marT="27432" marB="27432"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Text 11"/>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15" name="Text 12"/>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2 / 20</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4E6B4E"/>
                </a:solidFill>
                <a:latin typeface="Calibri" pitchFamily="34" charset="0"/>
                <a:ea typeface="Calibri" pitchFamily="34" charset="-122"/>
                <a:cs typeface="Calibri" pitchFamily="34" charset="-120"/>
              </a:rPr>
              <a:t>INICIO · 15 MIN</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Una decisión real</a:t>
            </a:r>
            <a:endParaRPr lang="en-US" sz="3200" dirty="0"/>
          </a:p>
        </p:txBody>
      </p:sp>
      <p:sp>
        <p:nvSpPr>
          <p:cNvPr id="4" name="Text 2"/>
          <p:cNvSpPr txBox="1"/>
          <p:nvPr/>
        </p:nvSpPr>
        <p:spPr>
          <a:xfrm>
            <a:off x="548640" y="1508760"/>
            <a:ext cx="6583680" cy="1554480"/>
          </a:xfrm>
          <a:prstGeom prst="rect">
            <a:avLst/>
          </a:prstGeom>
          <a:noFill/>
          <a:ln/>
        </p:spPr>
        <p:txBody>
          <a:bodyPr wrap="square" lIns="0" tIns="0" rIns="0" bIns="0" rtlCol="0" anchor="ctr"/>
          <a:lstStyle/>
          <a:p>
            <a:pPr marL="0" indent="0">
              <a:lnSpc>
                <a:spcPts val="2500"/>
              </a:lnSpc>
              <a:buNone/>
            </a:pPr>
            <a:r>
              <a:rPr lang="en-US" sz="1800" dirty="0">
                <a:solidFill>
                  <a:srgbClr val="22261F"/>
                </a:solidFill>
                <a:latin typeface="Calibri" pitchFamily="34" charset="0"/>
                <a:ea typeface="Calibri" pitchFamily="34" charset="-122"/>
                <a:cs typeface="Calibri" pitchFamily="34" charset="-120"/>
              </a:rPr>
              <a:t>En 2013, Angelina Jolie contó en The New York Times que era portadora de una variante en el gen BRCA1. Su madre había muerto de cáncer de ovario a los 56 años. Sus médicos estimaron para ella un 87% de riesgo de cáncer de mama y un 50% de cáncer de ovario.</a:t>
            </a:r>
            <a:endParaRPr lang="en-US" sz="1800" dirty="0"/>
          </a:p>
        </p:txBody>
      </p:sp>
      <p:sp>
        <p:nvSpPr>
          <p:cNvPr id="5" name="Shape 3"/>
          <p:cNvSpPr/>
          <p:nvPr/>
        </p:nvSpPr>
        <p:spPr>
          <a:xfrm>
            <a:off x="548640" y="3291840"/>
            <a:ext cx="6583680" cy="2194560"/>
          </a:xfrm>
          <a:prstGeom prst="roundRect">
            <a:avLst>
              <a:gd name="adj" fmla="val 3333"/>
            </a:avLst>
          </a:prstGeom>
          <a:solidFill>
            <a:srgbClr val="F7F5F0"/>
          </a:solidFill>
          <a:ln w="12700">
            <a:solidFill>
              <a:srgbClr val="DCE3EA"/>
            </a:solidFill>
            <a:prstDash val="solid"/>
          </a:ln>
        </p:spPr>
      </p:sp>
      <p:sp>
        <p:nvSpPr>
          <p:cNvPr id="6" name="Shape 4"/>
          <p:cNvSpPr/>
          <p:nvPr/>
        </p:nvSpPr>
        <p:spPr>
          <a:xfrm>
            <a:off x="822960" y="3520440"/>
            <a:ext cx="3291840" cy="310896"/>
          </a:xfrm>
          <a:prstGeom prst="roundRect">
            <a:avLst>
              <a:gd name="adj" fmla="val 50000"/>
            </a:avLst>
          </a:prstGeom>
          <a:solidFill>
            <a:srgbClr val="1F3A56"/>
          </a:solidFill>
          <a:ln/>
        </p:spPr>
      </p:sp>
      <p:sp>
        <p:nvSpPr>
          <p:cNvPr id="7" name="Text 5"/>
          <p:cNvSpPr txBox="1"/>
          <p:nvPr/>
        </p:nvSpPr>
        <p:spPr>
          <a:xfrm>
            <a:off x="822960" y="3520440"/>
            <a:ext cx="329184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EN TU CUADERNO · 3 MIN, SIN FILTRO</a:t>
            </a:r>
            <a:endParaRPr lang="en-US" sz="1150" dirty="0"/>
          </a:p>
        </p:txBody>
      </p:sp>
      <p:sp>
        <p:nvSpPr>
          <p:cNvPr id="8" name="Text 6"/>
          <p:cNvSpPr txBox="1"/>
          <p:nvPr/>
        </p:nvSpPr>
        <p:spPr>
          <a:xfrm>
            <a:off x="822960" y="4023360"/>
            <a:ext cx="6035040" cy="1371600"/>
          </a:xfrm>
          <a:prstGeom prst="rect">
            <a:avLst/>
          </a:prstGeom>
          <a:noFill/>
          <a:ln/>
        </p:spPr>
        <p:txBody>
          <a:bodyPr wrap="square" lIns="0" tIns="0" rIns="0" bIns="0" rtlCol="0" anchor="t"/>
          <a:lstStyle/>
          <a:p>
            <a:pPr marL="342900" indent="-342900">
              <a:spcAft>
                <a:spcPts val="1000"/>
              </a:spcAft>
              <a:buSzPct val="100000"/>
              <a:buFont typeface="+mj-lt"/>
              <a:buAutoNum type="arabicPeriod"/>
            </a:pPr>
            <a:r>
              <a:rPr lang="en-US" sz="1700" dirty="0">
                <a:solidFill>
                  <a:srgbClr val="22261F"/>
                </a:solidFill>
                <a:latin typeface="Calibri" pitchFamily="34" charset="0"/>
                <a:ea typeface="Calibri" pitchFamily="34" charset="-122"/>
                <a:cs typeface="Calibri" pitchFamily="34" charset="-120"/>
              </a:rPr>
              <a:t>¿Querrías saber si eres portador/a? ¿Por qué sí o por qué no?</a:t>
            </a:r>
            <a:endParaRPr lang="en-US" sz="1700" dirty="0"/>
          </a:p>
          <a:p>
            <a:pPr marL="342900" indent="-342900">
              <a:spcAft>
                <a:spcPts val="1000"/>
              </a:spcAft>
              <a:buSzPct val="100000"/>
              <a:buFont typeface="+mj-lt"/>
              <a:buAutoNum type="arabicPeriod"/>
            </a:pPr>
            <a:r>
              <a:rPr lang="en-US" sz="1700" dirty="0">
                <a:solidFill>
                  <a:srgbClr val="22261F"/>
                </a:solidFill>
                <a:latin typeface="Calibri" pitchFamily="34" charset="0"/>
                <a:ea typeface="Calibri" pitchFamily="34" charset="-122"/>
                <a:cs typeface="Calibri" pitchFamily="34" charset="-120"/>
              </a:rPr>
              <a:t>¿Qué necesitarías saber antes de decidir algo?</a:t>
            </a:r>
            <a:endParaRPr lang="en-US" sz="1700" dirty="0"/>
          </a:p>
        </p:txBody>
      </p:sp>
      <p:sp>
        <p:nvSpPr>
          <p:cNvPr id="9" name="Shape 7"/>
          <p:cNvSpPr/>
          <p:nvPr/>
        </p:nvSpPr>
        <p:spPr>
          <a:xfrm>
            <a:off x="7772400" y="1554480"/>
            <a:ext cx="3840480" cy="1874520"/>
          </a:xfrm>
          <a:prstGeom prst="roundRect">
            <a:avLst>
              <a:gd name="adj" fmla="val 4390"/>
            </a:avLst>
          </a:prstGeom>
          <a:solidFill>
            <a:srgbClr val="1F3A56"/>
          </a:solidFill>
          <a:ln/>
        </p:spPr>
      </p:sp>
      <p:sp>
        <p:nvSpPr>
          <p:cNvPr id="10" name="Text 8"/>
          <p:cNvSpPr txBox="1"/>
          <p:nvPr/>
        </p:nvSpPr>
        <p:spPr>
          <a:xfrm>
            <a:off x="7772400" y="1645920"/>
            <a:ext cx="3840480" cy="100584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87%</a:t>
            </a:r>
            <a:endParaRPr lang="en-US" sz="6000" dirty="0"/>
          </a:p>
        </p:txBody>
      </p:sp>
      <p:sp>
        <p:nvSpPr>
          <p:cNvPr id="11" name="Text 9"/>
          <p:cNvSpPr txBox="1"/>
          <p:nvPr/>
        </p:nvSpPr>
        <p:spPr>
          <a:xfrm>
            <a:off x="7955280" y="2697480"/>
            <a:ext cx="3474720" cy="457200"/>
          </a:xfrm>
          <a:prstGeom prst="rect">
            <a:avLst/>
          </a:prstGeom>
          <a:noFill/>
          <a:ln/>
        </p:spPr>
        <p:txBody>
          <a:bodyPr wrap="square" lIns="0" tIns="0" rIns="0" bIns="0" rtlCol="0" anchor="ctr"/>
          <a:lstStyle/>
          <a:p>
            <a:pPr marL="0" indent="0" algn="ctr">
              <a:buNone/>
            </a:pPr>
            <a:r>
              <a:rPr lang="en-US" sz="1450" dirty="0">
                <a:solidFill>
                  <a:srgbClr val="C7D3DE"/>
                </a:solidFill>
                <a:latin typeface="Calibri" pitchFamily="34" charset="0"/>
                <a:ea typeface="Calibri" pitchFamily="34" charset="-122"/>
                <a:cs typeface="Calibri" pitchFamily="34" charset="-120"/>
              </a:rPr>
              <a:t>riesgo estimado de cáncer de mama</a:t>
            </a:r>
            <a:endParaRPr lang="en-US" sz="1450" dirty="0"/>
          </a:p>
        </p:txBody>
      </p:sp>
      <p:sp>
        <p:nvSpPr>
          <p:cNvPr id="12" name="Shape 10"/>
          <p:cNvSpPr/>
          <p:nvPr/>
        </p:nvSpPr>
        <p:spPr>
          <a:xfrm>
            <a:off x="7772400" y="3611880"/>
            <a:ext cx="3840480" cy="1874520"/>
          </a:xfrm>
          <a:prstGeom prst="roundRect">
            <a:avLst>
              <a:gd name="adj" fmla="val 4390"/>
            </a:avLst>
          </a:prstGeom>
          <a:solidFill>
            <a:srgbClr val="2E6968"/>
          </a:solidFill>
          <a:ln/>
        </p:spPr>
      </p:sp>
      <p:sp>
        <p:nvSpPr>
          <p:cNvPr id="13" name="Text 11"/>
          <p:cNvSpPr txBox="1"/>
          <p:nvPr/>
        </p:nvSpPr>
        <p:spPr>
          <a:xfrm>
            <a:off x="7772400" y="3703320"/>
            <a:ext cx="3840480" cy="1005840"/>
          </a:xfrm>
          <a:prstGeom prst="rect">
            <a:avLst/>
          </a:prstGeom>
          <a:noFill/>
          <a:ln/>
        </p:spPr>
        <p:txBody>
          <a:bodyPr wrap="square" lIns="0" tIns="0" rIns="0" bIns="0" rtlCol="0" anchor="ctr"/>
          <a:lstStyle/>
          <a:p>
            <a:pPr marL="0" indent="0" algn="ctr">
              <a:buNone/>
            </a:pPr>
            <a:r>
              <a:rPr lang="en-US" sz="6000" b="1" dirty="0">
                <a:solidFill>
                  <a:srgbClr val="FFFFFF"/>
                </a:solidFill>
                <a:latin typeface="Cambria" pitchFamily="34" charset="0"/>
                <a:ea typeface="Cambria" pitchFamily="34" charset="-122"/>
                <a:cs typeface="Cambria" pitchFamily="34" charset="-120"/>
              </a:rPr>
              <a:t>50%</a:t>
            </a:r>
            <a:endParaRPr lang="en-US" sz="6000" dirty="0"/>
          </a:p>
        </p:txBody>
      </p:sp>
      <p:sp>
        <p:nvSpPr>
          <p:cNvPr id="14" name="Text 12"/>
          <p:cNvSpPr txBox="1"/>
          <p:nvPr/>
        </p:nvSpPr>
        <p:spPr>
          <a:xfrm>
            <a:off x="7955280" y="4754880"/>
            <a:ext cx="3474720" cy="457200"/>
          </a:xfrm>
          <a:prstGeom prst="rect">
            <a:avLst/>
          </a:prstGeom>
          <a:noFill/>
          <a:ln/>
        </p:spPr>
        <p:txBody>
          <a:bodyPr wrap="square" lIns="0" tIns="0" rIns="0" bIns="0" rtlCol="0" anchor="ctr"/>
          <a:lstStyle/>
          <a:p>
            <a:pPr marL="0" indent="0" algn="ctr">
              <a:buNone/>
            </a:pPr>
            <a:r>
              <a:rPr lang="en-US" sz="1450" dirty="0">
                <a:solidFill>
                  <a:srgbClr val="DFEEED"/>
                </a:solidFill>
                <a:latin typeface="Calibri" pitchFamily="34" charset="0"/>
                <a:ea typeface="Calibri" pitchFamily="34" charset="-122"/>
                <a:cs typeface="Calibri" pitchFamily="34" charset="-120"/>
              </a:rPr>
              <a:t>riesgo estimado de cáncer de ovario</a:t>
            </a:r>
            <a:endParaRPr lang="en-US" sz="1450" dirty="0"/>
          </a:p>
        </p:txBody>
      </p:sp>
      <p:sp>
        <p:nvSpPr>
          <p:cNvPr id="15" name="Text 13"/>
          <p:cNvSpPr txBox="1"/>
          <p:nvPr/>
        </p:nvSpPr>
        <p:spPr>
          <a:xfrm>
            <a:off x="7772400" y="5577840"/>
            <a:ext cx="3840480" cy="457200"/>
          </a:xfrm>
          <a:prstGeom prst="rect">
            <a:avLst/>
          </a:prstGeom>
          <a:noFill/>
          <a:ln/>
        </p:spPr>
        <p:txBody>
          <a:bodyPr wrap="square" lIns="0" tIns="0" rIns="0" bIns="0" rtlCol="0" anchor="ctr"/>
          <a:lstStyle/>
          <a:p>
            <a:pPr marL="0" indent="0" algn="ctr">
              <a:buNone/>
            </a:pPr>
            <a:r>
              <a:rPr lang="en-US" sz="1250" i="1" dirty="0">
                <a:solidFill>
                  <a:srgbClr val="5B6B7A"/>
                </a:solidFill>
                <a:latin typeface="Calibri" pitchFamily="34" charset="0"/>
                <a:ea typeface="Calibri" pitchFamily="34" charset="-122"/>
                <a:cs typeface="Calibri" pitchFamily="34" charset="-120"/>
              </a:rPr>
              <a:t>Estimaciones para ella, según sus médicos. Un riesgo no es un destino.</a:t>
            </a:r>
            <a:endParaRPr lang="en-US" sz="1250" dirty="0"/>
          </a:p>
        </p:txBody>
      </p:sp>
      <p:sp>
        <p:nvSpPr>
          <p:cNvPr id="16" name="Text 14"/>
          <p:cNvSpPr txBox="1"/>
          <p:nvPr/>
        </p:nvSpPr>
        <p:spPr>
          <a:xfrm>
            <a:off x="548640" y="5897880"/>
            <a:ext cx="6583680" cy="457200"/>
          </a:xfrm>
          <a:prstGeom prst="rect">
            <a:avLst/>
          </a:prstGeom>
          <a:noFill/>
          <a:ln/>
        </p:spPr>
        <p:txBody>
          <a:bodyPr wrap="square" lIns="0" tIns="0" rIns="0" bIns="0" rtlCol="0" anchor="ctr"/>
          <a:lstStyle/>
          <a:p>
            <a:pPr marL="0" indent="0">
              <a:buNone/>
            </a:pPr>
            <a:r>
              <a:rPr lang="en-US" sz="1250" i="1" dirty="0">
                <a:solidFill>
                  <a:srgbClr val="5B6B7A"/>
                </a:solidFill>
                <a:latin typeface="Calibri" pitchFamily="34" charset="0"/>
                <a:ea typeface="Calibri" pitchFamily="34" charset="-122"/>
                <a:cs typeface="Calibri" pitchFamily="34" charset="-120"/>
              </a:rPr>
              <a:t>Este tema puede tocar a personas cercanas. Puedes pausar cuando lo necesites y conversarlo conmigo después.</a:t>
            </a:r>
            <a:endParaRPr lang="en-US" sz="1250" dirty="0"/>
          </a:p>
        </p:txBody>
      </p:sp>
      <p:sp>
        <p:nvSpPr>
          <p:cNvPr id="17" name="Text 15"/>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18" name="Text 16"/>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3 / 20</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2E6968"/>
                </a:solidFill>
                <a:latin typeface="Calibri" pitchFamily="34" charset="0"/>
                <a:ea typeface="Calibri" pitchFamily="34" charset="-122"/>
                <a:cs typeface="Calibri" pitchFamily="34" charset="-120"/>
              </a:rPr>
              <a:t>DESARROLLO · COMPRENDER</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BRCA1 y BRCA2: genes que reparan el ADN</a:t>
            </a:r>
            <a:endParaRPr lang="en-US" sz="3200" dirty="0"/>
          </a:p>
        </p:txBody>
      </p:sp>
      <p:sp>
        <p:nvSpPr>
          <p:cNvPr id="4" name="Text 2"/>
          <p:cNvSpPr txBox="1"/>
          <p:nvPr/>
        </p:nvSpPr>
        <p:spPr>
          <a:xfrm>
            <a:off x="548640" y="1463040"/>
            <a:ext cx="11064240" cy="777240"/>
          </a:xfrm>
          <a:prstGeom prst="rect">
            <a:avLst/>
          </a:prstGeom>
          <a:noFill/>
          <a:ln/>
        </p:spPr>
        <p:txBody>
          <a:bodyPr wrap="square" lIns="0" tIns="0" rIns="0" bIns="0" rtlCol="0" anchor="ctr"/>
          <a:lstStyle/>
          <a:p>
            <a:pPr marL="0" indent="0">
              <a:lnSpc>
                <a:spcPts val="2200"/>
              </a:lnSpc>
              <a:buNone/>
            </a:pPr>
            <a:r>
              <a:rPr lang="en-US" sz="1650" dirty="0">
                <a:solidFill>
                  <a:srgbClr val="22261F"/>
                </a:solidFill>
                <a:latin typeface="Calibri" pitchFamily="34" charset="0"/>
                <a:ea typeface="Calibri" pitchFamily="34" charset="-122"/>
                <a:cs typeface="Calibri" pitchFamily="34" charset="-120"/>
              </a:rPr>
              <a:t>Todas las personas tenemos ambos genes (BRCA1 en el cromosoma 17, BRCA2 en el 13). Sus proteínas ayudan a reparar roturas de doble hebra del ADN: son genes supresores de tumores.</a:t>
            </a:r>
            <a:endParaRPr lang="en-US" sz="1650" dirty="0"/>
          </a:p>
        </p:txBody>
      </p:sp>
      <p:sp>
        <p:nvSpPr>
          <p:cNvPr id="5" name="Shape 3"/>
          <p:cNvSpPr/>
          <p:nvPr/>
        </p:nvSpPr>
        <p:spPr>
          <a:xfrm>
            <a:off x="548640" y="2377440"/>
            <a:ext cx="3520440" cy="2788920"/>
          </a:xfrm>
          <a:prstGeom prst="roundRect">
            <a:avLst>
              <a:gd name="adj" fmla="val 2951"/>
            </a:avLst>
          </a:prstGeom>
          <a:solidFill>
            <a:srgbClr val="E7EDE7"/>
          </a:solidFill>
          <a:ln/>
        </p:spPr>
      </p:sp>
      <p:sp>
        <p:nvSpPr>
          <p:cNvPr id="6" name="Text 4"/>
          <p:cNvSpPr txBox="1"/>
          <p:nvPr/>
        </p:nvSpPr>
        <p:spPr>
          <a:xfrm>
            <a:off x="822960" y="2514600"/>
            <a:ext cx="3017520" cy="365760"/>
          </a:xfrm>
          <a:prstGeom prst="rect">
            <a:avLst/>
          </a:prstGeom>
          <a:noFill/>
          <a:ln/>
        </p:spPr>
        <p:txBody>
          <a:bodyPr wrap="square" lIns="0" tIns="0" rIns="0" bIns="0" rtlCol="0" anchor="ctr"/>
          <a:lstStyle/>
          <a:p>
            <a:pPr marL="0" indent="0">
              <a:buNone/>
            </a:pPr>
            <a:r>
              <a:rPr lang="en-US" sz="1700" b="1" dirty="0">
                <a:solidFill>
                  <a:srgbClr val="22261F"/>
                </a:solidFill>
                <a:latin typeface="Cambria" pitchFamily="34" charset="0"/>
                <a:ea typeface="Cambria" pitchFamily="34" charset="-122"/>
                <a:cs typeface="Cambria" pitchFamily="34" charset="-120"/>
              </a:rPr>
              <a:t>Célula sin variante</a:t>
            </a:r>
            <a:endParaRPr lang="en-US" sz="1700" dirty="0"/>
          </a:p>
        </p:txBody>
      </p:sp>
      <p:sp>
        <p:nvSpPr>
          <p:cNvPr id="7" name="Shape 5"/>
          <p:cNvSpPr/>
          <p:nvPr/>
        </p:nvSpPr>
        <p:spPr>
          <a:xfrm>
            <a:off x="1508760" y="2971800"/>
            <a:ext cx="457200" cy="868680"/>
          </a:xfrm>
          <a:prstGeom prst="roundRect">
            <a:avLst>
              <a:gd name="adj" fmla="val 44000"/>
            </a:avLst>
          </a:prstGeom>
          <a:solidFill>
            <a:srgbClr val="4E6B4E"/>
          </a:solidFill>
          <a:ln/>
        </p:spPr>
      </p:sp>
      <p:sp>
        <p:nvSpPr>
          <p:cNvPr id="8" name="Text 6"/>
          <p:cNvSpPr txBox="1"/>
          <p:nvPr/>
        </p:nvSpPr>
        <p:spPr>
          <a:xfrm>
            <a:off x="1280160" y="3858768"/>
            <a:ext cx="914400" cy="256032"/>
          </a:xfrm>
          <a:prstGeom prst="rect">
            <a:avLst/>
          </a:prstGeom>
          <a:noFill/>
          <a:ln/>
        </p:spPr>
        <p:txBody>
          <a:bodyPr wrap="square" lIns="0" tIns="0" rIns="0" bIns="0" rtlCol="0" anchor="ctr"/>
          <a:lstStyle/>
          <a:p>
            <a:pPr marL="0" indent="0" algn="ctr">
              <a:buNone/>
            </a:pPr>
            <a:r>
              <a:rPr lang="en-US" sz="1150" dirty="0">
                <a:solidFill>
                  <a:srgbClr val="5B6B7A"/>
                </a:solidFill>
                <a:latin typeface="Calibri" pitchFamily="34" charset="0"/>
                <a:ea typeface="Calibri" pitchFamily="34" charset="-122"/>
                <a:cs typeface="Calibri" pitchFamily="34" charset="-120"/>
              </a:rPr>
              <a:t>normal</a:t>
            </a:r>
            <a:endParaRPr lang="en-US" sz="1150" dirty="0"/>
          </a:p>
        </p:txBody>
      </p:sp>
      <p:sp>
        <p:nvSpPr>
          <p:cNvPr id="9" name="Shape 7"/>
          <p:cNvSpPr/>
          <p:nvPr/>
        </p:nvSpPr>
        <p:spPr>
          <a:xfrm>
            <a:off x="2377440" y="2971800"/>
            <a:ext cx="457200" cy="868680"/>
          </a:xfrm>
          <a:prstGeom prst="roundRect">
            <a:avLst>
              <a:gd name="adj" fmla="val 44000"/>
            </a:avLst>
          </a:prstGeom>
          <a:solidFill>
            <a:srgbClr val="4E6B4E"/>
          </a:solidFill>
          <a:ln/>
        </p:spPr>
      </p:sp>
      <p:sp>
        <p:nvSpPr>
          <p:cNvPr id="10" name="Text 8"/>
          <p:cNvSpPr txBox="1"/>
          <p:nvPr/>
        </p:nvSpPr>
        <p:spPr>
          <a:xfrm>
            <a:off x="2148840" y="3858768"/>
            <a:ext cx="914400" cy="256032"/>
          </a:xfrm>
          <a:prstGeom prst="rect">
            <a:avLst/>
          </a:prstGeom>
          <a:noFill/>
          <a:ln/>
        </p:spPr>
        <p:txBody>
          <a:bodyPr wrap="square" lIns="0" tIns="0" rIns="0" bIns="0" rtlCol="0" anchor="ctr"/>
          <a:lstStyle/>
          <a:p>
            <a:pPr marL="0" indent="0" algn="ctr">
              <a:buNone/>
            </a:pPr>
            <a:r>
              <a:rPr lang="en-US" sz="1150" dirty="0">
                <a:solidFill>
                  <a:srgbClr val="5B6B7A"/>
                </a:solidFill>
                <a:latin typeface="Calibri" pitchFamily="34" charset="0"/>
                <a:ea typeface="Calibri" pitchFamily="34" charset="-122"/>
                <a:cs typeface="Calibri" pitchFamily="34" charset="-120"/>
              </a:rPr>
              <a:t>normal</a:t>
            </a:r>
            <a:endParaRPr lang="en-US" sz="1150" dirty="0"/>
          </a:p>
        </p:txBody>
      </p:sp>
      <p:sp>
        <p:nvSpPr>
          <p:cNvPr id="11" name="Text 9"/>
          <p:cNvSpPr txBox="1"/>
          <p:nvPr/>
        </p:nvSpPr>
        <p:spPr>
          <a:xfrm>
            <a:off x="822960" y="4206240"/>
            <a:ext cx="3017520" cy="914400"/>
          </a:xfrm>
          <a:prstGeom prst="rect">
            <a:avLst/>
          </a:prstGeom>
          <a:noFill/>
          <a:ln/>
        </p:spPr>
        <p:txBody>
          <a:bodyPr wrap="square" lIns="0" tIns="0" rIns="0" bIns="0" rtlCol="0" anchor="ctr"/>
          <a:lstStyle/>
          <a:p>
            <a:pPr marL="0" indent="0">
              <a:lnSpc>
                <a:spcPts val="1700"/>
              </a:lnSpc>
              <a:buNone/>
            </a:pPr>
            <a:r>
              <a:rPr lang="en-US" sz="1350" dirty="0">
                <a:solidFill>
                  <a:srgbClr val="22261F"/>
                </a:solidFill>
                <a:latin typeface="Calibri" pitchFamily="34" charset="0"/>
                <a:ea typeface="Calibri" pitchFamily="34" charset="-122"/>
                <a:cs typeface="Calibri" pitchFamily="34" charset="-120"/>
              </a:rPr>
              <a:t>Dos copias funcionales: la reparación del ADN es eficaz.</a:t>
            </a:r>
            <a:endParaRPr lang="en-US" sz="1350" dirty="0"/>
          </a:p>
        </p:txBody>
      </p:sp>
      <p:sp>
        <p:nvSpPr>
          <p:cNvPr id="12" name="Shape 10"/>
          <p:cNvSpPr/>
          <p:nvPr/>
        </p:nvSpPr>
        <p:spPr>
          <a:xfrm>
            <a:off x="4297680" y="2377440"/>
            <a:ext cx="3520440" cy="2788920"/>
          </a:xfrm>
          <a:prstGeom prst="roundRect">
            <a:avLst>
              <a:gd name="adj" fmla="val 2951"/>
            </a:avLst>
          </a:prstGeom>
          <a:solidFill>
            <a:srgbClr val="F5E8DA"/>
          </a:solidFill>
          <a:ln/>
        </p:spPr>
      </p:sp>
      <p:sp>
        <p:nvSpPr>
          <p:cNvPr id="13" name="Text 11"/>
          <p:cNvSpPr txBox="1"/>
          <p:nvPr/>
        </p:nvSpPr>
        <p:spPr>
          <a:xfrm>
            <a:off x="4572000" y="2514600"/>
            <a:ext cx="3017520" cy="365760"/>
          </a:xfrm>
          <a:prstGeom prst="rect">
            <a:avLst/>
          </a:prstGeom>
          <a:noFill/>
          <a:ln/>
        </p:spPr>
        <p:txBody>
          <a:bodyPr wrap="square" lIns="0" tIns="0" rIns="0" bIns="0" rtlCol="0" anchor="ctr"/>
          <a:lstStyle/>
          <a:p>
            <a:pPr marL="0" indent="0">
              <a:buNone/>
            </a:pPr>
            <a:r>
              <a:rPr lang="en-US" sz="1700" b="1" dirty="0">
                <a:solidFill>
                  <a:srgbClr val="22261F"/>
                </a:solidFill>
                <a:latin typeface="Cambria" pitchFamily="34" charset="0"/>
                <a:ea typeface="Cambria" pitchFamily="34" charset="-122"/>
                <a:cs typeface="Cambria" pitchFamily="34" charset="-120"/>
              </a:rPr>
              <a:t>Célula de una portadora</a:t>
            </a:r>
            <a:endParaRPr lang="en-US" sz="1700" dirty="0"/>
          </a:p>
        </p:txBody>
      </p:sp>
      <p:sp>
        <p:nvSpPr>
          <p:cNvPr id="14" name="Shape 12"/>
          <p:cNvSpPr/>
          <p:nvPr/>
        </p:nvSpPr>
        <p:spPr>
          <a:xfrm>
            <a:off x="5257800" y="2971800"/>
            <a:ext cx="457200" cy="868680"/>
          </a:xfrm>
          <a:prstGeom prst="roundRect">
            <a:avLst>
              <a:gd name="adj" fmla="val 44000"/>
            </a:avLst>
          </a:prstGeom>
          <a:solidFill>
            <a:srgbClr val="4E6B4E"/>
          </a:solidFill>
          <a:ln/>
        </p:spPr>
      </p:sp>
      <p:sp>
        <p:nvSpPr>
          <p:cNvPr id="15" name="Text 13"/>
          <p:cNvSpPr txBox="1"/>
          <p:nvPr/>
        </p:nvSpPr>
        <p:spPr>
          <a:xfrm>
            <a:off x="5029200" y="3858768"/>
            <a:ext cx="914400" cy="256032"/>
          </a:xfrm>
          <a:prstGeom prst="rect">
            <a:avLst/>
          </a:prstGeom>
          <a:noFill/>
          <a:ln/>
        </p:spPr>
        <p:txBody>
          <a:bodyPr wrap="square" lIns="0" tIns="0" rIns="0" bIns="0" rtlCol="0" anchor="ctr"/>
          <a:lstStyle/>
          <a:p>
            <a:pPr marL="0" indent="0" algn="ctr">
              <a:buNone/>
            </a:pPr>
            <a:r>
              <a:rPr lang="en-US" sz="1150" dirty="0">
                <a:solidFill>
                  <a:srgbClr val="5B6B7A"/>
                </a:solidFill>
                <a:latin typeface="Calibri" pitchFamily="34" charset="0"/>
                <a:ea typeface="Calibri" pitchFamily="34" charset="-122"/>
                <a:cs typeface="Calibri" pitchFamily="34" charset="-120"/>
              </a:rPr>
              <a:t>normal</a:t>
            </a:r>
            <a:endParaRPr lang="en-US" sz="1150" dirty="0"/>
          </a:p>
        </p:txBody>
      </p:sp>
      <p:sp>
        <p:nvSpPr>
          <p:cNvPr id="16" name="Shape 14"/>
          <p:cNvSpPr/>
          <p:nvPr/>
        </p:nvSpPr>
        <p:spPr>
          <a:xfrm>
            <a:off x="6126480" y="2971800"/>
            <a:ext cx="457200" cy="868680"/>
          </a:xfrm>
          <a:prstGeom prst="roundRect">
            <a:avLst>
              <a:gd name="adj" fmla="val 44000"/>
            </a:avLst>
          </a:prstGeom>
          <a:solidFill>
            <a:srgbClr val="B0432B"/>
          </a:solidFill>
          <a:ln/>
        </p:spPr>
      </p:sp>
      <p:sp>
        <p:nvSpPr>
          <p:cNvPr id="17" name="Text 15"/>
          <p:cNvSpPr txBox="1"/>
          <p:nvPr/>
        </p:nvSpPr>
        <p:spPr>
          <a:xfrm>
            <a:off x="5897880" y="3858768"/>
            <a:ext cx="914400" cy="256032"/>
          </a:xfrm>
          <a:prstGeom prst="rect">
            <a:avLst/>
          </a:prstGeom>
          <a:noFill/>
          <a:ln/>
        </p:spPr>
        <p:txBody>
          <a:bodyPr wrap="square" lIns="0" tIns="0" rIns="0" bIns="0" rtlCol="0" anchor="ctr"/>
          <a:lstStyle/>
          <a:p>
            <a:pPr marL="0" indent="0" algn="ctr">
              <a:buNone/>
            </a:pPr>
            <a:r>
              <a:rPr lang="en-US" sz="1150" dirty="0">
                <a:solidFill>
                  <a:srgbClr val="5B6B7A"/>
                </a:solidFill>
                <a:latin typeface="Calibri" pitchFamily="34" charset="0"/>
                <a:ea typeface="Calibri" pitchFamily="34" charset="-122"/>
                <a:cs typeface="Calibri" pitchFamily="34" charset="-120"/>
              </a:rPr>
              <a:t>alterada</a:t>
            </a:r>
            <a:endParaRPr lang="en-US" sz="1150" dirty="0"/>
          </a:p>
        </p:txBody>
      </p:sp>
      <p:sp>
        <p:nvSpPr>
          <p:cNvPr id="18" name="Text 16"/>
          <p:cNvSpPr txBox="1"/>
          <p:nvPr/>
        </p:nvSpPr>
        <p:spPr>
          <a:xfrm>
            <a:off x="4572000" y="4206240"/>
            <a:ext cx="3017520" cy="914400"/>
          </a:xfrm>
          <a:prstGeom prst="rect">
            <a:avLst/>
          </a:prstGeom>
          <a:noFill/>
          <a:ln/>
        </p:spPr>
        <p:txBody>
          <a:bodyPr wrap="square" lIns="0" tIns="0" rIns="0" bIns="0" rtlCol="0" anchor="ctr"/>
          <a:lstStyle/>
          <a:p>
            <a:pPr marL="0" indent="0">
              <a:lnSpc>
                <a:spcPts val="1700"/>
              </a:lnSpc>
              <a:buNone/>
            </a:pPr>
            <a:r>
              <a:rPr lang="en-US" sz="1350" dirty="0">
                <a:solidFill>
                  <a:srgbClr val="22261F"/>
                </a:solidFill>
                <a:latin typeface="Calibri" pitchFamily="34" charset="0"/>
                <a:ea typeface="Calibri" pitchFamily="34" charset="-122"/>
                <a:cs typeface="Calibri" pitchFamily="34" charset="-120"/>
              </a:rPr>
              <a:t>Una copia alterada (heredada, en todas sus células). La copia sana basta para funcionar: primer golpe.</a:t>
            </a:r>
            <a:endParaRPr lang="en-US" sz="1350" dirty="0"/>
          </a:p>
        </p:txBody>
      </p:sp>
      <p:sp>
        <p:nvSpPr>
          <p:cNvPr id="19" name="Shape 17"/>
          <p:cNvSpPr/>
          <p:nvPr/>
        </p:nvSpPr>
        <p:spPr>
          <a:xfrm>
            <a:off x="8046720" y="2377440"/>
            <a:ext cx="3520440" cy="2788920"/>
          </a:xfrm>
          <a:prstGeom prst="roundRect">
            <a:avLst>
              <a:gd name="adj" fmla="val 2951"/>
            </a:avLst>
          </a:prstGeom>
          <a:solidFill>
            <a:srgbClr val="EAE3F0"/>
          </a:solidFill>
          <a:ln/>
        </p:spPr>
      </p:sp>
      <p:sp>
        <p:nvSpPr>
          <p:cNvPr id="20" name="Text 18"/>
          <p:cNvSpPr txBox="1"/>
          <p:nvPr/>
        </p:nvSpPr>
        <p:spPr>
          <a:xfrm>
            <a:off x="8321040" y="2514600"/>
            <a:ext cx="3017520" cy="365760"/>
          </a:xfrm>
          <a:prstGeom prst="rect">
            <a:avLst/>
          </a:prstGeom>
          <a:noFill/>
          <a:ln/>
        </p:spPr>
        <p:txBody>
          <a:bodyPr wrap="square" lIns="0" tIns="0" rIns="0" bIns="0" rtlCol="0" anchor="ctr"/>
          <a:lstStyle/>
          <a:p>
            <a:pPr marL="0" indent="0">
              <a:buNone/>
            </a:pPr>
            <a:r>
              <a:rPr lang="en-US" sz="1700" b="1" dirty="0">
                <a:solidFill>
                  <a:srgbClr val="22261F"/>
                </a:solidFill>
                <a:latin typeface="Cambria" pitchFamily="34" charset="0"/>
                <a:ea typeface="Cambria" pitchFamily="34" charset="-122"/>
                <a:cs typeface="Cambria" pitchFamily="34" charset="-120"/>
              </a:rPr>
              <a:t>Célula tumoral</a:t>
            </a:r>
            <a:endParaRPr lang="en-US" sz="1700" dirty="0"/>
          </a:p>
        </p:txBody>
      </p:sp>
      <p:sp>
        <p:nvSpPr>
          <p:cNvPr id="21" name="Shape 19"/>
          <p:cNvSpPr/>
          <p:nvPr/>
        </p:nvSpPr>
        <p:spPr>
          <a:xfrm>
            <a:off x="9006840" y="2971800"/>
            <a:ext cx="457200" cy="868680"/>
          </a:xfrm>
          <a:prstGeom prst="roundRect">
            <a:avLst>
              <a:gd name="adj" fmla="val 44000"/>
            </a:avLst>
          </a:prstGeom>
          <a:solidFill>
            <a:srgbClr val="B0432B"/>
          </a:solidFill>
          <a:ln/>
        </p:spPr>
      </p:sp>
      <p:sp>
        <p:nvSpPr>
          <p:cNvPr id="22" name="Text 20"/>
          <p:cNvSpPr txBox="1"/>
          <p:nvPr/>
        </p:nvSpPr>
        <p:spPr>
          <a:xfrm>
            <a:off x="8778240" y="3858768"/>
            <a:ext cx="914400" cy="256032"/>
          </a:xfrm>
          <a:prstGeom prst="rect">
            <a:avLst/>
          </a:prstGeom>
          <a:noFill/>
          <a:ln/>
        </p:spPr>
        <p:txBody>
          <a:bodyPr wrap="square" lIns="0" tIns="0" rIns="0" bIns="0" rtlCol="0" anchor="ctr"/>
          <a:lstStyle/>
          <a:p>
            <a:pPr marL="0" indent="0" algn="ctr">
              <a:buNone/>
            </a:pPr>
            <a:r>
              <a:rPr lang="en-US" sz="1150" dirty="0">
                <a:solidFill>
                  <a:srgbClr val="5B6B7A"/>
                </a:solidFill>
                <a:latin typeface="Calibri" pitchFamily="34" charset="0"/>
                <a:ea typeface="Calibri" pitchFamily="34" charset="-122"/>
                <a:cs typeface="Calibri" pitchFamily="34" charset="-120"/>
              </a:rPr>
              <a:t>alterada</a:t>
            </a:r>
            <a:endParaRPr lang="en-US" sz="1150" dirty="0"/>
          </a:p>
        </p:txBody>
      </p:sp>
      <p:sp>
        <p:nvSpPr>
          <p:cNvPr id="23" name="Shape 21"/>
          <p:cNvSpPr/>
          <p:nvPr/>
        </p:nvSpPr>
        <p:spPr>
          <a:xfrm>
            <a:off x="9875520" y="2971800"/>
            <a:ext cx="457200" cy="868680"/>
          </a:xfrm>
          <a:prstGeom prst="roundRect">
            <a:avLst>
              <a:gd name="adj" fmla="val 44000"/>
            </a:avLst>
          </a:prstGeom>
          <a:solidFill>
            <a:srgbClr val="B0432B"/>
          </a:solidFill>
          <a:ln/>
        </p:spPr>
      </p:sp>
      <p:sp>
        <p:nvSpPr>
          <p:cNvPr id="24" name="Text 22"/>
          <p:cNvSpPr txBox="1"/>
          <p:nvPr/>
        </p:nvSpPr>
        <p:spPr>
          <a:xfrm>
            <a:off x="9646920" y="3858768"/>
            <a:ext cx="914400" cy="256032"/>
          </a:xfrm>
          <a:prstGeom prst="rect">
            <a:avLst/>
          </a:prstGeom>
          <a:noFill/>
          <a:ln/>
        </p:spPr>
        <p:txBody>
          <a:bodyPr wrap="square" lIns="0" tIns="0" rIns="0" bIns="0" rtlCol="0" anchor="ctr"/>
          <a:lstStyle/>
          <a:p>
            <a:pPr marL="0" indent="0" algn="ctr">
              <a:buNone/>
            </a:pPr>
            <a:r>
              <a:rPr lang="en-US" sz="1150" dirty="0">
                <a:solidFill>
                  <a:srgbClr val="5B6B7A"/>
                </a:solidFill>
                <a:latin typeface="Calibri" pitchFamily="34" charset="0"/>
                <a:ea typeface="Calibri" pitchFamily="34" charset="-122"/>
                <a:cs typeface="Calibri" pitchFamily="34" charset="-120"/>
              </a:rPr>
              <a:t>alterada</a:t>
            </a:r>
            <a:endParaRPr lang="en-US" sz="1150" dirty="0"/>
          </a:p>
        </p:txBody>
      </p:sp>
      <p:sp>
        <p:nvSpPr>
          <p:cNvPr id="25" name="Text 23"/>
          <p:cNvSpPr txBox="1"/>
          <p:nvPr/>
        </p:nvSpPr>
        <p:spPr>
          <a:xfrm>
            <a:off x="8321040" y="4206240"/>
            <a:ext cx="3017520" cy="914400"/>
          </a:xfrm>
          <a:prstGeom prst="rect">
            <a:avLst/>
          </a:prstGeom>
          <a:noFill/>
          <a:ln/>
        </p:spPr>
        <p:txBody>
          <a:bodyPr wrap="square" lIns="0" tIns="0" rIns="0" bIns="0" rtlCol="0" anchor="ctr"/>
          <a:lstStyle/>
          <a:p>
            <a:pPr marL="0" indent="0">
              <a:lnSpc>
                <a:spcPts val="1700"/>
              </a:lnSpc>
              <a:buNone/>
            </a:pPr>
            <a:r>
              <a:rPr lang="en-US" sz="1350" dirty="0">
                <a:solidFill>
                  <a:srgbClr val="22261F"/>
                </a:solidFill>
                <a:latin typeface="Calibri" pitchFamily="34" charset="0"/>
                <a:ea typeface="Calibri" pitchFamily="34" charset="-122"/>
                <a:cs typeface="Calibri" pitchFamily="34" charset="-120"/>
              </a:rPr>
              <a:t>Falla también la copia sana (segundo golpe): se acumulan daños sin reparar.</a:t>
            </a:r>
            <a:endParaRPr lang="en-US" sz="1350" dirty="0"/>
          </a:p>
        </p:txBody>
      </p:sp>
      <p:sp>
        <p:nvSpPr>
          <p:cNvPr id="26" name="Shape 24"/>
          <p:cNvSpPr/>
          <p:nvPr/>
        </p:nvSpPr>
        <p:spPr>
          <a:xfrm>
            <a:off x="4160520" y="2606040"/>
            <a:ext cx="914" cy="914"/>
          </a:xfrm>
          <a:prstGeom prst="rect">
            <a:avLst/>
          </a:prstGeom>
          <a:solidFill>
            <a:srgbClr val="FFFFFF"/>
          </a:solidFill>
          <a:ln/>
        </p:spPr>
      </p:sp>
      <p:sp>
        <p:nvSpPr>
          <p:cNvPr id="27" name="Text 25"/>
          <p:cNvSpPr txBox="1"/>
          <p:nvPr/>
        </p:nvSpPr>
        <p:spPr>
          <a:xfrm>
            <a:off x="548640" y="5230368"/>
            <a:ext cx="11064240" cy="274320"/>
          </a:xfrm>
          <a:prstGeom prst="rect">
            <a:avLst/>
          </a:prstGeom>
          <a:noFill/>
          <a:ln/>
        </p:spPr>
        <p:txBody>
          <a:bodyPr wrap="square" lIns="0" tIns="0" rIns="0" bIns="0" rtlCol="0" anchor="ctr"/>
          <a:lstStyle/>
          <a:p>
            <a:pPr marL="0" indent="0">
              <a:buNone/>
            </a:pPr>
            <a:r>
              <a:rPr lang="en-US" sz="1250" b="1" dirty="0">
                <a:solidFill>
                  <a:srgbClr val="4E6B4E"/>
                </a:solidFill>
                <a:latin typeface="Calibri" pitchFamily="34" charset="0"/>
                <a:ea typeface="Calibri" pitchFamily="34" charset="-122"/>
                <a:cs typeface="Calibri" pitchFamily="34" charset="-120"/>
              </a:rPr>
              <a:t>Verde</a:t>
            </a:r>
            <a:r>
              <a:rPr lang="en-US" sz="1250" dirty="0">
                <a:solidFill>
                  <a:srgbClr val="5B6B7A"/>
                </a:solidFill>
                <a:latin typeface="Calibri" pitchFamily="34" charset="0"/>
                <a:ea typeface="Calibri" pitchFamily="34" charset="-122"/>
                <a:cs typeface="Calibri" pitchFamily="34" charset="-120"/>
              </a:rPr>
              <a:t> = copia funcional     </a:t>
            </a:r>
            <a:r>
              <a:rPr lang="en-US" sz="1250" b="1" dirty="0">
                <a:solidFill>
                  <a:srgbClr val="B0432B"/>
                </a:solidFill>
                <a:latin typeface="Calibri" pitchFamily="34" charset="0"/>
                <a:ea typeface="Calibri" pitchFamily="34" charset="-122"/>
                <a:cs typeface="Calibri" pitchFamily="34" charset="-120"/>
              </a:rPr>
              <a:t>Rojo</a:t>
            </a:r>
            <a:r>
              <a:rPr lang="en-US" sz="1250" dirty="0">
                <a:solidFill>
                  <a:srgbClr val="5B6B7A"/>
                </a:solidFill>
                <a:latin typeface="Calibri" pitchFamily="34" charset="0"/>
                <a:ea typeface="Calibri" pitchFamily="34" charset="-122"/>
                <a:cs typeface="Calibri" pitchFamily="34" charset="-120"/>
              </a:rPr>
              <a:t> = copia alterada</a:t>
            </a:r>
            <a:endParaRPr lang="en-US" sz="1250" dirty="0"/>
          </a:p>
        </p:txBody>
      </p:sp>
      <p:sp>
        <p:nvSpPr>
          <p:cNvPr id="28" name="Shape 26"/>
          <p:cNvSpPr/>
          <p:nvPr/>
        </p:nvSpPr>
        <p:spPr>
          <a:xfrm>
            <a:off x="548640" y="5577840"/>
            <a:ext cx="11064240" cy="731520"/>
          </a:xfrm>
          <a:prstGeom prst="roundRect">
            <a:avLst>
              <a:gd name="adj" fmla="val 10000"/>
            </a:avLst>
          </a:prstGeom>
          <a:solidFill>
            <a:srgbClr val="F7F5F0"/>
          </a:solidFill>
          <a:ln w="12700">
            <a:solidFill>
              <a:srgbClr val="DCE3EA"/>
            </a:solidFill>
            <a:prstDash val="solid"/>
          </a:ln>
        </p:spPr>
      </p:sp>
      <p:sp>
        <p:nvSpPr>
          <p:cNvPr id="29" name="Text 27"/>
          <p:cNvSpPr txBox="1"/>
          <p:nvPr/>
        </p:nvSpPr>
        <p:spPr>
          <a:xfrm>
            <a:off x="777240" y="5577840"/>
            <a:ext cx="10607040" cy="731520"/>
          </a:xfrm>
          <a:prstGeom prst="rect">
            <a:avLst/>
          </a:prstGeom>
          <a:noFill/>
          <a:ln/>
        </p:spPr>
        <p:txBody>
          <a:bodyPr wrap="square" lIns="0" tIns="0" rIns="0" bIns="0" rtlCol="0" anchor="ctr"/>
          <a:lstStyle/>
          <a:p>
            <a:pPr marL="0" indent="0">
              <a:buNone/>
            </a:pPr>
            <a:r>
              <a:rPr lang="en-US" sz="1200" b="1" kern="0" spc="120" dirty="0">
                <a:solidFill>
                  <a:srgbClr val="1F3A56"/>
                </a:solidFill>
                <a:latin typeface="Calibri" pitchFamily="34" charset="0"/>
                <a:ea typeface="Calibri" pitchFamily="34" charset="-122"/>
                <a:cs typeface="Calibri" pitchFamily="34" charset="-120"/>
              </a:rPr>
              <a:t>EN TU CUADERNO   </a:t>
            </a:r>
            <a:r>
              <a:rPr lang="en-US" sz="1450" dirty="0">
                <a:solidFill>
                  <a:srgbClr val="22261F"/>
                </a:solidFill>
                <a:latin typeface="Calibri" pitchFamily="34" charset="0"/>
                <a:ea typeface="Calibri" pitchFamily="34" charset="-122"/>
                <a:cs typeface="Calibri" pitchFamily="34" charset="-120"/>
              </a:rPr>
              <a:t>Con la idea de los «dos golpes», explica por qué una portadora no nace con cáncer. (Afirmación + razonamiento, 3 líneas)</a:t>
            </a:r>
            <a:endParaRPr lang="en-US" sz="1200" dirty="0"/>
          </a:p>
        </p:txBody>
      </p:sp>
      <p:sp>
        <p:nvSpPr>
          <p:cNvPr id="30" name="Text 28"/>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31" name="Text 29"/>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4 / 20</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2E6968"/>
                </a:solidFill>
                <a:latin typeface="Calibri" pitchFamily="34" charset="0"/>
                <a:ea typeface="Calibri" pitchFamily="34" charset="-122"/>
                <a:cs typeface="Calibri" pitchFamily="34" charset="-120"/>
              </a:rPr>
              <a:t>DESARROLLO · CÓMO LEER UN ÁRBOL</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Simbología de un árbol genealógico</a:t>
            </a:r>
            <a:endParaRPr lang="en-US" sz="3200" dirty="0"/>
          </a:p>
        </p:txBody>
      </p:sp>
      <p:sp>
        <p:nvSpPr>
          <p:cNvPr id="4" name="Shape 2"/>
          <p:cNvSpPr/>
          <p:nvPr/>
        </p:nvSpPr>
        <p:spPr>
          <a:xfrm>
            <a:off x="1005840" y="1920240"/>
            <a:ext cx="457200" cy="457200"/>
          </a:xfrm>
          <a:prstGeom prst="rect">
            <a:avLst/>
          </a:prstGeom>
          <a:solidFill>
            <a:srgbClr val="FFFFFF"/>
          </a:solidFill>
          <a:ln w="22225">
            <a:solidFill>
              <a:srgbClr val="22261F"/>
            </a:solidFill>
            <a:prstDash val="solid"/>
          </a:ln>
        </p:spPr>
      </p:sp>
      <p:sp>
        <p:nvSpPr>
          <p:cNvPr id="5" name="Text 3"/>
          <p:cNvSpPr txBox="1"/>
          <p:nvPr/>
        </p:nvSpPr>
        <p:spPr>
          <a:xfrm>
            <a:off x="1920240" y="1783080"/>
            <a:ext cx="23317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Varón</a:t>
            </a:r>
            <a:endParaRPr lang="en-US" sz="1450" dirty="0"/>
          </a:p>
        </p:txBody>
      </p:sp>
      <p:sp>
        <p:nvSpPr>
          <p:cNvPr id="6" name="Shape 4"/>
          <p:cNvSpPr/>
          <p:nvPr/>
        </p:nvSpPr>
        <p:spPr>
          <a:xfrm>
            <a:off x="4754880" y="1920240"/>
            <a:ext cx="457200" cy="457200"/>
          </a:xfrm>
          <a:prstGeom prst="ellipse">
            <a:avLst/>
          </a:prstGeom>
          <a:solidFill>
            <a:srgbClr val="FFFFFF"/>
          </a:solidFill>
          <a:ln w="22225">
            <a:solidFill>
              <a:srgbClr val="22261F"/>
            </a:solidFill>
            <a:prstDash val="solid"/>
          </a:ln>
        </p:spPr>
      </p:sp>
      <p:sp>
        <p:nvSpPr>
          <p:cNvPr id="7" name="Text 5"/>
          <p:cNvSpPr txBox="1"/>
          <p:nvPr/>
        </p:nvSpPr>
        <p:spPr>
          <a:xfrm>
            <a:off x="5669280" y="1783080"/>
            <a:ext cx="23317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Mujer</a:t>
            </a:r>
            <a:endParaRPr lang="en-US" sz="1450" dirty="0"/>
          </a:p>
        </p:txBody>
      </p:sp>
      <p:sp>
        <p:nvSpPr>
          <p:cNvPr id="8" name="Shape 6"/>
          <p:cNvSpPr/>
          <p:nvPr/>
        </p:nvSpPr>
        <p:spPr>
          <a:xfrm>
            <a:off x="8503920" y="1920240"/>
            <a:ext cx="457200" cy="457200"/>
          </a:xfrm>
          <a:prstGeom prst="ellipse">
            <a:avLst/>
          </a:prstGeom>
          <a:solidFill>
            <a:srgbClr val="1F3A56"/>
          </a:solidFill>
          <a:ln w="22225">
            <a:solidFill>
              <a:srgbClr val="22261F"/>
            </a:solidFill>
            <a:prstDash val="solid"/>
          </a:ln>
        </p:spPr>
      </p:sp>
      <p:sp>
        <p:nvSpPr>
          <p:cNvPr id="9" name="Text 7"/>
          <p:cNvSpPr txBox="1"/>
          <p:nvPr/>
        </p:nvSpPr>
        <p:spPr>
          <a:xfrm>
            <a:off x="9418320" y="1783080"/>
            <a:ext cx="23317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Afectada/o: tiene o tuvo cáncer</a:t>
            </a:r>
            <a:endParaRPr lang="en-US" sz="1450" dirty="0"/>
          </a:p>
        </p:txBody>
      </p:sp>
      <p:sp>
        <p:nvSpPr>
          <p:cNvPr id="10" name="Shape 8"/>
          <p:cNvSpPr/>
          <p:nvPr/>
        </p:nvSpPr>
        <p:spPr>
          <a:xfrm>
            <a:off x="1005840" y="3246120"/>
            <a:ext cx="457200" cy="457200"/>
          </a:xfrm>
          <a:prstGeom prst="ellipse">
            <a:avLst/>
          </a:prstGeom>
          <a:solidFill>
            <a:srgbClr val="FFFFFF"/>
          </a:solidFill>
          <a:ln w="22225">
            <a:solidFill>
              <a:srgbClr val="22261F"/>
            </a:solidFill>
            <a:prstDash val="solid"/>
          </a:ln>
        </p:spPr>
      </p:sp>
      <p:sp>
        <p:nvSpPr>
          <p:cNvPr id="11" name="Shape 9"/>
          <p:cNvSpPr/>
          <p:nvPr/>
        </p:nvSpPr>
        <p:spPr>
          <a:xfrm>
            <a:off x="1175004" y="3415284"/>
            <a:ext cx="118872" cy="118872"/>
          </a:xfrm>
          <a:prstGeom prst="ellipse">
            <a:avLst/>
          </a:prstGeom>
          <a:solidFill>
            <a:srgbClr val="1F3A56"/>
          </a:solidFill>
          <a:ln/>
        </p:spPr>
      </p:sp>
      <p:sp>
        <p:nvSpPr>
          <p:cNvPr id="12" name="Text 10"/>
          <p:cNvSpPr txBox="1"/>
          <p:nvPr/>
        </p:nvSpPr>
        <p:spPr>
          <a:xfrm>
            <a:off x="1920240" y="3108960"/>
            <a:ext cx="23317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Portadora/or de la variante, sin enfermedad</a:t>
            </a:r>
            <a:endParaRPr lang="en-US" sz="1450" dirty="0"/>
          </a:p>
        </p:txBody>
      </p:sp>
      <p:sp>
        <p:nvSpPr>
          <p:cNvPr id="13" name="Shape 11"/>
          <p:cNvSpPr/>
          <p:nvPr/>
        </p:nvSpPr>
        <p:spPr>
          <a:xfrm>
            <a:off x="4754880" y="3246120"/>
            <a:ext cx="457200" cy="457200"/>
          </a:xfrm>
          <a:prstGeom prst="ellipse">
            <a:avLst/>
          </a:prstGeom>
          <a:solidFill>
            <a:srgbClr val="1F3A56"/>
          </a:solidFill>
          <a:ln w="22225">
            <a:solidFill>
              <a:srgbClr val="22261F"/>
            </a:solidFill>
            <a:prstDash val="solid"/>
          </a:ln>
        </p:spPr>
      </p:sp>
      <p:sp>
        <p:nvSpPr>
          <p:cNvPr id="14" name="Shape 12"/>
          <p:cNvSpPr/>
          <p:nvPr/>
        </p:nvSpPr>
        <p:spPr>
          <a:xfrm flipV="1">
            <a:off x="4672584" y="3163824"/>
            <a:ext cx="621792" cy="621792"/>
          </a:xfrm>
          <a:prstGeom prst="line">
            <a:avLst/>
          </a:prstGeom>
          <a:noFill/>
          <a:ln w="22225">
            <a:solidFill>
              <a:srgbClr val="22261F"/>
            </a:solidFill>
            <a:prstDash val="solid"/>
          </a:ln>
        </p:spPr>
      </p:sp>
      <p:sp>
        <p:nvSpPr>
          <p:cNvPr id="15" name="Text 13"/>
          <p:cNvSpPr txBox="1"/>
          <p:nvPr/>
        </p:nvSpPr>
        <p:spPr>
          <a:xfrm>
            <a:off x="5669280" y="3108960"/>
            <a:ext cx="23317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Fallecida/o (línea diagonal)</a:t>
            </a:r>
            <a:endParaRPr lang="en-US" sz="1450" dirty="0"/>
          </a:p>
        </p:txBody>
      </p:sp>
      <p:sp>
        <p:nvSpPr>
          <p:cNvPr id="16" name="Shape 14"/>
          <p:cNvSpPr/>
          <p:nvPr/>
        </p:nvSpPr>
        <p:spPr>
          <a:xfrm>
            <a:off x="8503920" y="3246120"/>
            <a:ext cx="457200" cy="457200"/>
          </a:xfrm>
          <a:prstGeom prst="rect">
            <a:avLst/>
          </a:prstGeom>
          <a:solidFill>
            <a:srgbClr val="D9DEE3"/>
          </a:solidFill>
          <a:ln w="22225">
            <a:solidFill>
              <a:srgbClr val="8896A5"/>
            </a:solidFill>
            <a:prstDash val="solid"/>
          </a:ln>
        </p:spPr>
      </p:sp>
      <p:sp>
        <p:nvSpPr>
          <p:cNvPr id="17" name="Text 15"/>
          <p:cNvSpPr txBox="1"/>
          <p:nvPr/>
        </p:nvSpPr>
        <p:spPr>
          <a:xfrm>
            <a:off x="9418320" y="3108960"/>
            <a:ext cx="23317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Sin datos (convención simplificada)</a:t>
            </a:r>
            <a:endParaRPr lang="en-US" sz="1450" dirty="0"/>
          </a:p>
        </p:txBody>
      </p:sp>
      <p:sp>
        <p:nvSpPr>
          <p:cNvPr id="18" name="Shape 16"/>
          <p:cNvSpPr/>
          <p:nvPr/>
        </p:nvSpPr>
        <p:spPr>
          <a:xfrm>
            <a:off x="640080" y="4617720"/>
            <a:ext cx="365760" cy="365760"/>
          </a:xfrm>
          <a:prstGeom prst="rect">
            <a:avLst/>
          </a:prstGeom>
          <a:solidFill>
            <a:srgbClr val="FFFFFF"/>
          </a:solidFill>
          <a:ln w="22225">
            <a:solidFill>
              <a:srgbClr val="22261F"/>
            </a:solidFill>
            <a:prstDash val="solid"/>
          </a:ln>
        </p:spPr>
      </p:sp>
      <p:sp>
        <p:nvSpPr>
          <p:cNvPr id="19" name="Shape 17"/>
          <p:cNvSpPr/>
          <p:nvPr/>
        </p:nvSpPr>
        <p:spPr>
          <a:xfrm>
            <a:off x="1463040" y="4617720"/>
            <a:ext cx="365760" cy="365760"/>
          </a:xfrm>
          <a:prstGeom prst="ellipse">
            <a:avLst/>
          </a:prstGeom>
          <a:solidFill>
            <a:srgbClr val="FFFFFF"/>
          </a:solidFill>
          <a:ln w="22225">
            <a:solidFill>
              <a:srgbClr val="22261F"/>
            </a:solidFill>
            <a:prstDash val="solid"/>
          </a:ln>
        </p:spPr>
      </p:sp>
      <p:sp>
        <p:nvSpPr>
          <p:cNvPr id="20" name="Shape 18"/>
          <p:cNvSpPr/>
          <p:nvPr/>
        </p:nvSpPr>
        <p:spPr>
          <a:xfrm>
            <a:off x="1005840" y="4790542"/>
            <a:ext cx="457200" cy="20117"/>
          </a:xfrm>
          <a:prstGeom prst="rect">
            <a:avLst/>
          </a:prstGeom>
          <a:solidFill>
            <a:srgbClr val="22261F"/>
          </a:solidFill>
          <a:ln/>
        </p:spPr>
      </p:sp>
      <p:sp>
        <p:nvSpPr>
          <p:cNvPr id="21" name="Text 19"/>
          <p:cNvSpPr txBox="1"/>
          <p:nvPr/>
        </p:nvSpPr>
        <p:spPr>
          <a:xfrm>
            <a:off x="1920240" y="4434840"/>
            <a:ext cx="23317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Pareja: línea horizontal</a:t>
            </a:r>
            <a:endParaRPr lang="en-US" sz="1450" dirty="0"/>
          </a:p>
        </p:txBody>
      </p:sp>
      <p:sp>
        <p:nvSpPr>
          <p:cNvPr id="22" name="Shape 20"/>
          <p:cNvSpPr/>
          <p:nvPr/>
        </p:nvSpPr>
        <p:spPr>
          <a:xfrm>
            <a:off x="4480560" y="4370832"/>
            <a:ext cx="274320" cy="274320"/>
          </a:xfrm>
          <a:prstGeom prst="rect">
            <a:avLst/>
          </a:prstGeom>
          <a:solidFill>
            <a:srgbClr val="FFFFFF"/>
          </a:solidFill>
          <a:ln w="22225">
            <a:solidFill>
              <a:srgbClr val="22261F"/>
            </a:solidFill>
            <a:prstDash val="solid"/>
          </a:ln>
        </p:spPr>
      </p:sp>
      <p:sp>
        <p:nvSpPr>
          <p:cNvPr id="23" name="Shape 21"/>
          <p:cNvSpPr/>
          <p:nvPr/>
        </p:nvSpPr>
        <p:spPr>
          <a:xfrm>
            <a:off x="5212080" y="4370832"/>
            <a:ext cx="274320" cy="274320"/>
          </a:xfrm>
          <a:prstGeom prst="ellipse">
            <a:avLst/>
          </a:prstGeom>
          <a:solidFill>
            <a:srgbClr val="FFFFFF"/>
          </a:solidFill>
          <a:ln w="22225">
            <a:solidFill>
              <a:srgbClr val="22261F"/>
            </a:solidFill>
            <a:prstDash val="solid"/>
          </a:ln>
        </p:spPr>
      </p:sp>
      <p:sp>
        <p:nvSpPr>
          <p:cNvPr id="24" name="Shape 22"/>
          <p:cNvSpPr/>
          <p:nvPr/>
        </p:nvSpPr>
        <p:spPr>
          <a:xfrm>
            <a:off x="4754880" y="4497934"/>
            <a:ext cx="457200" cy="20117"/>
          </a:xfrm>
          <a:prstGeom prst="rect">
            <a:avLst/>
          </a:prstGeom>
          <a:solidFill>
            <a:srgbClr val="22261F"/>
          </a:solidFill>
          <a:ln/>
        </p:spPr>
      </p:sp>
      <p:sp>
        <p:nvSpPr>
          <p:cNvPr id="25" name="Shape 23"/>
          <p:cNvSpPr/>
          <p:nvPr/>
        </p:nvSpPr>
        <p:spPr>
          <a:xfrm>
            <a:off x="4973422" y="4507992"/>
            <a:ext cx="20117" cy="310896"/>
          </a:xfrm>
          <a:prstGeom prst="rect">
            <a:avLst/>
          </a:prstGeom>
          <a:solidFill>
            <a:srgbClr val="22261F"/>
          </a:solidFill>
          <a:ln/>
        </p:spPr>
      </p:sp>
      <p:sp>
        <p:nvSpPr>
          <p:cNvPr id="26" name="Shape 24"/>
          <p:cNvSpPr/>
          <p:nvPr/>
        </p:nvSpPr>
        <p:spPr>
          <a:xfrm>
            <a:off x="4709160" y="4808830"/>
            <a:ext cx="548640" cy="20117"/>
          </a:xfrm>
          <a:prstGeom prst="rect">
            <a:avLst/>
          </a:prstGeom>
          <a:solidFill>
            <a:srgbClr val="22261F"/>
          </a:solidFill>
          <a:ln/>
        </p:spPr>
      </p:sp>
      <p:sp>
        <p:nvSpPr>
          <p:cNvPr id="27" name="Shape 25"/>
          <p:cNvSpPr/>
          <p:nvPr/>
        </p:nvSpPr>
        <p:spPr>
          <a:xfrm>
            <a:off x="4699102" y="4818888"/>
            <a:ext cx="20117" cy="137160"/>
          </a:xfrm>
          <a:prstGeom prst="rect">
            <a:avLst/>
          </a:prstGeom>
          <a:solidFill>
            <a:srgbClr val="22261F"/>
          </a:solidFill>
          <a:ln/>
        </p:spPr>
      </p:sp>
      <p:sp>
        <p:nvSpPr>
          <p:cNvPr id="28" name="Shape 26"/>
          <p:cNvSpPr/>
          <p:nvPr/>
        </p:nvSpPr>
        <p:spPr>
          <a:xfrm>
            <a:off x="5247742" y="4818888"/>
            <a:ext cx="20117" cy="137160"/>
          </a:xfrm>
          <a:prstGeom prst="rect">
            <a:avLst/>
          </a:prstGeom>
          <a:solidFill>
            <a:srgbClr val="22261F"/>
          </a:solidFill>
          <a:ln/>
        </p:spPr>
      </p:sp>
      <p:sp>
        <p:nvSpPr>
          <p:cNvPr id="29" name="Shape 27"/>
          <p:cNvSpPr/>
          <p:nvPr/>
        </p:nvSpPr>
        <p:spPr>
          <a:xfrm>
            <a:off x="4572000" y="4956048"/>
            <a:ext cx="274320" cy="274320"/>
          </a:xfrm>
          <a:prstGeom prst="ellipse">
            <a:avLst/>
          </a:prstGeom>
          <a:solidFill>
            <a:srgbClr val="FFFFFF"/>
          </a:solidFill>
          <a:ln w="22225">
            <a:solidFill>
              <a:srgbClr val="22261F"/>
            </a:solidFill>
            <a:prstDash val="solid"/>
          </a:ln>
        </p:spPr>
      </p:sp>
      <p:sp>
        <p:nvSpPr>
          <p:cNvPr id="30" name="Shape 28"/>
          <p:cNvSpPr/>
          <p:nvPr/>
        </p:nvSpPr>
        <p:spPr>
          <a:xfrm>
            <a:off x="5120640" y="4956048"/>
            <a:ext cx="274320" cy="274320"/>
          </a:xfrm>
          <a:prstGeom prst="rect">
            <a:avLst/>
          </a:prstGeom>
          <a:solidFill>
            <a:srgbClr val="FFFFFF"/>
          </a:solidFill>
          <a:ln w="22225">
            <a:solidFill>
              <a:srgbClr val="22261F"/>
            </a:solidFill>
            <a:prstDash val="solid"/>
          </a:ln>
        </p:spPr>
      </p:sp>
      <p:sp>
        <p:nvSpPr>
          <p:cNvPr id="31" name="Text 29"/>
          <p:cNvSpPr txBox="1"/>
          <p:nvPr/>
        </p:nvSpPr>
        <p:spPr>
          <a:xfrm>
            <a:off x="5669280" y="4434840"/>
            <a:ext cx="23317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Hijas/os: línea vertical y horizontal</a:t>
            </a:r>
            <a:endParaRPr lang="en-US" sz="1450" dirty="0"/>
          </a:p>
        </p:txBody>
      </p:sp>
      <p:sp>
        <p:nvSpPr>
          <p:cNvPr id="32" name="Shape 30"/>
          <p:cNvSpPr/>
          <p:nvPr/>
        </p:nvSpPr>
        <p:spPr>
          <a:xfrm>
            <a:off x="8595360" y="4480560"/>
            <a:ext cx="457200" cy="457200"/>
          </a:xfrm>
          <a:prstGeom prst="ellipse">
            <a:avLst/>
          </a:prstGeom>
          <a:solidFill>
            <a:srgbClr val="FFFFFF"/>
          </a:solidFill>
          <a:ln w="22225">
            <a:solidFill>
              <a:srgbClr val="22261F"/>
            </a:solidFill>
            <a:prstDash val="solid"/>
          </a:ln>
        </p:spPr>
      </p:sp>
      <p:sp>
        <p:nvSpPr>
          <p:cNvPr id="33" name="Shape 31"/>
          <p:cNvSpPr/>
          <p:nvPr/>
        </p:nvSpPr>
        <p:spPr>
          <a:xfrm flipV="1">
            <a:off x="8028432" y="4919472"/>
            <a:ext cx="502920" cy="329184"/>
          </a:xfrm>
          <a:prstGeom prst="line">
            <a:avLst/>
          </a:prstGeom>
          <a:noFill/>
          <a:ln w="22225">
            <a:solidFill>
              <a:srgbClr val="22261F"/>
            </a:solidFill>
            <a:prstDash val="solid"/>
            <a:tailEnd type="triangle"/>
          </a:ln>
        </p:spPr>
      </p:sp>
      <p:sp>
        <p:nvSpPr>
          <p:cNvPr id="34" name="Text 32"/>
          <p:cNvSpPr txBox="1"/>
          <p:nvPr/>
        </p:nvSpPr>
        <p:spPr>
          <a:xfrm>
            <a:off x="9418320" y="4434840"/>
            <a:ext cx="2331720" cy="822960"/>
          </a:xfrm>
          <a:prstGeom prst="rect">
            <a:avLst/>
          </a:prstGeom>
          <a:noFill/>
          <a:ln/>
        </p:spPr>
        <p:txBody>
          <a:bodyPr wrap="square" lIns="0" tIns="0" rIns="0" bIns="0" rtlCol="0" anchor="ctr"/>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Probando/a: la primera persona estudiada (flecha)</a:t>
            </a:r>
            <a:endParaRPr lang="en-US" sz="1450" dirty="0"/>
          </a:p>
        </p:txBody>
      </p:sp>
      <p:sp>
        <p:nvSpPr>
          <p:cNvPr id="35" name="Shape 33"/>
          <p:cNvSpPr/>
          <p:nvPr/>
        </p:nvSpPr>
        <p:spPr>
          <a:xfrm>
            <a:off x="548640" y="5623560"/>
            <a:ext cx="11064240" cy="685800"/>
          </a:xfrm>
          <a:prstGeom prst="roundRect">
            <a:avLst>
              <a:gd name="adj" fmla="val 10667"/>
            </a:avLst>
          </a:prstGeom>
          <a:solidFill>
            <a:srgbClr val="F7F5F0"/>
          </a:solidFill>
          <a:ln w="12700">
            <a:solidFill>
              <a:srgbClr val="DCE3EA"/>
            </a:solidFill>
            <a:prstDash val="solid"/>
          </a:ln>
        </p:spPr>
      </p:sp>
      <p:sp>
        <p:nvSpPr>
          <p:cNvPr id="36" name="Text 34"/>
          <p:cNvSpPr txBox="1"/>
          <p:nvPr/>
        </p:nvSpPr>
        <p:spPr>
          <a:xfrm>
            <a:off x="777240" y="5623560"/>
            <a:ext cx="10607040" cy="685800"/>
          </a:xfrm>
          <a:prstGeom prst="rect">
            <a:avLst/>
          </a:prstGeom>
          <a:noFill/>
          <a:ln/>
        </p:spPr>
        <p:txBody>
          <a:bodyPr wrap="square" lIns="0" tIns="0" rIns="0" bIns="0" rtlCol="0" anchor="ctr"/>
          <a:lstStyle/>
          <a:p>
            <a:pPr marL="0" indent="0">
              <a:buNone/>
            </a:pPr>
            <a:r>
              <a:rPr lang="en-US" sz="1200" b="1" kern="0" spc="120" dirty="0">
                <a:solidFill>
                  <a:srgbClr val="1F3A56"/>
                </a:solidFill>
                <a:latin typeface="Calibri" pitchFamily="34" charset="0"/>
                <a:ea typeface="Calibri" pitchFamily="34" charset="-122"/>
                <a:cs typeface="Calibri" pitchFamily="34" charset="-120"/>
              </a:rPr>
              <a:t>EN TU CUADERNO   </a:t>
            </a:r>
            <a:r>
              <a:rPr lang="en-US" sz="1450" dirty="0">
                <a:solidFill>
                  <a:srgbClr val="22261F"/>
                </a:solidFill>
                <a:latin typeface="Calibri" pitchFamily="34" charset="0"/>
                <a:ea typeface="Calibri" pitchFamily="34" charset="-122"/>
                <a:cs typeface="Calibri" pitchFamily="34" charset="-120"/>
              </a:rPr>
              <a:t>Copia esta simbología (2 min). La usarás en los dos árboles y en el ítem 1 de práctica PAES.</a:t>
            </a:r>
            <a:endParaRPr lang="en-US" sz="1200" dirty="0"/>
          </a:p>
        </p:txBody>
      </p:sp>
      <p:sp>
        <p:nvSpPr>
          <p:cNvPr id="37" name="Text 35"/>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38" name="Text 36"/>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5 / 20</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2E6968"/>
                </a:solidFill>
                <a:latin typeface="Calibri" pitchFamily="34" charset="0"/>
                <a:ea typeface="Calibri" pitchFamily="34" charset="-122"/>
                <a:cs typeface="Calibri" pitchFamily="34" charset="-120"/>
              </a:rPr>
              <a:t>DESARROLLO · ANALIZAR</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Árbol 1: una familia real</a:t>
            </a:r>
            <a:endParaRPr lang="en-US" sz="3200" dirty="0"/>
          </a:p>
        </p:txBody>
      </p:sp>
      <p:sp>
        <p:nvSpPr>
          <p:cNvPr id="4" name="Text 2"/>
          <p:cNvSpPr txBox="1"/>
          <p:nvPr/>
        </p:nvSpPr>
        <p:spPr>
          <a:xfrm>
            <a:off x="548640" y="1371600"/>
            <a:ext cx="6675120" cy="320040"/>
          </a:xfrm>
          <a:prstGeom prst="rect">
            <a:avLst/>
          </a:prstGeom>
          <a:noFill/>
          <a:ln/>
        </p:spPr>
        <p:txBody>
          <a:bodyPr wrap="square" lIns="0" tIns="0" rIns="0" bIns="0" rtlCol="0" anchor="ctr"/>
          <a:lstStyle/>
          <a:p>
            <a:pPr marL="0" indent="0">
              <a:buNone/>
            </a:pPr>
            <a:r>
              <a:rPr lang="en-US" sz="1250" i="1" dirty="0">
                <a:solidFill>
                  <a:srgbClr val="5B6B7A"/>
                </a:solidFill>
                <a:latin typeface="Calibri" pitchFamily="34" charset="0"/>
                <a:ea typeface="Calibri" pitchFamily="34" charset="-122"/>
                <a:cs typeface="Calibri" pitchFamily="34" charset="-120"/>
              </a:rPr>
              <a:t>Datos según lo publicado por A. Jolie y la prensa; simplificado.</a:t>
            </a:r>
            <a:endParaRPr lang="en-US" sz="1250" dirty="0"/>
          </a:p>
        </p:txBody>
      </p:sp>
      <p:sp>
        <p:nvSpPr>
          <p:cNvPr id="5" name="Shape 3"/>
          <p:cNvSpPr/>
          <p:nvPr/>
        </p:nvSpPr>
        <p:spPr>
          <a:xfrm>
            <a:off x="2670048" y="1938528"/>
            <a:ext cx="512064" cy="512064"/>
          </a:xfrm>
          <a:prstGeom prst="ellipse">
            <a:avLst/>
          </a:prstGeom>
          <a:solidFill>
            <a:srgbClr val="1F3A56"/>
          </a:solidFill>
          <a:ln w="22225">
            <a:solidFill>
              <a:srgbClr val="22261F"/>
            </a:solidFill>
            <a:prstDash val="solid"/>
          </a:ln>
        </p:spPr>
      </p:sp>
      <p:sp>
        <p:nvSpPr>
          <p:cNvPr id="6" name="Shape 4"/>
          <p:cNvSpPr/>
          <p:nvPr/>
        </p:nvSpPr>
        <p:spPr>
          <a:xfrm flipV="1">
            <a:off x="2587752" y="1856232"/>
            <a:ext cx="676656" cy="676656"/>
          </a:xfrm>
          <a:prstGeom prst="line">
            <a:avLst/>
          </a:prstGeom>
          <a:noFill/>
          <a:ln w="22225">
            <a:solidFill>
              <a:srgbClr val="22261F"/>
            </a:solidFill>
            <a:prstDash val="solid"/>
          </a:ln>
        </p:spPr>
      </p:sp>
      <p:sp>
        <p:nvSpPr>
          <p:cNvPr id="7" name="Text 5"/>
          <p:cNvSpPr txBox="1"/>
          <p:nvPr/>
        </p:nvSpPr>
        <p:spPr>
          <a:xfrm>
            <a:off x="2331720" y="2606040"/>
            <a:ext cx="118872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Abuela materna</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Cáncer · †45</a:t>
            </a:r>
            <a:endParaRPr lang="en-US" sz="1150" dirty="0"/>
          </a:p>
        </p:txBody>
      </p:sp>
      <p:sp>
        <p:nvSpPr>
          <p:cNvPr id="8" name="Shape 6"/>
          <p:cNvSpPr/>
          <p:nvPr/>
        </p:nvSpPr>
        <p:spPr>
          <a:xfrm>
            <a:off x="4315968" y="1938528"/>
            <a:ext cx="512064" cy="512064"/>
          </a:xfrm>
          <a:prstGeom prst="rect">
            <a:avLst/>
          </a:prstGeom>
          <a:solidFill>
            <a:srgbClr val="D9DEE3"/>
          </a:solidFill>
          <a:ln w="22225">
            <a:solidFill>
              <a:srgbClr val="8896A5"/>
            </a:solidFill>
            <a:prstDash val="solid"/>
          </a:ln>
        </p:spPr>
      </p:sp>
      <p:sp>
        <p:nvSpPr>
          <p:cNvPr id="9" name="Text 7"/>
          <p:cNvSpPr txBox="1"/>
          <p:nvPr/>
        </p:nvSpPr>
        <p:spPr>
          <a:xfrm>
            <a:off x="3977640" y="2514600"/>
            <a:ext cx="118872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Sin datos</a:t>
            </a:r>
            <a:endParaRPr lang="en-US" sz="1150" dirty="0"/>
          </a:p>
        </p:txBody>
      </p:sp>
      <p:sp>
        <p:nvSpPr>
          <p:cNvPr id="10" name="Shape 8"/>
          <p:cNvSpPr/>
          <p:nvPr/>
        </p:nvSpPr>
        <p:spPr>
          <a:xfrm>
            <a:off x="3182112" y="2184502"/>
            <a:ext cx="1133856" cy="20117"/>
          </a:xfrm>
          <a:prstGeom prst="rect">
            <a:avLst/>
          </a:prstGeom>
          <a:solidFill>
            <a:srgbClr val="22261F"/>
          </a:solidFill>
          <a:ln/>
        </p:spPr>
      </p:sp>
      <p:sp>
        <p:nvSpPr>
          <p:cNvPr id="11" name="Shape 9"/>
          <p:cNvSpPr/>
          <p:nvPr/>
        </p:nvSpPr>
        <p:spPr>
          <a:xfrm>
            <a:off x="3738982" y="2194560"/>
            <a:ext cx="20117" cy="1005840"/>
          </a:xfrm>
          <a:prstGeom prst="rect">
            <a:avLst/>
          </a:prstGeom>
          <a:solidFill>
            <a:srgbClr val="22261F"/>
          </a:solidFill>
          <a:ln/>
        </p:spPr>
      </p:sp>
      <p:sp>
        <p:nvSpPr>
          <p:cNvPr id="12" name="Shape 10"/>
          <p:cNvSpPr/>
          <p:nvPr/>
        </p:nvSpPr>
        <p:spPr>
          <a:xfrm>
            <a:off x="2651760" y="3190342"/>
            <a:ext cx="2194560" cy="20117"/>
          </a:xfrm>
          <a:prstGeom prst="rect">
            <a:avLst/>
          </a:prstGeom>
          <a:solidFill>
            <a:srgbClr val="22261F"/>
          </a:solidFill>
          <a:ln/>
        </p:spPr>
      </p:sp>
      <p:sp>
        <p:nvSpPr>
          <p:cNvPr id="13" name="Shape 11"/>
          <p:cNvSpPr/>
          <p:nvPr/>
        </p:nvSpPr>
        <p:spPr>
          <a:xfrm>
            <a:off x="2641702" y="3200400"/>
            <a:ext cx="20117" cy="338328"/>
          </a:xfrm>
          <a:prstGeom prst="rect">
            <a:avLst/>
          </a:prstGeom>
          <a:solidFill>
            <a:srgbClr val="22261F"/>
          </a:solidFill>
          <a:ln/>
        </p:spPr>
      </p:sp>
      <p:sp>
        <p:nvSpPr>
          <p:cNvPr id="14" name="Shape 12"/>
          <p:cNvSpPr/>
          <p:nvPr/>
        </p:nvSpPr>
        <p:spPr>
          <a:xfrm>
            <a:off x="4836262" y="3200400"/>
            <a:ext cx="20117" cy="338328"/>
          </a:xfrm>
          <a:prstGeom prst="rect">
            <a:avLst/>
          </a:prstGeom>
          <a:solidFill>
            <a:srgbClr val="22261F"/>
          </a:solidFill>
          <a:ln/>
        </p:spPr>
      </p:sp>
      <p:sp>
        <p:nvSpPr>
          <p:cNvPr id="15" name="Shape 13"/>
          <p:cNvSpPr/>
          <p:nvPr/>
        </p:nvSpPr>
        <p:spPr>
          <a:xfrm>
            <a:off x="2395728" y="3538728"/>
            <a:ext cx="512064" cy="512064"/>
          </a:xfrm>
          <a:prstGeom prst="ellipse">
            <a:avLst/>
          </a:prstGeom>
          <a:solidFill>
            <a:srgbClr val="1F3A56"/>
          </a:solidFill>
          <a:ln w="22225">
            <a:solidFill>
              <a:srgbClr val="22261F"/>
            </a:solidFill>
            <a:prstDash val="solid"/>
          </a:ln>
        </p:spPr>
      </p:sp>
      <p:sp>
        <p:nvSpPr>
          <p:cNvPr id="16" name="Shape 14"/>
          <p:cNvSpPr/>
          <p:nvPr/>
        </p:nvSpPr>
        <p:spPr>
          <a:xfrm flipV="1">
            <a:off x="2313432" y="3456432"/>
            <a:ext cx="676656" cy="676656"/>
          </a:xfrm>
          <a:prstGeom prst="line">
            <a:avLst/>
          </a:prstGeom>
          <a:noFill/>
          <a:ln w="22225">
            <a:solidFill>
              <a:srgbClr val="22261F"/>
            </a:solidFill>
            <a:prstDash val="solid"/>
          </a:ln>
        </p:spPr>
      </p:sp>
      <p:sp>
        <p:nvSpPr>
          <p:cNvPr id="17" name="Text 15"/>
          <p:cNvSpPr txBox="1"/>
          <p:nvPr/>
        </p:nvSpPr>
        <p:spPr>
          <a:xfrm>
            <a:off x="2057400" y="4206240"/>
            <a:ext cx="118872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Tía materna</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Mama · †61</a:t>
            </a:r>
            <a:endParaRPr lang="en-US" sz="1150" dirty="0"/>
          </a:p>
        </p:txBody>
      </p:sp>
      <p:sp>
        <p:nvSpPr>
          <p:cNvPr id="18" name="Shape 16"/>
          <p:cNvSpPr/>
          <p:nvPr/>
        </p:nvSpPr>
        <p:spPr>
          <a:xfrm>
            <a:off x="4590288" y="3538728"/>
            <a:ext cx="512064" cy="512064"/>
          </a:xfrm>
          <a:prstGeom prst="ellipse">
            <a:avLst/>
          </a:prstGeom>
          <a:solidFill>
            <a:srgbClr val="1F3A56"/>
          </a:solidFill>
          <a:ln w="22225">
            <a:solidFill>
              <a:srgbClr val="22261F"/>
            </a:solidFill>
            <a:prstDash val="solid"/>
          </a:ln>
        </p:spPr>
      </p:sp>
      <p:sp>
        <p:nvSpPr>
          <p:cNvPr id="19" name="Shape 17"/>
          <p:cNvSpPr/>
          <p:nvPr/>
        </p:nvSpPr>
        <p:spPr>
          <a:xfrm flipV="1">
            <a:off x="4507992" y="3456432"/>
            <a:ext cx="676656" cy="676656"/>
          </a:xfrm>
          <a:prstGeom prst="line">
            <a:avLst/>
          </a:prstGeom>
          <a:noFill/>
          <a:ln w="22225">
            <a:solidFill>
              <a:srgbClr val="22261F"/>
            </a:solidFill>
            <a:prstDash val="solid"/>
          </a:ln>
        </p:spPr>
      </p:sp>
      <p:sp>
        <p:nvSpPr>
          <p:cNvPr id="20" name="Text 18"/>
          <p:cNvSpPr txBox="1"/>
          <p:nvPr/>
        </p:nvSpPr>
        <p:spPr>
          <a:xfrm>
            <a:off x="4251960" y="4206240"/>
            <a:ext cx="118872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Madre</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Ovario · †56</a:t>
            </a:r>
            <a:endParaRPr lang="en-US" sz="1150" dirty="0"/>
          </a:p>
        </p:txBody>
      </p:sp>
      <p:sp>
        <p:nvSpPr>
          <p:cNvPr id="21" name="Shape 19"/>
          <p:cNvSpPr/>
          <p:nvPr/>
        </p:nvSpPr>
        <p:spPr>
          <a:xfrm>
            <a:off x="6236208" y="3538728"/>
            <a:ext cx="512064" cy="512064"/>
          </a:xfrm>
          <a:prstGeom prst="rect">
            <a:avLst/>
          </a:prstGeom>
          <a:solidFill>
            <a:srgbClr val="D9DEE3"/>
          </a:solidFill>
          <a:ln w="22225">
            <a:solidFill>
              <a:srgbClr val="8896A5"/>
            </a:solidFill>
            <a:prstDash val="solid"/>
          </a:ln>
        </p:spPr>
      </p:sp>
      <p:sp>
        <p:nvSpPr>
          <p:cNvPr id="22" name="Text 20"/>
          <p:cNvSpPr txBox="1"/>
          <p:nvPr/>
        </p:nvSpPr>
        <p:spPr>
          <a:xfrm>
            <a:off x="5897880" y="4114800"/>
            <a:ext cx="118872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Sin datos</a:t>
            </a:r>
            <a:endParaRPr lang="en-US" sz="1150" dirty="0"/>
          </a:p>
        </p:txBody>
      </p:sp>
      <p:sp>
        <p:nvSpPr>
          <p:cNvPr id="23" name="Shape 21"/>
          <p:cNvSpPr/>
          <p:nvPr/>
        </p:nvSpPr>
        <p:spPr>
          <a:xfrm>
            <a:off x="5102352" y="3784702"/>
            <a:ext cx="1133856" cy="20117"/>
          </a:xfrm>
          <a:prstGeom prst="rect">
            <a:avLst/>
          </a:prstGeom>
          <a:solidFill>
            <a:srgbClr val="22261F"/>
          </a:solidFill>
          <a:ln/>
        </p:spPr>
      </p:sp>
      <p:sp>
        <p:nvSpPr>
          <p:cNvPr id="24" name="Shape 22"/>
          <p:cNvSpPr/>
          <p:nvPr/>
        </p:nvSpPr>
        <p:spPr>
          <a:xfrm>
            <a:off x="5659222" y="3794760"/>
            <a:ext cx="20117" cy="1115568"/>
          </a:xfrm>
          <a:prstGeom prst="rect">
            <a:avLst/>
          </a:prstGeom>
          <a:solidFill>
            <a:srgbClr val="22261F"/>
          </a:solidFill>
          <a:ln/>
        </p:spPr>
      </p:sp>
      <p:sp>
        <p:nvSpPr>
          <p:cNvPr id="25" name="Shape 23"/>
          <p:cNvSpPr/>
          <p:nvPr/>
        </p:nvSpPr>
        <p:spPr>
          <a:xfrm>
            <a:off x="5413248" y="4910328"/>
            <a:ext cx="512064" cy="512064"/>
          </a:xfrm>
          <a:prstGeom prst="ellipse">
            <a:avLst/>
          </a:prstGeom>
          <a:solidFill>
            <a:srgbClr val="FFFFFF"/>
          </a:solidFill>
          <a:ln w="22225">
            <a:solidFill>
              <a:srgbClr val="22261F"/>
            </a:solidFill>
            <a:prstDash val="solid"/>
          </a:ln>
        </p:spPr>
      </p:sp>
      <p:sp>
        <p:nvSpPr>
          <p:cNvPr id="26" name="Shape 24"/>
          <p:cNvSpPr/>
          <p:nvPr/>
        </p:nvSpPr>
        <p:spPr>
          <a:xfrm>
            <a:off x="5602712" y="5099792"/>
            <a:ext cx="133137" cy="133137"/>
          </a:xfrm>
          <a:prstGeom prst="ellipse">
            <a:avLst/>
          </a:prstGeom>
          <a:solidFill>
            <a:srgbClr val="1F3A56"/>
          </a:solidFill>
          <a:ln/>
        </p:spPr>
      </p:sp>
      <p:sp>
        <p:nvSpPr>
          <p:cNvPr id="27" name="Shape 25"/>
          <p:cNvSpPr/>
          <p:nvPr/>
        </p:nvSpPr>
        <p:spPr>
          <a:xfrm flipV="1">
            <a:off x="4846320" y="5404104"/>
            <a:ext cx="502920" cy="329184"/>
          </a:xfrm>
          <a:prstGeom prst="line">
            <a:avLst/>
          </a:prstGeom>
          <a:noFill/>
          <a:ln w="22225">
            <a:solidFill>
              <a:srgbClr val="22261F"/>
            </a:solidFill>
            <a:prstDash val="solid"/>
            <a:tailEnd type="triangle"/>
          </a:ln>
        </p:spPr>
      </p:sp>
      <p:sp>
        <p:nvSpPr>
          <p:cNvPr id="28" name="Text 26"/>
          <p:cNvSpPr txBox="1"/>
          <p:nvPr/>
        </p:nvSpPr>
        <p:spPr>
          <a:xfrm>
            <a:off x="4983480" y="5486400"/>
            <a:ext cx="137160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A. Jolie</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Portadora BRCA1</a:t>
            </a:r>
            <a:endParaRPr lang="en-US" sz="1150" dirty="0"/>
          </a:p>
        </p:txBody>
      </p:sp>
      <p:sp>
        <p:nvSpPr>
          <p:cNvPr id="29" name="Shape 27"/>
          <p:cNvSpPr/>
          <p:nvPr/>
        </p:nvSpPr>
        <p:spPr>
          <a:xfrm>
            <a:off x="7589520" y="1554480"/>
            <a:ext cx="4069080" cy="3657600"/>
          </a:xfrm>
          <a:prstGeom prst="roundRect">
            <a:avLst>
              <a:gd name="adj" fmla="val 2000"/>
            </a:avLst>
          </a:prstGeom>
          <a:solidFill>
            <a:srgbClr val="F7F5F0"/>
          </a:solidFill>
          <a:ln w="12700">
            <a:solidFill>
              <a:srgbClr val="DCE3EA"/>
            </a:solidFill>
            <a:prstDash val="solid"/>
          </a:ln>
        </p:spPr>
      </p:sp>
      <p:sp>
        <p:nvSpPr>
          <p:cNvPr id="30" name="Shape 28"/>
          <p:cNvSpPr/>
          <p:nvPr/>
        </p:nvSpPr>
        <p:spPr>
          <a:xfrm>
            <a:off x="7863840" y="1810512"/>
            <a:ext cx="1691640" cy="310896"/>
          </a:xfrm>
          <a:prstGeom prst="roundRect">
            <a:avLst>
              <a:gd name="adj" fmla="val 50000"/>
            </a:avLst>
          </a:prstGeom>
          <a:solidFill>
            <a:srgbClr val="1F3A56"/>
          </a:solidFill>
          <a:ln/>
        </p:spPr>
      </p:sp>
      <p:sp>
        <p:nvSpPr>
          <p:cNvPr id="31" name="Text 29"/>
          <p:cNvSpPr txBox="1"/>
          <p:nvPr/>
        </p:nvSpPr>
        <p:spPr>
          <a:xfrm>
            <a:off x="7863840" y="1810512"/>
            <a:ext cx="169164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EN TU CUADERNO</a:t>
            </a:r>
            <a:endParaRPr lang="en-US" sz="1150" dirty="0"/>
          </a:p>
        </p:txBody>
      </p:sp>
      <p:sp>
        <p:nvSpPr>
          <p:cNvPr id="32" name="Text 30"/>
          <p:cNvSpPr txBox="1"/>
          <p:nvPr/>
        </p:nvSpPr>
        <p:spPr>
          <a:xfrm>
            <a:off x="7863840" y="2267712"/>
            <a:ext cx="3520440" cy="2743200"/>
          </a:xfrm>
          <a:prstGeom prst="rect">
            <a:avLst/>
          </a:prstGeom>
          <a:noFill/>
          <a:ln/>
        </p:spPr>
        <p:txBody>
          <a:bodyPr wrap="square" lIns="0" tIns="0" rIns="0" bIns="0" rtlCol="0" anchor="t"/>
          <a:lstStyle/>
          <a:p>
            <a:pPr marL="342900" indent="-342900">
              <a:spcAft>
                <a:spcPts val="900"/>
              </a:spcAft>
              <a:buSzPct val="100000"/>
              <a:buFont typeface="+mj-lt"/>
              <a:buAutoNum type="arabicPeriod"/>
            </a:pPr>
            <a:r>
              <a:rPr lang="en-US" sz="1500" dirty="0">
                <a:solidFill>
                  <a:srgbClr val="22261F"/>
                </a:solidFill>
                <a:latin typeface="Calibri" pitchFamily="34" charset="0"/>
                <a:ea typeface="Calibri" pitchFamily="34" charset="-122"/>
                <a:cs typeface="Calibri" pitchFamily="34" charset="-120"/>
              </a:rPr>
              <a:t>Describe: ¿cuántas generaciones hay, quiénes tuvieron cáncer y a qué edades?</a:t>
            </a:r>
            <a:endParaRPr lang="en-US" sz="1500" dirty="0"/>
          </a:p>
          <a:p>
            <a:pPr marL="342900" indent="-342900">
              <a:spcAft>
                <a:spcPts val="900"/>
              </a:spcAft>
              <a:buSzPct val="100000"/>
              <a:buFont typeface="+mj-lt"/>
              <a:buAutoNum type="arabicPeriod"/>
            </a:pPr>
            <a:r>
              <a:rPr lang="en-US" sz="1500" dirty="0">
                <a:solidFill>
                  <a:srgbClr val="22261F"/>
                </a:solidFill>
                <a:latin typeface="Calibri" pitchFamily="34" charset="0"/>
                <a:ea typeface="Calibri" pitchFamily="34" charset="-122"/>
                <a:cs typeface="Calibri" pitchFamily="34" charset="-120"/>
              </a:rPr>
              <a:t>Infiere con AER: ¿por qué este árbol sugiere un componente hereditario? Usa al menos dos datos.</a:t>
            </a:r>
            <a:endParaRPr lang="en-US" sz="1500" dirty="0"/>
          </a:p>
          <a:p>
            <a:pPr marL="342900" indent="-342900">
              <a:spcAft>
                <a:spcPts val="900"/>
              </a:spcAft>
              <a:buSzPct val="100000"/>
              <a:buFont typeface="+mj-lt"/>
              <a:buAutoNum type="arabicPeriod"/>
            </a:pPr>
            <a:r>
              <a:rPr lang="en-US" sz="1500" dirty="0">
                <a:solidFill>
                  <a:srgbClr val="22261F"/>
                </a:solidFill>
                <a:latin typeface="Calibri" pitchFamily="34" charset="0"/>
                <a:ea typeface="Calibri" pitchFamily="34" charset="-122"/>
                <a:cs typeface="Calibri" pitchFamily="34" charset="-120"/>
              </a:rPr>
              <a:t>Pregúntate: escribe una pregunta de investigación que este árbol NO puede responder.</a:t>
            </a:r>
            <a:endParaRPr lang="en-US" sz="1500" dirty="0"/>
          </a:p>
        </p:txBody>
      </p:sp>
      <p:sp>
        <p:nvSpPr>
          <p:cNvPr id="33" name="Shape 31"/>
          <p:cNvSpPr/>
          <p:nvPr/>
        </p:nvSpPr>
        <p:spPr>
          <a:xfrm>
            <a:off x="9921240" y="384048"/>
            <a:ext cx="1691640" cy="310896"/>
          </a:xfrm>
          <a:prstGeom prst="roundRect">
            <a:avLst>
              <a:gd name="adj" fmla="val 50000"/>
            </a:avLst>
          </a:prstGeom>
          <a:solidFill>
            <a:srgbClr val="2E6968"/>
          </a:solidFill>
          <a:ln/>
        </p:spPr>
      </p:sp>
      <p:sp>
        <p:nvSpPr>
          <p:cNvPr id="34" name="Text 32"/>
          <p:cNvSpPr txBox="1"/>
          <p:nvPr/>
        </p:nvSpPr>
        <p:spPr>
          <a:xfrm>
            <a:off x="9921240" y="384048"/>
            <a:ext cx="169164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ANALIZAR · OA c</a:t>
            </a:r>
            <a:endParaRPr lang="en-US" sz="1150" dirty="0"/>
          </a:p>
        </p:txBody>
      </p:sp>
      <p:sp>
        <p:nvSpPr>
          <p:cNvPr id="35" name="Text 33"/>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36" name="Text 34"/>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6 / 20</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2E6968"/>
                </a:solidFill>
                <a:latin typeface="Calibri" pitchFamily="34" charset="0"/>
                <a:ea typeface="Calibri" pitchFamily="34" charset="-122"/>
                <a:cs typeface="Calibri" pitchFamily="34" charset="-120"/>
              </a:rPr>
              <a:t>DESARROLLO · ANALIZAR</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Árbol 2: ¿de quién viene la variante?</a:t>
            </a:r>
            <a:endParaRPr lang="en-US" sz="3200" dirty="0"/>
          </a:p>
        </p:txBody>
      </p:sp>
      <p:sp>
        <p:nvSpPr>
          <p:cNvPr id="4" name="Text 2"/>
          <p:cNvSpPr txBox="1"/>
          <p:nvPr/>
        </p:nvSpPr>
        <p:spPr>
          <a:xfrm>
            <a:off x="548640" y="1371600"/>
            <a:ext cx="6858000" cy="320040"/>
          </a:xfrm>
          <a:prstGeom prst="rect">
            <a:avLst/>
          </a:prstGeom>
          <a:noFill/>
          <a:ln/>
        </p:spPr>
        <p:txBody>
          <a:bodyPr wrap="square" lIns="0" tIns="0" rIns="0" bIns="0" rtlCol="0" anchor="ctr"/>
          <a:lstStyle/>
          <a:p>
            <a:pPr marL="0" indent="0">
              <a:buNone/>
            </a:pPr>
            <a:r>
              <a:rPr lang="en-US" sz="1250" i="1" dirty="0">
                <a:solidFill>
                  <a:srgbClr val="5B6B7A"/>
                </a:solidFill>
                <a:latin typeface="Calibri" pitchFamily="34" charset="0"/>
                <a:ea typeface="Calibri" pitchFamily="34" charset="-122"/>
                <a:cs typeface="Calibri" pitchFamily="34" charset="-120"/>
              </a:rPr>
              <a:t>Árbol ilustrativo (no es una familia real). Se sabe que la causa es una variante autosómica dominante.</a:t>
            </a:r>
            <a:endParaRPr lang="en-US" sz="1250" dirty="0"/>
          </a:p>
        </p:txBody>
      </p:sp>
      <p:sp>
        <p:nvSpPr>
          <p:cNvPr id="5" name="Shape 3"/>
          <p:cNvSpPr/>
          <p:nvPr/>
        </p:nvSpPr>
        <p:spPr>
          <a:xfrm>
            <a:off x="2487168" y="2075688"/>
            <a:ext cx="512064" cy="512064"/>
          </a:xfrm>
          <a:prstGeom prst="ellipse">
            <a:avLst/>
          </a:prstGeom>
          <a:solidFill>
            <a:srgbClr val="1F3A56"/>
          </a:solidFill>
          <a:ln w="22225">
            <a:solidFill>
              <a:srgbClr val="22261F"/>
            </a:solidFill>
            <a:prstDash val="solid"/>
          </a:ln>
        </p:spPr>
      </p:sp>
      <p:sp>
        <p:nvSpPr>
          <p:cNvPr id="6" name="Text 4"/>
          <p:cNvSpPr txBox="1"/>
          <p:nvPr/>
        </p:nvSpPr>
        <p:spPr>
          <a:xfrm>
            <a:off x="2194560" y="2651760"/>
            <a:ext cx="109728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I-1</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Ovario, 52</a:t>
            </a:r>
            <a:endParaRPr lang="en-US" sz="1150" dirty="0"/>
          </a:p>
        </p:txBody>
      </p:sp>
      <p:sp>
        <p:nvSpPr>
          <p:cNvPr id="7" name="Shape 5"/>
          <p:cNvSpPr/>
          <p:nvPr/>
        </p:nvSpPr>
        <p:spPr>
          <a:xfrm>
            <a:off x="4133088" y="2075688"/>
            <a:ext cx="512064" cy="512064"/>
          </a:xfrm>
          <a:prstGeom prst="rect">
            <a:avLst/>
          </a:prstGeom>
          <a:solidFill>
            <a:srgbClr val="FFFFFF"/>
          </a:solidFill>
          <a:ln w="22225">
            <a:solidFill>
              <a:srgbClr val="22261F"/>
            </a:solidFill>
            <a:prstDash val="solid"/>
          </a:ln>
        </p:spPr>
      </p:sp>
      <p:sp>
        <p:nvSpPr>
          <p:cNvPr id="8" name="Text 6"/>
          <p:cNvSpPr txBox="1"/>
          <p:nvPr/>
        </p:nvSpPr>
        <p:spPr>
          <a:xfrm>
            <a:off x="3840480" y="2651760"/>
            <a:ext cx="109728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I-2</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Sano</a:t>
            </a:r>
            <a:endParaRPr lang="en-US" sz="1150" dirty="0"/>
          </a:p>
        </p:txBody>
      </p:sp>
      <p:sp>
        <p:nvSpPr>
          <p:cNvPr id="9" name="Shape 7"/>
          <p:cNvSpPr/>
          <p:nvPr/>
        </p:nvSpPr>
        <p:spPr>
          <a:xfrm>
            <a:off x="2999232" y="2321662"/>
            <a:ext cx="1133856" cy="20117"/>
          </a:xfrm>
          <a:prstGeom prst="rect">
            <a:avLst/>
          </a:prstGeom>
          <a:solidFill>
            <a:srgbClr val="22261F"/>
          </a:solidFill>
          <a:ln/>
        </p:spPr>
      </p:sp>
      <p:sp>
        <p:nvSpPr>
          <p:cNvPr id="10" name="Shape 8"/>
          <p:cNvSpPr/>
          <p:nvPr/>
        </p:nvSpPr>
        <p:spPr>
          <a:xfrm>
            <a:off x="3556102" y="2331720"/>
            <a:ext cx="20117" cy="731520"/>
          </a:xfrm>
          <a:prstGeom prst="rect">
            <a:avLst/>
          </a:prstGeom>
          <a:solidFill>
            <a:srgbClr val="22261F"/>
          </a:solidFill>
          <a:ln/>
        </p:spPr>
      </p:sp>
      <p:sp>
        <p:nvSpPr>
          <p:cNvPr id="11" name="Shape 9"/>
          <p:cNvSpPr/>
          <p:nvPr/>
        </p:nvSpPr>
        <p:spPr>
          <a:xfrm>
            <a:off x="1463040" y="3053182"/>
            <a:ext cx="3749040" cy="20117"/>
          </a:xfrm>
          <a:prstGeom prst="rect">
            <a:avLst/>
          </a:prstGeom>
          <a:solidFill>
            <a:srgbClr val="22261F"/>
          </a:solidFill>
          <a:ln/>
        </p:spPr>
      </p:sp>
      <p:sp>
        <p:nvSpPr>
          <p:cNvPr id="12" name="Shape 10"/>
          <p:cNvSpPr/>
          <p:nvPr/>
        </p:nvSpPr>
        <p:spPr>
          <a:xfrm>
            <a:off x="1452982" y="3063240"/>
            <a:ext cx="20117" cy="384048"/>
          </a:xfrm>
          <a:prstGeom prst="rect">
            <a:avLst/>
          </a:prstGeom>
          <a:solidFill>
            <a:srgbClr val="22261F"/>
          </a:solidFill>
          <a:ln/>
        </p:spPr>
      </p:sp>
      <p:sp>
        <p:nvSpPr>
          <p:cNvPr id="13" name="Shape 11"/>
          <p:cNvSpPr/>
          <p:nvPr/>
        </p:nvSpPr>
        <p:spPr>
          <a:xfrm>
            <a:off x="5202022" y="3063240"/>
            <a:ext cx="20117" cy="384048"/>
          </a:xfrm>
          <a:prstGeom prst="rect">
            <a:avLst/>
          </a:prstGeom>
          <a:solidFill>
            <a:srgbClr val="22261F"/>
          </a:solidFill>
          <a:ln/>
        </p:spPr>
      </p:sp>
      <p:sp>
        <p:nvSpPr>
          <p:cNvPr id="14" name="Shape 12"/>
          <p:cNvSpPr/>
          <p:nvPr/>
        </p:nvSpPr>
        <p:spPr>
          <a:xfrm>
            <a:off x="1207008" y="3447288"/>
            <a:ext cx="512064" cy="512064"/>
          </a:xfrm>
          <a:prstGeom prst="rect">
            <a:avLst/>
          </a:prstGeom>
          <a:solidFill>
            <a:srgbClr val="FFFFFF"/>
          </a:solidFill>
          <a:ln w="22225">
            <a:solidFill>
              <a:srgbClr val="22261F"/>
            </a:solidFill>
            <a:prstDash val="solid"/>
          </a:ln>
        </p:spPr>
      </p:sp>
      <p:sp>
        <p:nvSpPr>
          <p:cNvPr id="15" name="Text 13"/>
          <p:cNvSpPr txBox="1"/>
          <p:nvPr/>
        </p:nvSpPr>
        <p:spPr>
          <a:xfrm>
            <a:off x="914400" y="4023360"/>
            <a:ext cx="109728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II-1</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Sano, 58</a:t>
            </a:r>
            <a:endParaRPr lang="en-US" sz="1150" dirty="0"/>
          </a:p>
        </p:txBody>
      </p:sp>
      <p:sp>
        <p:nvSpPr>
          <p:cNvPr id="16" name="Shape 14"/>
          <p:cNvSpPr/>
          <p:nvPr/>
        </p:nvSpPr>
        <p:spPr>
          <a:xfrm>
            <a:off x="2852928" y="3447288"/>
            <a:ext cx="512064" cy="512064"/>
          </a:xfrm>
          <a:prstGeom prst="ellipse">
            <a:avLst/>
          </a:prstGeom>
          <a:solidFill>
            <a:srgbClr val="D9DEE3"/>
          </a:solidFill>
          <a:ln w="22225">
            <a:solidFill>
              <a:srgbClr val="8896A5"/>
            </a:solidFill>
            <a:prstDash val="solid"/>
          </a:ln>
        </p:spPr>
      </p:sp>
      <p:sp>
        <p:nvSpPr>
          <p:cNvPr id="17" name="Text 15"/>
          <p:cNvSpPr txBox="1"/>
          <p:nvPr/>
        </p:nvSpPr>
        <p:spPr>
          <a:xfrm>
            <a:off x="2560320" y="4023360"/>
            <a:ext cx="109728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Sin datos</a:t>
            </a:r>
            <a:endParaRPr lang="en-US" sz="1150" dirty="0"/>
          </a:p>
        </p:txBody>
      </p:sp>
      <p:sp>
        <p:nvSpPr>
          <p:cNvPr id="18" name="Shape 16"/>
          <p:cNvSpPr/>
          <p:nvPr/>
        </p:nvSpPr>
        <p:spPr>
          <a:xfrm>
            <a:off x="1719072" y="3693262"/>
            <a:ext cx="1133856" cy="20117"/>
          </a:xfrm>
          <a:prstGeom prst="rect">
            <a:avLst/>
          </a:prstGeom>
          <a:solidFill>
            <a:srgbClr val="22261F"/>
          </a:solidFill>
          <a:ln/>
        </p:spPr>
      </p:sp>
      <p:sp>
        <p:nvSpPr>
          <p:cNvPr id="19" name="Shape 17"/>
          <p:cNvSpPr/>
          <p:nvPr/>
        </p:nvSpPr>
        <p:spPr>
          <a:xfrm>
            <a:off x="4956048" y="3447288"/>
            <a:ext cx="512064" cy="512064"/>
          </a:xfrm>
          <a:prstGeom prst="ellipse">
            <a:avLst/>
          </a:prstGeom>
          <a:solidFill>
            <a:srgbClr val="1F3A56"/>
          </a:solidFill>
          <a:ln w="22225">
            <a:solidFill>
              <a:srgbClr val="22261F"/>
            </a:solidFill>
            <a:prstDash val="solid"/>
          </a:ln>
        </p:spPr>
      </p:sp>
      <p:sp>
        <p:nvSpPr>
          <p:cNvPr id="20" name="Text 18"/>
          <p:cNvSpPr txBox="1"/>
          <p:nvPr/>
        </p:nvSpPr>
        <p:spPr>
          <a:xfrm>
            <a:off x="4663440" y="4023360"/>
            <a:ext cx="109728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II-2</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Mama, 44</a:t>
            </a:r>
            <a:endParaRPr lang="en-US" sz="1150" dirty="0"/>
          </a:p>
        </p:txBody>
      </p:sp>
      <p:sp>
        <p:nvSpPr>
          <p:cNvPr id="21" name="Shape 19"/>
          <p:cNvSpPr/>
          <p:nvPr/>
        </p:nvSpPr>
        <p:spPr>
          <a:xfrm>
            <a:off x="6236208" y="3447288"/>
            <a:ext cx="512064" cy="512064"/>
          </a:xfrm>
          <a:prstGeom prst="rect">
            <a:avLst/>
          </a:prstGeom>
          <a:solidFill>
            <a:srgbClr val="D9DEE3"/>
          </a:solidFill>
          <a:ln w="22225">
            <a:solidFill>
              <a:srgbClr val="8896A5"/>
            </a:solidFill>
            <a:prstDash val="solid"/>
          </a:ln>
        </p:spPr>
      </p:sp>
      <p:sp>
        <p:nvSpPr>
          <p:cNvPr id="22" name="Text 20"/>
          <p:cNvSpPr txBox="1"/>
          <p:nvPr/>
        </p:nvSpPr>
        <p:spPr>
          <a:xfrm>
            <a:off x="5943600" y="4023360"/>
            <a:ext cx="109728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Sin datos</a:t>
            </a:r>
            <a:endParaRPr lang="en-US" sz="1150" dirty="0"/>
          </a:p>
        </p:txBody>
      </p:sp>
      <p:sp>
        <p:nvSpPr>
          <p:cNvPr id="23" name="Shape 21"/>
          <p:cNvSpPr/>
          <p:nvPr/>
        </p:nvSpPr>
        <p:spPr>
          <a:xfrm>
            <a:off x="5468112" y="3693262"/>
            <a:ext cx="768096" cy="20117"/>
          </a:xfrm>
          <a:prstGeom prst="rect">
            <a:avLst/>
          </a:prstGeom>
          <a:solidFill>
            <a:srgbClr val="22261F"/>
          </a:solidFill>
          <a:ln/>
        </p:spPr>
      </p:sp>
      <p:sp>
        <p:nvSpPr>
          <p:cNvPr id="24" name="Shape 22"/>
          <p:cNvSpPr/>
          <p:nvPr/>
        </p:nvSpPr>
        <p:spPr>
          <a:xfrm>
            <a:off x="2275942" y="3703320"/>
            <a:ext cx="20117" cy="822960"/>
          </a:xfrm>
          <a:prstGeom prst="rect">
            <a:avLst/>
          </a:prstGeom>
          <a:solidFill>
            <a:srgbClr val="22261F"/>
          </a:solidFill>
          <a:ln/>
        </p:spPr>
      </p:sp>
      <p:sp>
        <p:nvSpPr>
          <p:cNvPr id="25" name="Shape 23"/>
          <p:cNvSpPr/>
          <p:nvPr/>
        </p:nvSpPr>
        <p:spPr>
          <a:xfrm>
            <a:off x="1737360" y="4516222"/>
            <a:ext cx="1097280" cy="20117"/>
          </a:xfrm>
          <a:prstGeom prst="rect">
            <a:avLst/>
          </a:prstGeom>
          <a:solidFill>
            <a:srgbClr val="22261F"/>
          </a:solidFill>
          <a:ln/>
        </p:spPr>
      </p:sp>
      <p:sp>
        <p:nvSpPr>
          <p:cNvPr id="26" name="Shape 24"/>
          <p:cNvSpPr/>
          <p:nvPr/>
        </p:nvSpPr>
        <p:spPr>
          <a:xfrm>
            <a:off x="1727302" y="4526280"/>
            <a:ext cx="20117" cy="338328"/>
          </a:xfrm>
          <a:prstGeom prst="rect">
            <a:avLst/>
          </a:prstGeom>
          <a:solidFill>
            <a:srgbClr val="22261F"/>
          </a:solidFill>
          <a:ln/>
        </p:spPr>
      </p:sp>
      <p:sp>
        <p:nvSpPr>
          <p:cNvPr id="27" name="Shape 25"/>
          <p:cNvSpPr/>
          <p:nvPr/>
        </p:nvSpPr>
        <p:spPr>
          <a:xfrm>
            <a:off x="2824582" y="4526280"/>
            <a:ext cx="20117" cy="338328"/>
          </a:xfrm>
          <a:prstGeom prst="rect">
            <a:avLst/>
          </a:prstGeom>
          <a:solidFill>
            <a:srgbClr val="22261F"/>
          </a:solidFill>
          <a:ln/>
        </p:spPr>
      </p:sp>
      <p:sp>
        <p:nvSpPr>
          <p:cNvPr id="28" name="Shape 26"/>
          <p:cNvSpPr/>
          <p:nvPr/>
        </p:nvSpPr>
        <p:spPr>
          <a:xfrm>
            <a:off x="1481328" y="4864608"/>
            <a:ext cx="512064" cy="512064"/>
          </a:xfrm>
          <a:prstGeom prst="ellipse">
            <a:avLst/>
          </a:prstGeom>
          <a:solidFill>
            <a:srgbClr val="1F3A56"/>
          </a:solidFill>
          <a:ln w="22225">
            <a:solidFill>
              <a:srgbClr val="22261F"/>
            </a:solidFill>
            <a:prstDash val="solid"/>
          </a:ln>
        </p:spPr>
      </p:sp>
      <p:sp>
        <p:nvSpPr>
          <p:cNvPr id="29" name="Text 27"/>
          <p:cNvSpPr txBox="1"/>
          <p:nvPr/>
        </p:nvSpPr>
        <p:spPr>
          <a:xfrm>
            <a:off x="1257300" y="5440680"/>
            <a:ext cx="96012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III-1</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Mama, 38</a:t>
            </a:r>
            <a:endParaRPr lang="en-US" sz="1150" dirty="0"/>
          </a:p>
        </p:txBody>
      </p:sp>
      <p:sp>
        <p:nvSpPr>
          <p:cNvPr id="30" name="Shape 28"/>
          <p:cNvSpPr/>
          <p:nvPr/>
        </p:nvSpPr>
        <p:spPr>
          <a:xfrm>
            <a:off x="2578608" y="4864608"/>
            <a:ext cx="512064" cy="512064"/>
          </a:xfrm>
          <a:prstGeom prst="rect">
            <a:avLst/>
          </a:prstGeom>
          <a:solidFill>
            <a:srgbClr val="FFFFFF"/>
          </a:solidFill>
          <a:ln w="22225">
            <a:solidFill>
              <a:srgbClr val="22261F"/>
            </a:solidFill>
            <a:prstDash val="solid"/>
          </a:ln>
        </p:spPr>
      </p:sp>
      <p:sp>
        <p:nvSpPr>
          <p:cNvPr id="31" name="Text 29"/>
          <p:cNvSpPr txBox="1"/>
          <p:nvPr/>
        </p:nvSpPr>
        <p:spPr>
          <a:xfrm>
            <a:off x="2354580" y="5440680"/>
            <a:ext cx="96012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III-2</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Sano</a:t>
            </a:r>
            <a:endParaRPr lang="en-US" sz="1150" dirty="0"/>
          </a:p>
        </p:txBody>
      </p:sp>
      <p:sp>
        <p:nvSpPr>
          <p:cNvPr id="32" name="Shape 30"/>
          <p:cNvSpPr/>
          <p:nvPr/>
        </p:nvSpPr>
        <p:spPr>
          <a:xfrm>
            <a:off x="5842102" y="3703320"/>
            <a:ext cx="20117" cy="1161288"/>
          </a:xfrm>
          <a:prstGeom prst="rect">
            <a:avLst/>
          </a:prstGeom>
          <a:solidFill>
            <a:srgbClr val="22261F"/>
          </a:solidFill>
          <a:ln/>
        </p:spPr>
      </p:sp>
      <p:sp>
        <p:nvSpPr>
          <p:cNvPr id="33" name="Shape 31"/>
          <p:cNvSpPr/>
          <p:nvPr/>
        </p:nvSpPr>
        <p:spPr>
          <a:xfrm>
            <a:off x="5596128" y="4864608"/>
            <a:ext cx="512064" cy="512064"/>
          </a:xfrm>
          <a:prstGeom prst="ellipse">
            <a:avLst/>
          </a:prstGeom>
          <a:solidFill>
            <a:srgbClr val="1F3A56"/>
          </a:solidFill>
          <a:ln w="22225">
            <a:solidFill>
              <a:srgbClr val="22261F"/>
            </a:solidFill>
            <a:prstDash val="solid"/>
          </a:ln>
        </p:spPr>
      </p:sp>
      <p:sp>
        <p:nvSpPr>
          <p:cNvPr id="34" name="Text 32"/>
          <p:cNvSpPr txBox="1"/>
          <p:nvPr/>
        </p:nvSpPr>
        <p:spPr>
          <a:xfrm>
            <a:off x="5303520" y="5440680"/>
            <a:ext cx="109728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III-3</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Ovario, 47</a:t>
            </a:r>
            <a:endParaRPr lang="en-US" sz="1150" dirty="0"/>
          </a:p>
        </p:txBody>
      </p:sp>
      <p:sp>
        <p:nvSpPr>
          <p:cNvPr id="35" name="Shape 33"/>
          <p:cNvSpPr/>
          <p:nvPr/>
        </p:nvSpPr>
        <p:spPr>
          <a:xfrm>
            <a:off x="7589520" y="1554480"/>
            <a:ext cx="4069080" cy="4480560"/>
          </a:xfrm>
          <a:prstGeom prst="roundRect">
            <a:avLst>
              <a:gd name="adj" fmla="val 1798"/>
            </a:avLst>
          </a:prstGeom>
          <a:solidFill>
            <a:srgbClr val="F7F5F0"/>
          </a:solidFill>
          <a:ln w="12700">
            <a:solidFill>
              <a:srgbClr val="DCE3EA"/>
            </a:solidFill>
            <a:prstDash val="solid"/>
          </a:ln>
        </p:spPr>
      </p:sp>
      <p:sp>
        <p:nvSpPr>
          <p:cNvPr id="36" name="Shape 34"/>
          <p:cNvSpPr/>
          <p:nvPr/>
        </p:nvSpPr>
        <p:spPr>
          <a:xfrm>
            <a:off x="7863840" y="1810512"/>
            <a:ext cx="1691640" cy="310896"/>
          </a:xfrm>
          <a:prstGeom prst="roundRect">
            <a:avLst>
              <a:gd name="adj" fmla="val 50000"/>
            </a:avLst>
          </a:prstGeom>
          <a:solidFill>
            <a:srgbClr val="1F3A56"/>
          </a:solidFill>
          <a:ln/>
        </p:spPr>
      </p:sp>
      <p:sp>
        <p:nvSpPr>
          <p:cNvPr id="37" name="Text 35"/>
          <p:cNvSpPr txBox="1"/>
          <p:nvPr/>
        </p:nvSpPr>
        <p:spPr>
          <a:xfrm>
            <a:off x="7863840" y="1810512"/>
            <a:ext cx="169164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EN TU CUADERNO</a:t>
            </a:r>
            <a:endParaRPr lang="en-US" sz="1150" dirty="0"/>
          </a:p>
        </p:txBody>
      </p:sp>
      <p:sp>
        <p:nvSpPr>
          <p:cNvPr id="38" name="Text 36"/>
          <p:cNvSpPr txBox="1"/>
          <p:nvPr/>
        </p:nvSpPr>
        <p:spPr>
          <a:xfrm>
            <a:off x="7863840" y="2267712"/>
            <a:ext cx="3520440" cy="3566160"/>
          </a:xfrm>
          <a:prstGeom prst="rect">
            <a:avLst/>
          </a:prstGeom>
          <a:noFill/>
          <a:ln/>
        </p:spPr>
        <p:txBody>
          <a:bodyPr wrap="square" lIns="0" tIns="0" rIns="0" bIns="0" rtlCol="0" anchor="t"/>
          <a:lstStyle/>
          <a:p>
            <a:pPr marL="342900" indent="-342900">
              <a:spcAft>
                <a:spcPts val="900"/>
              </a:spcAft>
              <a:buSzPct val="100000"/>
              <a:buFont typeface="+mj-lt"/>
              <a:buAutoNum type="arabicPeriod"/>
            </a:pPr>
            <a:r>
              <a:rPr lang="en-US" sz="1450" dirty="0">
                <a:solidFill>
                  <a:srgbClr val="22261F"/>
                </a:solidFill>
                <a:latin typeface="Calibri" pitchFamily="34" charset="0"/>
                <a:ea typeface="Calibri" pitchFamily="34" charset="-122"/>
                <a:cs typeface="Calibri" pitchFamily="34" charset="-120"/>
              </a:rPr>
              <a:t>II-1 no tiene cáncer, pero su hija III-1 sí. ¿Pudo transmitir la variante? Justifica con datos del árbol.</a:t>
            </a:r>
            <a:endParaRPr lang="en-US" sz="1450" dirty="0"/>
          </a:p>
          <a:p>
            <a:pPr marL="342900" indent="-342900">
              <a:spcAft>
                <a:spcPts val="900"/>
              </a:spcAft>
              <a:buSzPct val="100000"/>
              <a:buFont typeface="+mj-lt"/>
              <a:buAutoNum type="arabicPeriod"/>
            </a:pPr>
            <a:r>
              <a:rPr lang="en-US" sz="1450" dirty="0">
                <a:solidFill>
                  <a:srgbClr val="22261F"/>
                </a:solidFill>
                <a:latin typeface="Calibri" pitchFamily="34" charset="0"/>
                <a:ea typeface="Calibri" pitchFamily="34" charset="-122"/>
                <a:cs typeface="Calibri" pitchFamily="34" charset="-120"/>
              </a:rPr>
              <a:t>¿Es cierto que el cáncer de mama «solo se hereda por la madre»? Responde con evidencia del árbol.</a:t>
            </a:r>
            <a:endParaRPr lang="en-US" sz="1450" dirty="0"/>
          </a:p>
          <a:p>
            <a:pPr marL="342900" indent="-342900">
              <a:spcAft>
                <a:spcPts val="900"/>
              </a:spcAft>
              <a:buSzPct val="100000"/>
              <a:buFont typeface="+mj-lt"/>
              <a:buAutoNum type="arabicPeriod"/>
            </a:pPr>
            <a:r>
              <a:rPr lang="en-US" sz="1450" dirty="0">
                <a:solidFill>
                  <a:srgbClr val="22261F"/>
                </a:solidFill>
                <a:latin typeface="Calibri" pitchFamily="34" charset="0"/>
                <a:ea typeface="Calibri" pitchFamily="34" charset="-122"/>
                <a:cs typeface="Calibri" pitchFamily="34" charset="-120"/>
              </a:rPr>
              <a:t>Nombra dos razones por las que una persona portadora podría no enfermar.</a:t>
            </a:r>
            <a:endParaRPr lang="en-US" sz="1450" dirty="0"/>
          </a:p>
          <a:p>
            <a:pPr marL="342900" indent="-342900">
              <a:spcAft>
                <a:spcPts val="900"/>
              </a:spcAft>
              <a:buSzPct val="100000"/>
              <a:buFont typeface="+mj-lt"/>
              <a:buAutoNum type="arabicPeriod"/>
            </a:pPr>
            <a:r>
              <a:rPr lang="en-US" sz="1450" dirty="0">
                <a:solidFill>
                  <a:srgbClr val="22261F"/>
                </a:solidFill>
                <a:latin typeface="Calibri" pitchFamily="34" charset="0"/>
                <a:ea typeface="Calibri" pitchFamily="34" charset="-122"/>
                <a:cs typeface="Calibri" pitchFamily="34" charset="-120"/>
              </a:rPr>
              <a:t>¿Qué explicación, además de la genética, podría tener el cáncer de III-1?</a:t>
            </a:r>
            <a:endParaRPr lang="en-US" sz="1450" dirty="0"/>
          </a:p>
        </p:txBody>
      </p:sp>
      <p:sp>
        <p:nvSpPr>
          <p:cNvPr id="39" name="Text 37"/>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40" name="Text 38"/>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7 / 20</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2E6968"/>
                </a:solidFill>
                <a:latin typeface="Calibri" pitchFamily="34" charset="0"/>
                <a:ea typeface="Calibri" pitchFamily="34" charset="-122"/>
                <a:cs typeface="Calibri" pitchFamily="34" charset="-120"/>
              </a:rPr>
              <a:t>DESARROLLO · PROCESAR Y COMUNICAR EVIDENCIA</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El riesgo en números</a:t>
            </a:r>
            <a:endParaRPr lang="en-US" sz="3200" dirty="0"/>
          </a:p>
        </p:txBody>
      </p:sp>
      <p:graphicFrame>
        <p:nvGraphicFramePr>
          <p:cNvPr id="4" name="Chart 0"/>
          <p:cNvGraphicFramePr/>
          <p:nvPr/>
        </p:nvGraphicFramePr>
        <p:xfrm>
          <a:off x="548640" y="1508760"/>
          <a:ext cx="676656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txBox="1"/>
          <p:nvPr/>
        </p:nvSpPr>
        <p:spPr>
          <a:xfrm>
            <a:off x="548640" y="5760720"/>
            <a:ext cx="6766560" cy="548640"/>
          </a:xfrm>
          <a:prstGeom prst="rect">
            <a:avLst/>
          </a:prstGeom>
          <a:noFill/>
          <a:ln/>
        </p:spPr>
        <p:txBody>
          <a:bodyPr wrap="square" lIns="0" tIns="0" rIns="0" bIns="0" rtlCol="0" anchor="ctr"/>
          <a:lstStyle/>
          <a:p>
            <a:pPr marL="0" indent="0">
              <a:buNone/>
            </a:pPr>
            <a:r>
              <a:rPr lang="en-US" sz="1150" i="1" dirty="0">
                <a:solidFill>
                  <a:srgbClr val="5B6B7A"/>
                </a:solidFill>
                <a:latin typeface="Calibri" pitchFamily="34" charset="0"/>
                <a:ea typeface="Calibri" pitchFamily="34" charset="-122"/>
                <a:cs typeface="Calibri" pitchFamily="34" charset="-120"/>
              </a:rPr>
              <a:t>Portadoras: riesgo acumulado hasta los 80 años (Kuchenbaecker et al., JAMA 2017; n = 9.856). Población general: riesgo a lo largo de la vida (NCI).</a:t>
            </a:r>
            <a:endParaRPr lang="en-US" sz="1150" dirty="0"/>
          </a:p>
        </p:txBody>
      </p:sp>
      <p:sp>
        <p:nvSpPr>
          <p:cNvPr id="6" name="Shape 3"/>
          <p:cNvSpPr/>
          <p:nvPr/>
        </p:nvSpPr>
        <p:spPr>
          <a:xfrm>
            <a:off x="7589520" y="1554480"/>
            <a:ext cx="4069080" cy="3977640"/>
          </a:xfrm>
          <a:prstGeom prst="roundRect">
            <a:avLst>
              <a:gd name="adj" fmla="val 1839"/>
            </a:avLst>
          </a:prstGeom>
          <a:solidFill>
            <a:srgbClr val="F7F5F0"/>
          </a:solidFill>
          <a:ln w="12700">
            <a:solidFill>
              <a:srgbClr val="DCE3EA"/>
            </a:solidFill>
            <a:prstDash val="solid"/>
          </a:ln>
        </p:spPr>
      </p:sp>
      <p:sp>
        <p:nvSpPr>
          <p:cNvPr id="7" name="Shape 4"/>
          <p:cNvSpPr/>
          <p:nvPr/>
        </p:nvSpPr>
        <p:spPr>
          <a:xfrm>
            <a:off x="7863840" y="1810512"/>
            <a:ext cx="1691640" cy="310896"/>
          </a:xfrm>
          <a:prstGeom prst="roundRect">
            <a:avLst>
              <a:gd name="adj" fmla="val 50000"/>
            </a:avLst>
          </a:prstGeom>
          <a:solidFill>
            <a:srgbClr val="1F3A56"/>
          </a:solidFill>
          <a:ln/>
        </p:spPr>
      </p:sp>
      <p:sp>
        <p:nvSpPr>
          <p:cNvPr id="8" name="Text 5"/>
          <p:cNvSpPr txBox="1"/>
          <p:nvPr/>
        </p:nvSpPr>
        <p:spPr>
          <a:xfrm>
            <a:off x="7863840" y="1810512"/>
            <a:ext cx="169164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EN TU CUADERNO</a:t>
            </a:r>
            <a:endParaRPr lang="en-US" sz="1150" dirty="0"/>
          </a:p>
        </p:txBody>
      </p:sp>
      <p:sp>
        <p:nvSpPr>
          <p:cNvPr id="9" name="Text 6"/>
          <p:cNvSpPr txBox="1"/>
          <p:nvPr/>
        </p:nvSpPr>
        <p:spPr>
          <a:xfrm>
            <a:off x="7863840" y="2267712"/>
            <a:ext cx="3520440" cy="3063240"/>
          </a:xfrm>
          <a:prstGeom prst="rect">
            <a:avLst/>
          </a:prstGeom>
          <a:noFill/>
          <a:ln/>
        </p:spPr>
        <p:txBody>
          <a:bodyPr wrap="square" lIns="0" tIns="0" rIns="0" bIns="0" rtlCol="0" anchor="t"/>
          <a:lstStyle/>
          <a:p>
            <a:pPr marL="342900" indent="-342900">
              <a:spcAft>
                <a:spcPts val="900"/>
              </a:spcAft>
              <a:buSzPct val="100000"/>
              <a:buFont typeface="+mj-lt"/>
              <a:buAutoNum type="arabicPeriod"/>
            </a:pPr>
            <a:r>
              <a:rPr lang="en-US" sz="1450" dirty="0">
                <a:solidFill>
                  <a:srgbClr val="22261F"/>
                </a:solidFill>
                <a:latin typeface="Calibri" pitchFamily="34" charset="0"/>
                <a:ea typeface="Calibri" pitchFamily="34" charset="-122"/>
                <a:cs typeface="Calibri" pitchFamily="34" charset="-120"/>
              </a:rPr>
              <a:t>Calcula cuántas veces mayor es el riesgo de mama y de ovario en portadoras de BRCA1 respecto de la población general.</a:t>
            </a:r>
            <a:endParaRPr lang="en-US" sz="1450" dirty="0"/>
          </a:p>
          <a:p>
            <a:pPr marL="342900" indent="-342900">
              <a:spcAft>
                <a:spcPts val="900"/>
              </a:spcAft>
              <a:buSzPct val="100000"/>
              <a:buFont typeface="+mj-lt"/>
              <a:buAutoNum type="arabicPeriod"/>
            </a:pPr>
            <a:r>
              <a:rPr lang="en-US" sz="1450" dirty="0">
                <a:solidFill>
                  <a:srgbClr val="22261F"/>
                </a:solidFill>
                <a:latin typeface="Calibri" pitchFamily="34" charset="0"/>
                <a:ea typeface="Calibri" pitchFamily="34" charset="-122"/>
                <a:cs typeface="Calibri" pitchFamily="34" charset="-120"/>
              </a:rPr>
              <a:t>Si el riesgo de mama en BRCA1 es 72%, ¿enferman todas? Explícalo con 100 mujeres.</a:t>
            </a:r>
            <a:endParaRPr lang="en-US" sz="1450" dirty="0"/>
          </a:p>
          <a:p>
            <a:pPr marL="342900" indent="-342900">
              <a:spcAft>
                <a:spcPts val="900"/>
              </a:spcAft>
              <a:buSzPct val="100000"/>
              <a:buFont typeface="+mj-lt"/>
              <a:buAutoNum type="arabicPeriod"/>
            </a:pPr>
            <a:r>
              <a:rPr lang="en-US" sz="1450" dirty="0">
                <a:solidFill>
                  <a:srgbClr val="22261F"/>
                </a:solidFill>
                <a:latin typeface="Calibri" pitchFamily="34" charset="0"/>
                <a:ea typeface="Calibri" pitchFamily="34" charset="-122"/>
                <a:cs typeface="Calibri" pitchFamily="34" charset="-120"/>
              </a:rPr>
              <a:t>Comunica: dibuja un pictograma de 100 figuras para mostrar 13% y 72%. ¿Qué recurso comunica mejor el riesgo: %, tabla o pictograma?</a:t>
            </a:r>
            <a:endParaRPr lang="en-US" sz="1450" dirty="0"/>
          </a:p>
        </p:txBody>
      </p:sp>
      <p:sp>
        <p:nvSpPr>
          <p:cNvPr id="10" name="Text 7"/>
          <p:cNvSpPr txBox="1"/>
          <p:nvPr/>
        </p:nvSpPr>
        <p:spPr>
          <a:xfrm>
            <a:off x="7589520" y="5669280"/>
            <a:ext cx="4069080" cy="548640"/>
          </a:xfrm>
          <a:prstGeom prst="rect">
            <a:avLst/>
          </a:prstGeom>
          <a:noFill/>
          <a:ln/>
        </p:spPr>
        <p:txBody>
          <a:bodyPr wrap="square" lIns="0" tIns="0" rIns="0" bIns="0" rtlCol="0" anchor="ctr"/>
          <a:lstStyle/>
          <a:p>
            <a:pPr marL="0" indent="0">
              <a:buNone/>
            </a:pPr>
            <a:r>
              <a:rPr lang="en-US" sz="1200" b="1" kern="0" spc="150" dirty="0">
                <a:solidFill>
                  <a:srgbClr val="B8763A"/>
                </a:solidFill>
                <a:latin typeface="Calibri" pitchFamily="34" charset="0"/>
                <a:ea typeface="Calibri" pitchFamily="34" charset="-122"/>
                <a:cs typeface="Calibri" pitchFamily="34" charset="-120"/>
              </a:rPr>
              <a:t>CUESTIONA   </a:t>
            </a:r>
            <a:r>
              <a:rPr lang="en-US" sz="1450" i="1" dirty="0">
                <a:solidFill>
                  <a:srgbClr val="5B6B7A"/>
                </a:solidFill>
                <a:latin typeface="Calibri" pitchFamily="34" charset="0"/>
                <a:ea typeface="Calibri" pitchFamily="34" charset="-122"/>
                <a:cs typeface="Calibri" pitchFamily="34" charset="-120"/>
              </a:rPr>
              <a:t>Un promedio de miles de mujeres, ¿describe a una mujer en particular?</a:t>
            </a:r>
            <a:endParaRPr lang="en-US" sz="1200" dirty="0"/>
          </a:p>
        </p:txBody>
      </p:sp>
      <p:sp>
        <p:nvSpPr>
          <p:cNvPr id="11" name="Text 8"/>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12" name="Text 9"/>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8 / 20</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2E6968"/>
                </a:solidFill>
                <a:latin typeface="Calibri" pitchFamily="34" charset="0"/>
                <a:ea typeface="Calibri" pitchFamily="34" charset="-122"/>
                <a:cs typeface="Calibri" pitchFamily="34" charset="-120"/>
              </a:rPr>
              <a:t>DESARROLLO · EVALUAR</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¿Heredado o modificable? Una pregunta con matices</a:t>
            </a:r>
            <a:endParaRPr lang="en-US" sz="3200" dirty="0"/>
          </a:p>
        </p:txBody>
      </p:sp>
      <p:sp>
        <p:nvSpPr>
          <p:cNvPr id="4" name="Shape 2"/>
          <p:cNvSpPr/>
          <p:nvPr/>
        </p:nvSpPr>
        <p:spPr>
          <a:xfrm>
            <a:off x="548640" y="1508760"/>
            <a:ext cx="3566160" cy="3520440"/>
          </a:xfrm>
          <a:prstGeom prst="roundRect">
            <a:avLst>
              <a:gd name="adj" fmla="val 2338"/>
            </a:avLst>
          </a:prstGeom>
          <a:solidFill>
            <a:srgbClr val="E7EDE7"/>
          </a:solidFill>
          <a:ln/>
        </p:spPr>
      </p:sp>
      <p:sp>
        <p:nvSpPr>
          <p:cNvPr id="5" name="Text 3"/>
          <p:cNvSpPr txBox="1"/>
          <p:nvPr/>
        </p:nvSpPr>
        <p:spPr>
          <a:xfrm>
            <a:off x="822960" y="1664208"/>
            <a:ext cx="3017520" cy="329184"/>
          </a:xfrm>
          <a:prstGeom prst="rect">
            <a:avLst/>
          </a:prstGeom>
          <a:noFill/>
          <a:ln/>
        </p:spPr>
        <p:txBody>
          <a:bodyPr wrap="square" lIns="0" tIns="0" rIns="0" bIns="0" rtlCol="0" anchor="ctr"/>
          <a:lstStyle/>
          <a:p>
            <a:pPr marL="0" indent="0">
              <a:buNone/>
            </a:pPr>
            <a:r>
              <a:rPr lang="en-US" sz="1300" b="1" kern="0" spc="100" dirty="0">
                <a:solidFill>
                  <a:srgbClr val="4E6B4E"/>
                </a:solidFill>
                <a:latin typeface="Calibri" pitchFamily="34" charset="0"/>
                <a:ea typeface="Calibri" pitchFamily="34" charset="-122"/>
                <a:cs typeface="Calibri" pitchFamily="34" charset="-120"/>
              </a:rPr>
              <a:t>HEREDADO</a:t>
            </a:r>
            <a:endParaRPr lang="en-US" sz="1300" dirty="0"/>
          </a:p>
        </p:txBody>
      </p:sp>
      <p:sp>
        <p:nvSpPr>
          <p:cNvPr id="6" name="Text 4"/>
          <p:cNvSpPr txBox="1"/>
          <p:nvPr/>
        </p:nvSpPr>
        <p:spPr>
          <a:xfrm>
            <a:off x="822960" y="2011680"/>
            <a:ext cx="3017520" cy="731520"/>
          </a:xfrm>
          <a:prstGeom prst="rect">
            <a:avLst/>
          </a:prstGeom>
          <a:noFill/>
          <a:ln/>
        </p:spPr>
        <p:txBody>
          <a:bodyPr wrap="square" lIns="0" tIns="0" rIns="0" bIns="0" rtlCol="0" anchor="ctr"/>
          <a:lstStyle/>
          <a:p>
            <a:pPr marL="0" indent="0">
              <a:buNone/>
            </a:pPr>
            <a:r>
              <a:rPr lang="en-US" sz="4000" b="1" dirty="0">
                <a:solidFill>
                  <a:srgbClr val="22261F"/>
                </a:solidFill>
                <a:latin typeface="Cambria" pitchFamily="34" charset="0"/>
                <a:ea typeface="Cambria" pitchFamily="34" charset="-122"/>
                <a:cs typeface="Cambria" pitchFamily="34" charset="-120"/>
              </a:rPr>
              <a:t>5–10%</a:t>
            </a:r>
            <a:endParaRPr lang="en-US" sz="4000" dirty="0"/>
          </a:p>
        </p:txBody>
      </p:sp>
      <p:sp>
        <p:nvSpPr>
          <p:cNvPr id="7" name="Text 5"/>
          <p:cNvSpPr txBox="1"/>
          <p:nvPr/>
        </p:nvSpPr>
        <p:spPr>
          <a:xfrm>
            <a:off x="822960" y="2743200"/>
            <a:ext cx="3017520" cy="502920"/>
          </a:xfrm>
          <a:prstGeom prst="rect">
            <a:avLst/>
          </a:prstGeom>
          <a:noFill/>
          <a:ln/>
        </p:spPr>
        <p:txBody>
          <a:bodyPr wrap="square" lIns="0" tIns="0" rIns="0" bIns="0" rtlCol="0" anchor="t"/>
          <a:lstStyle/>
          <a:p>
            <a:pPr marL="0" indent="0">
              <a:lnSpc>
                <a:spcPts val="1600"/>
              </a:lnSpc>
              <a:buNone/>
            </a:pPr>
            <a:r>
              <a:rPr lang="en-US" sz="1350" b="1" dirty="0">
                <a:solidFill>
                  <a:srgbClr val="22261F"/>
                </a:solidFill>
                <a:latin typeface="Calibri" pitchFamily="34" charset="0"/>
                <a:ea typeface="Calibri" pitchFamily="34" charset="-122"/>
                <a:cs typeface="Calibri" pitchFamily="34" charset="-120"/>
              </a:rPr>
              <a:t>de los cánceres de mama tienen origen hereditario</a:t>
            </a:r>
            <a:endParaRPr lang="en-US" sz="1350" dirty="0"/>
          </a:p>
        </p:txBody>
      </p:sp>
      <p:sp>
        <p:nvSpPr>
          <p:cNvPr id="8" name="Text 6"/>
          <p:cNvSpPr txBox="1"/>
          <p:nvPr/>
        </p:nvSpPr>
        <p:spPr>
          <a:xfrm>
            <a:off x="822960" y="3291840"/>
            <a:ext cx="3017520" cy="1645920"/>
          </a:xfrm>
          <a:prstGeom prst="rect">
            <a:avLst/>
          </a:prstGeom>
          <a:noFill/>
          <a:ln/>
        </p:spPr>
        <p:txBody>
          <a:bodyPr wrap="square" lIns="0" tIns="0" rIns="0" bIns="0" rtlCol="0" anchor="t"/>
          <a:lstStyle/>
          <a:p>
            <a:pPr marL="0" indent="0">
              <a:lnSpc>
                <a:spcPts val="1650"/>
              </a:lnSpc>
              <a:buNone/>
            </a:pPr>
            <a:r>
              <a:rPr lang="en-US" sz="1300" dirty="0">
                <a:solidFill>
                  <a:srgbClr val="22261F"/>
                </a:solidFill>
                <a:latin typeface="Calibri" pitchFamily="34" charset="0"/>
                <a:ea typeface="Calibri" pitchFamily="34" charset="-122"/>
                <a:cs typeface="Calibri" pitchFamily="34" charset="-120"/>
              </a:rPr>
              <a:t>Cerca de 1 de cada 400 personas porta una variante en BRCA1/2. Cada hija o hijo tiene 50% de probabilidad de heredarla, de madre o de padre.</a:t>
            </a:r>
            <a:endParaRPr lang="en-US" sz="1300" dirty="0"/>
          </a:p>
        </p:txBody>
      </p:sp>
      <p:sp>
        <p:nvSpPr>
          <p:cNvPr id="9" name="Shape 7"/>
          <p:cNvSpPr/>
          <p:nvPr/>
        </p:nvSpPr>
        <p:spPr>
          <a:xfrm>
            <a:off x="4297680" y="1508760"/>
            <a:ext cx="3566160" cy="3520440"/>
          </a:xfrm>
          <a:prstGeom prst="roundRect">
            <a:avLst>
              <a:gd name="adj" fmla="val 2338"/>
            </a:avLst>
          </a:prstGeom>
          <a:solidFill>
            <a:srgbClr val="F5E8DA"/>
          </a:solidFill>
          <a:ln/>
        </p:spPr>
      </p:sp>
      <p:sp>
        <p:nvSpPr>
          <p:cNvPr id="10" name="Text 8"/>
          <p:cNvSpPr txBox="1"/>
          <p:nvPr/>
        </p:nvSpPr>
        <p:spPr>
          <a:xfrm>
            <a:off x="4572000" y="1664208"/>
            <a:ext cx="3017520" cy="329184"/>
          </a:xfrm>
          <a:prstGeom prst="rect">
            <a:avLst/>
          </a:prstGeom>
          <a:noFill/>
          <a:ln/>
        </p:spPr>
        <p:txBody>
          <a:bodyPr wrap="square" lIns="0" tIns="0" rIns="0" bIns="0" rtlCol="0" anchor="ctr"/>
          <a:lstStyle/>
          <a:p>
            <a:pPr marL="0" indent="0">
              <a:buNone/>
            </a:pPr>
            <a:r>
              <a:rPr lang="en-US" sz="1300" b="1" kern="0" spc="100" dirty="0">
                <a:solidFill>
                  <a:srgbClr val="B8763A"/>
                </a:solidFill>
                <a:latin typeface="Calibri" pitchFamily="34" charset="0"/>
                <a:ea typeface="Calibri" pitchFamily="34" charset="-122"/>
                <a:cs typeface="Calibri" pitchFamily="34" charset="-120"/>
              </a:rPr>
              <a:t>ESPORÁDICO Y MODIFICABLE</a:t>
            </a:r>
            <a:endParaRPr lang="en-US" sz="1300" dirty="0"/>
          </a:p>
        </p:txBody>
      </p:sp>
      <p:sp>
        <p:nvSpPr>
          <p:cNvPr id="11" name="Text 9"/>
          <p:cNvSpPr txBox="1"/>
          <p:nvPr/>
        </p:nvSpPr>
        <p:spPr>
          <a:xfrm>
            <a:off x="4572000" y="2011680"/>
            <a:ext cx="3017520" cy="731520"/>
          </a:xfrm>
          <a:prstGeom prst="rect">
            <a:avLst/>
          </a:prstGeom>
          <a:noFill/>
          <a:ln/>
        </p:spPr>
        <p:txBody>
          <a:bodyPr wrap="square" lIns="0" tIns="0" rIns="0" bIns="0" rtlCol="0" anchor="ctr"/>
          <a:lstStyle/>
          <a:p>
            <a:pPr marL="0" indent="0">
              <a:buNone/>
            </a:pPr>
            <a:r>
              <a:rPr lang="en-US" sz="4000" b="1" dirty="0">
                <a:solidFill>
                  <a:srgbClr val="22261F"/>
                </a:solidFill>
                <a:latin typeface="Cambria" pitchFamily="34" charset="0"/>
                <a:ea typeface="Cambria" pitchFamily="34" charset="-122"/>
                <a:cs typeface="Cambria" pitchFamily="34" charset="-120"/>
              </a:rPr>
              <a:t>≈90%</a:t>
            </a:r>
            <a:endParaRPr lang="en-US" sz="4000" dirty="0"/>
          </a:p>
        </p:txBody>
      </p:sp>
      <p:sp>
        <p:nvSpPr>
          <p:cNvPr id="12" name="Text 10"/>
          <p:cNvSpPr txBox="1"/>
          <p:nvPr/>
        </p:nvSpPr>
        <p:spPr>
          <a:xfrm>
            <a:off x="4572000" y="2743200"/>
            <a:ext cx="3017520" cy="502920"/>
          </a:xfrm>
          <a:prstGeom prst="rect">
            <a:avLst/>
          </a:prstGeom>
          <a:noFill/>
          <a:ln/>
        </p:spPr>
        <p:txBody>
          <a:bodyPr wrap="square" lIns="0" tIns="0" rIns="0" bIns="0" rtlCol="0" anchor="t"/>
          <a:lstStyle/>
          <a:p>
            <a:pPr marL="0" indent="0">
              <a:lnSpc>
                <a:spcPts val="1600"/>
              </a:lnSpc>
              <a:buNone/>
            </a:pPr>
            <a:r>
              <a:rPr lang="en-US" sz="1350" b="1" dirty="0">
                <a:solidFill>
                  <a:srgbClr val="22261F"/>
                </a:solidFill>
                <a:latin typeface="Calibri" pitchFamily="34" charset="0"/>
                <a:ea typeface="Calibri" pitchFamily="34" charset="-122"/>
                <a:cs typeface="Calibri" pitchFamily="34" charset="-120"/>
              </a:rPr>
              <a:t>sin variante hereditaria conocida</a:t>
            </a:r>
            <a:endParaRPr lang="en-US" sz="1350" dirty="0"/>
          </a:p>
        </p:txBody>
      </p:sp>
      <p:sp>
        <p:nvSpPr>
          <p:cNvPr id="13" name="Text 11"/>
          <p:cNvSpPr txBox="1"/>
          <p:nvPr/>
        </p:nvSpPr>
        <p:spPr>
          <a:xfrm>
            <a:off x="4572000" y="3291840"/>
            <a:ext cx="3017520" cy="1645920"/>
          </a:xfrm>
          <a:prstGeom prst="rect">
            <a:avLst/>
          </a:prstGeom>
          <a:noFill/>
          <a:ln/>
        </p:spPr>
        <p:txBody>
          <a:bodyPr wrap="square" lIns="0" tIns="0" rIns="0" bIns="0" rtlCol="0" anchor="t"/>
          <a:lstStyle/>
          <a:p>
            <a:pPr marL="0" indent="0">
              <a:lnSpc>
                <a:spcPts val="1650"/>
              </a:lnSpc>
              <a:buNone/>
            </a:pPr>
            <a:r>
              <a:rPr lang="en-US" sz="1300" dirty="0">
                <a:solidFill>
                  <a:srgbClr val="22261F"/>
                </a:solidFill>
                <a:latin typeface="Calibri" pitchFamily="34" charset="0"/>
                <a:ea typeface="Calibri" pitchFamily="34" charset="-122"/>
                <a:cs typeface="Calibri" pitchFamily="34" charset="-120"/>
              </a:rPr>
              <a:t>Se asocian alcohol, sobrepeso posmenopáusico, inactividad física y terapia hormonal. Estimaciones: 2–13% por factor y 25–30% o más con un estilo de vida saludable global.</a:t>
            </a:r>
            <a:endParaRPr lang="en-US" sz="1300" dirty="0"/>
          </a:p>
        </p:txBody>
      </p:sp>
      <p:sp>
        <p:nvSpPr>
          <p:cNvPr id="14" name="Shape 12"/>
          <p:cNvSpPr/>
          <p:nvPr/>
        </p:nvSpPr>
        <p:spPr>
          <a:xfrm>
            <a:off x="8046720" y="1508760"/>
            <a:ext cx="3566160" cy="3520440"/>
          </a:xfrm>
          <a:prstGeom prst="roundRect">
            <a:avLst>
              <a:gd name="adj" fmla="val 2338"/>
            </a:avLst>
          </a:prstGeom>
          <a:solidFill>
            <a:srgbClr val="EAE3F0"/>
          </a:solidFill>
          <a:ln/>
        </p:spPr>
      </p:sp>
      <p:sp>
        <p:nvSpPr>
          <p:cNvPr id="15" name="Text 13"/>
          <p:cNvSpPr txBox="1"/>
          <p:nvPr/>
        </p:nvSpPr>
        <p:spPr>
          <a:xfrm>
            <a:off x="8321040" y="1664208"/>
            <a:ext cx="3017520" cy="329184"/>
          </a:xfrm>
          <a:prstGeom prst="rect">
            <a:avLst/>
          </a:prstGeom>
          <a:noFill/>
          <a:ln/>
        </p:spPr>
        <p:txBody>
          <a:bodyPr wrap="square" lIns="0" tIns="0" rIns="0" bIns="0" rtlCol="0" anchor="ctr"/>
          <a:lstStyle/>
          <a:p>
            <a:pPr marL="0" indent="0">
              <a:buNone/>
            </a:pPr>
            <a:r>
              <a:rPr lang="en-US" sz="1300" b="1" kern="0" spc="100" dirty="0">
                <a:solidFill>
                  <a:srgbClr val="5F4780"/>
                </a:solidFill>
                <a:latin typeface="Calibri" pitchFamily="34" charset="0"/>
                <a:ea typeface="Calibri" pitchFamily="34" charset="-122"/>
                <a:cs typeface="Calibri" pitchFamily="34" charset="-120"/>
              </a:rPr>
              <a:t>ZONA GRIS: EPIGENÉTICA</a:t>
            </a:r>
            <a:endParaRPr lang="en-US" sz="1300" dirty="0"/>
          </a:p>
        </p:txBody>
      </p:sp>
      <p:sp>
        <p:nvSpPr>
          <p:cNvPr id="16" name="Text 14"/>
          <p:cNvSpPr txBox="1"/>
          <p:nvPr/>
        </p:nvSpPr>
        <p:spPr>
          <a:xfrm>
            <a:off x="8321040" y="2011680"/>
            <a:ext cx="3017520" cy="731520"/>
          </a:xfrm>
          <a:prstGeom prst="rect">
            <a:avLst/>
          </a:prstGeom>
          <a:noFill/>
          <a:ln/>
        </p:spPr>
        <p:txBody>
          <a:bodyPr wrap="square" lIns="0" tIns="0" rIns="0" bIns="0" rtlCol="0" anchor="ctr"/>
          <a:lstStyle/>
          <a:p>
            <a:pPr marL="0" indent="0">
              <a:buNone/>
            </a:pPr>
            <a:r>
              <a:rPr lang="en-US" sz="4000" b="1" dirty="0">
                <a:solidFill>
                  <a:srgbClr val="22261F"/>
                </a:solidFill>
                <a:latin typeface="Cambria" pitchFamily="34" charset="0"/>
                <a:ea typeface="Cambria" pitchFamily="34" charset="-122"/>
                <a:cs typeface="Cambria" pitchFamily="34" charset="-120"/>
              </a:rPr>
              <a:t>10–15%</a:t>
            </a:r>
            <a:endParaRPr lang="en-US" sz="4000" dirty="0"/>
          </a:p>
        </p:txBody>
      </p:sp>
      <p:sp>
        <p:nvSpPr>
          <p:cNvPr id="17" name="Text 15"/>
          <p:cNvSpPr txBox="1"/>
          <p:nvPr/>
        </p:nvSpPr>
        <p:spPr>
          <a:xfrm>
            <a:off x="8321040" y="2743200"/>
            <a:ext cx="3017520" cy="502920"/>
          </a:xfrm>
          <a:prstGeom prst="rect">
            <a:avLst/>
          </a:prstGeom>
          <a:noFill/>
          <a:ln/>
        </p:spPr>
        <p:txBody>
          <a:bodyPr wrap="square" lIns="0" tIns="0" rIns="0" bIns="0" rtlCol="0" anchor="t"/>
          <a:lstStyle/>
          <a:p>
            <a:pPr marL="0" indent="0">
              <a:lnSpc>
                <a:spcPts val="1600"/>
              </a:lnSpc>
              <a:buNone/>
            </a:pPr>
            <a:r>
              <a:rPr lang="en-US" sz="1350" b="1" dirty="0">
                <a:solidFill>
                  <a:srgbClr val="22261F"/>
                </a:solidFill>
                <a:latin typeface="Calibri" pitchFamily="34" charset="0"/>
                <a:ea typeface="Calibri" pitchFamily="34" charset="-122"/>
                <a:cs typeface="Calibri" pitchFamily="34" charset="-120"/>
              </a:rPr>
              <a:t>de los tumores esporádicos de mama y ovario</a:t>
            </a:r>
            <a:endParaRPr lang="en-US" sz="1350" dirty="0"/>
          </a:p>
        </p:txBody>
      </p:sp>
      <p:sp>
        <p:nvSpPr>
          <p:cNvPr id="18" name="Text 16"/>
          <p:cNvSpPr txBox="1"/>
          <p:nvPr/>
        </p:nvSpPr>
        <p:spPr>
          <a:xfrm>
            <a:off x="8321040" y="3291840"/>
            <a:ext cx="3017520" cy="1645920"/>
          </a:xfrm>
          <a:prstGeom prst="rect">
            <a:avLst/>
          </a:prstGeom>
          <a:noFill/>
          <a:ln/>
        </p:spPr>
        <p:txBody>
          <a:bodyPr wrap="square" lIns="0" tIns="0" rIns="0" bIns="0" rtlCol="0" anchor="t"/>
          <a:lstStyle/>
          <a:p>
            <a:pPr marL="0" indent="0">
              <a:lnSpc>
                <a:spcPts val="1650"/>
              </a:lnSpc>
              <a:buNone/>
            </a:pPr>
            <a:r>
              <a:rPr lang="en-US" sz="1300" dirty="0">
                <a:solidFill>
                  <a:srgbClr val="22261F"/>
                </a:solidFill>
                <a:latin typeface="Calibri" pitchFamily="34" charset="0"/>
                <a:ea typeface="Calibri" pitchFamily="34" charset="-122"/>
                <a:cs typeface="Calibri" pitchFamily="34" charset="-120"/>
              </a:rPr>
              <a:t>BRCA1 se silencia por metilación de su promotor, sin mutación (Esteller et al., 2000). Mismo gen, otra ruta: ¿herencia o ambiente?</a:t>
            </a:r>
            <a:endParaRPr lang="en-US" sz="1300" dirty="0"/>
          </a:p>
        </p:txBody>
      </p:sp>
      <p:sp>
        <p:nvSpPr>
          <p:cNvPr id="19" name="Shape 17"/>
          <p:cNvSpPr/>
          <p:nvPr/>
        </p:nvSpPr>
        <p:spPr>
          <a:xfrm>
            <a:off x="548640" y="5212080"/>
            <a:ext cx="11064240" cy="566928"/>
          </a:xfrm>
          <a:prstGeom prst="roundRect">
            <a:avLst>
              <a:gd name="adj" fmla="val 12903"/>
            </a:avLst>
          </a:prstGeom>
          <a:solidFill>
            <a:srgbClr val="F7F5F0"/>
          </a:solidFill>
          <a:ln w="12700">
            <a:solidFill>
              <a:srgbClr val="DCE3EA"/>
            </a:solidFill>
            <a:prstDash val="solid"/>
          </a:ln>
        </p:spPr>
      </p:sp>
      <p:sp>
        <p:nvSpPr>
          <p:cNvPr id="20" name="Text 18"/>
          <p:cNvSpPr txBox="1"/>
          <p:nvPr/>
        </p:nvSpPr>
        <p:spPr>
          <a:xfrm>
            <a:off x="777240" y="5212080"/>
            <a:ext cx="10607040" cy="566928"/>
          </a:xfrm>
          <a:prstGeom prst="rect">
            <a:avLst/>
          </a:prstGeom>
          <a:noFill/>
          <a:ln/>
        </p:spPr>
        <p:txBody>
          <a:bodyPr wrap="square" lIns="0" tIns="0" rIns="0" bIns="0" rtlCol="0" anchor="ctr"/>
          <a:lstStyle/>
          <a:p>
            <a:pPr marL="0" indent="0">
              <a:buNone/>
            </a:pPr>
            <a:r>
              <a:rPr lang="en-US" sz="1200" b="1" kern="0" spc="120" dirty="0">
                <a:solidFill>
                  <a:srgbClr val="1F3A56"/>
                </a:solidFill>
                <a:latin typeface="Calibri" pitchFamily="34" charset="0"/>
                <a:ea typeface="Calibri" pitchFamily="34" charset="-122"/>
                <a:cs typeface="Calibri" pitchFamily="34" charset="-120"/>
              </a:rPr>
              <a:t>EN TU CUADERNO   </a:t>
            </a:r>
            <a:r>
              <a:rPr lang="en-US" sz="1450" dirty="0">
                <a:solidFill>
                  <a:srgbClr val="22261F"/>
                </a:solidFill>
                <a:latin typeface="Calibri" pitchFamily="34" charset="0"/>
                <a:ea typeface="Calibri" pitchFamily="34" charset="-122"/>
                <a:cs typeface="Calibri" pitchFamily="34" charset="-120"/>
              </a:rPr>
              <a:t>¿Dónde ubicarías el tercer caso: heredado o modificable? ¿Sirve esa etiqueta? Argumenta en 4 líneas.</a:t>
            </a:r>
            <a:endParaRPr lang="en-US" sz="1200" dirty="0"/>
          </a:p>
        </p:txBody>
      </p:sp>
      <p:sp>
        <p:nvSpPr>
          <p:cNvPr id="21" name="Text 19"/>
          <p:cNvSpPr txBox="1"/>
          <p:nvPr/>
        </p:nvSpPr>
        <p:spPr>
          <a:xfrm>
            <a:off x="548640" y="5870448"/>
            <a:ext cx="11064240" cy="502920"/>
          </a:xfrm>
          <a:prstGeom prst="rect">
            <a:avLst/>
          </a:prstGeom>
          <a:noFill/>
          <a:ln/>
        </p:spPr>
        <p:txBody>
          <a:bodyPr wrap="square" lIns="0" tIns="0" rIns="0" bIns="0" rtlCol="0" anchor="ctr"/>
          <a:lstStyle/>
          <a:p>
            <a:pPr marL="0" indent="0">
              <a:buNone/>
            </a:pPr>
            <a:r>
              <a:rPr lang="en-US" sz="1250" i="1" dirty="0">
                <a:solidFill>
                  <a:srgbClr val="5B6B7A"/>
                </a:solidFill>
                <a:latin typeface="Calibri" pitchFamily="34" charset="0"/>
                <a:ea typeface="Calibri" pitchFamily="34" charset="-122"/>
                <a:cs typeface="Calibri" pitchFamily="34" charset="-120"/>
              </a:rPr>
              <a:t>En Chile, el cáncer de mama es el más frecuente en mujeres (≈5.640 casos al año, GLOBOCAN 2022) y la primera causa de muerte por cáncer en mujeres (MINSAL).</a:t>
            </a:r>
            <a:endParaRPr lang="en-US" sz="1250" dirty="0"/>
          </a:p>
        </p:txBody>
      </p:sp>
      <p:sp>
        <p:nvSpPr>
          <p:cNvPr id="22" name="Text 20"/>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23" name="Text 21"/>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9 / 20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2E6968"/>
                </a:solidFill>
                <a:latin typeface="Calibri" pitchFamily="34" charset="0"/>
                <a:ea typeface="Calibri" pitchFamily="34" charset="-122"/>
                <a:cs typeface="Calibri" pitchFamily="34" charset="-120"/>
              </a:rPr>
              <a:t>DESARROLLO · PLANIFICAR Y CONDUCIR UNA INVESTIGACIÓN</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Los árboles como evidencia: cómo se encontró BRCA1</a:t>
            </a:r>
            <a:endParaRPr lang="en-US" sz="3200" dirty="0"/>
          </a:p>
        </p:txBody>
      </p:sp>
      <p:sp>
        <p:nvSpPr>
          <p:cNvPr id="4" name="Shape 2"/>
          <p:cNvSpPr/>
          <p:nvPr/>
        </p:nvSpPr>
        <p:spPr>
          <a:xfrm>
            <a:off x="594360" y="1645920"/>
            <a:ext cx="201168" cy="201168"/>
          </a:xfrm>
          <a:prstGeom prst="ellipse">
            <a:avLst/>
          </a:prstGeom>
          <a:solidFill>
            <a:srgbClr val="2E6968"/>
          </a:solidFill>
          <a:ln/>
        </p:spPr>
      </p:sp>
      <p:sp>
        <p:nvSpPr>
          <p:cNvPr id="5" name="Shape 3"/>
          <p:cNvSpPr/>
          <p:nvPr/>
        </p:nvSpPr>
        <p:spPr>
          <a:xfrm>
            <a:off x="685800" y="1874520"/>
            <a:ext cx="20117" cy="1371600"/>
          </a:xfrm>
          <a:prstGeom prst="rect">
            <a:avLst/>
          </a:prstGeom>
          <a:solidFill>
            <a:srgbClr val="DCE3EA"/>
          </a:solidFill>
          <a:ln/>
        </p:spPr>
      </p:sp>
      <p:sp>
        <p:nvSpPr>
          <p:cNvPr id="6" name="Text 4"/>
          <p:cNvSpPr txBox="1"/>
          <p:nvPr/>
        </p:nvSpPr>
        <p:spPr>
          <a:xfrm>
            <a:off x="1005840" y="1581912"/>
            <a:ext cx="1188720" cy="365760"/>
          </a:xfrm>
          <a:prstGeom prst="rect">
            <a:avLst/>
          </a:prstGeom>
          <a:noFill/>
          <a:ln/>
        </p:spPr>
        <p:txBody>
          <a:bodyPr wrap="square" lIns="0" tIns="0" rIns="0" bIns="0" rtlCol="0" anchor="ctr"/>
          <a:lstStyle/>
          <a:p>
            <a:pPr marL="0" indent="0">
              <a:buNone/>
            </a:pPr>
            <a:r>
              <a:rPr lang="en-US" sz="1900" b="1" dirty="0">
                <a:solidFill>
                  <a:srgbClr val="2E6968"/>
                </a:solidFill>
                <a:latin typeface="Cambria" pitchFamily="34" charset="0"/>
                <a:ea typeface="Cambria" pitchFamily="34" charset="-122"/>
                <a:cs typeface="Cambria" pitchFamily="34" charset="-120"/>
              </a:rPr>
              <a:t>1990</a:t>
            </a:r>
            <a:endParaRPr lang="en-US" sz="1900" dirty="0"/>
          </a:p>
        </p:txBody>
      </p:sp>
      <p:sp>
        <p:nvSpPr>
          <p:cNvPr id="7" name="Text 5"/>
          <p:cNvSpPr txBox="1"/>
          <p:nvPr/>
        </p:nvSpPr>
        <p:spPr>
          <a:xfrm>
            <a:off x="2194560" y="1581912"/>
            <a:ext cx="4937760" cy="1600200"/>
          </a:xfrm>
          <a:prstGeom prst="rect">
            <a:avLst/>
          </a:prstGeom>
          <a:noFill/>
          <a:ln/>
        </p:spPr>
        <p:txBody>
          <a:bodyPr wrap="square" lIns="0" tIns="0" rIns="0" bIns="0" rtlCol="0" anchor="t"/>
          <a:lstStyle/>
          <a:p>
            <a:pPr marL="0" indent="0">
              <a:lnSpc>
                <a:spcPts val="1900"/>
              </a:lnSpc>
              <a:buNone/>
            </a:pPr>
            <a:r>
              <a:rPr lang="en-US" sz="1450" dirty="0">
                <a:solidFill>
                  <a:srgbClr val="22261F"/>
                </a:solidFill>
                <a:latin typeface="Calibri" pitchFamily="34" charset="0"/>
                <a:ea typeface="Calibri" pitchFamily="34" charset="-122"/>
                <a:cs typeface="Calibri" pitchFamily="34" charset="-120"/>
              </a:rPr>
              <a:t>Mary-Claire King y su equipo siguen la herencia de marcadores de ADN en familias con cáncer de mama. Un marcador del cromosoma 17 (17q21) se hereda junto con el cáncer en familias de inicio temprano (lod = 5,98), pero no en las de inicio tardío.</a:t>
            </a:r>
            <a:endParaRPr lang="en-US" sz="1450" dirty="0"/>
          </a:p>
        </p:txBody>
      </p:sp>
      <p:sp>
        <p:nvSpPr>
          <p:cNvPr id="8" name="Shape 6"/>
          <p:cNvSpPr/>
          <p:nvPr/>
        </p:nvSpPr>
        <p:spPr>
          <a:xfrm>
            <a:off x="594360" y="3566160"/>
            <a:ext cx="201168" cy="201168"/>
          </a:xfrm>
          <a:prstGeom prst="ellipse">
            <a:avLst/>
          </a:prstGeom>
          <a:solidFill>
            <a:srgbClr val="2E6968"/>
          </a:solidFill>
          <a:ln/>
        </p:spPr>
      </p:sp>
      <p:sp>
        <p:nvSpPr>
          <p:cNvPr id="9" name="Shape 7"/>
          <p:cNvSpPr/>
          <p:nvPr/>
        </p:nvSpPr>
        <p:spPr>
          <a:xfrm>
            <a:off x="685800" y="3794760"/>
            <a:ext cx="20117" cy="502920"/>
          </a:xfrm>
          <a:prstGeom prst="rect">
            <a:avLst/>
          </a:prstGeom>
          <a:solidFill>
            <a:srgbClr val="DCE3EA"/>
          </a:solidFill>
          <a:ln/>
        </p:spPr>
      </p:sp>
      <p:sp>
        <p:nvSpPr>
          <p:cNvPr id="10" name="Text 8"/>
          <p:cNvSpPr txBox="1"/>
          <p:nvPr/>
        </p:nvSpPr>
        <p:spPr>
          <a:xfrm>
            <a:off x="1005840" y="3502152"/>
            <a:ext cx="1188720" cy="365760"/>
          </a:xfrm>
          <a:prstGeom prst="rect">
            <a:avLst/>
          </a:prstGeom>
          <a:noFill/>
          <a:ln/>
        </p:spPr>
        <p:txBody>
          <a:bodyPr wrap="square" lIns="0" tIns="0" rIns="0" bIns="0" rtlCol="0" anchor="ctr"/>
          <a:lstStyle/>
          <a:p>
            <a:pPr marL="0" indent="0">
              <a:buNone/>
            </a:pPr>
            <a:r>
              <a:rPr lang="en-US" sz="1900" b="1" dirty="0">
                <a:solidFill>
                  <a:srgbClr val="2E6968"/>
                </a:solidFill>
                <a:latin typeface="Cambria" pitchFamily="34" charset="0"/>
                <a:ea typeface="Cambria" pitchFamily="34" charset="-122"/>
                <a:cs typeface="Cambria" pitchFamily="34" charset="-120"/>
              </a:rPr>
              <a:t>17 años</a:t>
            </a:r>
            <a:endParaRPr lang="en-US" sz="1900" dirty="0"/>
          </a:p>
        </p:txBody>
      </p:sp>
      <p:sp>
        <p:nvSpPr>
          <p:cNvPr id="11" name="Text 9"/>
          <p:cNvSpPr txBox="1"/>
          <p:nvPr/>
        </p:nvSpPr>
        <p:spPr>
          <a:xfrm>
            <a:off x="2194560" y="3502152"/>
            <a:ext cx="4937760" cy="731520"/>
          </a:xfrm>
          <a:prstGeom prst="rect">
            <a:avLst/>
          </a:prstGeom>
          <a:noFill/>
          <a:ln/>
        </p:spPr>
        <p:txBody>
          <a:bodyPr wrap="square" lIns="0" tIns="0" rIns="0" bIns="0" rtlCol="0" anchor="t"/>
          <a:lstStyle/>
          <a:p>
            <a:pPr marL="0" indent="0">
              <a:lnSpc>
                <a:spcPts val="1900"/>
              </a:lnSpc>
              <a:buNone/>
            </a:pPr>
            <a:r>
              <a:rPr lang="en-US" sz="1450" dirty="0">
                <a:solidFill>
                  <a:srgbClr val="22261F"/>
                </a:solidFill>
                <a:latin typeface="Calibri" pitchFamily="34" charset="0"/>
                <a:ea typeface="Calibri" pitchFamily="34" charset="-122"/>
                <a:cs typeface="Calibri" pitchFamily="34" charset="-120"/>
              </a:rPr>
              <a:t>de trabajo con familias y modelos matemáticos antes de ubicar el locus.</a:t>
            </a:r>
            <a:endParaRPr lang="en-US" sz="1450" dirty="0"/>
          </a:p>
        </p:txBody>
      </p:sp>
      <p:sp>
        <p:nvSpPr>
          <p:cNvPr id="12" name="Shape 10"/>
          <p:cNvSpPr/>
          <p:nvPr/>
        </p:nvSpPr>
        <p:spPr>
          <a:xfrm>
            <a:off x="594360" y="4617720"/>
            <a:ext cx="201168" cy="201168"/>
          </a:xfrm>
          <a:prstGeom prst="ellipse">
            <a:avLst/>
          </a:prstGeom>
          <a:solidFill>
            <a:srgbClr val="2E6968"/>
          </a:solidFill>
          <a:ln/>
        </p:spPr>
      </p:sp>
      <p:sp>
        <p:nvSpPr>
          <p:cNvPr id="13" name="Text 11"/>
          <p:cNvSpPr txBox="1"/>
          <p:nvPr/>
        </p:nvSpPr>
        <p:spPr>
          <a:xfrm>
            <a:off x="1005840" y="4553712"/>
            <a:ext cx="1188720" cy="365760"/>
          </a:xfrm>
          <a:prstGeom prst="rect">
            <a:avLst/>
          </a:prstGeom>
          <a:noFill/>
          <a:ln/>
        </p:spPr>
        <p:txBody>
          <a:bodyPr wrap="square" lIns="0" tIns="0" rIns="0" bIns="0" rtlCol="0" anchor="ctr"/>
          <a:lstStyle/>
          <a:p>
            <a:pPr marL="0" indent="0">
              <a:buNone/>
            </a:pPr>
            <a:r>
              <a:rPr lang="en-US" sz="1900" b="1" dirty="0">
                <a:solidFill>
                  <a:srgbClr val="2E6968"/>
                </a:solidFill>
                <a:latin typeface="Cambria" pitchFamily="34" charset="0"/>
                <a:ea typeface="Cambria" pitchFamily="34" charset="-122"/>
                <a:cs typeface="Cambria" pitchFamily="34" charset="-120"/>
              </a:rPr>
              <a:t>1994</a:t>
            </a:r>
            <a:endParaRPr lang="en-US" sz="1900" dirty="0"/>
          </a:p>
        </p:txBody>
      </p:sp>
      <p:sp>
        <p:nvSpPr>
          <p:cNvPr id="14" name="Text 12"/>
          <p:cNvSpPr txBox="1"/>
          <p:nvPr/>
        </p:nvSpPr>
        <p:spPr>
          <a:xfrm>
            <a:off x="2194560" y="4553712"/>
            <a:ext cx="4937760" cy="868680"/>
          </a:xfrm>
          <a:prstGeom prst="rect">
            <a:avLst/>
          </a:prstGeom>
          <a:noFill/>
          <a:ln/>
        </p:spPr>
        <p:txBody>
          <a:bodyPr wrap="square" lIns="0" tIns="0" rIns="0" bIns="0" rtlCol="0" anchor="t"/>
          <a:lstStyle/>
          <a:p>
            <a:pPr marL="0" indent="0">
              <a:lnSpc>
                <a:spcPts val="1900"/>
              </a:lnSpc>
              <a:buNone/>
            </a:pPr>
            <a:r>
              <a:rPr lang="en-US" sz="1450" dirty="0">
                <a:solidFill>
                  <a:srgbClr val="22261F"/>
                </a:solidFill>
                <a:latin typeface="Calibri" pitchFamily="34" charset="0"/>
                <a:ea typeface="Calibri" pitchFamily="34" charset="-122"/>
                <a:cs typeface="Calibri" pitchFamily="34" charset="-120"/>
              </a:rPr>
              <a:t>Se clona BRCA1 (Miki et al.) y se localiza BRCA2 en el cromosoma 13.</a:t>
            </a:r>
            <a:endParaRPr lang="en-US" sz="1450" dirty="0"/>
          </a:p>
        </p:txBody>
      </p:sp>
      <p:sp>
        <p:nvSpPr>
          <p:cNvPr id="15" name="Shape 13"/>
          <p:cNvSpPr/>
          <p:nvPr/>
        </p:nvSpPr>
        <p:spPr>
          <a:xfrm>
            <a:off x="7589520" y="1554480"/>
            <a:ext cx="4069080" cy="3291840"/>
          </a:xfrm>
          <a:prstGeom prst="roundRect">
            <a:avLst>
              <a:gd name="adj" fmla="val 2222"/>
            </a:avLst>
          </a:prstGeom>
          <a:solidFill>
            <a:srgbClr val="F7F5F0"/>
          </a:solidFill>
          <a:ln w="12700">
            <a:solidFill>
              <a:srgbClr val="DCE3EA"/>
            </a:solidFill>
            <a:prstDash val="solid"/>
          </a:ln>
        </p:spPr>
      </p:sp>
      <p:sp>
        <p:nvSpPr>
          <p:cNvPr id="16" name="Shape 14"/>
          <p:cNvSpPr/>
          <p:nvPr/>
        </p:nvSpPr>
        <p:spPr>
          <a:xfrm>
            <a:off x="7863840" y="1810512"/>
            <a:ext cx="1691640" cy="310896"/>
          </a:xfrm>
          <a:prstGeom prst="roundRect">
            <a:avLst>
              <a:gd name="adj" fmla="val 50000"/>
            </a:avLst>
          </a:prstGeom>
          <a:solidFill>
            <a:srgbClr val="1F3A56"/>
          </a:solidFill>
          <a:ln/>
        </p:spPr>
      </p:sp>
      <p:sp>
        <p:nvSpPr>
          <p:cNvPr id="17" name="Text 15"/>
          <p:cNvSpPr txBox="1"/>
          <p:nvPr/>
        </p:nvSpPr>
        <p:spPr>
          <a:xfrm>
            <a:off x="7863840" y="1810512"/>
            <a:ext cx="169164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EN TU CUADERNO</a:t>
            </a:r>
            <a:endParaRPr lang="en-US" sz="1150" dirty="0"/>
          </a:p>
        </p:txBody>
      </p:sp>
      <p:sp>
        <p:nvSpPr>
          <p:cNvPr id="18" name="Text 16"/>
          <p:cNvSpPr txBox="1"/>
          <p:nvPr/>
        </p:nvSpPr>
        <p:spPr>
          <a:xfrm>
            <a:off x="7863840" y="2267712"/>
            <a:ext cx="3520440" cy="2377440"/>
          </a:xfrm>
          <a:prstGeom prst="rect">
            <a:avLst/>
          </a:prstGeom>
          <a:noFill/>
          <a:ln/>
        </p:spPr>
        <p:txBody>
          <a:bodyPr wrap="square" lIns="0" tIns="0" rIns="0" bIns="0" rtlCol="0" anchor="t"/>
          <a:lstStyle/>
          <a:p>
            <a:pPr marL="342900" indent="-342900">
              <a:spcAft>
                <a:spcPts val="900"/>
              </a:spcAft>
              <a:buSzPct val="100000"/>
              <a:buFont typeface="+mj-lt"/>
              <a:buAutoNum type="arabicPeriod"/>
            </a:pPr>
            <a:r>
              <a:rPr lang="en-US" sz="1450" dirty="0">
                <a:solidFill>
                  <a:srgbClr val="22261F"/>
                </a:solidFill>
                <a:latin typeface="Calibri" pitchFamily="34" charset="0"/>
                <a:ea typeface="Calibri" pitchFamily="34" charset="-122"/>
                <a:cs typeface="Calibri" pitchFamily="34" charset="-120"/>
              </a:rPr>
              <a:t>El marcador solo «siguió» al cáncer en familias de inicio temprano. ¿Qué te dice eso sobre la idea de una única causa?</a:t>
            </a:r>
            <a:endParaRPr lang="en-US" sz="1450" dirty="0"/>
          </a:p>
          <a:p>
            <a:pPr marL="342900" indent="-342900">
              <a:spcAft>
                <a:spcPts val="900"/>
              </a:spcAft>
              <a:buSzPct val="100000"/>
              <a:buFont typeface="+mj-lt"/>
              <a:buAutoNum type="arabicPeriod"/>
            </a:pPr>
            <a:r>
              <a:rPr lang="en-US" sz="1450" dirty="0">
                <a:solidFill>
                  <a:srgbClr val="22261F"/>
                </a:solidFill>
                <a:latin typeface="Calibri" pitchFamily="34" charset="0"/>
                <a:ea typeface="Calibri" pitchFamily="34" charset="-122"/>
                <a:cs typeface="Calibri" pitchFamily="34" charset="-120"/>
              </a:rPr>
              <a:t>Planifica: si quisieras separar el efecto de los genes del de un ambiente compartido, ¿qué comparación o datos necesitarías?</a:t>
            </a:r>
            <a:endParaRPr lang="en-US" sz="1450" dirty="0"/>
          </a:p>
        </p:txBody>
      </p:sp>
      <p:sp>
        <p:nvSpPr>
          <p:cNvPr id="19" name="Text 17"/>
          <p:cNvSpPr txBox="1"/>
          <p:nvPr/>
        </p:nvSpPr>
        <p:spPr>
          <a:xfrm>
            <a:off x="548640" y="5760720"/>
            <a:ext cx="6766560" cy="548640"/>
          </a:xfrm>
          <a:prstGeom prst="rect">
            <a:avLst/>
          </a:prstGeom>
          <a:noFill/>
          <a:ln/>
        </p:spPr>
        <p:txBody>
          <a:bodyPr wrap="square" lIns="0" tIns="0" rIns="0" bIns="0" rtlCol="0" anchor="ctr"/>
          <a:lstStyle/>
          <a:p>
            <a:pPr marL="0" indent="0">
              <a:buNone/>
            </a:pPr>
            <a:r>
              <a:rPr lang="en-US" sz="1200" b="1" kern="0" spc="150" dirty="0">
                <a:solidFill>
                  <a:srgbClr val="B8763A"/>
                </a:solidFill>
                <a:latin typeface="Calibri" pitchFamily="34" charset="0"/>
                <a:ea typeface="Calibri" pitchFamily="34" charset="-122"/>
                <a:cs typeface="Calibri" pitchFamily="34" charset="-120"/>
              </a:rPr>
              <a:t>CUESTIONA   </a:t>
            </a:r>
            <a:r>
              <a:rPr lang="en-US" sz="1450" i="1" dirty="0">
                <a:solidFill>
                  <a:srgbClr val="5B6B7A"/>
                </a:solidFill>
                <a:latin typeface="Calibri" pitchFamily="34" charset="0"/>
                <a:ea typeface="Calibri" pitchFamily="34" charset="-122"/>
                <a:cs typeface="Calibri" pitchFamily="34" charset="-120"/>
              </a:rPr>
              <a:t>¿Qué tipo de evidencia es un árbol genealógico: una prueba o una pista?</a:t>
            </a:r>
            <a:endParaRPr lang="en-US" sz="1200" dirty="0"/>
          </a:p>
        </p:txBody>
      </p:sp>
      <p:sp>
        <p:nvSpPr>
          <p:cNvPr id="20" name="Text 18"/>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21" name="Text 19"/>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10 / 20</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2E6968"/>
                </a:solidFill>
                <a:latin typeface="Calibri" pitchFamily="34" charset="0"/>
                <a:ea typeface="Calibri" pitchFamily="34" charset="-122"/>
                <a:cs typeface="Calibri" pitchFamily="34" charset="-120"/>
              </a:rPr>
              <a:t>DESARROLLO · EVALUAR</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¿Qué NO puede decirnos un árbol genealógico?</a:t>
            </a:r>
            <a:endParaRPr lang="en-US" sz="3200" dirty="0"/>
          </a:p>
        </p:txBody>
      </p:sp>
      <p:sp>
        <p:nvSpPr>
          <p:cNvPr id="4" name="Text 2"/>
          <p:cNvSpPr txBox="1"/>
          <p:nvPr/>
        </p:nvSpPr>
        <p:spPr>
          <a:xfrm>
            <a:off x="548640" y="1600200"/>
            <a:ext cx="457200" cy="457200"/>
          </a:xfrm>
          <a:prstGeom prst="rect">
            <a:avLst/>
          </a:prstGeom>
          <a:noFill/>
          <a:ln/>
        </p:spPr>
        <p:txBody>
          <a:bodyPr wrap="square" lIns="0" tIns="0" rIns="0" bIns="0" rtlCol="0" anchor="ctr"/>
          <a:lstStyle/>
          <a:p>
            <a:pPr marL="0" indent="0">
              <a:buNone/>
            </a:pPr>
            <a:r>
              <a:rPr lang="en-US" sz="2400" b="1" dirty="0">
                <a:solidFill>
                  <a:srgbClr val="2E6968"/>
                </a:solidFill>
                <a:latin typeface="Cambria" pitchFamily="34" charset="0"/>
                <a:ea typeface="Cambria" pitchFamily="34" charset="-122"/>
                <a:cs typeface="Cambria" pitchFamily="34" charset="-120"/>
              </a:rPr>
              <a:t>1</a:t>
            </a:r>
            <a:endParaRPr lang="en-US" sz="2400" dirty="0"/>
          </a:p>
        </p:txBody>
      </p:sp>
      <p:sp>
        <p:nvSpPr>
          <p:cNvPr id="5" name="Text 3"/>
          <p:cNvSpPr txBox="1"/>
          <p:nvPr/>
        </p:nvSpPr>
        <p:spPr>
          <a:xfrm>
            <a:off x="1051560" y="1600200"/>
            <a:ext cx="3108960" cy="457200"/>
          </a:xfrm>
          <a:prstGeom prst="rect">
            <a:avLst/>
          </a:prstGeom>
          <a:noFill/>
          <a:ln/>
        </p:spPr>
        <p:txBody>
          <a:bodyPr wrap="square" lIns="0" tIns="0" rIns="0" bIns="0" rtlCol="0" anchor="ctr"/>
          <a:lstStyle/>
          <a:p>
            <a:pPr marL="0" indent="0">
              <a:buNone/>
            </a:pPr>
            <a:r>
              <a:rPr lang="en-US" sz="1650" b="1" dirty="0">
                <a:solidFill>
                  <a:srgbClr val="22261F"/>
                </a:solidFill>
                <a:latin typeface="Calibri" pitchFamily="34" charset="0"/>
                <a:ea typeface="Calibri" pitchFamily="34" charset="-122"/>
                <a:cs typeface="Calibri" pitchFamily="34" charset="-120"/>
              </a:rPr>
              <a:t>Ambiente compartido</a:t>
            </a:r>
            <a:endParaRPr lang="en-US" sz="1650" dirty="0"/>
          </a:p>
        </p:txBody>
      </p:sp>
      <p:sp>
        <p:nvSpPr>
          <p:cNvPr id="6" name="Text 4"/>
          <p:cNvSpPr txBox="1"/>
          <p:nvPr/>
        </p:nvSpPr>
        <p:spPr>
          <a:xfrm>
            <a:off x="4160520" y="1554480"/>
            <a:ext cx="7406640" cy="548640"/>
          </a:xfrm>
          <a:prstGeom prst="rect">
            <a:avLst/>
          </a:prstGeom>
          <a:noFill/>
          <a:ln/>
        </p:spPr>
        <p:txBody>
          <a:bodyPr wrap="square" lIns="0" tIns="0" rIns="0" bIns="0" rtlCol="0" anchor="ctr"/>
          <a:lstStyle/>
          <a:p>
            <a:pPr marL="0" indent="0">
              <a:buNone/>
            </a:pPr>
            <a:r>
              <a:rPr lang="en-US" sz="1500" dirty="0">
                <a:solidFill>
                  <a:srgbClr val="22261F"/>
                </a:solidFill>
                <a:latin typeface="Calibri" pitchFamily="34" charset="0"/>
                <a:ea typeface="Calibri" pitchFamily="34" charset="-122"/>
                <a:cs typeface="Calibri" pitchFamily="34" charset="-120"/>
              </a:rPr>
              <a:t>Las familias comparten dieta, hábitos y exposiciones. ¿Cómo separar genes de ambiente?</a:t>
            </a:r>
            <a:endParaRPr lang="en-US" sz="1500" dirty="0"/>
          </a:p>
        </p:txBody>
      </p:sp>
      <p:sp>
        <p:nvSpPr>
          <p:cNvPr id="7" name="Text 5"/>
          <p:cNvSpPr txBox="1"/>
          <p:nvPr/>
        </p:nvSpPr>
        <p:spPr>
          <a:xfrm>
            <a:off x="548640" y="2313432"/>
            <a:ext cx="457200" cy="457200"/>
          </a:xfrm>
          <a:prstGeom prst="rect">
            <a:avLst/>
          </a:prstGeom>
          <a:noFill/>
          <a:ln/>
        </p:spPr>
        <p:txBody>
          <a:bodyPr wrap="square" lIns="0" tIns="0" rIns="0" bIns="0" rtlCol="0" anchor="ctr"/>
          <a:lstStyle/>
          <a:p>
            <a:pPr marL="0" indent="0">
              <a:buNone/>
            </a:pPr>
            <a:r>
              <a:rPr lang="en-US" sz="2400" b="1" dirty="0">
                <a:solidFill>
                  <a:srgbClr val="2E6968"/>
                </a:solidFill>
                <a:latin typeface="Cambria" pitchFamily="34" charset="0"/>
                <a:ea typeface="Cambria" pitchFamily="34" charset="-122"/>
                <a:cs typeface="Cambria" pitchFamily="34" charset="-120"/>
              </a:rPr>
              <a:t>2</a:t>
            </a:r>
            <a:endParaRPr lang="en-US" sz="2400" dirty="0"/>
          </a:p>
        </p:txBody>
      </p:sp>
      <p:sp>
        <p:nvSpPr>
          <p:cNvPr id="8" name="Text 6"/>
          <p:cNvSpPr txBox="1"/>
          <p:nvPr/>
        </p:nvSpPr>
        <p:spPr>
          <a:xfrm>
            <a:off x="1051560" y="2313432"/>
            <a:ext cx="3108960" cy="457200"/>
          </a:xfrm>
          <a:prstGeom prst="rect">
            <a:avLst/>
          </a:prstGeom>
          <a:noFill/>
          <a:ln/>
        </p:spPr>
        <p:txBody>
          <a:bodyPr wrap="square" lIns="0" tIns="0" rIns="0" bIns="0" rtlCol="0" anchor="ctr"/>
          <a:lstStyle/>
          <a:p>
            <a:pPr marL="0" indent="0">
              <a:buNone/>
            </a:pPr>
            <a:r>
              <a:rPr lang="en-US" sz="1650" b="1" dirty="0">
                <a:solidFill>
                  <a:srgbClr val="22261F"/>
                </a:solidFill>
                <a:latin typeface="Calibri" pitchFamily="34" charset="0"/>
                <a:ea typeface="Calibri" pitchFamily="34" charset="-122"/>
                <a:cs typeface="Calibri" pitchFamily="34" charset="-120"/>
              </a:rPr>
              <a:t>Pocos casos</a:t>
            </a:r>
            <a:endParaRPr lang="en-US" sz="1650" dirty="0"/>
          </a:p>
        </p:txBody>
      </p:sp>
      <p:sp>
        <p:nvSpPr>
          <p:cNvPr id="9" name="Text 7"/>
          <p:cNvSpPr txBox="1"/>
          <p:nvPr/>
        </p:nvSpPr>
        <p:spPr>
          <a:xfrm>
            <a:off x="4160520" y="2267712"/>
            <a:ext cx="7406640" cy="548640"/>
          </a:xfrm>
          <a:prstGeom prst="rect">
            <a:avLst/>
          </a:prstGeom>
          <a:noFill/>
          <a:ln/>
        </p:spPr>
        <p:txBody>
          <a:bodyPr wrap="square" lIns="0" tIns="0" rIns="0" bIns="0" rtlCol="0" anchor="ctr"/>
          <a:lstStyle/>
          <a:p>
            <a:pPr marL="0" indent="0">
              <a:buNone/>
            </a:pPr>
            <a:r>
              <a:rPr lang="en-US" sz="1500" dirty="0">
                <a:solidFill>
                  <a:srgbClr val="22261F"/>
                </a:solidFill>
                <a:latin typeface="Calibri" pitchFamily="34" charset="0"/>
                <a:ea typeface="Calibri" pitchFamily="34" charset="-122"/>
                <a:cs typeface="Calibri" pitchFamily="34" charset="-120"/>
              </a:rPr>
              <a:t>Un árbol es una muestra muy pequeña. ¿Cuántas familias necesitarías para concluir?</a:t>
            </a:r>
            <a:endParaRPr lang="en-US" sz="1500" dirty="0"/>
          </a:p>
        </p:txBody>
      </p:sp>
      <p:sp>
        <p:nvSpPr>
          <p:cNvPr id="10" name="Text 8"/>
          <p:cNvSpPr txBox="1"/>
          <p:nvPr/>
        </p:nvSpPr>
        <p:spPr>
          <a:xfrm>
            <a:off x="548640" y="3026664"/>
            <a:ext cx="457200" cy="457200"/>
          </a:xfrm>
          <a:prstGeom prst="rect">
            <a:avLst/>
          </a:prstGeom>
          <a:noFill/>
          <a:ln/>
        </p:spPr>
        <p:txBody>
          <a:bodyPr wrap="square" lIns="0" tIns="0" rIns="0" bIns="0" rtlCol="0" anchor="ctr"/>
          <a:lstStyle/>
          <a:p>
            <a:pPr marL="0" indent="0">
              <a:buNone/>
            </a:pPr>
            <a:r>
              <a:rPr lang="en-US" sz="2400" b="1" dirty="0">
                <a:solidFill>
                  <a:srgbClr val="2E6968"/>
                </a:solidFill>
                <a:latin typeface="Cambria" pitchFamily="34" charset="0"/>
                <a:ea typeface="Cambria" pitchFamily="34" charset="-122"/>
                <a:cs typeface="Cambria" pitchFamily="34" charset="-120"/>
              </a:rPr>
              <a:t>3</a:t>
            </a:r>
            <a:endParaRPr lang="en-US" sz="2400" dirty="0"/>
          </a:p>
        </p:txBody>
      </p:sp>
      <p:sp>
        <p:nvSpPr>
          <p:cNvPr id="11" name="Text 9"/>
          <p:cNvSpPr txBox="1"/>
          <p:nvPr/>
        </p:nvSpPr>
        <p:spPr>
          <a:xfrm>
            <a:off x="1051560" y="3026664"/>
            <a:ext cx="3108960" cy="457200"/>
          </a:xfrm>
          <a:prstGeom prst="rect">
            <a:avLst/>
          </a:prstGeom>
          <a:noFill/>
          <a:ln/>
        </p:spPr>
        <p:txBody>
          <a:bodyPr wrap="square" lIns="0" tIns="0" rIns="0" bIns="0" rtlCol="0" anchor="ctr"/>
          <a:lstStyle/>
          <a:p>
            <a:pPr marL="0" indent="0">
              <a:buNone/>
            </a:pPr>
            <a:r>
              <a:rPr lang="en-US" sz="1650" b="1" dirty="0">
                <a:solidFill>
                  <a:srgbClr val="22261F"/>
                </a:solidFill>
                <a:latin typeface="Calibri" pitchFamily="34" charset="0"/>
                <a:ea typeface="Calibri" pitchFamily="34" charset="-122"/>
                <a:cs typeface="Calibri" pitchFamily="34" charset="-120"/>
              </a:rPr>
              <a:t>Información incompleta</a:t>
            </a:r>
            <a:endParaRPr lang="en-US" sz="1650" dirty="0"/>
          </a:p>
        </p:txBody>
      </p:sp>
      <p:sp>
        <p:nvSpPr>
          <p:cNvPr id="12" name="Text 10"/>
          <p:cNvSpPr txBox="1"/>
          <p:nvPr/>
        </p:nvSpPr>
        <p:spPr>
          <a:xfrm>
            <a:off x="4160520" y="2980944"/>
            <a:ext cx="7406640" cy="548640"/>
          </a:xfrm>
          <a:prstGeom prst="rect">
            <a:avLst/>
          </a:prstGeom>
          <a:noFill/>
          <a:ln/>
        </p:spPr>
        <p:txBody>
          <a:bodyPr wrap="square" lIns="0" tIns="0" rIns="0" bIns="0" rtlCol="0" anchor="ctr"/>
          <a:lstStyle/>
          <a:p>
            <a:pPr marL="0" indent="0">
              <a:buNone/>
            </a:pPr>
            <a:r>
              <a:rPr lang="en-US" sz="1500" dirty="0">
                <a:solidFill>
                  <a:srgbClr val="22261F"/>
                </a:solidFill>
                <a:latin typeface="Calibri" pitchFamily="34" charset="0"/>
                <a:ea typeface="Calibri" pitchFamily="34" charset="-122"/>
                <a:cs typeface="Calibri" pitchFamily="34" charset="-120"/>
              </a:rPr>
              <a:t>Diagnósticos antiguos, muertes por otras causas, parientes sin datos.</a:t>
            </a:r>
            <a:endParaRPr lang="en-US" sz="1500" dirty="0"/>
          </a:p>
        </p:txBody>
      </p:sp>
      <p:sp>
        <p:nvSpPr>
          <p:cNvPr id="13" name="Text 11"/>
          <p:cNvSpPr txBox="1"/>
          <p:nvPr/>
        </p:nvSpPr>
        <p:spPr>
          <a:xfrm>
            <a:off x="548640" y="3739896"/>
            <a:ext cx="457200" cy="457200"/>
          </a:xfrm>
          <a:prstGeom prst="rect">
            <a:avLst/>
          </a:prstGeom>
          <a:noFill/>
          <a:ln/>
        </p:spPr>
        <p:txBody>
          <a:bodyPr wrap="square" lIns="0" tIns="0" rIns="0" bIns="0" rtlCol="0" anchor="ctr"/>
          <a:lstStyle/>
          <a:p>
            <a:pPr marL="0" indent="0">
              <a:buNone/>
            </a:pPr>
            <a:r>
              <a:rPr lang="en-US" sz="2400" b="1" dirty="0">
                <a:solidFill>
                  <a:srgbClr val="2E6968"/>
                </a:solidFill>
                <a:latin typeface="Cambria" pitchFamily="34" charset="0"/>
                <a:ea typeface="Cambria" pitchFamily="34" charset="-122"/>
                <a:cs typeface="Cambria" pitchFamily="34" charset="-120"/>
              </a:rPr>
              <a:t>4</a:t>
            </a:r>
            <a:endParaRPr lang="en-US" sz="2400" dirty="0"/>
          </a:p>
        </p:txBody>
      </p:sp>
      <p:sp>
        <p:nvSpPr>
          <p:cNvPr id="14" name="Text 12"/>
          <p:cNvSpPr txBox="1"/>
          <p:nvPr/>
        </p:nvSpPr>
        <p:spPr>
          <a:xfrm>
            <a:off x="1051560" y="3739896"/>
            <a:ext cx="3108960" cy="457200"/>
          </a:xfrm>
          <a:prstGeom prst="rect">
            <a:avLst/>
          </a:prstGeom>
          <a:noFill/>
          <a:ln/>
        </p:spPr>
        <p:txBody>
          <a:bodyPr wrap="square" lIns="0" tIns="0" rIns="0" bIns="0" rtlCol="0" anchor="ctr"/>
          <a:lstStyle/>
          <a:p>
            <a:pPr marL="0" indent="0">
              <a:buNone/>
            </a:pPr>
            <a:r>
              <a:rPr lang="en-US" sz="1650" b="1" dirty="0">
                <a:solidFill>
                  <a:srgbClr val="22261F"/>
                </a:solidFill>
                <a:latin typeface="Calibri" pitchFamily="34" charset="0"/>
                <a:ea typeface="Calibri" pitchFamily="34" charset="-122"/>
                <a:cs typeface="Calibri" pitchFamily="34" charset="-120"/>
              </a:rPr>
              <a:t>Sesgo de selección</a:t>
            </a:r>
            <a:endParaRPr lang="en-US" sz="1650" dirty="0"/>
          </a:p>
        </p:txBody>
      </p:sp>
      <p:sp>
        <p:nvSpPr>
          <p:cNvPr id="15" name="Text 13"/>
          <p:cNvSpPr txBox="1"/>
          <p:nvPr/>
        </p:nvSpPr>
        <p:spPr>
          <a:xfrm>
            <a:off x="4160520" y="3694176"/>
            <a:ext cx="7406640" cy="548640"/>
          </a:xfrm>
          <a:prstGeom prst="rect">
            <a:avLst/>
          </a:prstGeom>
          <a:noFill/>
          <a:ln/>
        </p:spPr>
        <p:txBody>
          <a:bodyPr wrap="square" lIns="0" tIns="0" rIns="0" bIns="0" rtlCol="0" anchor="ctr"/>
          <a:lstStyle/>
          <a:p>
            <a:pPr marL="0" indent="0">
              <a:buNone/>
            </a:pPr>
            <a:r>
              <a:rPr lang="en-US" sz="1500" dirty="0">
                <a:solidFill>
                  <a:srgbClr val="22261F"/>
                </a:solidFill>
                <a:latin typeface="Calibri" pitchFamily="34" charset="0"/>
                <a:ea typeface="Calibri" pitchFamily="34" charset="-122"/>
                <a:cs typeface="Calibri" pitchFamily="34" charset="-120"/>
              </a:rPr>
              <a:t>Estudiamos las familias con muchos casos; las que no, casi no aparecen.</a:t>
            </a:r>
            <a:endParaRPr lang="en-US" sz="1500" dirty="0"/>
          </a:p>
        </p:txBody>
      </p:sp>
      <p:sp>
        <p:nvSpPr>
          <p:cNvPr id="16" name="Text 14"/>
          <p:cNvSpPr txBox="1"/>
          <p:nvPr/>
        </p:nvSpPr>
        <p:spPr>
          <a:xfrm>
            <a:off x="548640" y="4453128"/>
            <a:ext cx="457200" cy="457200"/>
          </a:xfrm>
          <a:prstGeom prst="rect">
            <a:avLst/>
          </a:prstGeom>
          <a:noFill/>
          <a:ln/>
        </p:spPr>
        <p:txBody>
          <a:bodyPr wrap="square" lIns="0" tIns="0" rIns="0" bIns="0" rtlCol="0" anchor="ctr"/>
          <a:lstStyle/>
          <a:p>
            <a:pPr marL="0" indent="0">
              <a:buNone/>
            </a:pPr>
            <a:r>
              <a:rPr lang="en-US" sz="2400" b="1" dirty="0">
                <a:solidFill>
                  <a:srgbClr val="2E6968"/>
                </a:solidFill>
                <a:latin typeface="Cambria" pitchFamily="34" charset="0"/>
                <a:ea typeface="Cambria" pitchFamily="34" charset="-122"/>
                <a:cs typeface="Cambria" pitchFamily="34" charset="-120"/>
              </a:rPr>
              <a:t>5</a:t>
            </a:r>
            <a:endParaRPr lang="en-US" sz="2400" dirty="0"/>
          </a:p>
        </p:txBody>
      </p:sp>
      <p:sp>
        <p:nvSpPr>
          <p:cNvPr id="17" name="Text 15"/>
          <p:cNvSpPr txBox="1"/>
          <p:nvPr/>
        </p:nvSpPr>
        <p:spPr>
          <a:xfrm>
            <a:off x="1051560" y="4453128"/>
            <a:ext cx="3108960" cy="457200"/>
          </a:xfrm>
          <a:prstGeom prst="rect">
            <a:avLst/>
          </a:prstGeom>
          <a:noFill/>
          <a:ln/>
        </p:spPr>
        <p:txBody>
          <a:bodyPr wrap="square" lIns="0" tIns="0" rIns="0" bIns="0" rtlCol="0" anchor="ctr"/>
          <a:lstStyle/>
          <a:p>
            <a:pPr marL="0" indent="0">
              <a:buNone/>
            </a:pPr>
            <a:r>
              <a:rPr lang="en-US" sz="1650" b="1" dirty="0">
                <a:solidFill>
                  <a:srgbClr val="22261F"/>
                </a:solidFill>
                <a:latin typeface="Calibri" pitchFamily="34" charset="0"/>
                <a:ea typeface="Calibri" pitchFamily="34" charset="-122"/>
                <a:cs typeface="Calibri" pitchFamily="34" charset="-120"/>
              </a:rPr>
              <a:t>Historia ≠ diagnóstico</a:t>
            </a:r>
            <a:endParaRPr lang="en-US" sz="1650" dirty="0"/>
          </a:p>
        </p:txBody>
      </p:sp>
      <p:sp>
        <p:nvSpPr>
          <p:cNvPr id="18" name="Text 16"/>
          <p:cNvSpPr txBox="1"/>
          <p:nvPr/>
        </p:nvSpPr>
        <p:spPr>
          <a:xfrm>
            <a:off x="4160520" y="4407408"/>
            <a:ext cx="7406640" cy="548640"/>
          </a:xfrm>
          <a:prstGeom prst="rect">
            <a:avLst/>
          </a:prstGeom>
          <a:noFill/>
          <a:ln/>
        </p:spPr>
        <p:txBody>
          <a:bodyPr wrap="square" lIns="0" tIns="0" rIns="0" bIns="0" rtlCol="0" anchor="ctr"/>
          <a:lstStyle/>
          <a:p>
            <a:pPr marL="0" indent="0">
              <a:buNone/>
            </a:pPr>
            <a:r>
              <a:rPr lang="en-US" sz="1500" dirty="0">
                <a:solidFill>
                  <a:srgbClr val="22261F"/>
                </a:solidFill>
                <a:latin typeface="Calibri" pitchFamily="34" charset="0"/>
                <a:ea typeface="Calibri" pitchFamily="34" charset="-122"/>
                <a:cs typeface="Calibri" pitchFamily="34" charset="-120"/>
              </a:rPr>
              <a:t>Solo un test genético confirma la variante, y uno negativo no descarta todo el riesgo.</a:t>
            </a:r>
            <a:endParaRPr lang="en-US" sz="1500" dirty="0"/>
          </a:p>
        </p:txBody>
      </p:sp>
      <p:sp>
        <p:nvSpPr>
          <p:cNvPr id="19" name="Shape 17"/>
          <p:cNvSpPr/>
          <p:nvPr/>
        </p:nvSpPr>
        <p:spPr>
          <a:xfrm>
            <a:off x="548640" y="5257800"/>
            <a:ext cx="11064240" cy="960120"/>
          </a:xfrm>
          <a:prstGeom prst="roundRect">
            <a:avLst>
              <a:gd name="adj" fmla="val 7619"/>
            </a:avLst>
          </a:prstGeom>
          <a:solidFill>
            <a:srgbClr val="F7F5F0"/>
          </a:solidFill>
          <a:ln w="12700">
            <a:solidFill>
              <a:srgbClr val="DCE3EA"/>
            </a:solidFill>
            <a:prstDash val="solid"/>
          </a:ln>
        </p:spPr>
      </p:sp>
      <p:sp>
        <p:nvSpPr>
          <p:cNvPr id="20" name="Text 18"/>
          <p:cNvSpPr txBox="1"/>
          <p:nvPr/>
        </p:nvSpPr>
        <p:spPr>
          <a:xfrm>
            <a:off x="777240" y="5257800"/>
            <a:ext cx="10607040" cy="960120"/>
          </a:xfrm>
          <a:prstGeom prst="rect">
            <a:avLst/>
          </a:prstGeom>
          <a:noFill/>
          <a:ln/>
        </p:spPr>
        <p:txBody>
          <a:bodyPr wrap="square" lIns="0" tIns="0" rIns="0" bIns="0" rtlCol="0" anchor="ctr"/>
          <a:lstStyle/>
          <a:p>
            <a:pPr marL="0" indent="0">
              <a:buNone/>
            </a:pPr>
            <a:r>
              <a:rPr lang="en-US" sz="1200" b="1" kern="0" spc="120" dirty="0">
                <a:solidFill>
                  <a:srgbClr val="1F3A56"/>
                </a:solidFill>
                <a:latin typeface="Calibri" pitchFamily="34" charset="0"/>
                <a:ea typeface="Calibri" pitchFamily="34" charset="-122"/>
                <a:cs typeface="Calibri" pitchFamily="34" charset="-120"/>
              </a:rPr>
              <a:t>EN TU CUADERNO   </a:t>
            </a:r>
            <a:r>
              <a:rPr lang="en-US" sz="1500" dirty="0">
                <a:solidFill>
                  <a:srgbClr val="22261F"/>
                </a:solidFill>
                <a:latin typeface="Calibri" pitchFamily="34" charset="0"/>
                <a:ea typeface="Calibri" pitchFamily="34" charset="-122"/>
                <a:cs typeface="Calibri" pitchFamily="34" charset="-120"/>
              </a:rPr>
              <a:t>Elige dos limitaciones y explica cómo cambiaría tu conclusión sobre el Árbol 2 si fueran ciertas. ¿Sigues igual de seguro/a?</a:t>
            </a:r>
            <a:endParaRPr lang="en-US" sz="1200" dirty="0"/>
          </a:p>
        </p:txBody>
      </p:sp>
      <p:sp>
        <p:nvSpPr>
          <p:cNvPr id="21" name="Text 19"/>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22" name="Text 20"/>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11 / 20</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5F4780"/>
                </a:solidFill>
                <a:latin typeface="Calibri" pitchFamily="34" charset="0"/>
                <a:ea typeface="Calibri" pitchFamily="34" charset="-122"/>
                <a:cs typeface="Calibri" pitchFamily="34" charset="-120"/>
              </a:rPr>
              <a:t>CIERRE · EVALUAR · OA I</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Preguntas sin respuesta única</a:t>
            </a:r>
            <a:endParaRPr lang="en-US" sz="3200" dirty="0"/>
          </a:p>
        </p:txBody>
      </p:sp>
      <p:sp>
        <p:nvSpPr>
          <p:cNvPr id="4" name="Shape 2"/>
          <p:cNvSpPr/>
          <p:nvPr/>
        </p:nvSpPr>
        <p:spPr>
          <a:xfrm>
            <a:off x="548640" y="1554480"/>
            <a:ext cx="5440680" cy="1783080"/>
          </a:xfrm>
          <a:prstGeom prst="roundRect">
            <a:avLst>
              <a:gd name="adj" fmla="val 4615"/>
            </a:avLst>
          </a:prstGeom>
          <a:solidFill>
            <a:srgbClr val="F5E8DA"/>
          </a:solidFill>
          <a:ln/>
        </p:spPr>
      </p:sp>
      <p:sp>
        <p:nvSpPr>
          <p:cNvPr id="5" name="Shape 3"/>
          <p:cNvSpPr/>
          <p:nvPr/>
        </p:nvSpPr>
        <p:spPr>
          <a:xfrm>
            <a:off x="804672" y="1792224"/>
            <a:ext cx="457200" cy="457200"/>
          </a:xfrm>
          <a:prstGeom prst="ellipse">
            <a:avLst/>
          </a:prstGeom>
          <a:solidFill>
            <a:srgbClr val="B8763A"/>
          </a:solidFill>
          <a:ln/>
        </p:spPr>
      </p:sp>
      <p:sp>
        <p:nvSpPr>
          <p:cNvPr id="6" name="Text 4"/>
          <p:cNvSpPr txBox="1"/>
          <p:nvPr/>
        </p:nvSpPr>
        <p:spPr>
          <a:xfrm>
            <a:off x="804672" y="1792224"/>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A</a:t>
            </a:r>
            <a:endParaRPr lang="en-US" sz="1700" dirty="0"/>
          </a:p>
        </p:txBody>
      </p:sp>
      <p:sp>
        <p:nvSpPr>
          <p:cNvPr id="7" name="Text 5"/>
          <p:cNvSpPr txBox="1"/>
          <p:nvPr/>
        </p:nvSpPr>
        <p:spPr>
          <a:xfrm>
            <a:off x="1417320" y="1792224"/>
            <a:ext cx="4343400" cy="457200"/>
          </a:xfrm>
          <a:prstGeom prst="rect">
            <a:avLst/>
          </a:prstGeom>
          <a:noFill/>
          <a:ln/>
        </p:spPr>
        <p:txBody>
          <a:bodyPr wrap="square" lIns="0" tIns="0" rIns="0" bIns="0" rtlCol="0" anchor="ctr"/>
          <a:lstStyle/>
          <a:p>
            <a:pPr marL="0" indent="0">
              <a:buNone/>
            </a:pPr>
            <a:r>
              <a:rPr lang="en-US" sz="1800" b="1" dirty="0">
                <a:solidFill>
                  <a:srgbClr val="22261F"/>
                </a:solidFill>
                <a:latin typeface="Cambria" pitchFamily="34" charset="0"/>
                <a:ea typeface="Cambria" pitchFamily="34" charset="-122"/>
                <a:cs typeface="Cambria" pitchFamily="34" charset="-120"/>
              </a:rPr>
              <a:t>El derecho a no saber</a:t>
            </a:r>
            <a:endParaRPr lang="en-US" sz="1800" dirty="0"/>
          </a:p>
        </p:txBody>
      </p:sp>
      <p:sp>
        <p:nvSpPr>
          <p:cNvPr id="8" name="Text 6"/>
          <p:cNvSpPr txBox="1"/>
          <p:nvPr/>
        </p:nvSpPr>
        <p:spPr>
          <a:xfrm>
            <a:off x="804672" y="2377440"/>
            <a:ext cx="4928616" cy="868680"/>
          </a:xfrm>
          <a:prstGeom prst="rect">
            <a:avLst/>
          </a:prstGeom>
          <a:noFill/>
          <a:ln/>
        </p:spPr>
        <p:txBody>
          <a:bodyPr wrap="square" lIns="0" tIns="0" rIns="0" bIns="0" rtlCol="0" anchor="t"/>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¿Una persona en riesgo debería poder elegir no conocer su resultado genético?</a:t>
            </a:r>
            <a:endParaRPr lang="en-US" sz="1450" dirty="0"/>
          </a:p>
        </p:txBody>
      </p:sp>
      <p:sp>
        <p:nvSpPr>
          <p:cNvPr id="9" name="Shape 7"/>
          <p:cNvSpPr/>
          <p:nvPr/>
        </p:nvSpPr>
        <p:spPr>
          <a:xfrm>
            <a:off x="6172200" y="1554480"/>
            <a:ext cx="5440680" cy="1783080"/>
          </a:xfrm>
          <a:prstGeom prst="roundRect">
            <a:avLst>
              <a:gd name="adj" fmla="val 4615"/>
            </a:avLst>
          </a:prstGeom>
          <a:solidFill>
            <a:srgbClr val="E7EDE7"/>
          </a:solidFill>
          <a:ln/>
        </p:spPr>
      </p:sp>
      <p:sp>
        <p:nvSpPr>
          <p:cNvPr id="10" name="Shape 8"/>
          <p:cNvSpPr/>
          <p:nvPr/>
        </p:nvSpPr>
        <p:spPr>
          <a:xfrm>
            <a:off x="6428232" y="1792224"/>
            <a:ext cx="457200" cy="457200"/>
          </a:xfrm>
          <a:prstGeom prst="ellipse">
            <a:avLst/>
          </a:prstGeom>
          <a:solidFill>
            <a:srgbClr val="4E6B4E"/>
          </a:solidFill>
          <a:ln/>
        </p:spPr>
      </p:sp>
      <p:sp>
        <p:nvSpPr>
          <p:cNvPr id="11" name="Text 9"/>
          <p:cNvSpPr txBox="1"/>
          <p:nvPr/>
        </p:nvSpPr>
        <p:spPr>
          <a:xfrm>
            <a:off x="6428232" y="1792224"/>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B</a:t>
            </a:r>
            <a:endParaRPr lang="en-US" sz="1700" dirty="0"/>
          </a:p>
        </p:txBody>
      </p:sp>
      <p:sp>
        <p:nvSpPr>
          <p:cNvPr id="12" name="Text 10"/>
          <p:cNvSpPr txBox="1"/>
          <p:nvPr/>
        </p:nvSpPr>
        <p:spPr>
          <a:xfrm>
            <a:off x="7040880" y="1792224"/>
            <a:ext cx="4343400" cy="457200"/>
          </a:xfrm>
          <a:prstGeom prst="rect">
            <a:avLst/>
          </a:prstGeom>
          <a:noFill/>
          <a:ln/>
        </p:spPr>
        <p:txBody>
          <a:bodyPr wrap="square" lIns="0" tIns="0" rIns="0" bIns="0" rtlCol="0" anchor="ctr"/>
          <a:lstStyle/>
          <a:p>
            <a:pPr marL="0" indent="0">
              <a:buNone/>
            </a:pPr>
            <a:r>
              <a:rPr lang="en-US" sz="1800" b="1" dirty="0">
                <a:solidFill>
                  <a:srgbClr val="22261F"/>
                </a:solidFill>
                <a:latin typeface="Cambria" pitchFamily="34" charset="0"/>
                <a:ea typeface="Cambria" pitchFamily="34" charset="-122"/>
                <a:cs typeface="Cambria" pitchFamily="34" charset="-120"/>
              </a:rPr>
              <a:t>El deber de avisar</a:t>
            </a:r>
            <a:endParaRPr lang="en-US" sz="1800" dirty="0"/>
          </a:p>
        </p:txBody>
      </p:sp>
      <p:sp>
        <p:nvSpPr>
          <p:cNvPr id="13" name="Text 11"/>
          <p:cNvSpPr txBox="1"/>
          <p:nvPr/>
        </p:nvSpPr>
        <p:spPr>
          <a:xfrm>
            <a:off x="6428232" y="2377440"/>
            <a:ext cx="4928616" cy="868680"/>
          </a:xfrm>
          <a:prstGeom prst="rect">
            <a:avLst/>
          </a:prstGeom>
          <a:noFill/>
          <a:ln/>
        </p:spPr>
        <p:txBody>
          <a:bodyPr wrap="square" lIns="0" tIns="0" rIns="0" bIns="0" rtlCol="0" anchor="t"/>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Si descubres que eres portadora, ¿debes informar a tus familiares, que tienen 50% de probabilidad de serlo?</a:t>
            </a:r>
            <a:endParaRPr lang="en-US" sz="1450" dirty="0"/>
          </a:p>
        </p:txBody>
      </p:sp>
      <p:sp>
        <p:nvSpPr>
          <p:cNvPr id="14" name="Shape 12"/>
          <p:cNvSpPr/>
          <p:nvPr/>
        </p:nvSpPr>
        <p:spPr>
          <a:xfrm>
            <a:off x="548640" y="3520440"/>
            <a:ext cx="5440680" cy="1783080"/>
          </a:xfrm>
          <a:prstGeom prst="roundRect">
            <a:avLst>
              <a:gd name="adj" fmla="val 4615"/>
            </a:avLst>
          </a:prstGeom>
          <a:solidFill>
            <a:srgbClr val="EAE3F0"/>
          </a:solidFill>
          <a:ln/>
        </p:spPr>
      </p:sp>
      <p:sp>
        <p:nvSpPr>
          <p:cNvPr id="15" name="Shape 13"/>
          <p:cNvSpPr/>
          <p:nvPr/>
        </p:nvSpPr>
        <p:spPr>
          <a:xfrm>
            <a:off x="804672" y="3758184"/>
            <a:ext cx="457200" cy="457200"/>
          </a:xfrm>
          <a:prstGeom prst="ellipse">
            <a:avLst/>
          </a:prstGeom>
          <a:solidFill>
            <a:srgbClr val="5F4780"/>
          </a:solidFill>
          <a:ln/>
        </p:spPr>
      </p:sp>
      <p:sp>
        <p:nvSpPr>
          <p:cNvPr id="16" name="Text 14"/>
          <p:cNvSpPr txBox="1"/>
          <p:nvPr/>
        </p:nvSpPr>
        <p:spPr>
          <a:xfrm>
            <a:off x="804672" y="3758184"/>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C</a:t>
            </a:r>
            <a:endParaRPr lang="en-US" sz="1700" dirty="0"/>
          </a:p>
        </p:txBody>
      </p:sp>
      <p:sp>
        <p:nvSpPr>
          <p:cNvPr id="17" name="Text 15"/>
          <p:cNvSpPr txBox="1"/>
          <p:nvPr/>
        </p:nvSpPr>
        <p:spPr>
          <a:xfrm>
            <a:off x="1417320" y="3758184"/>
            <a:ext cx="4343400" cy="457200"/>
          </a:xfrm>
          <a:prstGeom prst="rect">
            <a:avLst/>
          </a:prstGeom>
          <a:noFill/>
          <a:ln/>
        </p:spPr>
        <p:txBody>
          <a:bodyPr wrap="square" lIns="0" tIns="0" rIns="0" bIns="0" rtlCol="0" anchor="ctr"/>
          <a:lstStyle/>
          <a:p>
            <a:pPr marL="0" indent="0">
              <a:buNone/>
            </a:pPr>
            <a:r>
              <a:rPr lang="en-US" sz="1800" b="1" dirty="0">
                <a:solidFill>
                  <a:srgbClr val="22261F"/>
                </a:solidFill>
                <a:latin typeface="Cambria" pitchFamily="34" charset="0"/>
                <a:ea typeface="Cambria" pitchFamily="34" charset="-122"/>
                <a:cs typeface="Cambria" pitchFamily="34" charset="-120"/>
              </a:rPr>
              <a:t>La cirugía preventiva</a:t>
            </a:r>
            <a:endParaRPr lang="en-US" sz="1800" dirty="0"/>
          </a:p>
        </p:txBody>
      </p:sp>
      <p:sp>
        <p:nvSpPr>
          <p:cNvPr id="18" name="Text 16"/>
          <p:cNvSpPr txBox="1"/>
          <p:nvPr/>
        </p:nvSpPr>
        <p:spPr>
          <a:xfrm>
            <a:off x="804672" y="4343400"/>
            <a:ext cx="4928616" cy="868680"/>
          </a:xfrm>
          <a:prstGeom prst="rect">
            <a:avLst/>
          </a:prstGeom>
          <a:noFill/>
          <a:ln/>
        </p:spPr>
        <p:txBody>
          <a:bodyPr wrap="square" lIns="0" tIns="0" rIns="0" bIns="0" rtlCol="0" anchor="t"/>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¿Cuándo justifica un riesgo estimado extirpar órganos sanos? Jolie aclaró que su decisión fue personal, no una recomendación general.</a:t>
            </a:r>
            <a:endParaRPr lang="en-US" sz="1450" dirty="0"/>
          </a:p>
        </p:txBody>
      </p:sp>
      <p:sp>
        <p:nvSpPr>
          <p:cNvPr id="19" name="Shape 17"/>
          <p:cNvSpPr/>
          <p:nvPr/>
        </p:nvSpPr>
        <p:spPr>
          <a:xfrm>
            <a:off x="6172200" y="3520440"/>
            <a:ext cx="5440680" cy="1783080"/>
          </a:xfrm>
          <a:prstGeom prst="roundRect">
            <a:avLst>
              <a:gd name="adj" fmla="val 4615"/>
            </a:avLst>
          </a:prstGeom>
          <a:solidFill>
            <a:srgbClr val="DFEEED"/>
          </a:solidFill>
          <a:ln/>
        </p:spPr>
      </p:sp>
      <p:sp>
        <p:nvSpPr>
          <p:cNvPr id="20" name="Shape 18"/>
          <p:cNvSpPr/>
          <p:nvPr/>
        </p:nvSpPr>
        <p:spPr>
          <a:xfrm>
            <a:off x="6428232" y="3758184"/>
            <a:ext cx="457200" cy="457200"/>
          </a:xfrm>
          <a:prstGeom prst="ellipse">
            <a:avLst/>
          </a:prstGeom>
          <a:solidFill>
            <a:srgbClr val="2E6968"/>
          </a:solidFill>
          <a:ln/>
        </p:spPr>
      </p:sp>
      <p:sp>
        <p:nvSpPr>
          <p:cNvPr id="21" name="Text 19"/>
          <p:cNvSpPr txBox="1"/>
          <p:nvPr/>
        </p:nvSpPr>
        <p:spPr>
          <a:xfrm>
            <a:off x="6428232" y="3758184"/>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D</a:t>
            </a:r>
            <a:endParaRPr lang="en-US" sz="1700" dirty="0"/>
          </a:p>
        </p:txBody>
      </p:sp>
      <p:sp>
        <p:nvSpPr>
          <p:cNvPr id="22" name="Text 20"/>
          <p:cNvSpPr txBox="1"/>
          <p:nvPr/>
        </p:nvSpPr>
        <p:spPr>
          <a:xfrm>
            <a:off x="7040880" y="3758184"/>
            <a:ext cx="4343400" cy="457200"/>
          </a:xfrm>
          <a:prstGeom prst="rect">
            <a:avLst/>
          </a:prstGeom>
          <a:noFill/>
          <a:ln/>
        </p:spPr>
        <p:txBody>
          <a:bodyPr wrap="square" lIns="0" tIns="0" rIns="0" bIns="0" rtlCol="0" anchor="ctr"/>
          <a:lstStyle/>
          <a:p>
            <a:pPr marL="0" indent="0">
              <a:buNone/>
            </a:pPr>
            <a:r>
              <a:rPr lang="en-US" sz="1800" b="1" dirty="0">
                <a:solidFill>
                  <a:srgbClr val="22261F"/>
                </a:solidFill>
                <a:latin typeface="Cambria" pitchFamily="34" charset="0"/>
                <a:ea typeface="Cambria" pitchFamily="34" charset="-122"/>
                <a:cs typeface="Cambria" pitchFamily="34" charset="-120"/>
              </a:rPr>
              <a:t>Acceso y equidad</a:t>
            </a:r>
            <a:endParaRPr lang="en-US" sz="1800" dirty="0"/>
          </a:p>
        </p:txBody>
      </p:sp>
      <p:sp>
        <p:nvSpPr>
          <p:cNvPr id="23" name="Text 21"/>
          <p:cNvSpPr txBox="1"/>
          <p:nvPr/>
        </p:nvSpPr>
        <p:spPr>
          <a:xfrm>
            <a:off x="6428232" y="4343400"/>
            <a:ext cx="4928616" cy="868680"/>
          </a:xfrm>
          <a:prstGeom prst="rect">
            <a:avLst/>
          </a:prstGeom>
          <a:noFill/>
          <a:ln/>
        </p:spPr>
        <p:txBody>
          <a:bodyPr wrap="square" lIns="0" tIns="0" rIns="0" bIns="0" rtlCol="0" anchor="t"/>
          <a:lstStyle/>
          <a:p>
            <a:pPr marL="0" indent="0">
              <a:lnSpc>
                <a:spcPts val="1800"/>
              </a:lnSpc>
              <a:buNone/>
            </a:pPr>
            <a:r>
              <a:rPr lang="en-US" sz="1450" dirty="0">
                <a:solidFill>
                  <a:srgbClr val="22261F"/>
                </a:solidFill>
                <a:latin typeface="Calibri" pitchFamily="34" charset="0"/>
                <a:ea typeface="Calibri" pitchFamily="34" charset="-122"/>
                <a:cs typeface="Calibri" pitchFamily="34" charset="-120"/>
              </a:rPr>
              <a:t>Si el test y la prevención cuestan dinero, ¿qué obligación tiene el sistema de salud? (En la sesión 17 investigamos qué cubre en Chile.)</a:t>
            </a:r>
            <a:endParaRPr lang="en-US" sz="1450" dirty="0"/>
          </a:p>
        </p:txBody>
      </p:sp>
      <p:sp>
        <p:nvSpPr>
          <p:cNvPr id="24" name="Shape 22"/>
          <p:cNvSpPr/>
          <p:nvPr/>
        </p:nvSpPr>
        <p:spPr>
          <a:xfrm>
            <a:off x="548640" y="5486400"/>
            <a:ext cx="11064240" cy="868680"/>
          </a:xfrm>
          <a:prstGeom prst="roundRect">
            <a:avLst>
              <a:gd name="adj" fmla="val 8421"/>
            </a:avLst>
          </a:prstGeom>
          <a:solidFill>
            <a:srgbClr val="F7F5F0"/>
          </a:solidFill>
          <a:ln w="12700">
            <a:solidFill>
              <a:srgbClr val="DCE3EA"/>
            </a:solidFill>
            <a:prstDash val="solid"/>
          </a:ln>
        </p:spPr>
      </p:sp>
      <p:sp>
        <p:nvSpPr>
          <p:cNvPr id="25" name="Text 23"/>
          <p:cNvSpPr txBox="1"/>
          <p:nvPr/>
        </p:nvSpPr>
        <p:spPr>
          <a:xfrm>
            <a:off x="777240" y="5486400"/>
            <a:ext cx="10607040" cy="868680"/>
          </a:xfrm>
          <a:prstGeom prst="rect">
            <a:avLst/>
          </a:prstGeom>
          <a:noFill/>
          <a:ln/>
        </p:spPr>
        <p:txBody>
          <a:bodyPr wrap="square" lIns="0" tIns="0" rIns="0" bIns="0" rtlCol="0" anchor="ctr"/>
          <a:lstStyle/>
          <a:p>
            <a:pPr marL="0" indent="0">
              <a:buNone/>
            </a:pPr>
            <a:r>
              <a:rPr lang="en-US" sz="1200" b="1" kern="0" spc="120" dirty="0">
                <a:solidFill>
                  <a:srgbClr val="1F3A56"/>
                </a:solidFill>
                <a:latin typeface="Calibri" pitchFamily="34" charset="0"/>
                <a:ea typeface="Calibri" pitchFamily="34" charset="-122"/>
                <a:cs typeface="Calibri" pitchFamily="34" charset="-120"/>
              </a:rPr>
              <a:t>EN TU CUADERNO · 7 MIN   </a:t>
            </a:r>
            <a:r>
              <a:rPr lang="en-US" sz="1400" dirty="0">
                <a:solidFill>
                  <a:srgbClr val="22261F"/>
                </a:solidFill>
                <a:latin typeface="Calibri" pitchFamily="34" charset="0"/>
                <a:ea typeface="Calibri" pitchFamily="34" charset="-122"/>
                <a:cs typeface="Calibri" pitchFamily="34" charset="-120"/>
              </a:rPr>
              <a:t>Elige una. Escribe tu postura con AER (Afirmación, Evidencia de hoy, Razonamiento con tus valores) y la objeción más fuerte que te haría alguien que piensa lo contrario.</a:t>
            </a:r>
            <a:endParaRPr lang="en-US" sz="1200" dirty="0"/>
          </a:p>
        </p:txBody>
      </p:sp>
      <p:sp>
        <p:nvSpPr>
          <p:cNvPr id="26" name="Text 24"/>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27" name="Text 25"/>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12 / 20</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B8763A"/>
                </a:solidFill>
                <a:latin typeface="Calibri" pitchFamily="34" charset="0"/>
                <a:ea typeface="Calibri" pitchFamily="34" charset="-122"/>
                <a:cs typeface="Calibri" pitchFamily="34" charset="-120"/>
              </a:rPr>
              <a:t>PRÁCTICA PAES · ÍTEM 1 · PROCESAR Y ANALIZAR LA EVIDENCIA</a:t>
            </a:r>
            <a:endParaRPr lang="en-US" sz="1400" dirty="0"/>
          </a:p>
        </p:txBody>
      </p:sp>
      <p:sp>
        <p:nvSpPr>
          <p:cNvPr id="3" name="Shape 1"/>
          <p:cNvSpPr/>
          <p:nvPr/>
        </p:nvSpPr>
        <p:spPr>
          <a:xfrm>
            <a:off x="1508760" y="1965960"/>
            <a:ext cx="457200" cy="457200"/>
          </a:xfrm>
          <a:prstGeom prst="ellipse">
            <a:avLst/>
          </a:prstGeom>
          <a:solidFill>
            <a:srgbClr val="1F3A56"/>
          </a:solidFill>
          <a:ln w="22225">
            <a:solidFill>
              <a:srgbClr val="22261F"/>
            </a:solidFill>
            <a:prstDash val="solid"/>
          </a:ln>
        </p:spPr>
      </p:sp>
      <p:sp>
        <p:nvSpPr>
          <p:cNvPr id="4" name="Text 2"/>
          <p:cNvSpPr txBox="1"/>
          <p:nvPr/>
        </p:nvSpPr>
        <p:spPr>
          <a:xfrm>
            <a:off x="1280160" y="2487168"/>
            <a:ext cx="91440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I-1</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Mama, 45</a:t>
            </a:r>
            <a:endParaRPr lang="en-US" sz="1150" dirty="0"/>
          </a:p>
        </p:txBody>
      </p:sp>
      <p:sp>
        <p:nvSpPr>
          <p:cNvPr id="5" name="Shape 3"/>
          <p:cNvSpPr/>
          <p:nvPr/>
        </p:nvSpPr>
        <p:spPr>
          <a:xfrm>
            <a:off x="2880360" y="1965960"/>
            <a:ext cx="457200" cy="457200"/>
          </a:xfrm>
          <a:prstGeom prst="rect">
            <a:avLst/>
          </a:prstGeom>
          <a:solidFill>
            <a:srgbClr val="FFFFFF"/>
          </a:solidFill>
          <a:ln w="22225">
            <a:solidFill>
              <a:srgbClr val="22261F"/>
            </a:solidFill>
            <a:prstDash val="solid"/>
          </a:ln>
        </p:spPr>
      </p:sp>
      <p:sp>
        <p:nvSpPr>
          <p:cNvPr id="6" name="Text 4"/>
          <p:cNvSpPr txBox="1"/>
          <p:nvPr/>
        </p:nvSpPr>
        <p:spPr>
          <a:xfrm>
            <a:off x="2651760" y="2487168"/>
            <a:ext cx="91440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I-2</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Sano</a:t>
            </a:r>
            <a:endParaRPr lang="en-US" sz="1150" dirty="0"/>
          </a:p>
        </p:txBody>
      </p:sp>
      <p:sp>
        <p:nvSpPr>
          <p:cNvPr id="7" name="Shape 5"/>
          <p:cNvSpPr/>
          <p:nvPr/>
        </p:nvSpPr>
        <p:spPr>
          <a:xfrm>
            <a:off x="1965960" y="2184502"/>
            <a:ext cx="914400" cy="20117"/>
          </a:xfrm>
          <a:prstGeom prst="rect">
            <a:avLst/>
          </a:prstGeom>
          <a:solidFill>
            <a:srgbClr val="22261F"/>
          </a:solidFill>
          <a:ln/>
        </p:spPr>
      </p:sp>
      <p:sp>
        <p:nvSpPr>
          <p:cNvPr id="8" name="Shape 6"/>
          <p:cNvSpPr/>
          <p:nvPr/>
        </p:nvSpPr>
        <p:spPr>
          <a:xfrm>
            <a:off x="2413102" y="2194560"/>
            <a:ext cx="20117" cy="822960"/>
          </a:xfrm>
          <a:prstGeom prst="rect">
            <a:avLst/>
          </a:prstGeom>
          <a:solidFill>
            <a:srgbClr val="22261F"/>
          </a:solidFill>
          <a:ln/>
        </p:spPr>
      </p:sp>
      <p:sp>
        <p:nvSpPr>
          <p:cNvPr id="9" name="Shape 7"/>
          <p:cNvSpPr/>
          <p:nvPr/>
        </p:nvSpPr>
        <p:spPr>
          <a:xfrm>
            <a:off x="1371600" y="3007462"/>
            <a:ext cx="2194560" cy="20117"/>
          </a:xfrm>
          <a:prstGeom prst="rect">
            <a:avLst/>
          </a:prstGeom>
          <a:solidFill>
            <a:srgbClr val="22261F"/>
          </a:solidFill>
          <a:ln/>
        </p:spPr>
      </p:sp>
      <p:sp>
        <p:nvSpPr>
          <p:cNvPr id="10" name="Shape 8"/>
          <p:cNvSpPr/>
          <p:nvPr/>
        </p:nvSpPr>
        <p:spPr>
          <a:xfrm>
            <a:off x="1361542" y="3017520"/>
            <a:ext cx="20117" cy="365760"/>
          </a:xfrm>
          <a:prstGeom prst="rect">
            <a:avLst/>
          </a:prstGeom>
          <a:solidFill>
            <a:srgbClr val="22261F"/>
          </a:solidFill>
          <a:ln/>
        </p:spPr>
      </p:sp>
      <p:sp>
        <p:nvSpPr>
          <p:cNvPr id="11" name="Shape 9"/>
          <p:cNvSpPr/>
          <p:nvPr/>
        </p:nvSpPr>
        <p:spPr>
          <a:xfrm>
            <a:off x="3556102" y="3017520"/>
            <a:ext cx="20117" cy="365760"/>
          </a:xfrm>
          <a:prstGeom prst="rect">
            <a:avLst/>
          </a:prstGeom>
          <a:solidFill>
            <a:srgbClr val="22261F"/>
          </a:solidFill>
          <a:ln/>
        </p:spPr>
      </p:sp>
      <p:sp>
        <p:nvSpPr>
          <p:cNvPr id="12" name="Shape 10"/>
          <p:cNvSpPr/>
          <p:nvPr/>
        </p:nvSpPr>
        <p:spPr>
          <a:xfrm>
            <a:off x="1143000" y="3383280"/>
            <a:ext cx="457200" cy="457200"/>
          </a:xfrm>
          <a:prstGeom prst="rect">
            <a:avLst/>
          </a:prstGeom>
          <a:solidFill>
            <a:srgbClr val="FFFFFF"/>
          </a:solidFill>
          <a:ln w="22225">
            <a:solidFill>
              <a:srgbClr val="22261F"/>
            </a:solidFill>
            <a:prstDash val="solid"/>
          </a:ln>
        </p:spPr>
      </p:sp>
      <p:sp>
        <p:nvSpPr>
          <p:cNvPr id="13" name="Text 11"/>
          <p:cNvSpPr txBox="1"/>
          <p:nvPr/>
        </p:nvSpPr>
        <p:spPr>
          <a:xfrm>
            <a:off x="914400" y="3904488"/>
            <a:ext cx="91440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II-1</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Sano</a:t>
            </a:r>
            <a:endParaRPr lang="en-US" sz="1150" dirty="0"/>
          </a:p>
        </p:txBody>
      </p:sp>
      <p:sp>
        <p:nvSpPr>
          <p:cNvPr id="14" name="Shape 12"/>
          <p:cNvSpPr/>
          <p:nvPr/>
        </p:nvSpPr>
        <p:spPr>
          <a:xfrm>
            <a:off x="3337560" y="3383280"/>
            <a:ext cx="457200" cy="457200"/>
          </a:xfrm>
          <a:prstGeom prst="ellipse">
            <a:avLst/>
          </a:prstGeom>
          <a:solidFill>
            <a:srgbClr val="1F3A56"/>
          </a:solidFill>
          <a:ln w="22225">
            <a:solidFill>
              <a:srgbClr val="22261F"/>
            </a:solidFill>
            <a:prstDash val="solid"/>
          </a:ln>
        </p:spPr>
      </p:sp>
      <p:sp>
        <p:nvSpPr>
          <p:cNvPr id="15" name="Text 13"/>
          <p:cNvSpPr txBox="1"/>
          <p:nvPr/>
        </p:nvSpPr>
        <p:spPr>
          <a:xfrm>
            <a:off x="3108960" y="3904488"/>
            <a:ext cx="91440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II-2</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Mama, 39</a:t>
            </a:r>
            <a:endParaRPr lang="en-US" sz="1150" dirty="0"/>
          </a:p>
        </p:txBody>
      </p:sp>
      <p:sp>
        <p:nvSpPr>
          <p:cNvPr id="16" name="Shape 14"/>
          <p:cNvSpPr/>
          <p:nvPr/>
        </p:nvSpPr>
        <p:spPr>
          <a:xfrm>
            <a:off x="4617720" y="3383280"/>
            <a:ext cx="457200" cy="457200"/>
          </a:xfrm>
          <a:prstGeom prst="rect">
            <a:avLst/>
          </a:prstGeom>
          <a:solidFill>
            <a:srgbClr val="FFFFFF"/>
          </a:solidFill>
          <a:ln w="22225">
            <a:solidFill>
              <a:srgbClr val="22261F"/>
            </a:solidFill>
            <a:prstDash val="solid"/>
          </a:ln>
        </p:spPr>
      </p:sp>
      <p:sp>
        <p:nvSpPr>
          <p:cNvPr id="17" name="Text 15"/>
          <p:cNvSpPr txBox="1"/>
          <p:nvPr/>
        </p:nvSpPr>
        <p:spPr>
          <a:xfrm>
            <a:off x="4389120" y="3904488"/>
            <a:ext cx="91440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II-3</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Sano</a:t>
            </a:r>
            <a:endParaRPr lang="en-US" sz="1150" dirty="0"/>
          </a:p>
        </p:txBody>
      </p:sp>
      <p:sp>
        <p:nvSpPr>
          <p:cNvPr id="18" name="Shape 16"/>
          <p:cNvSpPr/>
          <p:nvPr/>
        </p:nvSpPr>
        <p:spPr>
          <a:xfrm>
            <a:off x="3794760" y="3601822"/>
            <a:ext cx="822960" cy="20117"/>
          </a:xfrm>
          <a:prstGeom prst="rect">
            <a:avLst/>
          </a:prstGeom>
          <a:solidFill>
            <a:srgbClr val="22261F"/>
          </a:solidFill>
          <a:ln/>
        </p:spPr>
      </p:sp>
      <p:sp>
        <p:nvSpPr>
          <p:cNvPr id="19" name="Shape 17"/>
          <p:cNvSpPr/>
          <p:nvPr/>
        </p:nvSpPr>
        <p:spPr>
          <a:xfrm>
            <a:off x="4196182" y="3611880"/>
            <a:ext cx="20117" cy="731520"/>
          </a:xfrm>
          <a:prstGeom prst="rect">
            <a:avLst/>
          </a:prstGeom>
          <a:solidFill>
            <a:srgbClr val="22261F"/>
          </a:solidFill>
          <a:ln/>
        </p:spPr>
      </p:sp>
      <p:sp>
        <p:nvSpPr>
          <p:cNvPr id="20" name="Shape 18"/>
          <p:cNvSpPr/>
          <p:nvPr/>
        </p:nvSpPr>
        <p:spPr>
          <a:xfrm>
            <a:off x="3703320" y="4333342"/>
            <a:ext cx="1005840" cy="20117"/>
          </a:xfrm>
          <a:prstGeom prst="rect">
            <a:avLst/>
          </a:prstGeom>
          <a:solidFill>
            <a:srgbClr val="22261F"/>
          </a:solidFill>
          <a:ln/>
        </p:spPr>
      </p:sp>
      <p:sp>
        <p:nvSpPr>
          <p:cNvPr id="21" name="Shape 19"/>
          <p:cNvSpPr/>
          <p:nvPr/>
        </p:nvSpPr>
        <p:spPr>
          <a:xfrm>
            <a:off x="3693262" y="4343400"/>
            <a:ext cx="20117" cy="228600"/>
          </a:xfrm>
          <a:prstGeom prst="rect">
            <a:avLst/>
          </a:prstGeom>
          <a:solidFill>
            <a:srgbClr val="22261F"/>
          </a:solidFill>
          <a:ln/>
        </p:spPr>
      </p:sp>
      <p:sp>
        <p:nvSpPr>
          <p:cNvPr id="22" name="Shape 20"/>
          <p:cNvSpPr/>
          <p:nvPr/>
        </p:nvSpPr>
        <p:spPr>
          <a:xfrm>
            <a:off x="4699102" y="4343400"/>
            <a:ext cx="20117" cy="228600"/>
          </a:xfrm>
          <a:prstGeom prst="rect">
            <a:avLst/>
          </a:prstGeom>
          <a:solidFill>
            <a:srgbClr val="22261F"/>
          </a:solidFill>
          <a:ln/>
        </p:spPr>
      </p:sp>
      <p:sp>
        <p:nvSpPr>
          <p:cNvPr id="23" name="Shape 21"/>
          <p:cNvSpPr/>
          <p:nvPr/>
        </p:nvSpPr>
        <p:spPr>
          <a:xfrm>
            <a:off x="3474720" y="4572000"/>
            <a:ext cx="457200" cy="457200"/>
          </a:xfrm>
          <a:prstGeom prst="ellipse">
            <a:avLst/>
          </a:prstGeom>
          <a:solidFill>
            <a:srgbClr val="FFFFFF"/>
          </a:solidFill>
          <a:ln w="22225">
            <a:solidFill>
              <a:srgbClr val="22261F"/>
            </a:solidFill>
            <a:prstDash val="solid"/>
          </a:ln>
        </p:spPr>
      </p:sp>
      <p:sp>
        <p:nvSpPr>
          <p:cNvPr id="24" name="Shape 22"/>
          <p:cNvSpPr/>
          <p:nvPr/>
        </p:nvSpPr>
        <p:spPr>
          <a:xfrm flipV="1">
            <a:off x="2907792" y="5010912"/>
            <a:ext cx="502920" cy="329184"/>
          </a:xfrm>
          <a:prstGeom prst="line">
            <a:avLst/>
          </a:prstGeom>
          <a:noFill/>
          <a:ln w="22225">
            <a:solidFill>
              <a:srgbClr val="22261F"/>
            </a:solidFill>
            <a:prstDash val="solid"/>
            <a:tailEnd type="triangle"/>
          </a:ln>
        </p:spPr>
      </p:sp>
      <p:sp>
        <p:nvSpPr>
          <p:cNvPr id="25" name="Text 23"/>
          <p:cNvSpPr txBox="1"/>
          <p:nvPr/>
        </p:nvSpPr>
        <p:spPr>
          <a:xfrm>
            <a:off x="3154680" y="5093208"/>
            <a:ext cx="109728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III-1</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28 años, sana</a:t>
            </a:r>
            <a:endParaRPr lang="en-US" sz="1150" dirty="0"/>
          </a:p>
        </p:txBody>
      </p:sp>
      <p:sp>
        <p:nvSpPr>
          <p:cNvPr id="26" name="Shape 24"/>
          <p:cNvSpPr/>
          <p:nvPr/>
        </p:nvSpPr>
        <p:spPr>
          <a:xfrm>
            <a:off x="4480560" y="4572000"/>
            <a:ext cx="457200" cy="457200"/>
          </a:xfrm>
          <a:prstGeom prst="rect">
            <a:avLst/>
          </a:prstGeom>
          <a:solidFill>
            <a:srgbClr val="FFFFFF"/>
          </a:solidFill>
          <a:ln w="22225">
            <a:solidFill>
              <a:srgbClr val="22261F"/>
            </a:solidFill>
            <a:prstDash val="solid"/>
          </a:ln>
        </p:spPr>
      </p:sp>
      <p:sp>
        <p:nvSpPr>
          <p:cNvPr id="27" name="Text 25"/>
          <p:cNvSpPr txBox="1"/>
          <p:nvPr/>
        </p:nvSpPr>
        <p:spPr>
          <a:xfrm>
            <a:off x="4251960" y="5093208"/>
            <a:ext cx="914400" cy="420624"/>
          </a:xfrm>
          <a:prstGeom prst="rect">
            <a:avLst/>
          </a:prstGeom>
          <a:noFill/>
          <a:ln/>
        </p:spPr>
        <p:txBody>
          <a:bodyPr wrap="square" lIns="0" tIns="0" rIns="0" bIns="0" rtlCol="0" anchor="t"/>
          <a:lstStyle/>
          <a:p>
            <a:pPr marL="0" indent="0" algn="ctr">
              <a:buNone/>
            </a:pPr>
            <a:r>
              <a:rPr lang="en-US" sz="1150" b="1" dirty="0">
                <a:solidFill>
                  <a:srgbClr val="22261F"/>
                </a:solidFill>
                <a:latin typeface="Calibri" pitchFamily="34" charset="0"/>
                <a:ea typeface="Calibri" pitchFamily="34" charset="-122"/>
                <a:cs typeface="Calibri" pitchFamily="34" charset="-120"/>
              </a:rPr>
              <a:t>III-2</a:t>
            </a:r>
            <a:endParaRPr lang="en-US" sz="1150" dirty="0"/>
          </a:p>
          <a:p>
            <a:pPr marL="0" indent="0" algn="ctr">
              <a:buNone/>
            </a:pPr>
            <a:r>
              <a:rPr lang="en-US" sz="1150" dirty="0">
                <a:solidFill>
                  <a:srgbClr val="22261F"/>
                </a:solidFill>
                <a:latin typeface="Calibri" pitchFamily="34" charset="0"/>
                <a:ea typeface="Calibri" pitchFamily="34" charset="-122"/>
                <a:cs typeface="Calibri" pitchFamily="34" charset="-120"/>
              </a:rPr>
              <a:t>Sano</a:t>
            </a:r>
            <a:endParaRPr lang="en-US" sz="1150" dirty="0"/>
          </a:p>
        </p:txBody>
      </p:sp>
      <p:sp>
        <p:nvSpPr>
          <p:cNvPr id="28" name="Text 26"/>
          <p:cNvSpPr txBox="1"/>
          <p:nvPr/>
        </p:nvSpPr>
        <p:spPr>
          <a:xfrm>
            <a:off x="548640" y="5760720"/>
            <a:ext cx="5394960" cy="640080"/>
          </a:xfrm>
          <a:prstGeom prst="rect">
            <a:avLst/>
          </a:prstGeom>
          <a:noFill/>
          <a:ln/>
        </p:spPr>
        <p:txBody>
          <a:bodyPr wrap="square" lIns="0" tIns="0" rIns="0" bIns="0" rtlCol="0" anchor="ctr"/>
          <a:lstStyle/>
          <a:p>
            <a:pPr marL="0" indent="0">
              <a:lnSpc>
                <a:spcPts val="1550"/>
              </a:lnSpc>
              <a:buNone/>
            </a:pPr>
            <a:r>
              <a:rPr lang="en-US" sz="1250" i="1" dirty="0">
                <a:solidFill>
                  <a:srgbClr val="5B6B7A"/>
                </a:solidFill>
                <a:latin typeface="Calibri" pitchFamily="34" charset="0"/>
                <a:ea typeface="Calibri" pitchFamily="34" charset="-122"/>
                <a:cs typeface="Calibri" pitchFamily="34" charset="-120"/>
              </a:rPr>
              <a:t>En esta familia el cáncer de mama se debe a una variante patogénica autosómica dominante de un gen de reparación del ADN. Se asume que II-3 no porta la variante.</a:t>
            </a:r>
            <a:endParaRPr lang="en-US" sz="1250" dirty="0"/>
          </a:p>
        </p:txBody>
      </p:sp>
      <p:sp>
        <p:nvSpPr>
          <p:cNvPr id="29" name="Text 27"/>
          <p:cNvSpPr txBox="1"/>
          <p:nvPr/>
        </p:nvSpPr>
        <p:spPr>
          <a:xfrm>
            <a:off x="6309360" y="1371600"/>
            <a:ext cx="5349240" cy="1234440"/>
          </a:xfrm>
          <a:prstGeom prst="rect">
            <a:avLst/>
          </a:prstGeom>
          <a:noFill/>
          <a:ln/>
        </p:spPr>
        <p:txBody>
          <a:bodyPr wrap="square" lIns="0" tIns="0" rIns="0" bIns="0" rtlCol="0" anchor="t"/>
          <a:lstStyle/>
          <a:p>
            <a:pPr marL="0" indent="0">
              <a:lnSpc>
                <a:spcPts val="2100"/>
              </a:lnSpc>
              <a:buNone/>
            </a:pPr>
            <a:r>
              <a:rPr lang="en-US" sz="1600" b="1" dirty="0">
                <a:solidFill>
                  <a:srgbClr val="22261F"/>
                </a:solidFill>
                <a:latin typeface="Calibri" pitchFamily="34" charset="0"/>
                <a:ea typeface="Calibri" pitchFamily="34" charset="-122"/>
                <a:cs typeface="Calibri" pitchFamily="34" charset="-120"/>
              </a:rPr>
              <a:t>¿Qué puede afirmarse sobre III-1, mujer de 28 años que aún no presenta la enfermedad?</a:t>
            </a:r>
            <a:endParaRPr lang="en-US" sz="1600" dirty="0"/>
          </a:p>
        </p:txBody>
      </p:sp>
      <p:sp>
        <p:nvSpPr>
          <p:cNvPr id="30" name="Shape 28"/>
          <p:cNvSpPr/>
          <p:nvPr/>
        </p:nvSpPr>
        <p:spPr>
          <a:xfrm>
            <a:off x="6309360" y="2377440"/>
            <a:ext cx="5349240" cy="822960"/>
          </a:xfrm>
          <a:prstGeom prst="roundRect">
            <a:avLst>
              <a:gd name="adj" fmla="val 6667"/>
            </a:avLst>
          </a:prstGeom>
          <a:solidFill>
            <a:srgbClr val="F7F5F0"/>
          </a:solidFill>
          <a:ln w="12700">
            <a:solidFill>
              <a:srgbClr val="DCE3EA"/>
            </a:solidFill>
            <a:prstDash val="solid"/>
          </a:ln>
        </p:spPr>
      </p:sp>
      <p:sp>
        <p:nvSpPr>
          <p:cNvPr id="31" name="Text 29"/>
          <p:cNvSpPr txBox="1"/>
          <p:nvPr/>
        </p:nvSpPr>
        <p:spPr>
          <a:xfrm>
            <a:off x="6492240" y="23774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A)  </a:t>
            </a:r>
            <a:r>
              <a:rPr lang="en-US" sz="1350" dirty="0">
                <a:solidFill>
                  <a:srgbClr val="22261F"/>
                </a:solidFill>
                <a:latin typeface="Calibri" pitchFamily="34" charset="0"/>
                <a:ea typeface="Calibri" pitchFamily="34" charset="-122"/>
                <a:cs typeface="Calibri" pitchFamily="34" charset="-120"/>
              </a:rPr>
              <a:t>No porta la variante, porque no está afectada.</a:t>
            </a:r>
            <a:endParaRPr lang="en-US" sz="1350" dirty="0"/>
          </a:p>
        </p:txBody>
      </p:sp>
      <p:sp>
        <p:nvSpPr>
          <p:cNvPr id="32" name="Shape 30"/>
          <p:cNvSpPr/>
          <p:nvPr/>
        </p:nvSpPr>
        <p:spPr>
          <a:xfrm>
            <a:off x="6309360" y="3291840"/>
            <a:ext cx="5349240" cy="822960"/>
          </a:xfrm>
          <a:prstGeom prst="roundRect">
            <a:avLst>
              <a:gd name="adj" fmla="val 6667"/>
            </a:avLst>
          </a:prstGeom>
          <a:solidFill>
            <a:srgbClr val="F7F5F0"/>
          </a:solidFill>
          <a:ln w="12700">
            <a:solidFill>
              <a:srgbClr val="DCE3EA"/>
            </a:solidFill>
            <a:prstDash val="solid"/>
          </a:ln>
        </p:spPr>
      </p:sp>
      <p:sp>
        <p:nvSpPr>
          <p:cNvPr id="33" name="Text 31"/>
          <p:cNvSpPr txBox="1"/>
          <p:nvPr/>
        </p:nvSpPr>
        <p:spPr>
          <a:xfrm>
            <a:off x="6492240" y="32918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B)  </a:t>
            </a:r>
            <a:r>
              <a:rPr lang="en-US" sz="1350" dirty="0">
                <a:solidFill>
                  <a:srgbClr val="22261F"/>
                </a:solidFill>
                <a:latin typeface="Calibri" pitchFamily="34" charset="0"/>
                <a:ea typeface="Calibri" pitchFamily="34" charset="-122"/>
                <a:cs typeface="Calibri" pitchFamily="34" charset="-120"/>
              </a:rPr>
              <a:t>Tiene 50% de probabilidad de haber heredado la variante, aunque hoy esté sana.</a:t>
            </a:r>
            <a:endParaRPr lang="en-US" sz="1350" dirty="0"/>
          </a:p>
        </p:txBody>
      </p:sp>
      <p:sp>
        <p:nvSpPr>
          <p:cNvPr id="34" name="Shape 32"/>
          <p:cNvSpPr/>
          <p:nvPr/>
        </p:nvSpPr>
        <p:spPr>
          <a:xfrm>
            <a:off x="6309360" y="4206240"/>
            <a:ext cx="5349240" cy="822960"/>
          </a:xfrm>
          <a:prstGeom prst="roundRect">
            <a:avLst>
              <a:gd name="adj" fmla="val 6667"/>
            </a:avLst>
          </a:prstGeom>
          <a:solidFill>
            <a:srgbClr val="F7F5F0"/>
          </a:solidFill>
          <a:ln w="12700">
            <a:solidFill>
              <a:srgbClr val="DCE3EA"/>
            </a:solidFill>
            <a:prstDash val="solid"/>
          </a:ln>
        </p:spPr>
      </p:sp>
      <p:sp>
        <p:nvSpPr>
          <p:cNvPr id="35" name="Text 33"/>
          <p:cNvSpPr txBox="1"/>
          <p:nvPr/>
        </p:nvSpPr>
        <p:spPr>
          <a:xfrm>
            <a:off x="6492240" y="42062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C)  </a:t>
            </a:r>
            <a:r>
              <a:rPr lang="en-US" sz="1350" dirty="0">
                <a:solidFill>
                  <a:srgbClr val="22261F"/>
                </a:solidFill>
                <a:latin typeface="Calibri" pitchFamily="34" charset="0"/>
                <a:ea typeface="Calibri" pitchFamily="34" charset="-122"/>
                <a:cs typeface="Calibri" pitchFamily="34" charset="-120"/>
              </a:rPr>
              <a:t>Desarrollará cáncer con certeza antes de los 40 años.</a:t>
            </a:r>
            <a:endParaRPr lang="en-US" sz="1350" dirty="0"/>
          </a:p>
        </p:txBody>
      </p:sp>
      <p:sp>
        <p:nvSpPr>
          <p:cNvPr id="36" name="Shape 34"/>
          <p:cNvSpPr/>
          <p:nvPr/>
        </p:nvSpPr>
        <p:spPr>
          <a:xfrm>
            <a:off x="6309360" y="5120640"/>
            <a:ext cx="5349240" cy="822960"/>
          </a:xfrm>
          <a:prstGeom prst="roundRect">
            <a:avLst>
              <a:gd name="adj" fmla="val 6667"/>
            </a:avLst>
          </a:prstGeom>
          <a:solidFill>
            <a:srgbClr val="F7F5F0"/>
          </a:solidFill>
          <a:ln w="12700">
            <a:solidFill>
              <a:srgbClr val="DCE3EA"/>
            </a:solidFill>
            <a:prstDash val="solid"/>
          </a:ln>
        </p:spPr>
      </p:sp>
      <p:sp>
        <p:nvSpPr>
          <p:cNvPr id="37" name="Text 35"/>
          <p:cNvSpPr txBox="1"/>
          <p:nvPr/>
        </p:nvSpPr>
        <p:spPr>
          <a:xfrm>
            <a:off x="6492240" y="51206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D)  </a:t>
            </a:r>
            <a:r>
              <a:rPr lang="en-US" sz="1350" dirty="0">
                <a:solidFill>
                  <a:srgbClr val="22261F"/>
                </a:solidFill>
                <a:latin typeface="Calibri" pitchFamily="34" charset="0"/>
                <a:ea typeface="Calibri" pitchFamily="34" charset="-122"/>
                <a:cs typeface="Calibri" pitchFamily="34" charset="-120"/>
              </a:rPr>
              <a:t>Tiene 25% de probabilidad de haber heredado la variante, porque su padre no está afectado.</a:t>
            </a:r>
            <a:endParaRPr lang="en-US" sz="1350" dirty="0"/>
          </a:p>
        </p:txBody>
      </p:sp>
      <p:sp>
        <p:nvSpPr>
          <p:cNvPr id="38" name="Shape 36"/>
          <p:cNvSpPr/>
          <p:nvPr/>
        </p:nvSpPr>
        <p:spPr>
          <a:xfrm>
            <a:off x="548640" y="777240"/>
            <a:ext cx="2377440" cy="310896"/>
          </a:xfrm>
          <a:prstGeom prst="roundRect">
            <a:avLst>
              <a:gd name="adj" fmla="val 50000"/>
            </a:avLst>
          </a:prstGeom>
          <a:solidFill>
            <a:srgbClr val="1F3A56"/>
          </a:solidFill>
          <a:ln/>
        </p:spPr>
      </p:sp>
      <p:sp>
        <p:nvSpPr>
          <p:cNvPr id="39" name="Text 37"/>
          <p:cNvSpPr txBox="1"/>
          <p:nvPr/>
        </p:nvSpPr>
        <p:spPr>
          <a:xfrm>
            <a:off x="548640" y="777240"/>
            <a:ext cx="237744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RESPONDE EN TU CUADERNO</a:t>
            </a:r>
            <a:endParaRPr lang="en-US" sz="1150" dirty="0"/>
          </a:p>
        </p:txBody>
      </p:sp>
      <p:sp>
        <p:nvSpPr>
          <p:cNvPr id="40" name="Text 38"/>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41" name="Text 39"/>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13 / 20</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B8763A"/>
                </a:solidFill>
                <a:latin typeface="Calibri" pitchFamily="34" charset="0"/>
                <a:ea typeface="Calibri" pitchFamily="34" charset="-122"/>
                <a:cs typeface="Calibri" pitchFamily="34" charset="-120"/>
              </a:rPr>
              <a:t>PRÁCTICA PAES · ÍTEM 2 · PROCESAR Y ANALIZAR LA EVIDENCIA</a:t>
            </a:r>
            <a:endParaRPr lang="en-US" sz="1400" dirty="0"/>
          </a:p>
        </p:txBody>
      </p:sp>
      <p:sp>
        <p:nvSpPr>
          <p:cNvPr id="3" name="Text 1"/>
          <p:cNvSpPr txBox="1"/>
          <p:nvPr/>
        </p:nvSpPr>
        <p:spPr>
          <a:xfrm>
            <a:off x="548640" y="1417320"/>
            <a:ext cx="5394960" cy="365760"/>
          </a:xfrm>
          <a:prstGeom prst="rect">
            <a:avLst/>
          </a:prstGeom>
          <a:noFill/>
          <a:ln/>
        </p:spPr>
        <p:txBody>
          <a:bodyPr wrap="square" lIns="0" tIns="0" rIns="0" bIns="0" rtlCol="0" anchor="ctr"/>
          <a:lstStyle/>
          <a:p>
            <a:pPr marL="0" indent="0">
              <a:buNone/>
            </a:pPr>
            <a:r>
              <a:rPr lang="en-US" sz="1500" b="1" dirty="0">
                <a:solidFill>
                  <a:srgbClr val="22261F"/>
                </a:solidFill>
                <a:latin typeface="Calibri" pitchFamily="34" charset="0"/>
                <a:ea typeface="Calibri" pitchFamily="34" charset="-122"/>
                <a:cs typeface="Calibri" pitchFamily="34" charset="-120"/>
              </a:rPr>
              <a:t>Riesgo acumulado de cáncer (%)</a:t>
            </a:r>
            <a:endParaRPr lang="en-US" sz="15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539496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tblGrid>
              <a:tr h="548640">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Grupo</a:t>
                      </a:r>
                      <a:endParaRPr lang="en-US" sz="13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F3A56"/>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Mama</a:t>
                      </a:r>
                      <a:endParaRPr lang="en-US" sz="13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F3A56"/>
                    </a:solidFill>
                  </a:tcPr>
                </a:tc>
                <a:tc>
                  <a:txBody>
                    <a:bodyPr/>
                    <a:lstStyle/>
                    <a:p>
                      <a:pPr marL="0" indent="0" algn="ctr">
                        <a:buNone/>
                      </a:pPr>
                      <a:r>
                        <a:rPr lang="en-US" sz="1350" b="1" dirty="0">
                          <a:solidFill>
                            <a:srgbClr val="FFFFFF"/>
                          </a:solidFill>
                          <a:latin typeface="Calibri" pitchFamily="34" charset="0"/>
                          <a:ea typeface="Calibri" pitchFamily="34" charset="-122"/>
                          <a:cs typeface="Calibri" pitchFamily="34" charset="-120"/>
                        </a:rPr>
                        <a:t>Ovario</a:t>
                      </a:r>
                      <a:endParaRPr lang="en-US" sz="13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F3A56"/>
                    </a:solidFill>
                  </a:tcPr>
                </a:tc>
                <a:extLst>
                  <a:ext uri="{0D108BD9-81ED-4DB2-BD59-A6C34878D82A}">
                    <a16:rowId xmlns:a16="http://schemas.microsoft.com/office/drawing/2014/main" val="10000"/>
                  </a:ext>
                </a:extLst>
              </a:tr>
              <a:tr h="548640">
                <a:tc>
                  <a:txBody>
                    <a:bodyPr/>
                    <a:lstStyle/>
                    <a:p>
                      <a:pPr marL="0" indent="0">
                        <a:buNone/>
                      </a:pPr>
                      <a:r>
                        <a:rPr lang="en-US" sz="1450" dirty="0">
                          <a:solidFill>
                            <a:srgbClr val="22261F"/>
                          </a:solidFill>
                          <a:latin typeface="Calibri" pitchFamily="34" charset="0"/>
                          <a:ea typeface="Calibri" pitchFamily="34" charset="-122"/>
                          <a:cs typeface="Calibri" pitchFamily="34" charset="-120"/>
                        </a:rPr>
                        <a:t>Población general</a:t>
                      </a:r>
                      <a:endParaRPr lang="en-US" sz="14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lgn="ctr">
                        <a:buNone/>
                      </a:pPr>
                      <a:r>
                        <a:rPr lang="en-US" sz="1450" dirty="0">
                          <a:solidFill>
                            <a:srgbClr val="22261F"/>
                          </a:solidFill>
                          <a:latin typeface="Calibri" pitchFamily="34" charset="0"/>
                          <a:ea typeface="Calibri" pitchFamily="34" charset="-122"/>
                          <a:cs typeface="Calibri" pitchFamily="34" charset="-120"/>
                        </a:rPr>
                        <a:t>13</a:t>
                      </a:r>
                      <a:endParaRPr lang="en-US" sz="14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lgn="ctr">
                        <a:buNone/>
                      </a:pPr>
                      <a:r>
                        <a:rPr lang="en-US" sz="1450" dirty="0">
                          <a:solidFill>
                            <a:srgbClr val="22261F"/>
                          </a:solidFill>
                          <a:latin typeface="Calibri" pitchFamily="34" charset="0"/>
                          <a:ea typeface="Calibri" pitchFamily="34" charset="-122"/>
                          <a:cs typeface="Calibri" pitchFamily="34" charset="-120"/>
                        </a:rPr>
                        <a:t>1,1</a:t>
                      </a:r>
                      <a:endParaRPr lang="en-US" sz="14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450" dirty="0">
                          <a:solidFill>
                            <a:srgbClr val="22261F"/>
                          </a:solidFill>
                          <a:latin typeface="Calibri" pitchFamily="34" charset="0"/>
                          <a:ea typeface="Calibri" pitchFamily="34" charset="-122"/>
                          <a:cs typeface="Calibri" pitchFamily="34" charset="-120"/>
                        </a:rPr>
                        <a:t>Portadoras de BRCA2</a:t>
                      </a:r>
                      <a:endParaRPr lang="en-US" sz="14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lgn="ctr">
                        <a:buNone/>
                      </a:pPr>
                      <a:r>
                        <a:rPr lang="en-US" sz="1450" dirty="0">
                          <a:solidFill>
                            <a:srgbClr val="22261F"/>
                          </a:solidFill>
                          <a:latin typeface="Calibri" pitchFamily="34" charset="0"/>
                          <a:ea typeface="Calibri" pitchFamily="34" charset="-122"/>
                          <a:cs typeface="Calibri" pitchFamily="34" charset="-120"/>
                        </a:rPr>
                        <a:t>69</a:t>
                      </a:r>
                      <a:endParaRPr lang="en-US" sz="14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lgn="ctr">
                        <a:buNone/>
                      </a:pPr>
                      <a:r>
                        <a:rPr lang="en-US" sz="1450" dirty="0">
                          <a:solidFill>
                            <a:srgbClr val="22261F"/>
                          </a:solidFill>
                          <a:latin typeface="Calibri" pitchFamily="34" charset="0"/>
                          <a:ea typeface="Calibri" pitchFamily="34" charset="-122"/>
                          <a:cs typeface="Calibri" pitchFamily="34" charset="-120"/>
                        </a:rPr>
                        <a:t>17</a:t>
                      </a:r>
                      <a:endParaRPr lang="en-US" sz="14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450" dirty="0">
                          <a:solidFill>
                            <a:srgbClr val="22261F"/>
                          </a:solidFill>
                          <a:latin typeface="Calibri" pitchFamily="34" charset="0"/>
                          <a:ea typeface="Calibri" pitchFamily="34" charset="-122"/>
                          <a:cs typeface="Calibri" pitchFamily="34" charset="-120"/>
                        </a:rPr>
                        <a:t>Portadoras de BRCA1</a:t>
                      </a:r>
                      <a:endParaRPr lang="en-US" sz="14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lgn="ctr">
                        <a:buNone/>
                      </a:pPr>
                      <a:r>
                        <a:rPr lang="en-US" sz="1450" dirty="0">
                          <a:solidFill>
                            <a:srgbClr val="22261F"/>
                          </a:solidFill>
                          <a:latin typeface="Calibri" pitchFamily="34" charset="0"/>
                          <a:ea typeface="Calibri" pitchFamily="34" charset="-122"/>
                          <a:cs typeface="Calibri" pitchFamily="34" charset="-120"/>
                        </a:rPr>
                        <a:t>72</a:t>
                      </a:r>
                      <a:endParaRPr lang="en-US" sz="14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lgn="ctr">
                        <a:buNone/>
                      </a:pPr>
                      <a:r>
                        <a:rPr lang="en-US" sz="1450" dirty="0">
                          <a:solidFill>
                            <a:srgbClr val="22261F"/>
                          </a:solidFill>
                          <a:latin typeface="Calibri" pitchFamily="34" charset="0"/>
                          <a:ea typeface="Calibri" pitchFamily="34" charset="-122"/>
                          <a:cs typeface="Calibri" pitchFamily="34" charset="-120"/>
                        </a:rPr>
                        <a:t>44</a:t>
                      </a:r>
                      <a:endParaRPr lang="en-US" sz="1450" dirty="0">
                        <a:latin typeface="Calibri" charset="0"/>
                        <a:ea typeface="Calibri" charset="0"/>
                        <a:cs typeface="Calibri" charset="0"/>
                      </a:endParaRPr>
                    </a:p>
                  </a:txBody>
                  <a:tcPr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txBox="1"/>
          <p:nvPr/>
        </p:nvSpPr>
        <p:spPr>
          <a:xfrm>
            <a:off x="548640" y="4206240"/>
            <a:ext cx="5394960" cy="365760"/>
          </a:xfrm>
          <a:prstGeom prst="rect">
            <a:avLst/>
          </a:prstGeom>
          <a:noFill/>
          <a:ln/>
        </p:spPr>
        <p:txBody>
          <a:bodyPr wrap="square" lIns="0" tIns="0" rIns="0" bIns="0" rtlCol="0" anchor="ctr"/>
          <a:lstStyle/>
          <a:p>
            <a:pPr marL="0" indent="0">
              <a:buNone/>
            </a:pPr>
            <a:r>
              <a:rPr lang="en-US" sz="1150" i="1" dirty="0">
                <a:solidFill>
                  <a:srgbClr val="5B6B7A"/>
                </a:solidFill>
                <a:latin typeface="Calibri" pitchFamily="34" charset="0"/>
                <a:ea typeface="Calibri" pitchFamily="34" charset="-122"/>
                <a:cs typeface="Calibri" pitchFamily="34" charset="-120"/>
              </a:rPr>
              <a:t>Datos adaptados de Kuchenbaecker et al. (2017) y del NCI.</a:t>
            </a:r>
            <a:endParaRPr lang="en-US" sz="1150" dirty="0"/>
          </a:p>
        </p:txBody>
      </p:sp>
      <p:sp>
        <p:nvSpPr>
          <p:cNvPr id="6" name="Text 3"/>
          <p:cNvSpPr txBox="1"/>
          <p:nvPr/>
        </p:nvSpPr>
        <p:spPr>
          <a:xfrm>
            <a:off x="6309360" y="1371600"/>
            <a:ext cx="5349240" cy="1234440"/>
          </a:xfrm>
          <a:prstGeom prst="rect">
            <a:avLst/>
          </a:prstGeom>
          <a:noFill/>
          <a:ln/>
        </p:spPr>
        <p:txBody>
          <a:bodyPr wrap="square" lIns="0" tIns="0" rIns="0" bIns="0" rtlCol="0" anchor="t"/>
          <a:lstStyle/>
          <a:p>
            <a:pPr marL="0" indent="0">
              <a:lnSpc>
                <a:spcPts val="2100"/>
              </a:lnSpc>
              <a:buNone/>
            </a:pPr>
            <a:r>
              <a:rPr lang="en-US" sz="1600" b="1" dirty="0">
                <a:solidFill>
                  <a:srgbClr val="22261F"/>
                </a:solidFill>
                <a:latin typeface="Calibri" pitchFamily="34" charset="0"/>
                <a:ea typeface="Calibri" pitchFamily="34" charset="-122"/>
                <a:cs typeface="Calibri" pitchFamily="34" charset="-120"/>
              </a:rPr>
              <a:t>¿Cuál conclusión se desprende de los datos?</a:t>
            </a:r>
            <a:endParaRPr lang="en-US" sz="1600" dirty="0"/>
          </a:p>
        </p:txBody>
      </p:sp>
      <p:sp>
        <p:nvSpPr>
          <p:cNvPr id="7" name="Shape 4"/>
          <p:cNvSpPr/>
          <p:nvPr/>
        </p:nvSpPr>
        <p:spPr>
          <a:xfrm>
            <a:off x="6309360" y="2148840"/>
            <a:ext cx="5349240" cy="822960"/>
          </a:xfrm>
          <a:prstGeom prst="roundRect">
            <a:avLst>
              <a:gd name="adj" fmla="val 6667"/>
            </a:avLst>
          </a:prstGeom>
          <a:solidFill>
            <a:srgbClr val="F7F5F0"/>
          </a:solidFill>
          <a:ln w="12700">
            <a:solidFill>
              <a:srgbClr val="DCE3EA"/>
            </a:solidFill>
            <a:prstDash val="solid"/>
          </a:ln>
        </p:spPr>
      </p:sp>
      <p:sp>
        <p:nvSpPr>
          <p:cNvPr id="8" name="Text 5"/>
          <p:cNvSpPr txBox="1"/>
          <p:nvPr/>
        </p:nvSpPr>
        <p:spPr>
          <a:xfrm>
            <a:off x="6492240" y="21488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A)  </a:t>
            </a:r>
            <a:r>
              <a:rPr lang="en-US" sz="1350" dirty="0">
                <a:solidFill>
                  <a:srgbClr val="22261F"/>
                </a:solidFill>
                <a:latin typeface="Calibri" pitchFamily="34" charset="0"/>
                <a:ea typeface="Calibri" pitchFamily="34" charset="-122"/>
                <a:cs typeface="Calibri" pitchFamily="34" charset="-120"/>
              </a:rPr>
              <a:t>Toda portadora de BRCA1 desarrollará cáncer de mama a lo largo de su vida.</a:t>
            </a:r>
            <a:endParaRPr lang="en-US" sz="1350" dirty="0"/>
          </a:p>
        </p:txBody>
      </p:sp>
      <p:sp>
        <p:nvSpPr>
          <p:cNvPr id="9" name="Shape 6"/>
          <p:cNvSpPr/>
          <p:nvPr/>
        </p:nvSpPr>
        <p:spPr>
          <a:xfrm>
            <a:off x="6309360" y="3063240"/>
            <a:ext cx="5349240" cy="822960"/>
          </a:xfrm>
          <a:prstGeom prst="roundRect">
            <a:avLst>
              <a:gd name="adj" fmla="val 6667"/>
            </a:avLst>
          </a:prstGeom>
          <a:solidFill>
            <a:srgbClr val="F7F5F0"/>
          </a:solidFill>
          <a:ln w="12700">
            <a:solidFill>
              <a:srgbClr val="DCE3EA"/>
            </a:solidFill>
            <a:prstDash val="solid"/>
          </a:ln>
        </p:spPr>
      </p:sp>
      <p:sp>
        <p:nvSpPr>
          <p:cNvPr id="10" name="Text 7"/>
          <p:cNvSpPr txBox="1"/>
          <p:nvPr/>
        </p:nvSpPr>
        <p:spPr>
          <a:xfrm>
            <a:off x="6492240" y="30632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B)  </a:t>
            </a:r>
            <a:r>
              <a:rPr lang="en-US" sz="1350" dirty="0">
                <a:solidFill>
                  <a:srgbClr val="22261F"/>
                </a:solidFill>
                <a:latin typeface="Calibri" pitchFamily="34" charset="0"/>
                <a:ea typeface="Calibri" pitchFamily="34" charset="-122"/>
                <a:cs typeface="Calibri" pitchFamily="34" charset="-120"/>
              </a:rPr>
              <a:t>BRCA1 y BRCA2 aumentan el riesgo de cáncer de ovario en la misma magnitud.</a:t>
            </a:r>
            <a:endParaRPr lang="en-US" sz="1350" dirty="0"/>
          </a:p>
        </p:txBody>
      </p:sp>
      <p:sp>
        <p:nvSpPr>
          <p:cNvPr id="11" name="Shape 8"/>
          <p:cNvSpPr/>
          <p:nvPr/>
        </p:nvSpPr>
        <p:spPr>
          <a:xfrm>
            <a:off x="6309360" y="3977640"/>
            <a:ext cx="5349240" cy="822960"/>
          </a:xfrm>
          <a:prstGeom prst="roundRect">
            <a:avLst>
              <a:gd name="adj" fmla="val 6667"/>
            </a:avLst>
          </a:prstGeom>
          <a:solidFill>
            <a:srgbClr val="F7F5F0"/>
          </a:solidFill>
          <a:ln w="12700">
            <a:solidFill>
              <a:srgbClr val="DCE3EA"/>
            </a:solidFill>
            <a:prstDash val="solid"/>
          </a:ln>
        </p:spPr>
      </p:sp>
      <p:sp>
        <p:nvSpPr>
          <p:cNvPr id="12" name="Text 9"/>
          <p:cNvSpPr txBox="1"/>
          <p:nvPr/>
        </p:nvSpPr>
        <p:spPr>
          <a:xfrm>
            <a:off x="6492240" y="39776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C)  </a:t>
            </a:r>
            <a:r>
              <a:rPr lang="en-US" sz="1350" dirty="0">
                <a:solidFill>
                  <a:srgbClr val="22261F"/>
                </a:solidFill>
                <a:latin typeface="Calibri" pitchFamily="34" charset="0"/>
                <a:ea typeface="Calibri" pitchFamily="34" charset="-122"/>
                <a:cs typeface="Calibri" pitchFamily="34" charset="-120"/>
              </a:rPr>
              <a:t>En portadoras de BRCA1, el aumento relativo del riesgo respecto de la población general es mayor para el cáncer de ovario que para el de mama.</a:t>
            </a:r>
            <a:endParaRPr lang="en-US" sz="1350" dirty="0"/>
          </a:p>
        </p:txBody>
      </p:sp>
      <p:sp>
        <p:nvSpPr>
          <p:cNvPr id="13" name="Shape 10"/>
          <p:cNvSpPr/>
          <p:nvPr/>
        </p:nvSpPr>
        <p:spPr>
          <a:xfrm>
            <a:off x="6309360" y="4892040"/>
            <a:ext cx="5349240" cy="822960"/>
          </a:xfrm>
          <a:prstGeom prst="roundRect">
            <a:avLst>
              <a:gd name="adj" fmla="val 6667"/>
            </a:avLst>
          </a:prstGeom>
          <a:solidFill>
            <a:srgbClr val="F7F5F0"/>
          </a:solidFill>
          <a:ln w="12700">
            <a:solidFill>
              <a:srgbClr val="DCE3EA"/>
            </a:solidFill>
            <a:prstDash val="solid"/>
          </a:ln>
        </p:spPr>
      </p:sp>
      <p:sp>
        <p:nvSpPr>
          <p:cNvPr id="14" name="Text 11"/>
          <p:cNvSpPr txBox="1"/>
          <p:nvPr/>
        </p:nvSpPr>
        <p:spPr>
          <a:xfrm>
            <a:off x="6492240" y="48920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D)  </a:t>
            </a:r>
            <a:r>
              <a:rPr lang="en-US" sz="1350" dirty="0">
                <a:solidFill>
                  <a:srgbClr val="22261F"/>
                </a:solidFill>
                <a:latin typeface="Calibri" pitchFamily="34" charset="0"/>
                <a:ea typeface="Calibri" pitchFamily="34" charset="-122"/>
                <a:cs typeface="Calibri" pitchFamily="34" charset="-120"/>
              </a:rPr>
              <a:t>En portadoras de BRCA2, el riesgo de cáncer de mama es menor que en la población general.</a:t>
            </a:r>
            <a:endParaRPr lang="en-US" sz="1350" dirty="0"/>
          </a:p>
        </p:txBody>
      </p:sp>
      <p:sp>
        <p:nvSpPr>
          <p:cNvPr id="4" name="Shape 12"/>
          <p:cNvSpPr/>
          <p:nvPr/>
        </p:nvSpPr>
        <p:spPr>
          <a:xfrm>
            <a:off x="548640" y="777240"/>
            <a:ext cx="2377440" cy="310896"/>
          </a:xfrm>
          <a:prstGeom prst="roundRect">
            <a:avLst>
              <a:gd name="adj" fmla="val 50000"/>
            </a:avLst>
          </a:prstGeom>
          <a:solidFill>
            <a:srgbClr val="1F3A56"/>
          </a:solidFill>
          <a:ln/>
        </p:spPr>
      </p:sp>
      <p:sp>
        <p:nvSpPr>
          <p:cNvPr id="16" name="Text 13"/>
          <p:cNvSpPr txBox="1"/>
          <p:nvPr/>
        </p:nvSpPr>
        <p:spPr>
          <a:xfrm>
            <a:off x="548640" y="777240"/>
            <a:ext cx="237744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RESPONDE EN TU CUADERNO</a:t>
            </a:r>
            <a:endParaRPr lang="en-US" sz="1150" dirty="0"/>
          </a:p>
        </p:txBody>
      </p:sp>
      <p:sp>
        <p:nvSpPr>
          <p:cNvPr id="17" name="Text 14"/>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18" name="Text 15"/>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14 / 20</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B8763A"/>
                </a:solidFill>
                <a:latin typeface="Calibri" pitchFamily="34" charset="0"/>
                <a:ea typeface="Calibri" pitchFamily="34" charset="-122"/>
                <a:cs typeface="Calibri" pitchFamily="34" charset="-120"/>
              </a:rPr>
              <a:t>PRÁCTICA PAES · ÍTEM 3 · EVALUAR</a:t>
            </a:r>
            <a:endParaRPr lang="en-US" sz="1400" dirty="0"/>
          </a:p>
        </p:txBody>
      </p:sp>
      <p:sp>
        <p:nvSpPr>
          <p:cNvPr id="3" name="Shape 1"/>
          <p:cNvSpPr/>
          <p:nvPr/>
        </p:nvSpPr>
        <p:spPr>
          <a:xfrm>
            <a:off x="548640" y="1417320"/>
            <a:ext cx="5394960" cy="4023360"/>
          </a:xfrm>
          <a:prstGeom prst="roundRect">
            <a:avLst>
              <a:gd name="adj" fmla="val 1818"/>
            </a:avLst>
          </a:prstGeom>
          <a:solidFill>
            <a:srgbClr val="F7F5F0"/>
          </a:solidFill>
          <a:ln w="12700">
            <a:solidFill>
              <a:srgbClr val="DCE3EA"/>
            </a:solidFill>
            <a:prstDash val="solid"/>
          </a:ln>
        </p:spPr>
      </p:sp>
      <p:sp>
        <p:nvSpPr>
          <p:cNvPr id="4" name="Text 2"/>
          <p:cNvSpPr txBox="1"/>
          <p:nvPr/>
        </p:nvSpPr>
        <p:spPr>
          <a:xfrm>
            <a:off x="822960" y="1645920"/>
            <a:ext cx="4846320" cy="3611880"/>
          </a:xfrm>
          <a:prstGeom prst="rect">
            <a:avLst/>
          </a:prstGeom>
          <a:noFill/>
          <a:ln/>
        </p:spPr>
        <p:txBody>
          <a:bodyPr wrap="square" lIns="0" tIns="0" rIns="0" bIns="0" rtlCol="0" anchor="t"/>
          <a:lstStyle/>
          <a:p>
            <a:pPr marL="0" indent="0">
              <a:lnSpc>
                <a:spcPts val="2000"/>
              </a:lnSpc>
              <a:buNone/>
            </a:pPr>
            <a:r>
              <a:rPr lang="en-US" sz="1500" dirty="0">
                <a:solidFill>
                  <a:srgbClr val="22261F"/>
                </a:solidFill>
                <a:latin typeface="Calibri" pitchFamily="34" charset="0"/>
                <a:ea typeface="Calibri" pitchFamily="34" charset="-122"/>
                <a:cs typeface="Calibri" pitchFamily="34" charset="-120"/>
              </a:rPr>
              <a:t>Un equipo comparó durante 20 años a 200 mujeres con madre o hermana con cáncer de mama (grupo A) y a 200 mujeres sin antecedentes familiares (grupo B).</a:t>
            </a:r>
            <a:endParaRPr lang="en-US" sz="1500" dirty="0"/>
          </a:p>
          <a:p>
            <a:pPr marL="0" indent="0">
              <a:lnSpc>
                <a:spcPts val="2000"/>
              </a:lnSpc>
              <a:buNone/>
            </a:pPr>
            <a:endParaRPr lang="en-US" sz="1500" dirty="0"/>
          </a:p>
          <a:p>
            <a:pPr marL="0" indent="0">
              <a:lnSpc>
                <a:spcPts val="2000"/>
              </a:lnSpc>
              <a:buNone/>
            </a:pPr>
            <a:r>
              <a:rPr lang="en-US" sz="1500" dirty="0">
                <a:solidFill>
                  <a:srgbClr val="22261F"/>
                </a:solidFill>
                <a:latin typeface="Calibri" pitchFamily="34" charset="0"/>
                <a:ea typeface="Calibri" pitchFamily="34" charset="-122"/>
                <a:cs typeface="Calibri" pitchFamily="34" charset="-120"/>
              </a:rPr>
              <a:t>Diagnosticaron cáncer de mama a 68 mujeres del grupo A y a 18 del grupo B.</a:t>
            </a:r>
            <a:endParaRPr lang="en-US" sz="1500" dirty="0"/>
          </a:p>
          <a:p>
            <a:pPr marL="0" indent="0">
              <a:lnSpc>
                <a:spcPts val="2000"/>
              </a:lnSpc>
              <a:buNone/>
            </a:pPr>
            <a:endParaRPr lang="en-US" sz="1500" dirty="0"/>
          </a:p>
          <a:p>
            <a:pPr marL="0" indent="0">
              <a:lnSpc>
                <a:spcPts val="2000"/>
              </a:lnSpc>
              <a:buNone/>
            </a:pPr>
            <a:r>
              <a:rPr lang="en-US" sz="1500" dirty="0">
                <a:solidFill>
                  <a:srgbClr val="22261F"/>
                </a:solidFill>
                <a:latin typeface="Calibri" pitchFamily="34" charset="0"/>
                <a:ea typeface="Calibri" pitchFamily="34" charset="-122"/>
                <a:cs typeface="Calibri" pitchFamily="34" charset="-120"/>
              </a:rPr>
              <a:t>Concluyeron: «Los genes son la causa del cáncer de mama en las familias».</a:t>
            </a:r>
            <a:endParaRPr lang="en-US" sz="1500" dirty="0"/>
          </a:p>
        </p:txBody>
      </p:sp>
      <p:sp>
        <p:nvSpPr>
          <p:cNvPr id="5" name="Text 3"/>
          <p:cNvSpPr txBox="1"/>
          <p:nvPr/>
        </p:nvSpPr>
        <p:spPr>
          <a:xfrm>
            <a:off x="6309360" y="1371600"/>
            <a:ext cx="5349240" cy="1234440"/>
          </a:xfrm>
          <a:prstGeom prst="rect">
            <a:avLst/>
          </a:prstGeom>
          <a:noFill/>
          <a:ln/>
        </p:spPr>
        <p:txBody>
          <a:bodyPr wrap="square" lIns="0" tIns="0" rIns="0" bIns="0" rtlCol="0" anchor="t"/>
          <a:lstStyle/>
          <a:p>
            <a:pPr marL="0" indent="0">
              <a:lnSpc>
                <a:spcPts val="2100"/>
              </a:lnSpc>
              <a:buNone/>
            </a:pPr>
            <a:r>
              <a:rPr lang="en-US" sz="1600" b="1" dirty="0">
                <a:solidFill>
                  <a:srgbClr val="22261F"/>
                </a:solidFill>
                <a:latin typeface="Calibri" pitchFamily="34" charset="0"/>
                <a:ea typeface="Calibri" pitchFamily="34" charset="-122"/>
                <a:cs typeface="Calibri" pitchFamily="34" charset="-120"/>
              </a:rPr>
              <a:t>¿Cuál es la principal limitación de esa conclusión?</a:t>
            </a:r>
            <a:endParaRPr lang="en-US" sz="1600" dirty="0"/>
          </a:p>
        </p:txBody>
      </p:sp>
      <p:sp>
        <p:nvSpPr>
          <p:cNvPr id="6" name="Shape 4"/>
          <p:cNvSpPr/>
          <p:nvPr/>
        </p:nvSpPr>
        <p:spPr>
          <a:xfrm>
            <a:off x="6309360" y="2377440"/>
            <a:ext cx="5349240" cy="822960"/>
          </a:xfrm>
          <a:prstGeom prst="roundRect">
            <a:avLst>
              <a:gd name="adj" fmla="val 6667"/>
            </a:avLst>
          </a:prstGeom>
          <a:solidFill>
            <a:srgbClr val="F7F5F0"/>
          </a:solidFill>
          <a:ln w="12700">
            <a:solidFill>
              <a:srgbClr val="DCE3EA"/>
            </a:solidFill>
            <a:prstDash val="solid"/>
          </a:ln>
        </p:spPr>
      </p:sp>
      <p:sp>
        <p:nvSpPr>
          <p:cNvPr id="7" name="Text 5"/>
          <p:cNvSpPr txBox="1"/>
          <p:nvPr/>
        </p:nvSpPr>
        <p:spPr>
          <a:xfrm>
            <a:off x="6492240" y="23774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A)  </a:t>
            </a:r>
            <a:r>
              <a:rPr lang="en-US" sz="1350" dirty="0">
                <a:solidFill>
                  <a:srgbClr val="22261F"/>
                </a:solidFill>
                <a:latin typeface="Calibri" pitchFamily="34" charset="0"/>
                <a:ea typeface="Calibri" pitchFamily="34" charset="-122"/>
                <a:cs typeface="Calibri" pitchFamily="34" charset="-120"/>
              </a:rPr>
              <a:t>La diferencia muestra una asociación con la historia familiar, pero el diseño no separa el efecto de los genes del de un ambiente compartido.</a:t>
            </a:r>
            <a:endParaRPr lang="en-US" sz="1350" dirty="0"/>
          </a:p>
        </p:txBody>
      </p:sp>
      <p:sp>
        <p:nvSpPr>
          <p:cNvPr id="8" name="Shape 6"/>
          <p:cNvSpPr/>
          <p:nvPr/>
        </p:nvSpPr>
        <p:spPr>
          <a:xfrm>
            <a:off x="6309360" y="3291840"/>
            <a:ext cx="5349240" cy="822960"/>
          </a:xfrm>
          <a:prstGeom prst="roundRect">
            <a:avLst>
              <a:gd name="adj" fmla="val 6667"/>
            </a:avLst>
          </a:prstGeom>
          <a:solidFill>
            <a:srgbClr val="F7F5F0"/>
          </a:solidFill>
          <a:ln w="12700">
            <a:solidFill>
              <a:srgbClr val="DCE3EA"/>
            </a:solidFill>
            <a:prstDash val="solid"/>
          </a:ln>
        </p:spPr>
      </p:sp>
      <p:sp>
        <p:nvSpPr>
          <p:cNvPr id="9" name="Text 7"/>
          <p:cNvSpPr txBox="1"/>
          <p:nvPr/>
        </p:nvSpPr>
        <p:spPr>
          <a:xfrm>
            <a:off x="6492240" y="32918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B)  </a:t>
            </a:r>
            <a:r>
              <a:rPr lang="en-US" sz="1350" dirty="0">
                <a:solidFill>
                  <a:srgbClr val="22261F"/>
                </a:solidFill>
                <a:latin typeface="Calibri" pitchFamily="34" charset="0"/>
                <a:ea typeface="Calibri" pitchFamily="34" charset="-122"/>
                <a:cs typeface="Calibri" pitchFamily="34" charset="-120"/>
              </a:rPr>
              <a:t>El estudio no incluyó un grupo de comparación.</a:t>
            </a:r>
            <a:endParaRPr lang="en-US" sz="1350" dirty="0"/>
          </a:p>
        </p:txBody>
      </p:sp>
      <p:sp>
        <p:nvSpPr>
          <p:cNvPr id="10" name="Shape 8"/>
          <p:cNvSpPr/>
          <p:nvPr/>
        </p:nvSpPr>
        <p:spPr>
          <a:xfrm>
            <a:off x="6309360" y="4206240"/>
            <a:ext cx="5349240" cy="822960"/>
          </a:xfrm>
          <a:prstGeom prst="roundRect">
            <a:avLst>
              <a:gd name="adj" fmla="val 6667"/>
            </a:avLst>
          </a:prstGeom>
          <a:solidFill>
            <a:srgbClr val="F7F5F0"/>
          </a:solidFill>
          <a:ln w="12700">
            <a:solidFill>
              <a:srgbClr val="DCE3EA"/>
            </a:solidFill>
            <a:prstDash val="solid"/>
          </a:ln>
        </p:spPr>
      </p:sp>
      <p:sp>
        <p:nvSpPr>
          <p:cNvPr id="11" name="Text 9"/>
          <p:cNvSpPr txBox="1"/>
          <p:nvPr/>
        </p:nvSpPr>
        <p:spPr>
          <a:xfrm>
            <a:off x="6492240" y="42062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C)  </a:t>
            </a:r>
            <a:r>
              <a:rPr lang="en-US" sz="1350" dirty="0">
                <a:solidFill>
                  <a:srgbClr val="22261F"/>
                </a:solidFill>
                <a:latin typeface="Calibri" pitchFamily="34" charset="0"/>
                <a:ea typeface="Calibri" pitchFamily="34" charset="-122"/>
                <a:cs typeface="Calibri" pitchFamily="34" charset="-120"/>
              </a:rPr>
              <a:t>Un seguimiento de 20 años es demasiado corto para estudiar cáncer.</a:t>
            </a:r>
            <a:endParaRPr lang="en-US" sz="1350" dirty="0"/>
          </a:p>
        </p:txBody>
      </p:sp>
      <p:sp>
        <p:nvSpPr>
          <p:cNvPr id="12" name="Shape 10"/>
          <p:cNvSpPr/>
          <p:nvPr/>
        </p:nvSpPr>
        <p:spPr>
          <a:xfrm>
            <a:off x="6309360" y="5120640"/>
            <a:ext cx="5349240" cy="822960"/>
          </a:xfrm>
          <a:prstGeom prst="roundRect">
            <a:avLst>
              <a:gd name="adj" fmla="val 6667"/>
            </a:avLst>
          </a:prstGeom>
          <a:solidFill>
            <a:srgbClr val="F7F5F0"/>
          </a:solidFill>
          <a:ln w="12700">
            <a:solidFill>
              <a:srgbClr val="DCE3EA"/>
            </a:solidFill>
            <a:prstDash val="solid"/>
          </a:ln>
        </p:spPr>
      </p:sp>
      <p:sp>
        <p:nvSpPr>
          <p:cNvPr id="13" name="Text 11"/>
          <p:cNvSpPr txBox="1"/>
          <p:nvPr/>
        </p:nvSpPr>
        <p:spPr>
          <a:xfrm>
            <a:off x="6492240" y="51206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D)  </a:t>
            </a:r>
            <a:r>
              <a:rPr lang="en-US" sz="1350" dirty="0">
                <a:solidFill>
                  <a:srgbClr val="22261F"/>
                </a:solidFill>
                <a:latin typeface="Calibri" pitchFamily="34" charset="0"/>
                <a:ea typeface="Calibri" pitchFamily="34" charset="-122"/>
                <a:cs typeface="Calibri" pitchFamily="34" charset="-120"/>
              </a:rPr>
              <a:t>Los grupos deberían haber tenido distinto número de mujeres.</a:t>
            </a:r>
            <a:endParaRPr lang="en-US" sz="1350" dirty="0"/>
          </a:p>
        </p:txBody>
      </p:sp>
      <p:sp>
        <p:nvSpPr>
          <p:cNvPr id="14" name="Shape 12"/>
          <p:cNvSpPr/>
          <p:nvPr/>
        </p:nvSpPr>
        <p:spPr>
          <a:xfrm>
            <a:off x="548640" y="777240"/>
            <a:ext cx="2377440" cy="310896"/>
          </a:xfrm>
          <a:prstGeom prst="roundRect">
            <a:avLst>
              <a:gd name="adj" fmla="val 50000"/>
            </a:avLst>
          </a:prstGeom>
          <a:solidFill>
            <a:srgbClr val="1F3A56"/>
          </a:solidFill>
          <a:ln/>
        </p:spPr>
      </p:sp>
      <p:sp>
        <p:nvSpPr>
          <p:cNvPr id="15" name="Text 13"/>
          <p:cNvSpPr txBox="1"/>
          <p:nvPr/>
        </p:nvSpPr>
        <p:spPr>
          <a:xfrm>
            <a:off x="548640" y="777240"/>
            <a:ext cx="237744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RESPONDE EN TU CUADERNO</a:t>
            </a:r>
            <a:endParaRPr lang="en-US" sz="1150" dirty="0"/>
          </a:p>
        </p:txBody>
      </p:sp>
      <p:sp>
        <p:nvSpPr>
          <p:cNvPr id="16" name="Text 14"/>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17" name="Text 15"/>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15 / 20</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B8763A"/>
                </a:solidFill>
                <a:latin typeface="Calibri" pitchFamily="34" charset="0"/>
                <a:ea typeface="Calibri" pitchFamily="34" charset="-122"/>
                <a:cs typeface="Calibri" pitchFamily="34" charset="-120"/>
              </a:rPr>
              <a:t>PRÁCTICA PAES · ÍTEM 4 · CONOCIMIENTO: REPARACIÓN DEL ADN Y CÁNCER</a:t>
            </a:r>
            <a:endParaRPr lang="en-US" sz="1400" dirty="0"/>
          </a:p>
        </p:txBody>
      </p:sp>
      <p:sp>
        <p:nvSpPr>
          <p:cNvPr id="3" name="Shape 1"/>
          <p:cNvSpPr/>
          <p:nvPr/>
        </p:nvSpPr>
        <p:spPr>
          <a:xfrm>
            <a:off x="548640" y="1417320"/>
            <a:ext cx="5394960" cy="1600200"/>
          </a:xfrm>
          <a:prstGeom prst="roundRect">
            <a:avLst>
              <a:gd name="adj" fmla="val 4571"/>
            </a:avLst>
          </a:prstGeom>
          <a:solidFill>
            <a:srgbClr val="F7F5F0"/>
          </a:solidFill>
          <a:ln w="12700">
            <a:solidFill>
              <a:srgbClr val="DCE3EA"/>
            </a:solidFill>
            <a:prstDash val="solid"/>
          </a:ln>
        </p:spPr>
      </p:sp>
      <p:sp>
        <p:nvSpPr>
          <p:cNvPr id="4" name="Text 2"/>
          <p:cNvSpPr txBox="1"/>
          <p:nvPr/>
        </p:nvSpPr>
        <p:spPr>
          <a:xfrm>
            <a:off x="822960" y="1600200"/>
            <a:ext cx="4846320" cy="1280160"/>
          </a:xfrm>
          <a:prstGeom prst="rect">
            <a:avLst/>
          </a:prstGeom>
          <a:noFill/>
          <a:ln/>
        </p:spPr>
        <p:txBody>
          <a:bodyPr wrap="square" lIns="0" tIns="0" rIns="0" bIns="0" rtlCol="0" anchor="t"/>
          <a:lstStyle/>
          <a:p>
            <a:pPr marL="0" indent="0">
              <a:lnSpc>
                <a:spcPts val="2000"/>
              </a:lnSpc>
              <a:buNone/>
            </a:pPr>
            <a:r>
              <a:rPr lang="en-US" sz="1500" dirty="0">
                <a:solidFill>
                  <a:srgbClr val="22261F"/>
                </a:solidFill>
                <a:latin typeface="Calibri" pitchFamily="34" charset="0"/>
                <a:ea typeface="Calibri" pitchFamily="34" charset="-122"/>
                <a:cs typeface="Calibri" pitchFamily="34" charset="-120"/>
              </a:rPr>
              <a:t>En una célula mamaria de una portadora de una variante patogénica de BRCA1 (una copia alterada), la copia normal sufre después una mutación que la inactiva.</a:t>
            </a:r>
            <a:endParaRPr lang="en-US" sz="1500" dirty="0"/>
          </a:p>
        </p:txBody>
      </p:sp>
      <p:sp>
        <p:nvSpPr>
          <p:cNvPr id="5" name="Shape 3"/>
          <p:cNvSpPr/>
          <p:nvPr/>
        </p:nvSpPr>
        <p:spPr>
          <a:xfrm>
            <a:off x="914400" y="3429000"/>
            <a:ext cx="411480" cy="868680"/>
          </a:xfrm>
          <a:prstGeom prst="roundRect">
            <a:avLst>
              <a:gd name="adj" fmla="val 44444"/>
            </a:avLst>
          </a:prstGeom>
          <a:solidFill>
            <a:srgbClr val="B0432B"/>
          </a:solidFill>
          <a:ln/>
        </p:spPr>
      </p:sp>
      <p:sp>
        <p:nvSpPr>
          <p:cNvPr id="6" name="Shape 4"/>
          <p:cNvSpPr/>
          <p:nvPr/>
        </p:nvSpPr>
        <p:spPr>
          <a:xfrm>
            <a:off x="1600200" y="3429000"/>
            <a:ext cx="411480" cy="868680"/>
          </a:xfrm>
          <a:prstGeom prst="roundRect">
            <a:avLst>
              <a:gd name="adj" fmla="val 44444"/>
            </a:avLst>
          </a:prstGeom>
          <a:solidFill>
            <a:srgbClr val="4E6B4E"/>
          </a:solidFill>
          <a:ln/>
        </p:spPr>
      </p:sp>
      <p:sp>
        <p:nvSpPr>
          <p:cNvPr id="7" name="Text 5"/>
          <p:cNvSpPr txBox="1"/>
          <p:nvPr/>
        </p:nvSpPr>
        <p:spPr>
          <a:xfrm>
            <a:off x="2468880" y="3611880"/>
            <a:ext cx="640080" cy="457200"/>
          </a:xfrm>
          <a:prstGeom prst="rect">
            <a:avLst/>
          </a:prstGeom>
          <a:noFill/>
          <a:ln/>
        </p:spPr>
        <p:txBody>
          <a:bodyPr wrap="square" lIns="0" tIns="0" rIns="0" bIns="0" rtlCol="0" anchor="ctr"/>
          <a:lstStyle/>
          <a:p>
            <a:pPr marL="0" indent="0" algn="ctr">
              <a:buNone/>
            </a:pPr>
            <a:r>
              <a:rPr lang="en-US" sz="2600" dirty="0">
                <a:solidFill>
                  <a:srgbClr val="5B6B7A"/>
                </a:solidFill>
                <a:latin typeface="Calibri" pitchFamily="34" charset="0"/>
                <a:ea typeface="Calibri" pitchFamily="34" charset="-122"/>
                <a:cs typeface="Calibri" pitchFamily="34" charset="-120"/>
              </a:rPr>
              <a:t>→</a:t>
            </a:r>
            <a:endParaRPr lang="en-US" sz="2600" dirty="0"/>
          </a:p>
        </p:txBody>
      </p:sp>
      <p:sp>
        <p:nvSpPr>
          <p:cNvPr id="8" name="Shape 6"/>
          <p:cNvSpPr/>
          <p:nvPr/>
        </p:nvSpPr>
        <p:spPr>
          <a:xfrm>
            <a:off x="3383280" y="3429000"/>
            <a:ext cx="411480" cy="868680"/>
          </a:xfrm>
          <a:prstGeom prst="roundRect">
            <a:avLst>
              <a:gd name="adj" fmla="val 44444"/>
            </a:avLst>
          </a:prstGeom>
          <a:solidFill>
            <a:srgbClr val="B0432B"/>
          </a:solidFill>
          <a:ln/>
        </p:spPr>
      </p:sp>
      <p:sp>
        <p:nvSpPr>
          <p:cNvPr id="9" name="Shape 7"/>
          <p:cNvSpPr/>
          <p:nvPr/>
        </p:nvSpPr>
        <p:spPr>
          <a:xfrm>
            <a:off x="4069080" y="3429000"/>
            <a:ext cx="411480" cy="868680"/>
          </a:xfrm>
          <a:prstGeom prst="roundRect">
            <a:avLst>
              <a:gd name="adj" fmla="val 44444"/>
            </a:avLst>
          </a:prstGeom>
          <a:solidFill>
            <a:srgbClr val="B0432B"/>
          </a:solidFill>
          <a:ln/>
        </p:spPr>
      </p:sp>
      <p:sp>
        <p:nvSpPr>
          <p:cNvPr id="10" name="Text 8"/>
          <p:cNvSpPr txBox="1"/>
          <p:nvPr/>
        </p:nvSpPr>
        <p:spPr>
          <a:xfrm>
            <a:off x="822960" y="4370832"/>
            <a:ext cx="1280160" cy="274320"/>
          </a:xfrm>
          <a:prstGeom prst="rect">
            <a:avLst/>
          </a:prstGeom>
          <a:noFill/>
          <a:ln/>
        </p:spPr>
        <p:txBody>
          <a:bodyPr wrap="square" lIns="0" tIns="0" rIns="0" bIns="0" rtlCol="0" anchor="ctr"/>
          <a:lstStyle/>
          <a:p>
            <a:pPr marL="0" indent="0" algn="ctr">
              <a:buNone/>
            </a:pPr>
            <a:r>
              <a:rPr lang="en-US" sz="1250" b="1" dirty="0">
                <a:solidFill>
                  <a:srgbClr val="22261F"/>
                </a:solidFill>
                <a:latin typeface="Calibri" pitchFamily="34" charset="0"/>
                <a:ea typeface="Calibri" pitchFamily="34" charset="-122"/>
                <a:cs typeface="Calibri" pitchFamily="34" charset="-120"/>
              </a:rPr>
              <a:t>Antes</a:t>
            </a:r>
            <a:endParaRPr lang="en-US" sz="1250" dirty="0"/>
          </a:p>
        </p:txBody>
      </p:sp>
      <p:sp>
        <p:nvSpPr>
          <p:cNvPr id="11" name="Text 9"/>
          <p:cNvSpPr txBox="1"/>
          <p:nvPr/>
        </p:nvSpPr>
        <p:spPr>
          <a:xfrm>
            <a:off x="3291840" y="4370832"/>
            <a:ext cx="1280160" cy="274320"/>
          </a:xfrm>
          <a:prstGeom prst="rect">
            <a:avLst/>
          </a:prstGeom>
          <a:noFill/>
          <a:ln/>
        </p:spPr>
        <p:txBody>
          <a:bodyPr wrap="square" lIns="0" tIns="0" rIns="0" bIns="0" rtlCol="0" anchor="ctr"/>
          <a:lstStyle/>
          <a:p>
            <a:pPr marL="0" indent="0" algn="ctr">
              <a:buNone/>
            </a:pPr>
            <a:r>
              <a:rPr lang="en-US" sz="1250" b="1" dirty="0">
                <a:solidFill>
                  <a:srgbClr val="22261F"/>
                </a:solidFill>
                <a:latin typeface="Calibri" pitchFamily="34" charset="0"/>
                <a:ea typeface="Calibri" pitchFamily="34" charset="-122"/>
                <a:cs typeface="Calibri" pitchFamily="34" charset="-120"/>
              </a:rPr>
              <a:t>Después</a:t>
            </a:r>
            <a:endParaRPr lang="en-US" sz="1250" dirty="0"/>
          </a:p>
        </p:txBody>
      </p:sp>
      <p:sp>
        <p:nvSpPr>
          <p:cNvPr id="12" name="Text 10"/>
          <p:cNvSpPr txBox="1"/>
          <p:nvPr/>
        </p:nvSpPr>
        <p:spPr>
          <a:xfrm>
            <a:off x="548640" y="4846320"/>
            <a:ext cx="5394960" cy="274320"/>
          </a:xfrm>
          <a:prstGeom prst="rect">
            <a:avLst/>
          </a:prstGeom>
          <a:noFill/>
          <a:ln/>
        </p:spPr>
        <p:txBody>
          <a:bodyPr wrap="square" lIns="0" tIns="0" rIns="0" bIns="0" rtlCol="0" anchor="ctr"/>
          <a:lstStyle/>
          <a:p>
            <a:pPr marL="0" indent="0">
              <a:buNone/>
            </a:pPr>
            <a:r>
              <a:rPr lang="en-US" sz="1250" b="1" dirty="0">
                <a:solidFill>
                  <a:srgbClr val="4E6B4E"/>
                </a:solidFill>
                <a:latin typeface="Calibri" pitchFamily="34" charset="0"/>
                <a:ea typeface="Calibri" pitchFamily="34" charset="-122"/>
                <a:cs typeface="Calibri" pitchFamily="34" charset="-120"/>
              </a:rPr>
              <a:t>Verde</a:t>
            </a:r>
            <a:r>
              <a:rPr lang="en-US" sz="1250" dirty="0">
                <a:solidFill>
                  <a:srgbClr val="5B6B7A"/>
                </a:solidFill>
                <a:latin typeface="Calibri" pitchFamily="34" charset="0"/>
                <a:ea typeface="Calibri" pitchFamily="34" charset="-122"/>
                <a:cs typeface="Calibri" pitchFamily="34" charset="-120"/>
              </a:rPr>
              <a:t> = copia normal     </a:t>
            </a:r>
            <a:r>
              <a:rPr lang="en-US" sz="1250" b="1" dirty="0">
                <a:solidFill>
                  <a:srgbClr val="B0432B"/>
                </a:solidFill>
                <a:latin typeface="Calibri" pitchFamily="34" charset="0"/>
                <a:ea typeface="Calibri" pitchFamily="34" charset="-122"/>
                <a:cs typeface="Calibri" pitchFamily="34" charset="-120"/>
              </a:rPr>
              <a:t>Rojo</a:t>
            </a:r>
            <a:r>
              <a:rPr lang="en-US" sz="1250" dirty="0">
                <a:solidFill>
                  <a:srgbClr val="5B6B7A"/>
                </a:solidFill>
                <a:latin typeface="Calibri" pitchFamily="34" charset="0"/>
                <a:ea typeface="Calibri" pitchFamily="34" charset="-122"/>
                <a:cs typeface="Calibri" pitchFamily="34" charset="-120"/>
              </a:rPr>
              <a:t> = copia alterada</a:t>
            </a:r>
            <a:endParaRPr lang="en-US" sz="1250" dirty="0"/>
          </a:p>
        </p:txBody>
      </p:sp>
      <p:sp>
        <p:nvSpPr>
          <p:cNvPr id="13" name="Text 11"/>
          <p:cNvSpPr txBox="1"/>
          <p:nvPr/>
        </p:nvSpPr>
        <p:spPr>
          <a:xfrm>
            <a:off x="6309360" y="1371600"/>
            <a:ext cx="5349240" cy="1234440"/>
          </a:xfrm>
          <a:prstGeom prst="rect">
            <a:avLst/>
          </a:prstGeom>
          <a:noFill/>
          <a:ln/>
        </p:spPr>
        <p:txBody>
          <a:bodyPr wrap="square" lIns="0" tIns="0" rIns="0" bIns="0" rtlCol="0" anchor="t"/>
          <a:lstStyle/>
          <a:p>
            <a:pPr marL="0" indent="0">
              <a:lnSpc>
                <a:spcPts val="2100"/>
              </a:lnSpc>
              <a:buNone/>
            </a:pPr>
            <a:r>
              <a:rPr lang="en-US" sz="1600" b="1" dirty="0">
                <a:solidFill>
                  <a:srgbClr val="22261F"/>
                </a:solidFill>
                <a:latin typeface="Calibri" pitchFamily="34" charset="0"/>
                <a:ea typeface="Calibri" pitchFamily="34" charset="-122"/>
                <a:cs typeface="Calibri" pitchFamily="34" charset="-120"/>
              </a:rPr>
              <a:t>¿Cuál es la consecuencia más probable en esa célula?</a:t>
            </a:r>
            <a:endParaRPr lang="en-US" sz="1600" dirty="0"/>
          </a:p>
        </p:txBody>
      </p:sp>
      <p:sp>
        <p:nvSpPr>
          <p:cNvPr id="14" name="Shape 12"/>
          <p:cNvSpPr/>
          <p:nvPr/>
        </p:nvSpPr>
        <p:spPr>
          <a:xfrm>
            <a:off x="6309360" y="2377440"/>
            <a:ext cx="5349240" cy="822960"/>
          </a:xfrm>
          <a:prstGeom prst="roundRect">
            <a:avLst>
              <a:gd name="adj" fmla="val 6667"/>
            </a:avLst>
          </a:prstGeom>
          <a:solidFill>
            <a:srgbClr val="F7F5F0"/>
          </a:solidFill>
          <a:ln w="12700">
            <a:solidFill>
              <a:srgbClr val="DCE3EA"/>
            </a:solidFill>
            <a:prstDash val="solid"/>
          </a:ln>
        </p:spPr>
      </p:sp>
      <p:sp>
        <p:nvSpPr>
          <p:cNvPr id="15" name="Text 13"/>
          <p:cNvSpPr txBox="1"/>
          <p:nvPr/>
        </p:nvSpPr>
        <p:spPr>
          <a:xfrm>
            <a:off x="6492240" y="23774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A)  </a:t>
            </a:r>
            <a:r>
              <a:rPr lang="en-US" sz="1350" dirty="0">
                <a:solidFill>
                  <a:srgbClr val="22261F"/>
                </a:solidFill>
                <a:latin typeface="Calibri" pitchFamily="34" charset="0"/>
                <a:ea typeface="Calibri" pitchFamily="34" charset="-122"/>
                <a:cs typeface="Calibri" pitchFamily="34" charset="-120"/>
              </a:rPr>
              <a:t>Se detiene definitivamente la replicación del ADN en todas las células del organismo.</a:t>
            </a:r>
            <a:endParaRPr lang="en-US" sz="1350" dirty="0"/>
          </a:p>
        </p:txBody>
      </p:sp>
      <p:sp>
        <p:nvSpPr>
          <p:cNvPr id="16" name="Shape 14"/>
          <p:cNvSpPr/>
          <p:nvPr/>
        </p:nvSpPr>
        <p:spPr>
          <a:xfrm>
            <a:off x="6309360" y="3291840"/>
            <a:ext cx="5349240" cy="822960"/>
          </a:xfrm>
          <a:prstGeom prst="roundRect">
            <a:avLst>
              <a:gd name="adj" fmla="val 6667"/>
            </a:avLst>
          </a:prstGeom>
          <a:solidFill>
            <a:srgbClr val="F7F5F0"/>
          </a:solidFill>
          <a:ln w="12700">
            <a:solidFill>
              <a:srgbClr val="DCE3EA"/>
            </a:solidFill>
            <a:prstDash val="solid"/>
          </a:ln>
        </p:spPr>
      </p:sp>
      <p:sp>
        <p:nvSpPr>
          <p:cNvPr id="17" name="Text 15"/>
          <p:cNvSpPr txBox="1"/>
          <p:nvPr/>
        </p:nvSpPr>
        <p:spPr>
          <a:xfrm>
            <a:off x="6492240" y="32918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B)  </a:t>
            </a:r>
            <a:r>
              <a:rPr lang="en-US" sz="1350" dirty="0">
                <a:solidFill>
                  <a:srgbClr val="22261F"/>
                </a:solidFill>
                <a:latin typeface="Calibri" pitchFamily="34" charset="0"/>
                <a:ea typeface="Calibri" pitchFamily="34" charset="-122"/>
                <a:cs typeface="Calibri" pitchFamily="34" charset="-120"/>
              </a:rPr>
              <a:t>Aumenta su capacidad de reparar roturas de doble hebra del ADN.</a:t>
            </a:r>
            <a:endParaRPr lang="en-US" sz="1350" dirty="0"/>
          </a:p>
        </p:txBody>
      </p:sp>
      <p:sp>
        <p:nvSpPr>
          <p:cNvPr id="18" name="Shape 16"/>
          <p:cNvSpPr/>
          <p:nvPr/>
        </p:nvSpPr>
        <p:spPr>
          <a:xfrm>
            <a:off x="6309360" y="4206240"/>
            <a:ext cx="5349240" cy="822960"/>
          </a:xfrm>
          <a:prstGeom prst="roundRect">
            <a:avLst>
              <a:gd name="adj" fmla="val 6667"/>
            </a:avLst>
          </a:prstGeom>
          <a:solidFill>
            <a:srgbClr val="F7F5F0"/>
          </a:solidFill>
          <a:ln w="12700">
            <a:solidFill>
              <a:srgbClr val="DCE3EA"/>
            </a:solidFill>
            <a:prstDash val="solid"/>
          </a:ln>
        </p:spPr>
      </p:sp>
      <p:sp>
        <p:nvSpPr>
          <p:cNvPr id="19" name="Text 17"/>
          <p:cNvSpPr txBox="1"/>
          <p:nvPr/>
        </p:nvSpPr>
        <p:spPr>
          <a:xfrm>
            <a:off x="6492240" y="42062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C)  </a:t>
            </a:r>
            <a:r>
              <a:rPr lang="en-US" sz="1350" dirty="0">
                <a:solidFill>
                  <a:srgbClr val="22261F"/>
                </a:solidFill>
                <a:latin typeface="Calibri" pitchFamily="34" charset="0"/>
                <a:ea typeface="Calibri" pitchFamily="34" charset="-122"/>
                <a:cs typeface="Calibri" pitchFamily="34" charset="-120"/>
              </a:rPr>
              <a:t>Se modifica la secuencia de ADN de las demás células sanas de la mama.</a:t>
            </a:r>
            <a:endParaRPr lang="en-US" sz="1350" dirty="0"/>
          </a:p>
        </p:txBody>
      </p:sp>
      <p:sp>
        <p:nvSpPr>
          <p:cNvPr id="20" name="Shape 18"/>
          <p:cNvSpPr/>
          <p:nvPr/>
        </p:nvSpPr>
        <p:spPr>
          <a:xfrm>
            <a:off x="6309360" y="5120640"/>
            <a:ext cx="5349240" cy="822960"/>
          </a:xfrm>
          <a:prstGeom prst="roundRect">
            <a:avLst>
              <a:gd name="adj" fmla="val 6667"/>
            </a:avLst>
          </a:prstGeom>
          <a:solidFill>
            <a:srgbClr val="F7F5F0"/>
          </a:solidFill>
          <a:ln w="12700">
            <a:solidFill>
              <a:srgbClr val="DCE3EA"/>
            </a:solidFill>
            <a:prstDash val="solid"/>
          </a:ln>
        </p:spPr>
      </p:sp>
      <p:sp>
        <p:nvSpPr>
          <p:cNvPr id="21" name="Text 19"/>
          <p:cNvSpPr txBox="1"/>
          <p:nvPr/>
        </p:nvSpPr>
        <p:spPr>
          <a:xfrm>
            <a:off x="6492240" y="5120640"/>
            <a:ext cx="5029200" cy="822960"/>
          </a:xfrm>
          <a:prstGeom prst="rect">
            <a:avLst/>
          </a:prstGeom>
          <a:noFill/>
          <a:ln/>
        </p:spPr>
        <p:txBody>
          <a:bodyPr wrap="square" lIns="0" tIns="0" rIns="0" bIns="0" rtlCol="0" anchor="ctr"/>
          <a:lstStyle/>
          <a:p>
            <a:pPr marL="0" indent="0">
              <a:lnSpc>
                <a:spcPts val="1650"/>
              </a:lnSpc>
              <a:buNone/>
            </a:pPr>
            <a:r>
              <a:rPr lang="en-US" sz="1350" b="1" dirty="0">
                <a:solidFill>
                  <a:srgbClr val="1F3A56"/>
                </a:solidFill>
                <a:latin typeface="Calibri" pitchFamily="34" charset="0"/>
                <a:ea typeface="Calibri" pitchFamily="34" charset="-122"/>
                <a:cs typeface="Calibri" pitchFamily="34" charset="-120"/>
              </a:rPr>
              <a:t>D)  </a:t>
            </a:r>
            <a:r>
              <a:rPr lang="en-US" sz="1350" dirty="0">
                <a:solidFill>
                  <a:srgbClr val="22261F"/>
                </a:solidFill>
                <a:latin typeface="Calibri" pitchFamily="34" charset="0"/>
                <a:ea typeface="Calibri" pitchFamily="34" charset="-122"/>
                <a:cs typeface="Calibri" pitchFamily="34" charset="-120"/>
              </a:rPr>
              <a:t>Se acumulan daños en el ADN sin reparar, lo que favorece nuevas mutaciones y la proliferación descontrolada.</a:t>
            </a:r>
            <a:endParaRPr lang="en-US" sz="1350" dirty="0"/>
          </a:p>
        </p:txBody>
      </p:sp>
      <p:sp>
        <p:nvSpPr>
          <p:cNvPr id="22" name="Shape 20"/>
          <p:cNvSpPr/>
          <p:nvPr/>
        </p:nvSpPr>
        <p:spPr>
          <a:xfrm>
            <a:off x="548640" y="777240"/>
            <a:ext cx="2377440" cy="310896"/>
          </a:xfrm>
          <a:prstGeom prst="roundRect">
            <a:avLst>
              <a:gd name="adj" fmla="val 50000"/>
            </a:avLst>
          </a:prstGeom>
          <a:solidFill>
            <a:srgbClr val="1F3A56"/>
          </a:solidFill>
          <a:ln/>
        </p:spPr>
      </p:sp>
      <p:sp>
        <p:nvSpPr>
          <p:cNvPr id="23" name="Text 21"/>
          <p:cNvSpPr txBox="1"/>
          <p:nvPr/>
        </p:nvSpPr>
        <p:spPr>
          <a:xfrm>
            <a:off x="548640" y="777240"/>
            <a:ext cx="2377440" cy="310896"/>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RESPONDE EN TU CUADERNO</a:t>
            </a:r>
            <a:endParaRPr lang="en-US" sz="1150" dirty="0"/>
          </a:p>
        </p:txBody>
      </p:sp>
      <p:sp>
        <p:nvSpPr>
          <p:cNvPr id="24" name="Text 22"/>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25" name="Text 23"/>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16 / 20</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1F3A56"/>
                </a:solidFill>
                <a:latin typeface="Calibri" pitchFamily="34" charset="0"/>
                <a:ea typeface="Calibri" pitchFamily="34" charset="-122"/>
                <a:cs typeface="Calibri" pitchFamily="34" charset="-120"/>
              </a:rPr>
              <a:t>PARA EL DOCENTE</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Clave y análisis de la práctica PAES</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914400"/>
        </p:xfrm>
        <a:graphic>
          <a:graphicData uri="http://schemas.openxmlformats.org/drawingml/2006/table">
            <a:tbl>
              <a:tblPr/>
              <a:tblGrid>
                <a:gridCol w="265176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420624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411480">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Ítem · Habilidad</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F3A5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Clave</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F3A5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Por qué</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F3A56"/>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Error frecuente</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F3A56"/>
                    </a:solidFill>
                  </a:tcPr>
                </a:tc>
                <a:extLst>
                  <a:ext uri="{0D108BD9-81ED-4DB2-BD59-A6C34878D82A}">
                    <a16:rowId xmlns:a16="http://schemas.microsoft.com/office/drawing/2014/main" val="10000"/>
                  </a:ext>
                </a:extLst>
              </a:tr>
              <a:tr h="868680">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1 · Procesar y analizar la evidencia</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lgn="ctr">
                        <a:buNone/>
                      </a:pPr>
                      <a:r>
                        <a:rPr lang="en-US" sz="1300" b="1" dirty="0">
                          <a:solidFill>
                            <a:srgbClr val="22261F"/>
                          </a:solidFill>
                          <a:latin typeface="Calibri" pitchFamily="34" charset="0"/>
                          <a:ea typeface="Calibri" pitchFamily="34" charset="-122"/>
                          <a:cs typeface="Calibri" pitchFamily="34" charset="-120"/>
                        </a:rPr>
                        <a:t>B</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La madre afectada (heterocigota) transmite la variante con probabilidad 1/2; estar sana hoy no descarta ser portadora.</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Aplicar lógica recesiva (1/4) o confundir portadora con afectada.</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1"/>
                  </a:ext>
                </a:extLst>
              </a:tr>
              <a:tr h="777240">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2 · Procesar y analizar la evidencia</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lgn="ctr">
                        <a:buNone/>
                      </a:pPr>
                      <a:r>
                        <a:rPr lang="en-US" sz="1300" b="1" dirty="0">
                          <a:solidFill>
                            <a:srgbClr val="22261F"/>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Razones respecto de la población: mama 72/13 ≈ 5,5×; ovario 44/1,1 ≈ 40×.</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Comparar valores absolutos (72 &gt; 44) en vez del aumento relativo.</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2"/>
                  </a:ext>
                </a:extLst>
              </a:tr>
              <a:tr h="777240">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3 · Evaluar</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lgn="ctr">
                        <a:buNone/>
                      </a:pPr>
                      <a:r>
                        <a:rPr lang="en-US" sz="1300" b="1" dirty="0">
                          <a:solidFill>
                            <a:srgbClr val="22261F"/>
                          </a:solidFill>
                          <a:latin typeface="Calibri" pitchFamily="34" charset="0"/>
                          <a:ea typeface="Calibri" pitchFamily="34" charset="-122"/>
                          <a:cs typeface="Calibri" pitchFamily="34" charset="-120"/>
                        </a:rPr>
                        <a:t>A</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34% vs 9% es asociación; el diseño no separa genes de ambiente compartido.</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Decir que falta grupo control (sí hay) o que 20 años es poco.</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3"/>
                  </a:ext>
                </a:extLst>
              </a:tr>
              <a:tr h="777240">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4 · Conocimiento: reparación y cáncer</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lgn="ctr">
                        <a:buNone/>
                      </a:pPr>
                      <a:r>
                        <a:rPr lang="en-US" sz="1300" b="1" dirty="0">
                          <a:solidFill>
                            <a:srgbClr val="22261F"/>
                          </a:solidFill>
                          <a:latin typeface="Calibri" pitchFamily="34" charset="0"/>
                          <a:ea typeface="Calibri" pitchFamily="34" charset="-122"/>
                          <a:cs typeface="Calibri" pitchFamily="34" charset="-120"/>
                        </a:rPr>
                        <a:t>D</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Sin BRCA1 funcional falla la reparación de roturas de doble hebra y se acumulan mutaciones.</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tc>
                  <a:txBody>
                    <a:bodyPr/>
                    <a:lstStyle/>
                    <a:p>
                      <a:pPr marL="0" indent="0">
                        <a:buNone/>
                      </a:pPr>
                      <a:r>
                        <a:rPr lang="en-US" sz="1300" dirty="0">
                          <a:solidFill>
                            <a:srgbClr val="22261F"/>
                          </a:solidFill>
                          <a:latin typeface="Calibri" pitchFamily="34" charset="0"/>
                          <a:ea typeface="Calibri" pitchFamily="34" charset="-122"/>
                          <a:cs typeface="Calibri" pitchFamily="34" charset="-120"/>
                        </a:rPr>
                        <a:t>Invertir la función del gen o atribuir el efecto a otras células.</a:t>
                      </a:r>
                      <a:endParaRPr lang="en-US" sz="1300" dirty="0">
                        <a:latin typeface="Calibri" charset="0"/>
                        <a:ea typeface="Calibri" charset="0"/>
                        <a:cs typeface="Calibri" charset="0"/>
                      </a:endParaRPr>
                    </a:p>
                  </a:txBody>
                  <a:tcPr marT="36576" marB="36576"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txBox="1"/>
          <p:nvPr/>
        </p:nvSpPr>
        <p:spPr>
          <a:xfrm>
            <a:off x="548640" y="5623560"/>
            <a:ext cx="11064240" cy="640080"/>
          </a:xfrm>
          <a:prstGeom prst="rect">
            <a:avLst/>
          </a:prstGeom>
          <a:noFill/>
          <a:ln/>
        </p:spPr>
        <p:txBody>
          <a:bodyPr wrap="square" lIns="0" tIns="0" rIns="0" bIns="0" rtlCol="0" anchor="ctr"/>
          <a:lstStyle/>
          <a:p>
            <a:pPr marL="0" indent="0">
              <a:buNone/>
            </a:pPr>
            <a:r>
              <a:rPr lang="en-US" sz="1350" i="1" dirty="0">
                <a:solidFill>
                  <a:srgbClr val="5B6B7A"/>
                </a:solidFill>
                <a:latin typeface="Calibri" pitchFamily="34" charset="0"/>
                <a:ea typeface="Calibri" pitchFamily="34" charset="-122"/>
                <a:cs typeface="Calibri" pitchFamily="34" charset="-120"/>
              </a:rPr>
              <a:t>Esta diapositiva es solo para ti: ocúltala al proyectar. Sugerencia de tiempo: ítems 1 y 2 en clase (8 min); ítems 3 y 4 de tarea o al inicio de la sesión 17.</a:t>
            </a:r>
            <a:endParaRPr lang="en-US" sz="1350" dirty="0"/>
          </a:p>
        </p:txBody>
      </p:sp>
      <p:sp>
        <p:nvSpPr>
          <p:cNvPr id="6" name="Text 3"/>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7" name="Text 4"/>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17 / 20</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5F4780"/>
                </a:solidFill>
                <a:latin typeface="Calibri" pitchFamily="34" charset="0"/>
                <a:ea typeface="Calibri" pitchFamily="34" charset="-122"/>
                <a:cs typeface="Calibri" pitchFamily="34" charset="-120"/>
              </a:rPr>
              <a:t>CIERRE · REFLEXIÓN FINAL</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Ticket de salida</a:t>
            </a:r>
            <a:endParaRPr lang="en-US" sz="3200" dirty="0"/>
          </a:p>
        </p:txBody>
      </p:sp>
      <p:sp>
        <p:nvSpPr>
          <p:cNvPr id="4" name="Text 2"/>
          <p:cNvSpPr txBox="1"/>
          <p:nvPr/>
        </p:nvSpPr>
        <p:spPr>
          <a:xfrm>
            <a:off x="548640" y="1417320"/>
            <a:ext cx="11064240" cy="411480"/>
          </a:xfrm>
          <a:prstGeom prst="rect">
            <a:avLst/>
          </a:prstGeom>
          <a:noFill/>
          <a:ln/>
        </p:spPr>
        <p:txBody>
          <a:bodyPr wrap="square" lIns="0" tIns="0" rIns="0" bIns="0" rtlCol="0" anchor="ctr"/>
          <a:lstStyle/>
          <a:p>
            <a:pPr marL="0" indent="0">
              <a:buNone/>
            </a:pPr>
            <a:r>
              <a:rPr lang="en-US" sz="1600" dirty="0">
                <a:solidFill>
                  <a:srgbClr val="5B6B7A"/>
                </a:solidFill>
                <a:latin typeface="Calibri" pitchFamily="34" charset="0"/>
                <a:ea typeface="Calibri" pitchFamily="34" charset="-122"/>
                <a:cs typeface="Calibri" pitchFamily="34" charset="-120"/>
              </a:rPr>
              <a:t>Responde en tu cuaderno (4 min). Es para ti: sirve para ver cómo cambió tu forma de pensar.</a:t>
            </a:r>
            <a:endParaRPr lang="en-US" sz="1600" dirty="0"/>
          </a:p>
        </p:txBody>
      </p:sp>
      <p:sp>
        <p:nvSpPr>
          <p:cNvPr id="5" name="Shape 3"/>
          <p:cNvSpPr/>
          <p:nvPr/>
        </p:nvSpPr>
        <p:spPr>
          <a:xfrm>
            <a:off x="548640" y="2103120"/>
            <a:ext cx="11064240" cy="1188720"/>
          </a:xfrm>
          <a:prstGeom prst="roundRect">
            <a:avLst>
              <a:gd name="adj" fmla="val 6923"/>
            </a:avLst>
          </a:prstGeom>
          <a:solidFill>
            <a:srgbClr val="E7EDE7"/>
          </a:solidFill>
          <a:ln/>
        </p:spPr>
      </p:sp>
      <p:sp>
        <p:nvSpPr>
          <p:cNvPr id="6" name="Text 4"/>
          <p:cNvSpPr txBox="1"/>
          <p:nvPr/>
        </p:nvSpPr>
        <p:spPr>
          <a:xfrm>
            <a:off x="822960" y="2103120"/>
            <a:ext cx="640080" cy="1188720"/>
          </a:xfrm>
          <a:prstGeom prst="rect">
            <a:avLst/>
          </a:prstGeom>
          <a:noFill/>
          <a:ln/>
        </p:spPr>
        <p:txBody>
          <a:bodyPr wrap="square" lIns="0" tIns="0" rIns="0" bIns="0" rtlCol="0" anchor="ctr"/>
          <a:lstStyle/>
          <a:p>
            <a:pPr marL="0" indent="0">
              <a:buNone/>
            </a:pPr>
            <a:r>
              <a:rPr lang="en-US" sz="3400" b="1" dirty="0">
                <a:solidFill>
                  <a:srgbClr val="4E6B4E"/>
                </a:solidFill>
                <a:latin typeface="Cambria" pitchFamily="34" charset="0"/>
                <a:ea typeface="Cambria" pitchFamily="34" charset="-122"/>
                <a:cs typeface="Cambria" pitchFamily="34" charset="-120"/>
              </a:rPr>
              <a:t>1</a:t>
            </a:r>
            <a:endParaRPr lang="en-US" sz="3400" dirty="0"/>
          </a:p>
        </p:txBody>
      </p:sp>
      <p:sp>
        <p:nvSpPr>
          <p:cNvPr id="7" name="Text 5"/>
          <p:cNvSpPr txBox="1"/>
          <p:nvPr/>
        </p:nvSpPr>
        <p:spPr>
          <a:xfrm>
            <a:off x="1645920" y="2103120"/>
            <a:ext cx="9692640" cy="1188720"/>
          </a:xfrm>
          <a:prstGeom prst="rect">
            <a:avLst/>
          </a:prstGeom>
          <a:noFill/>
          <a:ln/>
        </p:spPr>
        <p:txBody>
          <a:bodyPr wrap="square" lIns="0" tIns="0" rIns="0" bIns="0" rtlCol="0" anchor="ctr"/>
          <a:lstStyle/>
          <a:p>
            <a:pPr marL="0" indent="0">
              <a:lnSpc>
                <a:spcPts val="2300"/>
              </a:lnSpc>
              <a:buNone/>
            </a:pPr>
            <a:r>
              <a:rPr lang="en-US" sz="1800" dirty="0">
                <a:solidFill>
                  <a:srgbClr val="22261F"/>
                </a:solidFill>
                <a:latin typeface="Calibri" pitchFamily="34" charset="0"/>
                <a:ea typeface="Calibri" pitchFamily="34" charset="-122"/>
                <a:cs typeface="Calibri" pitchFamily="34" charset="-120"/>
              </a:rPr>
              <a:t>Antes de hoy, «hereditario» significaba para mí… Ahora significa…</a:t>
            </a:r>
            <a:endParaRPr lang="en-US" sz="1800" dirty="0"/>
          </a:p>
        </p:txBody>
      </p:sp>
      <p:sp>
        <p:nvSpPr>
          <p:cNvPr id="8" name="Shape 6"/>
          <p:cNvSpPr/>
          <p:nvPr/>
        </p:nvSpPr>
        <p:spPr>
          <a:xfrm>
            <a:off x="548640" y="3474720"/>
            <a:ext cx="11064240" cy="1188720"/>
          </a:xfrm>
          <a:prstGeom prst="roundRect">
            <a:avLst>
              <a:gd name="adj" fmla="val 6923"/>
            </a:avLst>
          </a:prstGeom>
          <a:solidFill>
            <a:srgbClr val="DFEEED"/>
          </a:solidFill>
          <a:ln/>
        </p:spPr>
      </p:sp>
      <p:sp>
        <p:nvSpPr>
          <p:cNvPr id="9" name="Text 7"/>
          <p:cNvSpPr txBox="1"/>
          <p:nvPr/>
        </p:nvSpPr>
        <p:spPr>
          <a:xfrm>
            <a:off x="822960" y="3474720"/>
            <a:ext cx="640080" cy="1188720"/>
          </a:xfrm>
          <a:prstGeom prst="rect">
            <a:avLst/>
          </a:prstGeom>
          <a:noFill/>
          <a:ln/>
        </p:spPr>
        <p:txBody>
          <a:bodyPr wrap="square" lIns="0" tIns="0" rIns="0" bIns="0" rtlCol="0" anchor="ctr"/>
          <a:lstStyle/>
          <a:p>
            <a:pPr marL="0" indent="0">
              <a:buNone/>
            </a:pPr>
            <a:r>
              <a:rPr lang="en-US" sz="3400" b="1" dirty="0">
                <a:solidFill>
                  <a:srgbClr val="2E6968"/>
                </a:solidFill>
                <a:latin typeface="Cambria" pitchFamily="34" charset="0"/>
                <a:ea typeface="Cambria" pitchFamily="34" charset="-122"/>
                <a:cs typeface="Cambria" pitchFamily="34" charset="-120"/>
              </a:rPr>
              <a:t>2</a:t>
            </a:r>
            <a:endParaRPr lang="en-US" sz="3400" dirty="0"/>
          </a:p>
        </p:txBody>
      </p:sp>
      <p:sp>
        <p:nvSpPr>
          <p:cNvPr id="10" name="Text 8"/>
          <p:cNvSpPr txBox="1"/>
          <p:nvPr/>
        </p:nvSpPr>
        <p:spPr>
          <a:xfrm>
            <a:off x="1645920" y="3474720"/>
            <a:ext cx="9692640" cy="1188720"/>
          </a:xfrm>
          <a:prstGeom prst="rect">
            <a:avLst/>
          </a:prstGeom>
          <a:noFill/>
          <a:ln/>
        </p:spPr>
        <p:txBody>
          <a:bodyPr wrap="square" lIns="0" tIns="0" rIns="0" bIns="0" rtlCol="0" anchor="ctr"/>
          <a:lstStyle/>
          <a:p>
            <a:pPr marL="0" indent="0">
              <a:lnSpc>
                <a:spcPts val="2300"/>
              </a:lnSpc>
              <a:buNone/>
            </a:pPr>
            <a:r>
              <a:rPr lang="en-US" sz="1800" dirty="0">
                <a:solidFill>
                  <a:srgbClr val="22261F"/>
                </a:solidFill>
                <a:latin typeface="Calibri" pitchFamily="34" charset="0"/>
                <a:ea typeface="Calibri" pitchFamily="34" charset="-122"/>
                <a:cs typeface="Calibri" pitchFamily="34" charset="-120"/>
              </a:rPr>
              <a:t>La evidencia más sólida que vimos hoy fue… y la más débil fue… porque…</a:t>
            </a:r>
            <a:endParaRPr lang="en-US" sz="1800" dirty="0"/>
          </a:p>
        </p:txBody>
      </p:sp>
      <p:sp>
        <p:nvSpPr>
          <p:cNvPr id="11" name="Shape 9"/>
          <p:cNvSpPr/>
          <p:nvPr/>
        </p:nvSpPr>
        <p:spPr>
          <a:xfrm>
            <a:off x="548640" y="4846320"/>
            <a:ext cx="11064240" cy="1188720"/>
          </a:xfrm>
          <a:prstGeom prst="roundRect">
            <a:avLst>
              <a:gd name="adj" fmla="val 6923"/>
            </a:avLst>
          </a:prstGeom>
          <a:solidFill>
            <a:srgbClr val="EAE3F0"/>
          </a:solidFill>
          <a:ln/>
        </p:spPr>
      </p:sp>
      <p:sp>
        <p:nvSpPr>
          <p:cNvPr id="12" name="Text 10"/>
          <p:cNvSpPr txBox="1"/>
          <p:nvPr/>
        </p:nvSpPr>
        <p:spPr>
          <a:xfrm>
            <a:off x="822960" y="4846320"/>
            <a:ext cx="640080" cy="1188720"/>
          </a:xfrm>
          <a:prstGeom prst="rect">
            <a:avLst/>
          </a:prstGeom>
          <a:noFill/>
          <a:ln/>
        </p:spPr>
        <p:txBody>
          <a:bodyPr wrap="square" lIns="0" tIns="0" rIns="0" bIns="0" rtlCol="0" anchor="ctr"/>
          <a:lstStyle/>
          <a:p>
            <a:pPr marL="0" indent="0">
              <a:buNone/>
            </a:pPr>
            <a:r>
              <a:rPr lang="en-US" sz="3400" b="1" dirty="0">
                <a:solidFill>
                  <a:srgbClr val="5F4780"/>
                </a:solidFill>
                <a:latin typeface="Cambria" pitchFamily="34" charset="0"/>
                <a:ea typeface="Cambria" pitchFamily="34" charset="-122"/>
                <a:cs typeface="Cambria" pitchFamily="34" charset="-120"/>
              </a:rPr>
              <a:t>3</a:t>
            </a:r>
            <a:endParaRPr lang="en-US" sz="3400" dirty="0"/>
          </a:p>
        </p:txBody>
      </p:sp>
      <p:sp>
        <p:nvSpPr>
          <p:cNvPr id="13" name="Text 11"/>
          <p:cNvSpPr txBox="1"/>
          <p:nvPr/>
        </p:nvSpPr>
        <p:spPr>
          <a:xfrm>
            <a:off x="1645920" y="4846320"/>
            <a:ext cx="9692640" cy="1188720"/>
          </a:xfrm>
          <a:prstGeom prst="rect">
            <a:avLst/>
          </a:prstGeom>
          <a:noFill/>
          <a:ln/>
        </p:spPr>
        <p:txBody>
          <a:bodyPr wrap="square" lIns="0" tIns="0" rIns="0" bIns="0" rtlCol="0" anchor="ctr"/>
          <a:lstStyle/>
          <a:p>
            <a:pPr marL="0" indent="0">
              <a:lnSpc>
                <a:spcPts val="2300"/>
              </a:lnSpc>
              <a:buNone/>
            </a:pPr>
            <a:r>
              <a:rPr lang="en-US" sz="1800" dirty="0">
                <a:solidFill>
                  <a:srgbClr val="22261F"/>
                </a:solidFill>
                <a:latin typeface="Calibri" pitchFamily="34" charset="0"/>
                <a:ea typeface="Calibri" pitchFamily="34" charset="-122"/>
                <a:cs typeface="Calibri" pitchFamily="34" charset="-120"/>
              </a:rPr>
              <a:t>Una pregunta que me quedó y que la ciencia (o la sociedad) todavía no puede responder:</a:t>
            </a:r>
            <a:endParaRPr lang="en-US" sz="1800" dirty="0"/>
          </a:p>
        </p:txBody>
      </p:sp>
      <p:sp>
        <p:nvSpPr>
          <p:cNvPr id="14" name="Text 12"/>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15" name="Text 13"/>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18 / 20</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F3A56"/>
        </a:solidFill>
        <a:effectLst/>
      </p:bgPr>
    </p:bg>
    <p:spTree>
      <p:nvGrpSpPr>
        <p:cNvPr id="1" name=""/>
        <p:cNvGrpSpPr/>
        <p:nvPr/>
      </p:nvGrpSpPr>
      <p:grpSpPr>
        <a:xfrm>
          <a:off x="0" y="0"/>
          <a:ext cx="0" cy="0"/>
          <a:chOff x="0" y="0"/>
          <a:chExt cx="0" cy="0"/>
        </a:xfrm>
      </p:grpSpPr>
      <p:sp>
        <p:nvSpPr>
          <p:cNvPr id="2" name="Shape 0"/>
          <p:cNvSpPr/>
          <p:nvPr/>
        </p:nvSpPr>
        <p:spPr>
          <a:xfrm>
            <a:off x="8961120" y="3200400"/>
            <a:ext cx="5486400" cy="5486400"/>
          </a:xfrm>
          <a:prstGeom prst="ellipse">
            <a:avLst/>
          </a:prstGeom>
          <a:solidFill>
            <a:srgbClr val="2C4C6B"/>
          </a:solidFill>
          <a:ln/>
        </p:spPr>
      </p:sp>
      <p:sp>
        <p:nvSpPr>
          <p:cNvPr id="3" name="Text 1"/>
          <p:cNvSpPr txBox="1"/>
          <p:nvPr/>
        </p:nvSpPr>
        <p:spPr>
          <a:xfrm>
            <a:off x="640080" y="1371600"/>
            <a:ext cx="8229600" cy="365760"/>
          </a:xfrm>
          <a:prstGeom prst="rect">
            <a:avLst/>
          </a:prstGeom>
          <a:noFill/>
          <a:ln/>
        </p:spPr>
        <p:txBody>
          <a:bodyPr wrap="square" lIns="0" tIns="0" rIns="0" bIns="0" rtlCol="0" anchor="ctr"/>
          <a:lstStyle/>
          <a:p>
            <a:pPr marL="0" indent="0">
              <a:buNone/>
            </a:pPr>
            <a:r>
              <a:rPr lang="en-US" sz="1500" b="1" kern="0" spc="200" dirty="0">
                <a:solidFill>
                  <a:srgbClr val="9FB6CC"/>
                </a:solidFill>
                <a:latin typeface="Calibri" pitchFamily="34" charset="0"/>
                <a:ea typeface="Calibri" pitchFamily="34" charset="-122"/>
                <a:cs typeface="Calibri" pitchFamily="34" charset="-120"/>
              </a:rPr>
              <a:t>PRÓXIMA SESIÓN · SESIÓN 17</a:t>
            </a:r>
            <a:endParaRPr lang="en-US" sz="1500" dirty="0"/>
          </a:p>
        </p:txBody>
      </p:sp>
      <p:sp>
        <p:nvSpPr>
          <p:cNvPr id="4" name="Text 2"/>
          <p:cNvSpPr txBox="1"/>
          <p:nvPr/>
        </p:nvSpPr>
        <p:spPr>
          <a:xfrm>
            <a:off x="594360" y="1783080"/>
            <a:ext cx="10058400" cy="1280160"/>
          </a:xfrm>
          <a:prstGeom prst="rect">
            <a:avLst/>
          </a:prstGeom>
          <a:noFill/>
          <a:ln/>
        </p:spPr>
        <p:txBody>
          <a:bodyPr wrap="square" lIns="0" tIns="0" rIns="0" bIns="0" rtlCol="0" anchor="ctr"/>
          <a:lstStyle/>
          <a:p>
            <a:pPr marL="0" indent="0">
              <a:buNone/>
            </a:pPr>
            <a:r>
              <a:rPr lang="en-US" sz="3600" b="1" dirty="0">
                <a:solidFill>
                  <a:srgbClr val="FFFFFF"/>
                </a:solidFill>
                <a:latin typeface="Cambria" pitchFamily="34" charset="0"/>
                <a:ea typeface="Cambria" pitchFamily="34" charset="-122"/>
                <a:cs typeface="Cambria" pitchFamily="34" charset="-120"/>
              </a:rPr>
              <a:t>¿Cuánto pesa lo genético y cuánto lo ambiental?</a:t>
            </a:r>
            <a:endParaRPr lang="en-US" sz="3600" dirty="0"/>
          </a:p>
        </p:txBody>
      </p:sp>
      <p:sp>
        <p:nvSpPr>
          <p:cNvPr id="5" name="Text 3"/>
          <p:cNvSpPr txBox="1"/>
          <p:nvPr/>
        </p:nvSpPr>
        <p:spPr>
          <a:xfrm>
            <a:off x="640080" y="3154680"/>
            <a:ext cx="8412480" cy="777240"/>
          </a:xfrm>
          <a:prstGeom prst="rect">
            <a:avLst/>
          </a:prstGeom>
          <a:noFill/>
          <a:ln/>
        </p:spPr>
        <p:txBody>
          <a:bodyPr wrap="square" lIns="0" tIns="0" rIns="0" bIns="0" rtlCol="0" anchor="ctr"/>
          <a:lstStyle/>
          <a:p>
            <a:pPr marL="0" indent="0">
              <a:lnSpc>
                <a:spcPts val="2300"/>
              </a:lnSpc>
              <a:buNone/>
            </a:pPr>
            <a:r>
              <a:rPr lang="en-US" sz="1700" dirty="0">
                <a:solidFill>
                  <a:srgbClr val="C7D3DE"/>
                </a:solidFill>
                <a:latin typeface="Calibri" pitchFamily="34" charset="0"/>
                <a:ea typeface="Calibri" pitchFamily="34" charset="-122"/>
                <a:cs typeface="Calibri" pitchFamily="34" charset="-120"/>
              </a:rPr>
              <a:t>Investigación guiada sobre factores de riesgo genéticos y ambientales del cáncer. Se evalúa la guía de análisis.</a:t>
            </a:r>
            <a:endParaRPr lang="en-US" sz="1700" dirty="0"/>
          </a:p>
        </p:txBody>
      </p:sp>
      <p:sp>
        <p:nvSpPr>
          <p:cNvPr id="6" name="Text 4"/>
          <p:cNvSpPr txBox="1"/>
          <p:nvPr/>
        </p:nvSpPr>
        <p:spPr>
          <a:xfrm>
            <a:off x="640080" y="4114800"/>
            <a:ext cx="8595360" cy="2011680"/>
          </a:xfrm>
          <a:prstGeom prst="rect">
            <a:avLst/>
          </a:prstGeom>
          <a:noFill/>
          <a:ln/>
        </p:spPr>
        <p:txBody>
          <a:bodyPr wrap="square" lIns="0" tIns="0" rIns="0" bIns="0" rtlCol="0" anchor="ctr"/>
          <a:lstStyle/>
          <a:p>
            <a:pPr marL="0" indent="0">
              <a:spcAft>
                <a:spcPts val="600"/>
              </a:spcAft>
              <a:buNone/>
            </a:pPr>
            <a:r>
              <a:rPr lang="en-US" sz="1550" b="1" dirty="0">
                <a:solidFill>
                  <a:srgbClr val="B8763A"/>
                </a:solidFill>
                <a:latin typeface="Calibri" pitchFamily="34" charset="0"/>
                <a:ea typeface="Calibri" pitchFamily="34" charset="-122"/>
                <a:cs typeface="Calibri" pitchFamily="34" charset="-120"/>
              </a:rPr>
              <a:t>Trae:</a:t>
            </a:r>
            <a:endParaRPr lang="en-US" sz="1550" dirty="0"/>
          </a:p>
          <a:p>
            <a:pPr marL="342900" indent="-342900">
              <a:spcAft>
                <a:spcPts val="600"/>
              </a:spcAft>
              <a:buSzPct val="100000"/>
              <a:buChar char="•"/>
            </a:pPr>
            <a:r>
              <a:rPr lang="en-US" sz="1550" dirty="0">
                <a:solidFill>
                  <a:srgbClr val="DCE7F0"/>
                </a:solidFill>
                <a:latin typeface="Calibri" pitchFamily="34" charset="0"/>
                <a:ea typeface="Calibri" pitchFamily="34" charset="-122"/>
                <a:cs typeface="Calibri" pitchFamily="34" charset="-120"/>
              </a:rPr>
              <a:t>Tu pregunta del ticket de salida.</a:t>
            </a:r>
            <a:endParaRPr lang="en-US" sz="1550" dirty="0"/>
          </a:p>
          <a:p>
            <a:pPr marL="342900" indent="-342900">
              <a:spcAft>
                <a:spcPts val="600"/>
              </a:spcAft>
              <a:buSzPct val="100000"/>
              <a:buChar char="•"/>
            </a:pPr>
            <a:r>
              <a:rPr lang="en-US" sz="1550" dirty="0">
                <a:solidFill>
                  <a:srgbClr val="DCE7F0"/>
                </a:solidFill>
                <a:latin typeface="Calibri" pitchFamily="34" charset="0"/>
                <a:ea typeface="Calibri" pitchFamily="34" charset="-122"/>
                <a:cs typeface="Calibri" pitchFamily="34" charset="-120"/>
              </a:rPr>
              <a:t>Los ítems PAES 3 y 4 resueltos, si no alcanzaron.</a:t>
            </a:r>
            <a:endParaRPr lang="en-US" sz="1550" dirty="0"/>
          </a:p>
          <a:p>
            <a:pPr marL="342900" indent="-342900">
              <a:spcAft>
                <a:spcPts val="600"/>
              </a:spcAft>
              <a:buSzPct val="100000"/>
              <a:buChar char="•"/>
            </a:pPr>
            <a:r>
              <a:rPr lang="en-US" sz="1550" dirty="0">
                <a:solidFill>
                  <a:srgbClr val="DCE7F0"/>
                </a:solidFill>
                <a:latin typeface="Calibri" pitchFamily="34" charset="0"/>
                <a:ea typeface="Calibri" pitchFamily="34" charset="-122"/>
                <a:cs typeface="Calibri" pitchFamily="34" charset="-120"/>
              </a:rPr>
              <a:t>Una respuesta con fuente confiable: ¿qué cubre el sistema de salud chileno en test genéticos y prevención del cáncer de mama?</a:t>
            </a:r>
            <a:endParaRPr lang="en-US" sz="1550" dirty="0"/>
          </a:p>
        </p:txBody>
      </p:sp>
      <p:sp>
        <p:nvSpPr>
          <p:cNvPr id="7" name="Text 5"/>
          <p:cNvSpPr txBox="1"/>
          <p:nvPr/>
        </p:nvSpPr>
        <p:spPr>
          <a:xfrm>
            <a:off x="640080" y="6473952"/>
            <a:ext cx="7315200" cy="292608"/>
          </a:xfrm>
          <a:prstGeom prst="rect">
            <a:avLst/>
          </a:prstGeom>
          <a:noFill/>
          <a:ln/>
        </p:spPr>
        <p:txBody>
          <a:bodyPr wrap="square" lIns="0" tIns="0" rIns="0" bIns="0" rtlCol="0" anchor="ctr"/>
          <a:lstStyle/>
          <a:p>
            <a:pPr marL="0" indent="0">
              <a:buNone/>
            </a:pPr>
            <a:r>
              <a:rPr lang="en-US" sz="1050" dirty="0">
                <a:solidFill>
                  <a:srgbClr val="7891A8"/>
                </a:solidFill>
                <a:latin typeface="Calibri" pitchFamily="34" charset="0"/>
                <a:ea typeface="Calibri" pitchFamily="34" charset="-122"/>
                <a:cs typeface="Calibri" pitchFamily="34" charset="-120"/>
              </a:rPr>
              <a:t>Ciencias de la Salud   ·   Prof. Felipe Jiménez   ·   19 / 20</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10515600" cy="329184"/>
          </a:xfrm>
          <a:prstGeom prst="rect">
            <a:avLst/>
          </a:prstGeom>
          <a:noFill/>
          <a:ln/>
        </p:spPr>
        <p:txBody>
          <a:bodyPr wrap="square" lIns="0" tIns="0" rIns="0" bIns="0" rtlCol="0" anchor="ctr"/>
          <a:lstStyle/>
          <a:p>
            <a:pPr marL="0" indent="0">
              <a:buNone/>
            </a:pPr>
            <a:r>
              <a:rPr lang="en-US" sz="1400" b="1" kern="0" spc="150" dirty="0">
                <a:solidFill>
                  <a:srgbClr val="1F3A56"/>
                </a:solidFill>
                <a:latin typeface="Calibri" pitchFamily="34" charset="0"/>
                <a:ea typeface="Calibri" pitchFamily="34" charset="-122"/>
                <a:cs typeface="Calibri" pitchFamily="34" charset="-120"/>
              </a:rPr>
              <a:t>FUENTES DE ESTA SESIÓN</a:t>
            </a:r>
            <a:endParaRPr lang="en-US" sz="1400" dirty="0"/>
          </a:p>
        </p:txBody>
      </p:sp>
      <p:sp>
        <p:nvSpPr>
          <p:cNvPr id="3" name="Text 1"/>
          <p:cNvSpPr txBox="1"/>
          <p:nvPr/>
        </p:nvSpPr>
        <p:spPr>
          <a:xfrm>
            <a:off x="548640" y="694944"/>
            <a:ext cx="11064240" cy="731520"/>
          </a:xfrm>
          <a:prstGeom prst="rect">
            <a:avLst/>
          </a:prstGeom>
          <a:noFill/>
          <a:ln/>
        </p:spPr>
        <p:txBody>
          <a:bodyPr wrap="square" lIns="0" tIns="0" rIns="0" bIns="0" rtlCol="0" anchor="ctr"/>
          <a:lstStyle/>
          <a:p>
            <a:pPr marL="0" indent="0">
              <a:buNone/>
            </a:pPr>
            <a:r>
              <a:rPr lang="en-US" sz="3200" b="1" dirty="0">
                <a:solidFill>
                  <a:srgbClr val="22261F"/>
                </a:solidFill>
                <a:latin typeface="Cambria" pitchFamily="34" charset="0"/>
                <a:ea typeface="Cambria" pitchFamily="34" charset="-122"/>
                <a:cs typeface="Cambria" pitchFamily="34" charset="-120"/>
              </a:rPr>
              <a:t>Referencias</a:t>
            </a:r>
            <a:endParaRPr lang="en-US" sz="3200" dirty="0"/>
          </a:p>
        </p:txBody>
      </p:sp>
      <p:sp>
        <p:nvSpPr>
          <p:cNvPr id="4" name="Text 2"/>
          <p:cNvSpPr txBox="1"/>
          <p:nvPr/>
        </p:nvSpPr>
        <p:spPr>
          <a:xfrm>
            <a:off x="548640" y="1463040"/>
            <a:ext cx="11064240" cy="4846320"/>
          </a:xfrm>
          <a:prstGeom prst="rect">
            <a:avLst/>
          </a:prstGeom>
          <a:noFill/>
          <a:ln/>
        </p:spPr>
        <p:txBody>
          <a:bodyPr wrap="square" lIns="0" tIns="0" rIns="0" bIns="0" rtlCol="0" anchor="t"/>
          <a:lstStyle/>
          <a:p>
            <a:pPr marL="342900" indent="-342900">
              <a:lnSpc>
                <a:spcPts val="1900"/>
              </a:lnSpc>
              <a:spcAft>
                <a:spcPts val="1000"/>
              </a:spcAft>
              <a:buSzPct val="100000"/>
              <a:buChar char="•"/>
            </a:pPr>
            <a:r>
              <a:rPr lang="en-US" sz="1500" dirty="0">
                <a:solidFill>
                  <a:srgbClr val="22261F"/>
                </a:solidFill>
                <a:latin typeface="Calibri" pitchFamily="34" charset="0"/>
                <a:ea typeface="Calibri" pitchFamily="34" charset="-122"/>
                <a:cs typeface="Calibri" pitchFamily="34" charset="-120"/>
              </a:rPr>
              <a:t>DEMRE (2026). Temario Prueba Electiva de Ciencias, Admisión 2027 (habilidades científicas y áreas temáticas). demre.cl</a:t>
            </a:r>
            <a:endParaRPr lang="en-US" sz="1500" dirty="0"/>
          </a:p>
          <a:p>
            <a:pPr marL="342900" indent="-342900">
              <a:lnSpc>
                <a:spcPts val="1900"/>
              </a:lnSpc>
              <a:spcAft>
                <a:spcPts val="1000"/>
              </a:spcAft>
              <a:buSzPct val="100000"/>
              <a:buChar char="•"/>
            </a:pPr>
            <a:r>
              <a:rPr lang="en-US" sz="1500" dirty="0">
                <a:solidFill>
                  <a:srgbClr val="22261F"/>
                </a:solidFill>
                <a:latin typeface="Calibri" pitchFamily="34" charset="0"/>
                <a:ea typeface="Calibri" pitchFamily="34" charset="-122"/>
                <a:cs typeface="Calibri" pitchFamily="34" charset="-120"/>
              </a:rPr>
              <a:t>Kuchenbaecker KB et al. (2017). Risks of breast, ovarian, and contralateral breast cancer for BRCA1 and BRCA2 mutation carriers. JAMA 317(23):2402–2416.</a:t>
            </a:r>
            <a:endParaRPr lang="en-US" sz="1500" dirty="0"/>
          </a:p>
          <a:p>
            <a:pPr marL="342900" indent="-342900">
              <a:lnSpc>
                <a:spcPts val="1900"/>
              </a:lnSpc>
              <a:spcAft>
                <a:spcPts val="1000"/>
              </a:spcAft>
              <a:buSzPct val="100000"/>
              <a:buChar char="•"/>
            </a:pPr>
            <a:r>
              <a:rPr lang="en-US" sz="1500" dirty="0">
                <a:solidFill>
                  <a:srgbClr val="22261F"/>
                </a:solidFill>
                <a:latin typeface="Calibri" pitchFamily="34" charset="0"/>
                <a:ea typeface="Calibri" pitchFamily="34" charset="-122"/>
                <a:cs typeface="Calibri" pitchFamily="34" charset="-120"/>
              </a:rPr>
              <a:t>National Cancer Institute. BRCA gene changes: cancer risk and genetic testing (hoja informativa). cancer.gov</a:t>
            </a:r>
            <a:endParaRPr lang="en-US" sz="1500" dirty="0"/>
          </a:p>
          <a:p>
            <a:pPr marL="342900" indent="-342900">
              <a:lnSpc>
                <a:spcPts val="1900"/>
              </a:lnSpc>
              <a:spcAft>
                <a:spcPts val="1000"/>
              </a:spcAft>
              <a:buSzPct val="100000"/>
              <a:buChar char="•"/>
            </a:pPr>
            <a:r>
              <a:rPr lang="en-US" sz="1500" dirty="0">
                <a:solidFill>
                  <a:srgbClr val="22261F"/>
                </a:solidFill>
                <a:latin typeface="Calibri" pitchFamily="34" charset="0"/>
                <a:ea typeface="Calibri" pitchFamily="34" charset="-122"/>
                <a:cs typeface="Calibri" pitchFamily="34" charset="-120"/>
              </a:rPr>
              <a:t>Hall JM et al. (1990). Linkage of early-onset familial breast cancer to chromosome 17q21. Science 250:1684–1689.</a:t>
            </a:r>
            <a:endParaRPr lang="en-US" sz="1500" dirty="0"/>
          </a:p>
          <a:p>
            <a:pPr marL="342900" indent="-342900">
              <a:lnSpc>
                <a:spcPts val="1900"/>
              </a:lnSpc>
              <a:spcAft>
                <a:spcPts val="1000"/>
              </a:spcAft>
              <a:buSzPct val="100000"/>
              <a:buChar char="•"/>
            </a:pPr>
            <a:r>
              <a:rPr lang="en-US" sz="1500" dirty="0">
                <a:solidFill>
                  <a:srgbClr val="22261F"/>
                </a:solidFill>
                <a:latin typeface="Calibri" pitchFamily="34" charset="0"/>
                <a:ea typeface="Calibri" pitchFamily="34" charset="-122"/>
                <a:cs typeface="Calibri" pitchFamily="34" charset="-120"/>
              </a:rPr>
              <a:t>Miki Y et al. (1994). A strong candidate for the breast and ovarian cancer susceptibility gene BRCA1. Science 266:66–71.</a:t>
            </a:r>
            <a:endParaRPr lang="en-US" sz="1500" dirty="0"/>
          </a:p>
          <a:p>
            <a:pPr marL="342900" indent="-342900">
              <a:lnSpc>
                <a:spcPts val="1900"/>
              </a:lnSpc>
              <a:spcAft>
                <a:spcPts val="1000"/>
              </a:spcAft>
              <a:buSzPct val="100000"/>
              <a:buChar char="•"/>
            </a:pPr>
            <a:r>
              <a:rPr lang="en-US" sz="1500" dirty="0">
                <a:solidFill>
                  <a:srgbClr val="22261F"/>
                </a:solidFill>
                <a:latin typeface="Calibri" pitchFamily="34" charset="0"/>
                <a:ea typeface="Calibri" pitchFamily="34" charset="-122"/>
                <a:cs typeface="Calibri" pitchFamily="34" charset="-120"/>
              </a:rPr>
              <a:t>Esteller M et al. (2000). Promoter hypermethylation and BRCA1 inactivation in sporadic breast and ovarian tumors. J Natl Cancer Inst 92:564–569.</a:t>
            </a:r>
            <a:endParaRPr lang="en-US" sz="1500" dirty="0"/>
          </a:p>
          <a:p>
            <a:pPr marL="342900" indent="-342900">
              <a:lnSpc>
                <a:spcPts val="1900"/>
              </a:lnSpc>
              <a:spcAft>
                <a:spcPts val="1000"/>
              </a:spcAft>
              <a:buSzPct val="100000"/>
              <a:buChar char="•"/>
            </a:pPr>
            <a:r>
              <a:rPr lang="en-US" sz="1500" dirty="0">
                <a:solidFill>
                  <a:srgbClr val="22261F"/>
                </a:solidFill>
                <a:latin typeface="Calibri" pitchFamily="34" charset="0"/>
                <a:ea typeface="Calibri" pitchFamily="34" charset="-122"/>
                <a:cs typeface="Calibri" pitchFamily="34" charset="-120"/>
              </a:rPr>
              <a:t>Jolie A. (2013). My medical choice. The New York Times, 14 de mayo. (2015). Diary of a surgery.</a:t>
            </a:r>
            <a:endParaRPr lang="en-US" sz="1500" dirty="0"/>
          </a:p>
          <a:p>
            <a:pPr marL="342900" indent="-342900">
              <a:lnSpc>
                <a:spcPts val="1900"/>
              </a:lnSpc>
              <a:spcAft>
                <a:spcPts val="1000"/>
              </a:spcAft>
              <a:buSzPct val="100000"/>
              <a:buChar char="•"/>
            </a:pPr>
            <a:r>
              <a:rPr lang="en-US" sz="1500" dirty="0">
                <a:solidFill>
                  <a:srgbClr val="22261F"/>
                </a:solidFill>
                <a:latin typeface="Calibri" pitchFamily="34" charset="0"/>
                <a:ea typeface="Calibri" pitchFamily="34" charset="-122"/>
                <a:cs typeface="Calibri" pitchFamily="34" charset="-120"/>
              </a:rPr>
              <a:t>Arthur R et al. (2018). The combined association of modifiable risk factors with breast cancer risk in the Women's Health Initiative. Cancer Prev Res.</a:t>
            </a:r>
            <a:endParaRPr lang="en-US" sz="1500" dirty="0"/>
          </a:p>
          <a:p>
            <a:pPr marL="342900" indent="-342900">
              <a:lnSpc>
                <a:spcPts val="1900"/>
              </a:lnSpc>
              <a:spcAft>
                <a:spcPts val="1000"/>
              </a:spcAft>
              <a:buSzPct val="100000"/>
              <a:buChar char="•"/>
            </a:pPr>
            <a:r>
              <a:rPr lang="en-US" sz="1500" dirty="0">
                <a:solidFill>
                  <a:srgbClr val="22261F"/>
                </a:solidFill>
                <a:latin typeface="Calibri" pitchFamily="34" charset="0"/>
                <a:ea typeface="Calibri" pitchFamily="34" charset="-122"/>
                <a:cs typeface="Calibri" pitchFamily="34" charset="-120"/>
              </a:rPr>
              <a:t>GLOBOCAN 2022 (IARC/OMS), citado por la Universidad de Chile; MINSAL–DIPRECE, Guía de práctica clínica de cáncer de mama.</a:t>
            </a:r>
            <a:endParaRPr lang="en-US" sz="1500" dirty="0"/>
          </a:p>
        </p:txBody>
      </p:sp>
      <p:sp>
        <p:nvSpPr>
          <p:cNvPr id="5" name="Text 3"/>
          <p:cNvSpPr txBox="1"/>
          <p:nvPr/>
        </p:nvSpPr>
        <p:spPr>
          <a:xfrm>
            <a:off x="457200" y="6473952"/>
            <a:ext cx="7315200" cy="292608"/>
          </a:xfrm>
          <a:prstGeom prst="rect">
            <a:avLst/>
          </a:prstGeom>
          <a:noFill/>
          <a:ln/>
        </p:spPr>
        <p:txBody>
          <a:bodyPr wrap="square" lIns="0" tIns="0" rIns="0" bIns="0" rtlCol="0" anchor="ctr"/>
          <a:lstStyle/>
          <a:p>
            <a:pPr marL="0" indent="0">
              <a:buNone/>
            </a:pPr>
            <a:r>
              <a:rPr lang="en-US" sz="1050" kern="0" spc="100" dirty="0">
                <a:solidFill>
                  <a:srgbClr val="5B6B7A"/>
                </a:solidFill>
                <a:latin typeface="Calibri" pitchFamily="34" charset="0"/>
                <a:ea typeface="Calibri" pitchFamily="34" charset="-122"/>
                <a:cs typeface="Calibri" pitchFamily="34" charset="-120"/>
              </a:rPr>
              <a:t>CIENCIAS DE LA SALUD  ·  UNIDAD 3  ·  SESIÓN 16</a:t>
            </a:r>
            <a:endParaRPr lang="en-US" sz="1050" dirty="0"/>
          </a:p>
        </p:txBody>
      </p:sp>
      <p:sp>
        <p:nvSpPr>
          <p:cNvPr id="6" name="Text 4"/>
          <p:cNvSpPr txBox="1"/>
          <p:nvPr/>
        </p:nvSpPr>
        <p:spPr>
          <a:xfrm>
            <a:off x="8229600" y="6473952"/>
            <a:ext cx="3474720" cy="292608"/>
          </a:xfrm>
          <a:prstGeom prst="rect">
            <a:avLst/>
          </a:prstGeom>
          <a:noFill/>
          <a:ln/>
        </p:spPr>
        <p:txBody>
          <a:bodyPr wrap="square" lIns="0" tIns="0" rIns="0" bIns="0" rtlCol="0" anchor="ctr"/>
          <a:lstStyle/>
          <a:p>
            <a:pPr marL="0" indent="0" algn="r">
              <a:buNone/>
            </a:pPr>
            <a:r>
              <a:rPr lang="en-US" sz="1050" dirty="0">
                <a:solidFill>
                  <a:srgbClr val="5B6B7A"/>
                </a:solidFill>
                <a:latin typeface="Calibri" pitchFamily="34" charset="0"/>
                <a:ea typeface="Calibri" pitchFamily="34" charset="-122"/>
                <a:cs typeface="Calibri" pitchFamily="34" charset="-120"/>
              </a:rPr>
              <a:t>Prof. Felipe Jiménez   ·   20 / 20</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5314</Words>
  <Application>Microsoft Office PowerPoint</Application>
  <PresentationFormat>Panorámica</PresentationFormat>
  <Paragraphs>385</Paragraphs>
  <Slides>21</Slides>
  <Notes>21</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21</vt:i4>
      </vt:variant>
    </vt:vector>
  </HeadingPairs>
  <TitlesOfParts>
    <vt:vector size="25" baseType="lpstr">
      <vt:lpstr>Arial</vt:lpstr>
      <vt:lpstr>Calibri</vt:lpstr>
      <vt:lpstr>Cambria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Felipe Jiménez</cp:lastModifiedBy>
  <cp:revision>2</cp:revision>
  <dcterms:created xsi:type="dcterms:W3CDTF">2026-09-28T10:51:46Z</dcterms:created>
  <dcterms:modified xsi:type="dcterms:W3CDTF">2026-09-28T23:38:17Z</dcterms:modified>
</cp:coreProperties>
</file>